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Guten Tag zusammen! Mein Name ist Svea Timphus, und heute möchte ich euch meine Facharbeit aus dem Seminarfachkurs Glück vorstellen. Das Thema lautet: Wie Schule wirkt – strukturelle Unterschiede und ihr Effekt auf das Wohlbefinden von Schülerinnen und Schülern. Schule ist für uns alle ein zentraler Ort: Wir verbringen dort einen großen Teil unseres Alltags. Gleichzeitig ist sie aber nicht nur ein Ort des Lernens, sondern auch ein Ort der Leistungsbewertung und sozialen Vergleiche. Genau diesen Zusammenhang zwischen Schulstruktur und Wohlbefinden möchte ich in den nächsten fünfzehn Minuten mit euch erkunden.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Warum ist dieses Thema überhaupt wichtig? Schule prägt unseren Alltag in einem Alter, in dem wir uns noch stark entwickeln. Sie vermittelt nicht nur Wissen, sondern beeinflusst auch Selbstwertgefühl, Motivation und Zukunftsperspektiven. In Deutschland nimmt der Leistungsdruck zu – Studien des Robert Koch-Instituts und des Deutschen Jugendinstituts zeigen, dass sich viele Jugendliche durch schulische Anforderungen stark belastet fühlen. Bildung ist zugleich ein entscheidender Faktor für soziale Teilhabe und berufliche Chancen. Deshalb ist Wohlbefinden kein Nebenthema, sondern ein wichtiger Bestandteil erfolgreicher Bildung. Meine zentrale Leitfrage lautet daher: Inwiefern beeinflussen strukturelle Unterschiede im deutschen Schulsystem das Wohlbefinden von Schülerinnen und Schülern?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wir ins Detail gehen, klären wir die Grundlagen. Unter Strukturmerkmalen verstehe ich institutionelle Rahmenbedingungen wie Schulformen, das Notensystem, Versetzungsordnungen und Abschlussprüfungen. Wohlbefinden umfasst sowohl psychische Gesundheit – also Stress, Angst oder Schlafprobleme – als auch soziale Beziehungen und Lebenszufriedenheit. Die WHO definiert Gesundheit nicht nur als Abwesenheit von Krankheit, sondern als vollständiges körperliches, geistiges und soziales Wohlbefinden. Drittens spielt Bildungsgerechtigkeit eine Rolle: Es geht darum, ob alle Schülerinnen und Schüler faire Chancen haben – unabhängig von ihrer sozialen Herkunft. Diese drei Begriffe bilden den Rahmen für meine gesamte Analyse.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deutsche Schulsystem ist durch seine Mehrgliedrigkeit geprägt. Nach der Grundschule werden Schülerinnen und Schüler auf verschiedene Schulformen verteilt. Das Gymnasium bereitet auf das Abitur und ein Studium vor – mit hohen Anforderungen und häufigem Prüfungsdruck. Die Realschule verbindet allgemeinbildende Inhalte mit stärkerer Praxisorientierung und führt zum Mittleren Schulabschluss. Die Hauptschule war traditionell stärker berufsorientiert, wird aber häufig mit geringeren gesellschaftlichen Chancen und Stigmatisierung verbunden. Die Gesamtschule ermöglicht längeres gemeinsames Lernen mit individueller Förderung. Und berufliche Schulen sind Teil des dualen Ausbildungssystems, das international als besonderes Merkmal Deutschlands gilt. Jede Schulform prägt den schulischen Alltag und die Zukunftsperspektiven anders.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zentraler Faktor für das Wohlbefinden ist der Leistungsdruck. Links seht ihr die Auslöser: Noten entscheiden über Versetzungen und Abschlüsse, Prüfungen wie Klassenarbeiten und Tests erzeugen Stress, die Vergleichskultur fördert Konkurrenzdenken, und hohe Erwartungen von Eltern, Lehrkräften und der Gesellschaft erhöhen den Druck. Rechts die möglichen Folgen: Schulischer Stress gehört laut WHO zu den häufigsten Belastungsfaktoren im Jugendalter. Er kann Schlafprobleme, Kopfschmerzen und Konzentrationsschwierigkeiten verursachen. Viele Schülerinnen und Schüler entwickeln Unsicherheit oder ein geringeres Selbstwertgefühl. Wichtig ist: Leistungsdruck kann Motivation fördern, aber auch das Wohlbefinden deutlich beeinträchtigen – je nachdem, wie wir die Anforderungen erleben.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Neben Leistungsdruck spielt das Schulklima eine entscheidende Rolle. Das Lehrer-Schüler-Verhältnis ist einer der wichtigsten Faktoren: Schülerinnen und Schüler fühlen sich besser, wenn sie ernst genommen werden, Unterstützung erhalten und ein respektvolles Verhältnis besteht. Mitbestimmung stärkt das Gefühl von Selbstwirksamkeit – etwa durch Schülervertretung, Klassenräte oder Schulprojekte. Und eine gute Feedbackkultur geht über reine Noten hinaus: Qualitative Rückmeldungen und formative Bewertungen können Lernprozesse begleiten und individuelle Entwicklung stärker berücksichtigen. Der nationale Bildungsbericht betont, dass ein positives Schulklima mit höherer Lernmotivation und besserer psychischer Gesundheit verbunden 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möchte ich euch kurz einbeziehen! Stellt euch vor, ich frage euch: Was beeinflusst euer Wohlbefinden in der Schule am stärksten? Notendruck, Lehrkräfte, Mitschüler oder Zeitstress? Zeigt mir bitte kurz per Handzeichen, was für euch am wichtigsten ist. [Pause für Umfrage] Interessant – und genau das zeigt, wie vielfältig die Faktoren sind. In meiner Facharbeit wird deutlich, dass alle diese Aspekte eine wichtige Rolle spielen: Leistungsbewertungen und Prüfungen erzeugen Druck, das Verhältnis zu Lehrkräften prägt das Schulklima, Mitschüler beeinflussen soziale Eingebundenheit, und Zeitstress gehört zu den häufig genannten Belastungsfaktoren. Wohlbefinden entsteht also aus dem Zusammenspiel vieler Faktoren – nicht aus einem einzelnen.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das deutsche System einzuordnen, schauen wir international. In Deutschland erfolgt die Aufteilung auf Schulformen früh – meist nach der vierten Klasse – und Noten spielen eine zentrale Rolle. Finnland verfolgt ein anderes Modell: Kinder lernen bis zur neunten Klasse gemeinsam, die Leistungsdifferenzierung erfolgt deutlich später. Dort werden in frühen Jahren seltener standardisierte Tests eingesetzt, stattdessen stehen individuelle Lernfortschritte im Vordergrund. Angelsächsische Systeme wie in Großbritannien oder den USA bieten mehr Wahlmöglichkeiten im Unterricht und legen stärkeren Fokus auf projektorientiertes und praxisorientiertes Lernen. Aber: Kein System ist perfekt. Jedes muss unterschiedliche gesellschaftliche Anforderungen erfüllen – von akademischer Vorbereitung bis zur beruflichen Ausbildung.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kritische Bewertung zeigt Stärken und Schwächen des deutschen Systems. Zu den Stärken gehören die verschiedenen Bildungswege, die eine gezielte Förderung ermöglichen, das duale Ausbildungssystem, das den Übergang in den Arbeitsmarkt erleichtert, und hohe akademische Standards im Gymnasium. Auf der anderen Seite stehen Schwächen: die frühe Selektion, die Bildungsentscheidungen schon in jungen Jahren festlegt, der hohe Leistungsdruck durch Noten und Prüfungen, und soziale Ungleichheiten – denn der Bildungserfolg in Deutschland hängt laut OECD vergleichsweise stark vom sozioökonomischen Hintergrund ab. Diese Spannung zwischen Differenzierung und Gerechtigkeit prägt die gesamte bildungspolitische Debatte.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könnte sich ändern? In der Bildungsforschung werden drei Reformansätze diskutiert. Erstens: Mehr Lebenskompetenzen im Curriculum – etwa finanzielle Grundbildung, Medienkompetenz und praktische Alltagsfähigkeiten. Zweitens: Spätere Leistungsdifferenzierung, wie sie in skandinavischen Ländern praktiziert wird, um Schülerinnen und Schülern mehr Zeit für ihre Entwicklung zu geben. Drittens: Alternative Bewertungsformen wie Portfolioarbeit, ausführliches Lernfeedback oder projektbasierte Bewertung – statt ausschließlich Noten und Prüfungsergebnisse. Diese Ansätze sollen Bildungsqualität und Schülerwohlbefinden stärker miteinander verbinden.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Fazit: Schule beeinflusst mehr als nur Noten. Strukturelle Merkmale wie Schulformen, Bewertungssysteme und Selektionsmechanismen wirken direkt auf das Wohlbefinden. Leistungsdruck und Schulklima spielen dabei eine zentrale Rolle – einerseits durch Noten und Prüfungen, andererseits durch Beziehungen und Partizipation. Und Reformen könnten Bildung und Glück stärker verbinden, etwa durch spätere Differenzierung, Lebenskompetenzen und neue Bewertungsformen. Wohlbefinden hängt nicht nur von uns als Individuen ab, sondern in hohem Maße von den institutionellen Rahmenbedingungen. Vielen Dank für eure Aufmerksamkeit – ich freue mich auf eure Fragen!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slide1.xml><?xml version="1.0" encoding="utf-8"?>
<p:sld xmlns:a="http://schemas.openxmlformats.org/drawingml/2006/main" xmlns:ns2="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0" y="0"/>
            <a:ext cx="5029200" cy="6858000"/>
          </a:xfrm>
          <a:prstGeom prst="roundRect">
            <a:avLst>
              <a:gd name="adj" fmla="val 12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046720" y="0"/>
            <a:ext cx="4114800" cy="2011680"/>
          </a:xfrm>
          <a:prstGeom prst="roundRect">
            <a:avLst>
              <a:gd name="adj" fmla="val 12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686800" y="4754880"/>
            <a:ext cx="3200400" cy="1828800"/>
          </a:xfrm>
          <a:prstGeom prst="roundRect">
            <a:avLst>
              <a:gd name="adj" fmla="val 12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303520" cy="2011680"/>
          </a:xfrm>
          <a:prstGeom prst="rect">
            <a:avLst/>
          </a:prstGeom>
          <a:noFill/>
        </p:spPr>
        <p:txBody>
          <a:bodyPr wrap="square">
            <a:spAutoFit/>
          </a:bodyPr>
          <a:lstStyle/>
          <a:p>
            <a:pPr>
              <a:defRPr sz="2800" b="1">
                <a:solidFill>
                  <a:srgbClr val="2D2D2D"/>
                </a:solidFill>
                <a:latin typeface="Helvetica Neue"/>
              </a:defRPr>
            </a:pPr>
            <a:r>
              <a:t>Wie Schule wirkt:</a:t>
            </a:r>
          </a:p>
          <a:p>
            <a:pPr>
              <a:spcBef>
                <a:spcPts val="1200"/>
              </a:spcBef>
              <a:defRPr sz="2200">
                <a:solidFill>
                  <a:srgbClr val="666666"/>
                </a:solidFill>
                <a:latin typeface="Helvetica Neue"/>
              </a:defRPr>
            </a:pPr>
            <a:r>
              <a:t>Strukturelle Unterschiede und ihr Effekt auf das Wohlbefinden von Schülerinnen und Schülern</a:t>
            </a:r>
          </a:p>
        </p:txBody>
      </p:sp>
      <p:sp>
        <p:nvSpPr>
          <p:cNvPr id="6" name="TextBox 5"/>
          <p:cNvSpPr txBox="1"/>
          <p:nvPr/>
        </p:nvSpPr>
        <p:spPr>
          <a:xfrm>
            <a:off x="731520" y="3840480"/>
            <a:ext cx="4572000" cy="548640"/>
          </a:xfrm>
          <a:prstGeom prst="rect">
            <a:avLst/>
          </a:prstGeom>
          <a:noFill/>
        </p:spPr>
        <p:txBody>
          <a:bodyPr wrap="none">
            <a:spAutoFit/>
          </a:bodyPr>
          <a:lstStyle/>
          <a:p>
            <a:pPr algn="l">
              <a:defRPr sz="2000" b="0">
                <a:solidFill>
                  <a:srgbClr val="5BA8D4"/>
                </a:solidFill>
                <a:latin typeface="Helvetica Neue"/>
              </a:defRPr>
            </a:pPr>
            <a:r>
              <a:t>Seminarfachkurs Glück</a:t>
            </a:r>
          </a:p>
        </p:txBody>
      </p:sp>
      <p:pic>
        <p:nvPicPr>
          <p:cNvPr id="7" name="Picture 6" descr="school.png"/>
          <p:cNvPicPr>
            <a:picLocks noChangeAspect="1"/>
          </p:cNvPicPr>
          <p:nvPr/>
        </p:nvPicPr>
        <p:blipFill>
          <a:blip ns2:embed="rId2"/>
          <a:stretch>
            <a:fillRect/>
          </a:stretch>
        </p:blipFill>
        <p:spPr>
          <a:xfrm>
            <a:off x="5669280" y="1097280"/>
            <a:ext cx="5943600" cy="3714750"/>
          </a:xfrm>
          <a:prstGeom prst="rect">
            <a:avLst/>
          </a:prstGeom>
        </p:spPr>
      </p:pic>
    </p:spTree>
  </p:cSld>
  <p:clrMapOvr>
    <a:masterClrMapping/>
  </p:clrMapOvr>
  <p:transition spd="med">
    <p:fade/>
  </p:transition>
</p:sld>
</file>

<file path=ppt/slides/slide2.xml><?xml version="1.0" encoding="utf-8"?>
<p:sld xmlns:a="http://schemas.openxmlformats.org/drawingml/2006/main" xmlns:ns2="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Warum ist das Thema wichtig?</a:t>
            </a:r>
          </a:p>
        </p:txBody>
      </p:sp>
      <p:pic>
        <p:nvPicPr>
          <p:cNvPr id="3" name="Picture 2" descr="scale.png"/>
          <p:cNvPicPr>
            <a:picLocks noChangeAspect="1"/>
          </p:cNvPicPr>
          <p:nvPr/>
        </p:nvPicPr>
        <p:blipFill>
          <a:blip ns2:embed="rId2"/>
          <a:stretch>
            <a:fillRect/>
          </a:stretch>
        </p:blipFill>
        <p:spPr>
          <a:xfrm>
            <a:off x="7772400" y="1097280"/>
            <a:ext cx="3657600" cy="2438400"/>
          </a:xfrm>
          <a:prstGeom prst="rect">
            <a:avLst/>
          </a:prstGeom>
        </p:spPr>
      </p:pic>
      <p:sp>
        <p:nvSpPr>
          <p:cNvPr id="4" name="Rounded Rectangle 3"/>
          <p:cNvSpPr/>
          <p:nvPr/>
        </p:nvSpPr>
        <p:spPr>
          <a:xfrm>
            <a:off x="640080" y="1188720"/>
            <a:ext cx="6858000" cy="292608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6400800" cy="2377440"/>
          </a:xfrm>
          <a:prstGeom prst="rect">
            <a:avLst/>
          </a:prstGeom>
          <a:noFill/>
        </p:spPr>
        <p:txBody>
          <a:bodyPr wrap="square">
            <a:spAutoFit/>
          </a:bodyPr>
          <a:lstStyle/>
          <a:p>
            <a:pPr>
              <a:spcAft>
                <a:spcPts val="800"/>
              </a:spcAft>
              <a:defRPr sz="1700">
                <a:solidFill>
                  <a:srgbClr val="2D2D2D"/>
                </a:solidFill>
                <a:latin typeface="Helvetica Neue"/>
              </a:defRPr>
            </a:pPr>
            <a:r>
              <a:t>Schule prägt Alltag und ist ein prägender Lebensraum</a:t>
            </a:r>
          </a:p>
          <a:p>
            <a:pPr>
              <a:spcAft>
                <a:spcPts val="800"/>
              </a:spcAft>
              <a:defRPr sz="1700">
                <a:solidFill>
                  <a:srgbClr val="2D2D2D"/>
                </a:solidFill>
                <a:latin typeface="Helvetica Neue"/>
              </a:defRPr>
            </a:pPr>
            <a:r>
              <a:t>Leistungsdruck und psychische Belastungen nehmen zu</a:t>
            </a:r>
          </a:p>
          <a:p>
            <a:pPr>
              <a:spcAft>
                <a:spcPts val="800"/>
              </a:spcAft>
              <a:defRPr sz="1700">
                <a:solidFill>
                  <a:srgbClr val="2D2D2D"/>
                </a:solidFill>
                <a:latin typeface="Helvetica Neue"/>
              </a:defRPr>
            </a:pPr>
            <a:r>
              <a:t>Bildung beeinflusst soziale Teilhabe und Zukunft</a:t>
            </a:r>
          </a:p>
          <a:p>
            <a:pPr>
              <a:spcAft>
                <a:spcPts val="800"/>
              </a:spcAft>
              <a:defRPr sz="1700">
                <a:solidFill>
                  <a:srgbClr val="2D2D2D"/>
                </a:solidFill>
                <a:latin typeface="Helvetica Neue"/>
              </a:defRPr>
            </a:pPr>
            <a:r>
              <a:t>Wohlbefinden ist wichtiger Bestandteil erfolgreicher Bildung</a:t>
            </a:r>
          </a:p>
        </p:txBody>
      </p:sp>
      <p:sp>
        <p:nvSpPr>
          <p:cNvPr id="6" name="Rounded Rectangle 5"/>
          <p:cNvSpPr/>
          <p:nvPr/>
        </p:nvSpPr>
        <p:spPr>
          <a:xfrm>
            <a:off x="640080" y="4389120"/>
            <a:ext cx="10789920" cy="1645920"/>
          </a:xfrm>
          <a:prstGeom prst="roundRect">
            <a:avLst>
              <a:gd name="adj" fmla="val 12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63440"/>
            <a:ext cx="10241280" cy="1188720"/>
          </a:xfrm>
          <a:prstGeom prst="rect">
            <a:avLst/>
          </a:prstGeom>
          <a:noFill/>
        </p:spPr>
        <p:txBody>
          <a:bodyPr wrap="none">
            <a:spAutoFit/>
          </a:bodyPr>
          <a:lstStyle/>
          <a:p>
            <a:pPr algn="ctr">
              <a:defRPr sz="1700" b="1">
                <a:solidFill>
                  <a:srgbClr val="2D2D2D"/>
                </a:solidFill>
                <a:latin typeface="Helvetica Neue"/>
              </a:defRPr>
            </a:pPr>
            <a:r>
              <a:t>"Inwiefern beeinflussen strukturelle Unterschiede im deutschen Schulsystem das Wohlbefinden von Schülerinnen und Schülern?"</a:t>
            </a:r>
          </a:p>
        </p:txBody>
      </p:sp>
    </p:spTree>
  </p:cSld>
  <p:clrMapOvr>
    <a:masterClrMapping/>
  </p:clrMapOvr>
  <p:transition spd="med">
    <p:zoom/>
  </p:transition>
</p:sld>
</file>

<file path=ppt/slides/slide3.xml><?xml version="1.0" encoding="utf-8"?>
<p:sld xmlns:a="http://schemas.openxmlformats.org/drawingml/2006/main" xmlns:ns2="http://schemas.openxmlformats.org/officeDocument/2006/relationships" xmlns:p="http://schemas.openxmlformats.org/presentationml/2006/main">
  <p:cSld>
    <p:bg>
      <p:bgPr>
        <a:solidFill>
          <a:srgbClr val="CFEFFF"/>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Grundlagen</a:t>
            </a:r>
          </a:p>
        </p:txBody>
      </p:sp>
      <p:pic>
        <p:nvPicPr>
          <p:cNvPr id="3" name="Picture 2" descr="mindmap.png"/>
          <p:cNvPicPr>
            <a:picLocks noChangeAspect="1"/>
          </p:cNvPicPr>
          <p:nvPr/>
        </p:nvPicPr>
        <p:blipFill>
          <a:blip ns2:embed="rId2"/>
          <a:stretch>
            <a:fillRect/>
          </a:stretch>
        </p:blipFill>
        <p:spPr>
          <a:xfrm>
            <a:off x="457200" y="1005840"/>
            <a:ext cx="4114800" cy="2939143"/>
          </a:xfrm>
          <a:prstGeom prst="rect">
            <a:avLst/>
          </a:prstGeom>
        </p:spPr>
      </p:pic>
      <p:sp>
        <p:nvSpPr>
          <p:cNvPr id="4" name="Rounded Rectangle 3"/>
          <p:cNvSpPr/>
          <p:nvPr/>
        </p:nvSpPr>
        <p:spPr>
          <a:xfrm>
            <a:off x="4754880" y="1188720"/>
            <a:ext cx="2286000" cy="475488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37760" y="1371600"/>
            <a:ext cx="1920240" cy="457200"/>
          </a:xfrm>
          <a:prstGeom prst="rect">
            <a:avLst/>
          </a:prstGeom>
          <a:noFill/>
        </p:spPr>
        <p:txBody>
          <a:bodyPr wrap="none">
            <a:spAutoFit/>
          </a:bodyPr>
          <a:lstStyle/>
          <a:p>
            <a:pPr algn="ctr">
              <a:defRPr sz="1600" b="1">
                <a:solidFill>
                  <a:srgbClr val="2D2D2D"/>
                </a:solidFill>
                <a:latin typeface="Helvetica Neue"/>
              </a:defRPr>
            </a:pPr>
            <a:r>
              <a:t>Strukturmerkmale</a:t>
            </a:r>
          </a:p>
        </p:txBody>
      </p:sp>
      <p:sp>
        <p:nvSpPr>
          <p:cNvPr id="6" name="Rounded Rectangle 5"/>
          <p:cNvSpPr/>
          <p:nvPr/>
        </p:nvSpPr>
        <p:spPr>
          <a:xfrm>
            <a:off x="5029200" y="1828800"/>
            <a:ext cx="1737360" cy="73152"/>
          </a:xfrm>
          <a:prstGeom prst="roundRect">
            <a:avLst>
              <a:gd name="adj" fmla="val 12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2011680"/>
            <a:ext cx="1920240" cy="3474720"/>
          </a:xfrm>
          <a:prstGeom prst="rect">
            <a:avLst/>
          </a:prstGeom>
          <a:noFill/>
        </p:spPr>
        <p:txBody>
          <a:bodyPr wrap="square">
            <a:spAutoFit/>
          </a:bodyPr>
          <a:lstStyle/>
          <a:p>
            <a:pPr>
              <a:spcAft>
                <a:spcPts val="800"/>
              </a:spcAft>
              <a:defRPr sz="1400">
                <a:solidFill>
                  <a:srgbClr val="2D2D2D"/>
                </a:solidFill>
                <a:latin typeface="Helvetica Neue"/>
              </a:defRPr>
            </a:pPr>
            <a:r>
              <a:t>Schulformen</a:t>
            </a:r>
          </a:p>
          <a:p>
            <a:pPr>
              <a:spcAft>
                <a:spcPts val="800"/>
              </a:spcAft>
              <a:defRPr sz="1400">
                <a:solidFill>
                  <a:srgbClr val="2D2D2D"/>
                </a:solidFill>
                <a:latin typeface="Helvetica Neue"/>
              </a:defRPr>
            </a:pPr>
            <a:r>
              <a:t>Notensystem</a:t>
            </a:r>
          </a:p>
          <a:p>
            <a:pPr>
              <a:spcAft>
                <a:spcPts val="800"/>
              </a:spcAft>
              <a:defRPr sz="1400">
                <a:solidFill>
                  <a:srgbClr val="2D2D2D"/>
                </a:solidFill>
                <a:latin typeface="Helvetica Neue"/>
              </a:defRPr>
            </a:pPr>
            <a:r>
              <a:t>Versetzungen</a:t>
            </a:r>
          </a:p>
          <a:p>
            <a:pPr>
              <a:spcAft>
                <a:spcPts val="800"/>
              </a:spcAft>
              <a:defRPr sz="1400">
                <a:solidFill>
                  <a:srgbClr val="2D2D2D"/>
                </a:solidFill>
                <a:latin typeface="Helvetica Neue"/>
              </a:defRPr>
            </a:pPr>
            <a:r>
              <a:t>Abschlüsse</a:t>
            </a:r>
          </a:p>
        </p:txBody>
      </p:sp>
      <p:sp>
        <p:nvSpPr>
          <p:cNvPr id="8" name="Rounded Rectangle 7"/>
          <p:cNvSpPr/>
          <p:nvPr/>
        </p:nvSpPr>
        <p:spPr>
          <a:xfrm>
            <a:off x="7223760" y="1188720"/>
            <a:ext cx="2286000" cy="475488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371600"/>
            <a:ext cx="1920240" cy="457200"/>
          </a:xfrm>
          <a:prstGeom prst="rect">
            <a:avLst/>
          </a:prstGeom>
          <a:noFill/>
        </p:spPr>
        <p:txBody>
          <a:bodyPr wrap="none">
            <a:spAutoFit/>
          </a:bodyPr>
          <a:lstStyle/>
          <a:p>
            <a:pPr algn="ctr">
              <a:defRPr sz="1600" b="1">
                <a:solidFill>
                  <a:srgbClr val="2D2D2D"/>
                </a:solidFill>
                <a:latin typeface="Helvetica Neue"/>
              </a:defRPr>
            </a:pPr>
            <a:r>
              <a:t>Wohlbefinden</a:t>
            </a:r>
          </a:p>
        </p:txBody>
      </p:sp>
      <p:sp>
        <p:nvSpPr>
          <p:cNvPr id="10" name="Rounded Rectangle 9"/>
          <p:cNvSpPr/>
          <p:nvPr/>
        </p:nvSpPr>
        <p:spPr>
          <a:xfrm>
            <a:off x="7498080" y="1828800"/>
            <a:ext cx="1737360" cy="73152"/>
          </a:xfrm>
          <a:prstGeom prst="roundRect">
            <a:avLst>
              <a:gd name="adj" fmla="val 12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2011680"/>
            <a:ext cx="1920240" cy="3474720"/>
          </a:xfrm>
          <a:prstGeom prst="rect">
            <a:avLst/>
          </a:prstGeom>
          <a:noFill/>
        </p:spPr>
        <p:txBody>
          <a:bodyPr wrap="square">
            <a:spAutoFit/>
          </a:bodyPr>
          <a:lstStyle/>
          <a:p>
            <a:pPr>
              <a:spcAft>
                <a:spcPts val="800"/>
              </a:spcAft>
              <a:defRPr sz="1400">
                <a:solidFill>
                  <a:srgbClr val="2D2D2D"/>
                </a:solidFill>
                <a:latin typeface="Helvetica Neue"/>
              </a:defRPr>
            </a:pPr>
            <a:r>
              <a:t>Psychische Gesundheit</a:t>
            </a:r>
          </a:p>
          <a:p>
            <a:pPr>
              <a:spcAft>
                <a:spcPts val="800"/>
              </a:spcAft>
              <a:defRPr sz="1400">
                <a:solidFill>
                  <a:srgbClr val="2D2D2D"/>
                </a:solidFill>
                <a:latin typeface="Helvetica Neue"/>
              </a:defRPr>
            </a:pPr>
            <a:r>
              <a:t>Soziale Beziehungen</a:t>
            </a:r>
          </a:p>
          <a:p>
            <a:pPr>
              <a:spcAft>
                <a:spcPts val="800"/>
              </a:spcAft>
              <a:defRPr sz="1400">
                <a:solidFill>
                  <a:srgbClr val="2D2D2D"/>
                </a:solidFill>
                <a:latin typeface="Helvetica Neue"/>
              </a:defRPr>
            </a:pPr>
            <a:r>
              <a:t>Lebenszufriedenheit</a:t>
            </a:r>
          </a:p>
        </p:txBody>
      </p:sp>
      <p:sp>
        <p:nvSpPr>
          <p:cNvPr id="12" name="Rounded Rectangle 11"/>
          <p:cNvSpPr/>
          <p:nvPr/>
        </p:nvSpPr>
        <p:spPr>
          <a:xfrm>
            <a:off x="9692640" y="1188720"/>
            <a:ext cx="2286000" cy="475488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0" y="1371600"/>
            <a:ext cx="1920240" cy="457200"/>
          </a:xfrm>
          <a:prstGeom prst="rect">
            <a:avLst/>
          </a:prstGeom>
          <a:noFill/>
        </p:spPr>
        <p:txBody>
          <a:bodyPr wrap="none">
            <a:spAutoFit/>
          </a:bodyPr>
          <a:lstStyle/>
          <a:p>
            <a:pPr algn="ctr">
              <a:defRPr sz="1600" b="1">
                <a:solidFill>
                  <a:srgbClr val="2D2D2D"/>
                </a:solidFill>
                <a:latin typeface="Helvetica Neue"/>
              </a:defRPr>
            </a:pPr>
            <a:r>
              <a:t>Bildungsgerechtigkeit</a:t>
            </a:r>
          </a:p>
        </p:txBody>
      </p:sp>
      <p:sp>
        <p:nvSpPr>
          <p:cNvPr id="14" name="Rounded Rectangle 13"/>
          <p:cNvSpPr/>
          <p:nvPr/>
        </p:nvSpPr>
        <p:spPr>
          <a:xfrm>
            <a:off x="9966960" y="1828800"/>
            <a:ext cx="1737360" cy="73152"/>
          </a:xfrm>
          <a:prstGeom prst="roundRect">
            <a:avLst>
              <a:gd name="adj" fmla="val 12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0" y="2011680"/>
            <a:ext cx="1920240" cy="3474720"/>
          </a:xfrm>
          <a:prstGeom prst="rect">
            <a:avLst/>
          </a:prstGeom>
          <a:noFill/>
        </p:spPr>
        <p:txBody>
          <a:bodyPr wrap="square">
            <a:spAutoFit/>
          </a:bodyPr>
          <a:lstStyle/>
          <a:p>
            <a:pPr>
              <a:spcAft>
                <a:spcPts val="800"/>
              </a:spcAft>
              <a:defRPr sz="1400">
                <a:solidFill>
                  <a:srgbClr val="2D2D2D"/>
                </a:solidFill>
                <a:latin typeface="Helvetica Neue"/>
              </a:defRPr>
            </a:pPr>
            <a:r>
              <a:t>Faire Chancen unabhängig von sozialer Herkunft</a:t>
            </a:r>
          </a:p>
        </p:txBody>
      </p:sp>
    </p:spTree>
  </p:cSld>
  <p:clrMapOvr>
    <a:masterClrMapping/>
  </p:clrMapOvr>
  <p:transition spd="med">
    <p:cover/>
  </p:transition>
</p:sld>
</file>

<file path=ppt/slides/slide4.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Das deutsche Schulsystem</a:t>
            </a:r>
          </a:p>
        </p:txBody>
      </p:sp>
      <p:sp>
        <p:nvSpPr>
          <p:cNvPr id="3" name="Rounded Rectangle 2"/>
          <p:cNvSpPr/>
          <p:nvPr/>
        </p:nvSpPr>
        <p:spPr>
          <a:xfrm>
            <a:off x="457200" y="1371600"/>
            <a:ext cx="2148840" cy="4572000"/>
          </a:xfrm>
          <a:prstGeom prst="roundRect">
            <a:avLst>
              <a:gd name="adj" fmla="val 12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554480"/>
            <a:ext cx="1828800" cy="548640"/>
          </a:xfrm>
          <a:prstGeom prst="rect">
            <a:avLst/>
          </a:prstGeom>
          <a:noFill/>
        </p:spPr>
        <p:txBody>
          <a:bodyPr wrap="none">
            <a:spAutoFit/>
          </a:bodyPr>
          <a:lstStyle/>
          <a:p>
            <a:pPr algn="ctr">
              <a:defRPr sz="2800" b="0">
                <a:solidFill>
                  <a:srgbClr val="2D2D2D"/>
                </a:solidFill>
                <a:latin typeface="Helvetica Neue"/>
              </a:defRPr>
            </a:pPr>
            <a:r>
              <a:t>🎓</a:t>
            </a:r>
          </a:p>
        </p:txBody>
      </p:sp>
      <p:sp>
        <p:nvSpPr>
          <p:cNvPr id="5" name="TextBox 4"/>
          <p:cNvSpPr txBox="1"/>
          <p:nvPr/>
        </p:nvSpPr>
        <p:spPr>
          <a:xfrm>
            <a:off x="594360" y="2103120"/>
            <a:ext cx="1874519" cy="457200"/>
          </a:xfrm>
          <a:prstGeom prst="rect">
            <a:avLst/>
          </a:prstGeom>
          <a:noFill/>
        </p:spPr>
        <p:txBody>
          <a:bodyPr wrap="none">
            <a:spAutoFit/>
          </a:bodyPr>
          <a:lstStyle/>
          <a:p>
            <a:pPr algn="ctr">
              <a:defRPr sz="1500" b="1">
                <a:solidFill>
                  <a:srgbClr val="2D2D2D"/>
                </a:solidFill>
                <a:latin typeface="Helvetica Neue"/>
              </a:defRPr>
            </a:pPr>
            <a:r>
              <a:t>Gymnasium</a:t>
            </a:r>
          </a:p>
        </p:txBody>
      </p:sp>
      <p:sp>
        <p:nvSpPr>
          <p:cNvPr id="6" name="TextBox 5"/>
          <p:cNvSpPr txBox="1"/>
          <p:nvPr/>
        </p:nvSpPr>
        <p:spPr>
          <a:xfrm>
            <a:off x="594360" y="2651760"/>
            <a:ext cx="1874519" cy="2926080"/>
          </a:xfrm>
          <a:prstGeom prst="rect">
            <a:avLst/>
          </a:prstGeom>
          <a:noFill/>
        </p:spPr>
        <p:txBody>
          <a:bodyPr wrap="square">
            <a:spAutoFit/>
          </a:bodyPr>
          <a:lstStyle/>
          <a:p>
            <a:pPr algn="ctr">
              <a:defRPr sz="1300" b="0">
                <a:solidFill>
                  <a:srgbClr val="666666"/>
                </a:solidFill>
                <a:latin typeface="Helvetica Neue"/>
              </a:defRPr>
            </a:pPr>
            <a:r>
              <a:t>Abitur, hohe Anforderungen, Prüfungsdruck</a:t>
            </a:r>
          </a:p>
        </p:txBody>
      </p:sp>
      <p:sp>
        <p:nvSpPr>
          <p:cNvPr id="7" name="Rounded Rectangle 6"/>
          <p:cNvSpPr/>
          <p:nvPr/>
        </p:nvSpPr>
        <p:spPr>
          <a:xfrm>
            <a:off x="2743200" y="1371600"/>
            <a:ext cx="2148840" cy="4572000"/>
          </a:xfrm>
          <a:prstGeom prst="roundRect">
            <a:avLst>
              <a:gd name="adj" fmla="val 12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1554480"/>
            <a:ext cx="1828800" cy="548640"/>
          </a:xfrm>
          <a:prstGeom prst="rect">
            <a:avLst/>
          </a:prstGeom>
          <a:noFill/>
        </p:spPr>
        <p:txBody>
          <a:bodyPr wrap="none">
            <a:spAutoFit/>
          </a:bodyPr>
          <a:lstStyle/>
          <a:p>
            <a:pPr algn="ctr">
              <a:defRPr sz="2800" b="0">
                <a:solidFill>
                  <a:srgbClr val="2D2D2D"/>
                </a:solidFill>
                <a:latin typeface="Helvetica Neue"/>
              </a:defRPr>
            </a:pPr>
            <a:r>
              <a:t>📐</a:t>
            </a:r>
          </a:p>
        </p:txBody>
      </p:sp>
      <p:sp>
        <p:nvSpPr>
          <p:cNvPr id="9" name="TextBox 8"/>
          <p:cNvSpPr txBox="1"/>
          <p:nvPr/>
        </p:nvSpPr>
        <p:spPr>
          <a:xfrm>
            <a:off x="2880360" y="2103120"/>
            <a:ext cx="1874519" cy="457200"/>
          </a:xfrm>
          <a:prstGeom prst="rect">
            <a:avLst/>
          </a:prstGeom>
          <a:noFill/>
        </p:spPr>
        <p:txBody>
          <a:bodyPr wrap="none">
            <a:spAutoFit/>
          </a:bodyPr>
          <a:lstStyle/>
          <a:p>
            <a:pPr algn="ctr">
              <a:defRPr sz="1500" b="1">
                <a:solidFill>
                  <a:srgbClr val="2D2D2D"/>
                </a:solidFill>
                <a:latin typeface="Helvetica Neue"/>
              </a:defRPr>
            </a:pPr>
            <a:r>
              <a:t>Realschule</a:t>
            </a:r>
          </a:p>
        </p:txBody>
      </p:sp>
      <p:sp>
        <p:nvSpPr>
          <p:cNvPr id="10" name="TextBox 9"/>
          <p:cNvSpPr txBox="1"/>
          <p:nvPr/>
        </p:nvSpPr>
        <p:spPr>
          <a:xfrm>
            <a:off x="2880360" y="2651760"/>
            <a:ext cx="1874519" cy="2926080"/>
          </a:xfrm>
          <a:prstGeom prst="rect">
            <a:avLst/>
          </a:prstGeom>
          <a:noFill/>
        </p:spPr>
        <p:txBody>
          <a:bodyPr wrap="square">
            <a:spAutoFit/>
          </a:bodyPr>
          <a:lstStyle/>
          <a:p>
            <a:pPr algn="ctr">
              <a:defRPr sz="1300" b="0">
                <a:solidFill>
                  <a:srgbClr val="666666"/>
                </a:solidFill>
                <a:latin typeface="Helvetica Neue"/>
              </a:defRPr>
            </a:pPr>
            <a:r>
              <a:t>Mittlerer Abschluss, Praxisorientierung</a:t>
            </a:r>
          </a:p>
        </p:txBody>
      </p:sp>
      <p:sp>
        <p:nvSpPr>
          <p:cNvPr id="11" name="Rounded Rectangle 10"/>
          <p:cNvSpPr/>
          <p:nvPr/>
        </p:nvSpPr>
        <p:spPr>
          <a:xfrm>
            <a:off x="5029200" y="1371600"/>
            <a:ext cx="2148840" cy="4572000"/>
          </a:xfrm>
          <a:prstGeom prst="roundRect">
            <a:avLst>
              <a:gd name="adj" fmla="val 12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1554480"/>
            <a:ext cx="1828800" cy="548640"/>
          </a:xfrm>
          <a:prstGeom prst="rect">
            <a:avLst/>
          </a:prstGeom>
          <a:noFill/>
        </p:spPr>
        <p:txBody>
          <a:bodyPr wrap="none">
            <a:spAutoFit/>
          </a:bodyPr>
          <a:lstStyle/>
          <a:p>
            <a:pPr algn="ctr">
              <a:defRPr sz="2800" b="0">
                <a:solidFill>
                  <a:srgbClr val="2D2D2D"/>
                </a:solidFill>
                <a:latin typeface="Helvetica Neue"/>
              </a:defRPr>
            </a:pPr>
            <a:r>
              <a:t>🔧</a:t>
            </a:r>
          </a:p>
        </p:txBody>
      </p:sp>
      <p:sp>
        <p:nvSpPr>
          <p:cNvPr id="13" name="TextBox 12"/>
          <p:cNvSpPr txBox="1"/>
          <p:nvPr/>
        </p:nvSpPr>
        <p:spPr>
          <a:xfrm>
            <a:off x="5166360" y="2103120"/>
            <a:ext cx="1874519" cy="457200"/>
          </a:xfrm>
          <a:prstGeom prst="rect">
            <a:avLst/>
          </a:prstGeom>
          <a:noFill/>
        </p:spPr>
        <p:txBody>
          <a:bodyPr wrap="none">
            <a:spAutoFit/>
          </a:bodyPr>
          <a:lstStyle/>
          <a:p>
            <a:pPr algn="ctr">
              <a:defRPr sz="1500" b="1">
                <a:solidFill>
                  <a:srgbClr val="2D2D2D"/>
                </a:solidFill>
                <a:latin typeface="Helvetica Neue"/>
              </a:defRPr>
            </a:pPr>
            <a:r>
              <a:t>Hauptschule</a:t>
            </a:r>
          </a:p>
        </p:txBody>
      </p:sp>
      <p:sp>
        <p:nvSpPr>
          <p:cNvPr id="14" name="TextBox 13"/>
          <p:cNvSpPr txBox="1"/>
          <p:nvPr/>
        </p:nvSpPr>
        <p:spPr>
          <a:xfrm>
            <a:off x="5166360" y="2651760"/>
            <a:ext cx="1874519" cy="2926080"/>
          </a:xfrm>
          <a:prstGeom prst="rect">
            <a:avLst/>
          </a:prstGeom>
          <a:noFill/>
        </p:spPr>
        <p:txBody>
          <a:bodyPr wrap="square">
            <a:spAutoFit/>
          </a:bodyPr>
          <a:lstStyle/>
          <a:p>
            <a:pPr algn="ctr">
              <a:defRPr sz="1300" b="0">
                <a:solidFill>
                  <a:srgbClr val="666666"/>
                </a:solidFill>
                <a:latin typeface="Helvetica Neue"/>
              </a:defRPr>
            </a:pPr>
            <a:r>
              <a:t>Berufsorientierung, Stigmatisierung möglich</a:t>
            </a:r>
          </a:p>
        </p:txBody>
      </p:sp>
      <p:sp>
        <p:nvSpPr>
          <p:cNvPr id="15" name="Rounded Rectangle 14"/>
          <p:cNvSpPr/>
          <p:nvPr/>
        </p:nvSpPr>
        <p:spPr>
          <a:xfrm>
            <a:off x="7315200" y="1371600"/>
            <a:ext cx="2148840" cy="4572000"/>
          </a:xfrm>
          <a:prstGeom prst="roundRect">
            <a:avLst>
              <a:gd name="adj" fmla="val 12000"/>
            </a:avLst>
          </a:prstGeom>
          <a:solidFill>
            <a:srgbClr val="D4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0" y="1554480"/>
            <a:ext cx="1828800" cy="548640"/>
          </a:xfrm>
          <a:prstGeom prst="rect">
            <a:avLst/>
          </a:prstGeom>
          <a:noFill/>
        </p:spPr>
        <p:txBody>
          <a:bodyPr wrap="none">
            <a:spAutoFit/>
          </a:bodyPr>
          <a:lstStyle/>
          <a:p>
            <a:pPr algn="ctr">
              <a:defRPr sz="2800" b="0">
                <a:solidFill>
                  <a:srgbClr val="2D2D2D"/>
                </a:solidFill>
                <a:latin typeface="Helvetica Neue"/>
              </a:defRPr>
            </a:pPr>
            <a:r>
              <a:t>🤝</a:t>
            </a:r>
          </a:p>
        </p:txBody>
      </p:sp>
      <p:sp>
        <p:nvSpPr>
          <p:cNvPr id="17" name="TextBox 16"/>
          <p:cNvSpPr txBox="1"/>
          <p:nvPr/>
        </p:nvSpPr>
        <p:spPr>
          <a:xfrm>
            <a:off x="7452360" y="2103120"/>
            <a:ext cx="1874519" cy="457200"/>
          </a:xfrm>
          <a:prstGeom prst="rect">
            <a:avLst/>
          </a:prstGeom>
          <a:noFill/>
        </p:spPr>
        <p:txBody>
          <a:bodyPr wrap="none">
            <a:spAutoFit/>
          </a:bodyPr>
          <a:lstStyle/>
          <a:p>
            <a:pPr algn="ctr">
              <a:defRPr sz="1500" b="1">
                <a:solidFill>
                  <a:srgbClr val="2D2D2D"/>
                </a:solidFill>
                <a:latin typeface="Helvetica Neue"/>
              </a:defRPr>
            </a:pPr>
            <a:r>
              <a:t>Gesamtschule</a:t>
            </a:r>
          </a:p>
        </p:txBody>
      </p:sp>
      <p:sp>
        <p:nvSpPr>
          <p:cNvPr id="18" name="TextBox 17"/>
          <p:cNvSpPr txBox="1"/>
          <p:nvPr/>
        </p:nvSpPr>
        <p:spPr>
          <a:xfrm>
            <a:off x="7452360" y="2651760"/>
            <a:ext cx="1874519" cy="2926080"/>
          </a:xfrm>
          <a:prstGeom prst="rect">
            <a:avLst/>
          </a:prstGeom>
          <a:noFill/>
        </p:spPr>
        <p:txBody>
          <a:bodyPr wrap="square">
            <a:spAutoFit/>
          </a:bodyPr>
          <a:lstStyle/>
          <a:p>
            <a:pPr algn="ctr">
              <a:defRPr sz="1300" b="0">
                <a:solidFill>
                  <a:srgbClr val="666666"/>
                </a:solidFill>
                <a:latin typeface="Helvetica Neue"/>
              </a:defRPr>
            </a:pPr>
            <a:r>
              <a:t>Länger gemeinsam lernen, individuelle Förderung</a:t>
            </a:r>
          </a:p>
        </p:txBody>
      </p:sp>
      <p:sp>
        <p:nvSpPr>
          <p:cNvPr id="19" name="Rounded Rectangle 18"/>
          <p:cNvSpPr/>
          <p:nvPr/>
        </p:nvSpPr>
        <p:spPr>
          <a:xfrm>
            <a:off x="9601200" y="1371600"/>
            <a:ext cx="2148840" cy="4572000"/>
          </a:xfrm>
          <a:prstGeom prst="roundRect">
            <a:avLst>
              <a:gd name="adj" fmla="val 12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1554480"/>
            <a:ext cx="1828800" cy="548640"/>
          </a:xfrm>
          <a:prstGeom prst="rect">
            <a:avLst/>
          </a:prstGeom>
          <a:noFill/>
        </p:spPr>
        <p:txBody>
          <a:bodyPr wrap="none">
            <a:spAutoFit/>
          </a:bodyPr>
          <a:lstStyle/>
          <a:p>
            <a:pPr algn="ctr">
              <a:defRPr sz="2800" b="0">
                <a:solidFill>
                  <a:srgbClr val="2D2D2D"/>
                </a:solidFill>
                <a:latin typeface="Helvetica Neue"/>
              </a:defRPr>
            </a:pPr>
            <a:r>
              <a:t>🏭</a:t>
            </a:r>
          </a:p>
        </p:txBody>
      </p:sp>
      <p:sp>
        <p:nvSpPr>
          <p:cNvPr id="21" name="TextBox 20"/>
          <p:cNvSpPr txBox="1"/>
          <p:nvPr/>
        </p:nvSpPr>
        <p:spPr>
          <a:xfrm>
            <a:off x="9738360" y="2103120"/>
            <a:ext cx="1874519" cy="457200"/>
          </a:xfrm>
          <a:prstGeom prst="rect">
            <a:avLst/>
          </a:prstGeom>
          <a:noFill/>
        </p:spPr>
        <p:txBody>
          <a:bodyPr wrap="none">
            <a:spAutoFit/>
          </a:bodyPr>
          <a:lstStyle/>
          <a:p>
            <a:pPr algn="ctr">
              <a:defRPr sz="1500" b="1">
                <a:solidFill>
                  <a:srgbClr val="2D2D2D"/>
                </a:solidFill>
                <a:latin typeface="Helvetica Neue"/>
              </a:defRPr>
            </a:pPr>
            <a:r>
              <a:t>Berufliche Schule</a:t>
            </a:r>
          </a:p>
        </p:txBody>
      </p:sp>
      <p:sp>
        <p:nvSpPr>
          <p:cNvPr id="22" name="TextBox 21"/>
          <p:cNvSpPr txBox="1"/>
          <p:nvPr/>
        </p:nvSpPr>
        <p:spPr>
          <a:xfrm>
            <a:off x="9738360" y="2651760"/>
            <a:ext cx="1874519" cy="2926080"/>
          </a:xfrm>
          <a:prstGeom prst="rect">
            <a:avLst/>
          </a:prstGeom>
          <a:noFill/>
        </p:spPr>
        <p:txBody>
          <a:bodyPr wrap="square">
            <a:spAutoFit/>
          </a:bodyPr>
          <a:lstStyle/>
          <a:p>
            <a:pPr algn="ctr">
              <a:defRPr sz="1300" b="0">
                <a:solidFill>
                  <a:srgbClr val="666666"/>
                </a:solidFill>
                <a:latin typeface="Helvetica Neue"/>
              </a:defRPr>
            </a:pPr>
            <a:r>
              <a:t>Duales Ausbildungssystem, Praxis + Theorie</a:t>
            </a:r>
          </a:p>
        </p:txBody>
      </p:sp>
    </p:spTree>
  </p:cSld>
  <p:clrMapOvr>
    <a:masterClrMapping/>
  </p:clrMapOvr>
  <p:transition spd="med">
    <p:fade/>
  </p:transition>
</p:sld>
</file>

<file path=ppt/slides/slide5.xml><?xml version="1.0" encoding="utf-8"?>
<p:sld xmlns:a="http://schemas.openxmlformats.org/drawingml/2006/main" xmlns:ns2="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Leistungsdruck und Wohlbefinden</a:t>
            </a:r>
          </a:p>
        </p:txBody>
      </p:sp>
      <p:pic>
        <p:nvPicPr>
          <p:cNvPr id="3" name="Picture 2" descr="stress.png"/>
          <p:cNvPicPr>
            <a:picLocks noChangeAspect="1"/>
          </p:cNvPicPr>
          <p:nvPr/>
        </p:nvPicPr>
        <p:blipFill>
          <a:blip ns2:embed="rId2"/>
          <a:stretch>
            <a:fillRect/>
          </a:stretch>
        </p:blipFill>
        <p:spPr>
          <a:xfrm>
            <a:off x="9875520" y="1097280"/>
            <a:ext cx="1828800" cy="2286000"/>
          </a:xfrm>
          <a:prstGeom prst="rect">
            <a:avLst/>
          </a:prstGeom>
        </p:spPr>
      </p:pic>
      <p:sp>
        <p:nvSpPr>
          <p:cNvPr id="4" name="Rounded Rectangle 3"/>
          <p:cNvSpPr/>
          <p:nvPr/>
        </p:nvSpPr>
        <p:spPr>
          <a:xfrm>
            <a:off x="640080" y="1188720"/>
            <a:ext cx="5029200" cy="3200400"/>
          </a:xfrm>
          <a:prstGeom prst="roundRect">
            <a:avLst>
              <a:gd name="adj" fmla="val 12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4572000" cy="457200"/>
          </a:xfrm>
          <a:prstGeom prst="rect">
            <a:avLst/>
          </a:prstGeom>
          <a:noFill/>
        </p:spPr>
        <p:txBody>
          <a:bodyPr wrap="none">
            <a:spAutoFit/>
          </a:bodyPr>
          <a:lstStyle/>
          <a:p>
            <a:pPr algn="l">
              <a:defRPr sz="2000" b="1">
                <a:solidFill>
                  <a:srgbClr val="2D2D2D"/>
                </a:solidFill>
                <a:latin typeface="Helvetica Neue"/>
              </a:defRPr>
            </a:pPr>
            <a:r>
              <a:t>Leistungsdruck</a:t>
            </a:r>
          </a:p>
        </p:txBody>
      </p:sp>
      <p:sp>
        <p:nvSpPr>
          <p:cNvPr id="6" name="TextBox 5"/>
          <p:cNvSpPr txBox="1"/>
          <p:nvPr/>
        </p:nvSpPr>
        <p:spPr>
          <a:xfrm>
            <a:off x="914400" y="1828800"/>
            <a:ext cx="4389120" cy="2286000"/>
          </a:xfrm>
          <a:prstGeom prst="rect">
            <a:avLst/>
          </a:prstGeom>
          <a:noFill/>
        </p:spPr>
        <p:txBody>
          <a:bodyPr wrap="square">
            <a:spAutoFit/>
          </a:bodyPr>
          <a:lstStyle/>
          <a:p>
            <a:pPr>
              <a:spcAft>
                <a:spcPts val="800"/>
              </a:spcAft>
              <a:defRPr sz="1600">
                <a:solidFill>
                  <a:srgbClr val="2D2D2D"/>
                </a:solidFill>
                <a:latin typeface="Helvetica Neue"/>
              </a:defRPr>
            </a:pPr>
            <a:r>
              <a:t>Noten</a:t>
            </a:r>
          </a:p>
          <a:p>
            <a:pPr>
              <a:spcAft>
                <a:spcPts val="800"/>
              </a:spcAft>
              <a:defRPr sz="1600">
                <a:solidFill>
                  <a:srgbClr val="2D2D2D"/>
                </a:solidFill>
                <a:latin typeface="Helvetica Neue"/>
              </a:defRPr>
            </a:pPr>
            <a:r>
              <a:t>Prüfungen</a:t>
            </a:r>
          </a:p>
          <a:p>
            <a:pPr>
              <a:spcAft>
                <a:spcPts val="800"/>
              </a:spcAft>
              <a:defRPr sz="1600">
                <a:solidFill>
                  <a:srgbClr val="2D2D2D"/>
                </a:solidFill>
                <a:latin typeface="Helvetica Neue"/>
              </a:defRPr>
            </a:pPr>
            <a:r>
              <a:t>Konkurrenz</a:t>
            </a:r>
          </a:p>
          <a:p>
            <a:pPr>
              <a:spcAft>
                <a:spcPts val="800"/>
              </a:spcAft>
              <a:defRPr sz="1600">
                <a:solidFill>
                  <a:srgbClr val="2D2D2D"/>
                </a:solidFill>
                <a:latin typeface="Helvetica Neue"/>
              </a:defRPr>
            </a:pPr>
            <a:r>
              <a:t>Erwartungen</a:t>
            </a:r>
          </a:p>
        </p:txBody>
      </p:sp>
      <p:sp>
        <p:nvSpPr>
          <p:cNvPr id="7" name="Rounded Rectangle 6"/>
          <p:cNvSpPr/>
          <p:nvPr/>
        </p:nvSpPr>
        <p:spPr>
          <a:xfrm>
            <a:off x="5943600" y="1188720"/>
            <a:ext cx="5029200" cy="3200400"/>
          </a:xfrm>
          <a:prstGeom prst="roundRect">
            <a:avLst>
              <a:gd name="adj" fmla="val 12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371600"/>
            <a:ext cx="4572000" cy="457200"/>
          </a:xfrm>
          <a:prstGeom prst="rect">
            <a:avLst/>
          </a:prstGeom>
          <a:noFill/>
        </p:spPr>
        <p:txBody>
          <a:bodyPr wrap="none">
            <a:spAutoFit/>
          </a:bodyPr>
          <a:lstStyle/>
          <a:p>
            <a:pPr algn="l">
              <a:defRPr sz="2000" b="1">
                <a:solidFill>
                  <a:srgbClr val="2D2D2D"/>
                </a:solidFill>
                <a:latin typeface="Helvetica Neue"/>
              </a:defRPr>
            </a:pPr>
            <a:r>
              <a:t>Folgen</a:t>
            </a:r>
          </a:p>
        </p:txBody>
      </p:sp>
      <p:sp>
        <p:nvSpPr>
          <p:cNvPr id="9" name="TextBox 8"/>
          <p:cNvSpPr txBox="1"/>
          <p:nvPr/>
        </p:nvSpPr>
        <p:spPr>
          <a:xfrm>
            <a:off x="6217920" y="1828800"/>
            <a:ext cx="4389120" cy="2286000"/>
          </a:xfrm>
          <a:prstGeom prst="rect">
            <a:avLst/>
          </a:prstGeom>
          <a:noFill/>
        </p:spPr>
        <p:txBody>
          <a:bodyPr wrap="square">
            <a:spAutoFit/>
          </a:bodyPr>
          <a:lstStyle/>
          <a:p>
            <a:pPr>
              <a:spcAft>
                <a:spcPts val="800"/>
              </a:spcAft>
              <a:defRPr sz="1600">
                <a:solidFill>
                  <a:srgbClr val="2D2D2D"/>
                </a:solidFill>
                <a:latin typeface="Helvetica Neue"/>
              </a:defRPr>
            </a:pPr>
            <a:r>
              <a:t>Stress</a:t>
            </a:r>
          </a:p>
          <a:p>
            <a:pPr>
              <a:spcAft>
                <a:spcPts val="800"/>
              </a:spcAft>
              <a:defRPr sz="1600">
                <a:solidFill>
                  <a:srgbClr val="2D2D2D"/>
                </a:solidFill>
                <a:latin typeface="Helvetica Neue"/>
              </a:defRPr>
            </a:pPr>
            <a:r>
              <a:t>Schlafprobleme</a:t>
            </a:r>
          </a:p>
          <a:p>
            <a:pPr>
              <a:spcAft>
                <a:spcPts val="800"/>
              </a:spcAft>
              <a:defRPr sz="1600">
                <a:solidFill>
                  <a:srgbClr val="2D2D2D"/>
                </a:solidFill>
                <a:latin typeface="Helvetica Neue"/>
              </a:defRPr>
            </a:pPr>
            <a:r>
              <a:t>Unsicherheit</a:t>
            </a:r>
          </a:p>
          <a:p>
            <a:pPr>
              <a:spcAft>
                <a:spcPts val="800"/>
              </a:spcAft>
              <a:defRPr sz="1600">
                <a:solidFill>
                  <a:srgbClr val="2D2D2D"/>
                </a:solidFill>
                <a:latin typeface="Helvetica Neue"/>
              </a:defRPr>
            </a:pPr>
            <a:r>
              <a:t>Geringeres Selbstwertgefühl</a:t>
            </a:r>
          </a:p>
        </p:txBody>
      </p:sp>
      <p:sp>
        <p:nvSpPr>
          <p:cNvPr id="10" name="Rounded Rectangle 9"/>
          <p:cNvSpPr/>
          <p:nvPr/>
        </p:nvSpPr>
        <p:spPr>
          <a:xfrm>
            <a:off x="640080" y="4754880"/>
            <a:ext cx="10789920" cy="1371600"/>
          </a:xfrm>
          <a:prstGeom prst="roundRect">
            <a:avLst>
              <a:gd name="adj" fmla="val 12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029200"/>
            <a:ext cx="10241280" cy="914400"/>
          </a:xfrm>
          <a:prstGeom prst="rect">
            <a:avLst/>
          </a:prstGeom>
          <a:noFill/>
        </p:spPr>
        <p:txBody>
          <a:bodyPr wrap="none">
            <a:spAutoFit/>
          </a:bodyPr>
          <a:lstStyle/>
          <a:p>
            <a:pPr algn="ctr">
              <a:defRPr sz="1700" b="1">
                <a:solidFill>
                  <a:srgbClr val="2D2D2D"/>
                </a:solidFill>
                <a:latin typeface="Helvetica Neue"/>
              </a:defRPr>
            </a:pPr>
            <a:r>
              <a:t>"Leistungsdruck kann Motivation fördern, aber auch das Wohlbefinden beeinträchtigen."</a:t>
            </a:r>
          </a:p>
        </p:txBody>
      </p:sp>
    </p:spTree>
  </p:cSld>
  <p:clrMapOvr>
    <a:masterClrMapping/>
  </p:clrMapOvr>
  <p:transition spd="med">
    <p:zoom/>
  </p:transition>
</p:sld>
</file>

<file path=ppt/slides/slide6.xml><?xml version="1.0" encoding="utf-8"?>
<p:sld xmlns:a="http://schemas.openxmlformats.org/drawingml/2006/main" xmlns:ns2="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Schulklima</a:t>
            </a:r>
          </a:p>
        </p:txBody>
      </p:sp>
      <p:pic>
        <p:nvPicPr>
          <p:cNvPr id="3" name="Picture 2" descr="conversation.png"/>
          <p:cNvPicPr>
            <a:picLocks noChangeAspect="1"/>
          </p:cNvPicPr>
          <p:nvPr/>
        </p:nvPicPr>
        <p:blipFill>
          <a:blip ns2:embed="rId2"/>
          <a:stretch>
            <a:fillRect/>
          </a:stretch>
        </p:blipFill>
        <p:spPr>
          <a:xfrm>
            <a:off x="8961120" y="914400"/>
            <a:ext cx="2743200" cy="1828800"/>
          </a:xfrm>
          <a:prstGeom prst="rect">
            <a:avLst/>
          </a:prstGeom>
        </p:spPr>
      </p:pic>
      <p:sp>
        <p:nvSpPr>
          <p:cNvPr id="4" name="Rounded Rectangle 3"/>
          <p:cNvSpPr/>
          <p:nvPr/>
        </p:nvSpPr>
        <p:spPr>
          <a:xfrm>
            <a:off x="548640" y="1280160"/>
            <a:ext cx="3474720" cy="4572000"/>
          </a:xfrm>
          <a:prstGeom prst="roundRect">
            <a:avLst>
              <a:gd name="adj" fmla="val 12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3108960" cy="640080"/>
          </a:xfrm>
          <a:prstGeom prst="rect">
            <a:avLst/>
          </a:prstGeom>
          <a:noFill/>
        </p:spPr>
        <p:txBody>
          <a:bodyPr wrap="none">
            <a:spAutoFit/>
          </a:bodyPr>
          <a:lstStyle/>
          <a:p>
            <a:pPr algn="ctr">
              <a:defRPr sz="1700" b="1">
                <a:solidFill>
                  <a:srgbClr val="2D2D2D"/>
                </a:solidFill>
                <a:latin typeface="Helvetica Neue"/>
              </a:defRPr>
            </a:pPr>
            <a:r>
              <a:t>Lehrer-Schüler-Verhältnis</a:t>
            </a:r>
          </a:p>
        </p:txBody>
      </p:sp>
      <p:sp>
        <p:nvSpPr>
          <p:cNvPr id="6" name="TextBox 5"/>
          <p:cNvSpPr txBox="1"/>
          <p:nvPr/>
        </p:nvSpPr>
        <p:spPr>
          <a:xfrm>
            <a:off x="777240" y="2286000"/>
            <a:ext cx="3017520" cy="3200400"/>
          </a:xfrm>
          <a:prstGeom prst="rect">
            <a:avLst/>
          </a:prstGeom>
          <a:noFill/>
        </p:spPr>
        <p:txBody>
          <a:bodyPr wrap="square">
            <a:spAutoFit/>
          </a:bodyPr>
          <a:lstStyle/>
          <a:p>
            <a:pPr>
              <a:spcAft>
                <a:spcPts val="800"/>
              </a:spcAft>
              <a:defRPr sz="1400">
                <a:solidFill>
                  <a:srgbClr val="2D2D2D"/>
                </a:solidFill>
                <a:latin typeface="Helvetica Neue"/>
              </a:defRPr>
            </a:pPr>
            <a:r>
              <a:t>Ernst genommen werden</a:t>
            </a:r>
          </a:p>
          <a:p>
            <a:pPr>
              <a:spcAft>
                <a:spcPts val="800"/>
              </a:spcAft>
              <a:defRPr sz="1400">
                <a:solidFill>
                  <a:srgbClr val="2D2D2D"/>
                </a:solidFill>
                <a:latin typeface="Helvetica Neue"/>
              </a:defRPr>
            </a:pPr>
            <a:r>
              <a:t>Unterstützung erhalten</a:t>
            </a:r>
          </a:p>
          <a:p>
            <a:pPr>
              <a:spcAft>
                <a:spcPts val="800"/>
              </a:spcAft>
              <a:defRPr sz="1400">
                <a:solidFill>
                  <a:srgbClr val="2D2D2D"/>
                </a:solidFill>
                <a:latin typeface="Helvetica Neue"/>
              </a:defRPr>
            </a:pPr>
            <a:r>
              <a:t>Respektvolles Miteinander</a:t>
            </a:r>
          </a:p>
        </p:txBody>
      </p:sp>
      <p:sp>
        <p:nvSpPr>
          <p:cNvPr id="7" name="Rounded Rectangle 6"/>
          <p:cNvSpPr/>
          <p:nvPr/>
        </p:nvSpPr>
        <p:spPr>
          <a:xfrm>
            <a:off x="4297679" y="1280160"/>
            <a:ext cx="3474720" cy="4572000"/>
          </a:xfrm>
          <a:prstGeom prst="roundRect">
            <a:avLst>
              <a:gd name="adj" fmla="val 12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59" y="1463040"/>
            <a:ext cx="3108960" cy="640080"/>
          </a:xfrm>
          <a:prstGeom prst="rect">
            <a:avLst/>
          </a:prstGeom>
          <a:noFill/>
        </p:spPr>
        <p:txBody>
          <a:bodyPr wrap="none">
            <a:spAutoFit/>
          </a:bodyPr>
          <a:lstStyle/>
          <a:p>
            <a:pPr algn="ctr">
              <a:defRPr sz="1700" b="1">
                <a:solidFill>
                  <a:srgbClr val="2D2D2D"/>
                </a:solidFill>
                <a:latin typeface="Helvetica Neue"/>
              </a:defRPr>
            </a:pPr>
            <a:r>
              <a:t>Mitbestimmung</a:t>
            </a:r>
          </a:p>
        </p:txBody>
      </p:sp>
      <p:sp>
        <p:nvSpPr>
          <p:cNvPr id="9" name="TextBox 8"/>
          <p:cNvSpPr txBox="1"/>
          <p:nvPr/>
        </p:nvSpPr>
        <p:spPr>
          <a:xfrm>
            <a:off x="4526279" y="2286000"/>
            <a:ext cx="3017520" cy="3200400"/>
          </a:xfrm>
          <a:prstGeom prst="rect">
            <a:avLst/>
          </a:prstGeom>
          <a:noFill/>
        </p:spPr>
        <p:txBody>
          <a:bodyPr wrap="square">
            <a:spAutoFit/>
          </a:bodyPr>
          <a:lstStyle/>
          <a:p>
            <a:pPr>
              <a:spcAft>
                <a:spcPts val="800"/>
              </a:spcAft>
              <a:defRPr sz="1400">
                <a:solidFill>
                  <a:srgbClr val="2D2D2D"/>
                </a:solidFill>
                <a:latin typeface="Helvetica Neue"/>
              </a:defRPr>
            </a:pPr>
            <a:r>
              <a:t>Schülervertretung &amp; Klassenrat</a:t>
            </a:r>
          </a:p>
          <a:p>
            <a:pPr>
              <a:spcAft>
                <a:spcPts val="800"/>
              </a:spcAft>
              <a:defRPr sz="1400">
                <a:solidFill>
                  <a:srgbClr val="2D2D2D"/>
                </a:solidFill>
                <a:latin typeface="Helvetica Neue"/>
              </a:defRPr>
            </a:pPr>
            <a:r>
              <a:t>Selbstwirksamkeit stärken</a:t>
            </a:r>
          </a:p>
          <a:p>
            <a:pPr>
              <a:spcAft>
                <a:spcPts val="800"/>
              </a:spcAft>
              <a:defRPr sz="1400">
                <a:solidFill>
                  <a:srgbClr val="2D2D2D"/>
                </a:solidFill>
                <a:latin typeface="Helvetica Neue"/>
              </a:defRPr>
            </a:pPr>
            <a:r>
              <a:t>Aktive Beteiligung</a:t>
            </a:r>
          </a:p>
        </p:txBody>
      </p:sp>
      <p:sp>
        <p:nvSpPr>
          <p:cNvPr id="10" name="Rounded Rectangle 9"/>
          <p:cNvSpPr/>
          <p:nvPr/>
        </p:nvSpPr>
        <p:spPr>
          <a:xfrm>
            <a:off x="8046718" y="1280160"/>
            <a:ext cx="3474720" cy="4572000"/>
          </a:xfrm>
          <a:prstGeom prst="roundRect">
            <a:avLst>
              <a:gd name="adj" fmla="val 12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8" y="1463040"/>
            <a:ext cx="3108960" cy="640080"/>
          </a:xfrm>
          <a:prstGeom prst="rect">
            <a:avLst/>
          </a:prstGeom>
          <a:noFill/>
        </p:spPr>
        <p:txBody>
          <a:bodyPr wrap="none">
            <a:spAutoFit/>
          </a:bodyPr>
          <a:lstStyle/>
          <a:p>
            <a:pPr algn="ctr">
              <a:defRPr sz="1700" b="1">
                <a:solidFill>
                  <a:srgbClr val="2D2D2D"/>
                </a:solidFill>
                <a:latin typeface="Helvetica Neue"/>
              </a:defRPr>
            </a:pPr>
            <a:r>
              <a:t>Feedbackkultur</a:t>
            </a:r>
          </a:p>
        </p:txBody>
      </p:sp>
      <p:sp>
        <p:nvSpPr>
          <p:cNvPr id="12" name="TextBox 11"/>
          <p:cNvSpPr txBox="1"/>
          <p:nvPr/>
        </p:nvSpPr>
        <p:spPr>
          <a:xfrm>
            <a:off x="8275318" y="2286000"/>
            <a:ext cx="3017520" cy="3200400"/>
          </a:xfrm>
          <a:prstGeom prst="rect">
            <a:avLst/>
          </a:prstGeom>
          <a:noFill/>
        </p:spPr>
        <p:txBody>
          <a:bodyPr wrap="square">
            <a:spAutoFit/>
          </a:bodyPr>
          <a:lstStyle/>
          <a:p>
            <a:pPr>
              <a:spcAft>
                <a:spcPts val="800"/>
              </a:spcAft>
              <a:defRPr sz="1400">
                <a:solidFill>
                  <a:srgbClr val="2D2D2D"/>
                </a:solidFill>
                <a:latin typeface="Helvetica Neue"/>
              </a:defRPr>
            </a:pPr>
            <a:r>
              <a:t>Qualitative Rückmeldungen</a:t>
            </a:r>
          </a:p>
          <a:p>
            <a:pPr>
              <a:spcAft>
                <a:spcPts val="800"/>
              </a:spcAft>
              <a:defRPr sz="1400">
                <a:solidFill>
                  <a:srgbClr val="2D2D2D"/>
                </a:solidFill>
                <a:latin typeface="Helvetica Neue"/>
              </a:defRPr>
            </a:pPr>
            <a:r>
              <a:t>Formative Bewertung</a:t>
            </a:r>
          </a:p>
          <a:p>
            <a:pPr>
              <a:spcAft>
                <a:spcPts val="800"/>
              </a:spcAft>
              <a:defRPr sz="1400">
                <a:solidFill>
                  <a:srgbClr val="2D2D2D"/>
                </a:solidFill>
                <a:latin typeface="Helvetica Neue"/>
              </a:defRPr>
            </a:pPr>
            <a:r>
              <a:t>Individuelle Entwicklung</a:t>
            </a:r>
          </a:p>
        </p:txBody>
      </p:sp>
    </p:spTree>
  </p:cSld>
  <p:clrMapOvr>
    <a:masterClrMapping/>
  </p:clrMapOvr>
  <p:transition spd="med">
    <p:push/>
  </p:transition>
</p:sld>
</file>

<file path=ppt/slides/slide7.xml><?xml version="1.0" encoding="utf-8"?>
<p:sld xmlns:a="http://schemas.openxmlformats.org/drawingml/2006/main" xmlns:p="http://schemas.openxmlformats.org/presentationml/2006/main">
  <p:cSld>
    <p:bg>
      <p:bgPr>
        <a:solidFill>
          <a:srgbClr val="FFD9E8"/>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Kurze Umfrage</a:t>
            </a:r>
          </a:p>
        </p:txBody>
      </p:sp>
      <p:sp>
        <p:nvSpPr>
          <p:cNvPr id="3" name="Rounded Rectangle 2"/>
          <p:cNvSpPr/>
          <p:nvPr/>
        </p:nvSpPr>
        <p:spPr>
          <a:xfrm>
            <a:off x="1371600" y="1371600"/>
            <a:ext cx="9418320" cy="137160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645920"/>
            <a:ext cx="8869680" cy="914400"/>
          </a:xfrm>
          <a:prstGeom prst="rect">
            <a:avLst/>
          </a:prstGeom>
          <a:noFill/>
        </p:spPr>
        <p:txBody>
          <a:bodyPr wrap="none">
            <a:spAutoFit/>
          </a:bodyPr>
          <a:lstStyle/>
          <a:p>
            <a:pPr algn="ctr">
              <a:defRPr sz="2200" b="1">
                <a:solidFill>
                  <a:srgbClr val="2D2D2D"/>
                </a:solidFill>
                <a:latin typeface="Helvetica Neue"/>
              </a:defRPr>
            </a:pPr>
            <a:r>
              <a:t>"Was beeinflusst euer Wohlbefinden in der Schule am stärksten?"</a:t>
            </a:r>
          </a:p>
        </p:txBody>
      </p:sp>
      <p:sp>
        <p:nvSpPr>
          <p:cNvPr id="5" name="Rounded Rectangle 4"/>
          <p:cNvSpPr/>
          <p:nvPr/>
        </p:nvSpPr>
        <p:spPr>
          <a:xfrm>
            <a:off x="914400" y="3200400"/>
            <a:ext cx="2468880" cy="1097280"/>
          </a:xfrm>
          <a:prstGeom prst="roundRect">
            <a:avLst>
              <a:gd name="adj" fmla="val 12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474720"/>
            <a:ext cx="2194560" cy="640080"/>
          </a:xfrm>
          <a:prstGeom prst="rect">
            <a:avLst/>
          </a:prstGeom>
          <a:noFill/>
        </p:spPr>
        <p:txBody>
          <a:bodyPr wrap="none">
            <a:spAutoFit/>
          </a:bodyPr>
          <a:lstStyle/>
          <a:p>
            <a:pPr algn="ctr">
              <a:defRPr sz="1600" b="1">
                <a:solidFill>
                  <a:srgbClr val="2D2D2D"/>
                </a:solidFill>
                <a:latin typeface="Helvetica Neue"/>
              </a:defRPr>
            </a:pPr>
            <a:r>
              <a:t>📚 Notendruck</a:t>
            </a:r>
          </a:p>
        </p:txBody>
      </p:sp>
      <p:sp>
        <p:nvSpPr>
          <p:cNvPr id="7" name="Rounded Rectangle 6"/>
          <p:cNvSpPr/>
          <p:nvPr/>
        </p:nvSpPr>
        <p:spPr>
          <a:xfrm>
            <a:off x="3611880" y="3200400"/>
            <a:ext cx="2468880" cy="1097280"/>
          </a:xfrm>
          <a:prstGeom prst="roundRect">
            <a:avLst>
              <a:gd name="adj" fmla="val 12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40" y="3474720"/>
            <a:ext cx="2194560" cy="640080"/>
          </a:xfrm>
          <a:prstGeom prst="rect">
            <a:avLst/>
          </a:prstGeom>
          <a:noFill/>
        </p:spPr>
        <p:txBody>
          <a:bodyPr wrap="none">
            <a:spAutoFit/>
          </a:bodyPr>
          <a:lstStyle/>
          <a:p>
            <a:pPr algn="ctr">
              <a:defRPr sz="1600" b="1">
                <a:solidFill>
                  <a:srgbClr val="2D2D2D"/>
                </a:solidFill>
                <a:latin typeface="Helvetica Neue"/>
              </a:defRPr>
            </a:pPr>
            <a:r>
              <a:t>👩‍🏫 Lehrkräfte</a:t>
            </a:r>
          </a:p>
        </p:txBody>
      </p:sp>
      <p:sp>
        <p:nvSpPr>
          <p:cNvPr id="9" name="Rounded Rectangle 8"/>
          <p:cNvSpPr/>
          <p:nvPr/>
        </p:nvSpPr>
        <p:spPr>
          <a:xfrm>
            <a:off x="6309360" y="3200400"/>
            <a:ext cx="2468880" cy="1097280"/>
          </a:xfrm>
          <a:prstGeom prst="roundRect">
            <a:avLst>
              <a:gd name="adj" fmla="val 12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3474720"/>
            <a:ext cx="2194560" cy="640080"/>
          </a:xfrm>
          <a:prstGeom prst="rect">
            <a:avLst/>
          </a:prstGeom>
          <a:noFill/>
        </p:spPr>
        <p:txBody>
          <a:bodyPr wrap="none">
            <a:spAutoFit/>
          </a:bodyPr>
          <a:lstStyle/>
          <a:p>
            <a:pPr algn="ctr">
              <a:defRPr sz="1600" b="1">
                <a:solidFill>
                  <a:srgbClr val="2D2D2D"/>
                </a:solidFill>
                <a:latin typeface="Helvetica Neue"/>
              </a:defRPr>
            </a:pPr>
            <a:r>
              <a:t>👥 Mitschüler</a:t>
            </a:r>
          </a:p>
        </p:txBody>
      </p:sp>
      <p:sp>
        <p:nvSpPr>
          <p:cNvPr id="11" name="Rounded Rectangle 10"/>
          <p:cNvSpPr/>
          <p:nvPr/>
        </p:nvSpPr>
        <p:spPr>
          <a:xfrm>
            <a:off x="9006840" y="3200400"/>
            <a:ext cx="2468880" cy="1097280"/>
          </a:xfrm>
          <a:prstGeom prst="roundRect">
            <a:avLst>
              <a:gd name="adj" fmla="val 12000"/>
            </a:avLst>
          </a:prstGeom>
          <a:solidFill>
            <a:srgbClr val="D4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3474720"/>
            <a:ext cx="2194560" cy="640080"/>
          </a:xfrm>
          <a:prstGeom prst="rect">
            <a:avLst/>
          </a:prstGeom>
          <a:noFill/>
        </p:spPr>
        <p:txBody>
          <a:bodyPr wrap="none">
            <a:spAutoFit/>
          </a:bodyPr>
          <a:lstStyle/>
          <a:p>
            <a:pPr algn="ctr">
              <a:defRPr sz="1600" b="1">
                <a:solidFill>
                  <a:srgbClr val="2D2D2D"/>
                </a:solidFill>
                <a:latin typeface="Helvetica Neue"/>
              </a:defRPr>
            </a:pPr>
            <a:r>
              <a:t>🕒 Zeitstress</a:t>
            </a:r>
          </a:p>
        </p:txBody>
      </p:sp>
      <p:sp>
        <p:nvSpPr>
          <p:cNvPr id="13" name="TextBox 12"/>
          <p:cNvSpPr txBox="1"/>
          <p:nvPr/>
        </p:nvSpPr>
        <p:spPr>
          <a:xfrm>
            <a:off x="1371600" y="4572000"/>
            <a:ext cx="9144000" cy="457200"/>
          </a:xfrm>
          <a:prstGeom prst="rect">
            <a:avLst/>
          </a:prstGeom>
          <a:noFill/>
        </p:spPr>
        <p:txBody>
          <a:bodyPr wrap="none">
            <a:spAutoFit/>
          </a:bodyPr>
          <a:lstStyle/>
          <a:p>
            <a:pPr algn="ctr">
              <a:defRPr sz="1800" b="0">
                <a:solidFill>
                  <a:srgbClr val="666666"/>
                </a:solidFill>
                <a:latin typeface="Helvetica Neue"/>
              </a:defRPr>
            </a:pPr>
            <a:r>
              <a:t>Kurzes Handzeichen</a:t>
            </a:r>
          </a:p>
        </p:txBody>
      </p:sp>
      <p:sp>
        <p:nvSpPr>
          <p:cNvPr id="14" name="Rounded Rectangle 13"/>
          <p:cNvSpPr/>
          <p:nvPr/>
        </p:nvSpPr>
        <p:spPr>
          <a:xfrm>
            <a:off x="1371600" y="5212080"/>
            <a:ext cx="9418320" cy="91440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5920" y="5440680"/>
            <a:ext cx="8869680" cy="548640"/>
          </a:xfrm>
          <a:prstGeom prst="rect">
            <a:avLst/>
          </a:prstGeom>
          <a:noFill/>
        </p:spPr>
        <p:txBody>
          <a:bodyPr wrap="none">
            <a:spAutoFit/>
          </a:bodyPr>
          <a:lstStyle/>
          <a:p>
            <a:pPr algn="ctr">
              <a:defRPr sz="1700" b="1">
                <a:solidFill>
                  <a:srgbClr val="2D2D2D"/>
                </a:solidFill>
                <a:latin typeface="Helvetica Neue"/>
              </a:defRPr>
            </a:pPr>
            <a:r>
              <a:t>Alle Faktoren spielen laut Facharbeit eine wichtige Rolle.</a:t>
            </a:r>
          </a:p>
        </p:txBody>
      </p:sp>
    </p:spTree>
  </p:cSld>
  <p:clrMapOvr>
    <a:masterClrMapping/>
  </p:clrMapOvr>
  <p:transition spd="med">
    <p:randomBar/>
  </p:transition>
</p:sld>
</file>

<file path=ppt/slides/slide8.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Internationaler Vergleich</a:t>
            </a:r>
          </a:p>
        </p:txBody>
      </p:sp>
      <p:sp>
        <p:nvSpPr>
          <p:cNvPr id="3" name="Rounded Rectangle 2"/>
          <p:cNvSpPr/>
          <p:nvPr/>
        </p:nvSpPr>
        <p:spPr>
          <a:xfrm>
            <a:off x="640080" y="1280160"/>
            <a:ext cx="3474720" cy="4114800"/>
          </a:xfrm>
          <a:prstGeom prst="roundRect">
            <a:avLst>
              <a:gd name="adj" fmla="val 12000"/>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3108960" cy="548640"/>
          </a:xfrm>
          <a:prstGeom prst="rect">
            <a:avLst/>
          </a:prstGeom>
          <a:noFill/>
        </p:spPr>
        <p:txBody>
          <a:bodyPr wrap="none">
            <a:spAutoFit/>
          </a:bodyPr>
          <a:lstStyle/>
          <a:p>
            <a:pPr algn="ctr">
              <a:defRPr sz="1800" b="1">
                <a:solidFill>
                  <a:srgbClr val="2D2D2D"/>
                </a:solidFill>
                <a:latin typeface="Helvetica Neue"/>
              </a:defRPr>
            </a:pPr>
            <a:r>
              <a:t>Deutschland</a:t>
            </a:r>
          </a:p>
        </p:txBody>
      </p:sp>
      <p:sp>
        <p:nvSpPr>
          <p:cNvPr id="5" name="TextBox 4"/>
          <p:cNvSpPr txBox="1"/>
          <p:nvPr/>
        </p:nvSpPr>
        <p:spPr>
          <a:xfrm>
            <a:off x="868680" y="2194560"/>
            <a:ext cx="3017520" cy="2926080"/>
          </a:xfrm>
          <a:prstGeom prst="rect">
            <a:avLst/>
          </a:prstGeom>
          <a:noFill/>
        </p:spPr>
        <p:txBody>
          <a:bodyPr wrap="square">
            <a:spAutoFit/>
          </a:bodyPr>
          <a:lstStyle/>
          <a:p>
            <a:pPr>
              <a:spcAft>
                <a:spcPts val="800"/>
              </a:spcAft>
              <a:defRPr sz="1400">
                <a:solidFill>
                  <a:srgbClr val="2D2D2D"/>
                </a:solidFill>
                <a:latin typeface="Helvetica Neue"/>
              </a:defRPr>
            </a:pPr>
            <a:r>
              <a:t>Frühe Aufteilung nach der Grundschule</a:t>
            </a:r>
          </a:p>
          <a:p>
            <a:pPr>
              <a:spcAft>
                <a:spcPts val="800"/>
              </a:spcAft>
              <a:defRPr sz="1400">
                <a:solidFill>
                  <a:srgbClr val="2D2D2D"/>
                </a:solidFill>
                <a:latin typeface="Helvetica Neue"/>
              </a:defRPr>
            </a:pPr>
            <a:r>
              <a:t>Viele Noten und Prüfungen</a:t>
            </a:r>
          </a:p>
          <a:p>
            <a:pPr>
              <a:spcAft>
                <a:spcPts val="800"/>
              </a:spcAft>
              <a:defRPr sz="1400">
                <a:solidFill>
                  <a:srgbClr val="2D2D2D"/>
                </a:solidFill>
                <a:latin typeface="Helvetica Neue"/>
              </a:defRPr>
            </a:pPr>
            <a:r>
              <a:t>Starke Leistungsselektion</a:t>
            </a:r>
          </a:p>
        </p:txBody>
      </p:sp>
      <p:sp>
        <p:nvSpPr>
          <p:cNvPr id="6" name="Rounded Rectangle 5"/>
          <p:cNvSpPr/>
          <p:nvPr/>
        </p:nvSpPr>
        <p:spPr>
          <a:xfrm>
            <a:off x="4389119" y="1280160"/>
            <a:ext cx="3474720" cy="4114800"/>
          </a:xfrm>
          <a:prstGeom prst="roundRect">
            <a:avLst>
              <a:gd name="adj" fmla="val 12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1999" y="1463040"/>
            <a:ext cx="3108960" cy="548640"/>
          </a:xfrm>
          <a:prstGeom prst="rect">
            <a:avLst/>
          </a:prstGeom>
          <a:noFill/>
        </p:spPr>
        <p:txBody>
          <a:bodyPr wrap="none">
            <a:spAutoFit/>
          </a:bodyPr>
          <a:lstStyle/>
          <a:p>
            <a:pPr algn="ctr">
              <a:defRPr sz="1800" b="1">
                <a:solidFill>
                  <a:srgbClr val="2D2D2D"/>
                </a:solidFill>
                <a:latin typeface="Helvetica Neue"/>
              </a:defRPr>
            </a:pPr>
            <a:r>
              <a:t>Finnland</a:t>
            </a:r>
          </a:p>
        </p:txBody>
      </p:sp>
      <p:sp>
        <p:nvSpPr>
          <p:cNvPr id="8" name="TextBox 7"/>
          <p:cNvSpPr txBox="1"/>
          <p:nvPr/>
        </p:nvSpPr>
        <p:spPr>
          <a:xfrm>
            <a:off x="4617719" y="2194560"/>
            <a:ext cx="3017520" cy="2926080"/>
          </a:xfrm>
          <a:prstGeom prst="rect">
            <a:avLst/>
          </a:prstGeom>
          <a:noFill/>
        </p:spPr>
        <p:txBody>
          <a:bodyPr wrap="square">
            <a:spAutoFit/>
          </a:bodyPr>
          <a:lstStyle/>
          <a:p>
            <a:pPr>
              <a:spcAft>
                <a:spcPts val="800"/>
              </a:spcAft>
              <a:defRPr sz="1400">
                <a:solidFill>
                  <a:srgbClr val="2D2D2D"/>
                </a:solidFill>
                <a:latin typeface="Helvetica Neue"/>
              </a:defRPr>
            </a:pPr>
            <a:r>
              <a:t>Längeres gemeinsames Lernen</a:t>
            </a:r>
          </a:p>
          <a:p>
            <a:pPr>
              <a:spcAft>
                <a:spcPts val="800"/>
              </a:spcAft>
              <a:defRPr sz="1400">
                <a:solidFill>
                  <a:srgbClr val="2D2D2D"/>
                </a:solidFill>
                <a:latin typeface="Helvetica Neue"/>
              </a:defRPr>
            </a:pPr>
            <a:r>
              <a:t>Spätere Leistungsdifferenzierung</a:t>
            </a:r>
          </a:p>
          <a:p>
            <a:pPr>
              <a:spcAft>
                <a:spcPts val="800"/>
              </a:spcAft>
              <a:defRPr sz="1400">
                <a:solidFill>
                  <a:srgbClr val="2D2D2D"/>
                </a:solidFill>
                <a:latin typeface="Helvetica Neue"/>
              </a:defRPr>
            </a:pPr>
            <a:r>
              <a:t>Weniger standardisierte Tests</a:t>
            </a:r>
          </a:p>
        </p:txBody>
      </p:sp>
      <p:sp>
        <p:nvSpPr>
          <p:cNvPr id="9" name="Rounded Rectangle 8"/>
          <p:cNvSpPr/>
          <p:nvPr/>
        </p:nvSpPr>
        <p:spPr>
          <a:xfrm>
            <a:off x="8138158" y="1280160"/>
            <a:ext cx="3474720" cy="4114800"/>
          </a:xfrm>
          <a:prstGeom prst="roundRect">
            <a:avLst>
              <a:gd name="adj" fmla="val 12000"/>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38" y="1463040"/>
            <a:ext cx="3108960" cy="548640"/>
          </a:xfrm>
          <a:prstGeom prst="rect">
            <a:avLst/>
          </a:prstGeom>
          <a:noFill/>
        </p:spPr>
        <p:txBody>
          <a:bodyPr wrap="none">
            <a:spAutoFit/>
          </a:bodyPr>
          <a:lstStyle/>
          <a:p>
            <a:pPr algn="ctr">
              <a:defRPr sz="1800" b="1">
                <a:solidFill>
                  <a:srgbClr val="2D2D2D"/>
                </a:solidFill>
                <a:latin typeface="Helvetica Neue"/>
              </a:defRPr>
            </a:pPr>
            <a:r>
              <a:t>Angelsächsische Systeme</a:t>
            </a:r>
          </a:p>
        </p:txBody>
      </p:sp>
      <p:sp>
        <p:nvSpPr>
          <p:cNvPr id="11" name="TextBox 10"/>
          <p:cNvSpPr txBox="1"/>
          <p:nvPr/>
        </p:nvSpPr>
        <p:spPr>
          <a:xfrm>
            <a:off x="8366758" y="2194560"/>
            <a:ext cx="3017520" cy="2926080"/>
          </a:xfrm>
          <a:prstGeom prst="rect">
            <a:avLst/>
          </a:prstGeom>
          <a:noFill/>
        </p:spPr>
        <p:txBody>
          <a:bodyPr wrap="square">
            <a:spAutoFit/>
          </a:bodyPr>
          <a:lstStyle/>
          <a:p>
            <a:pPr>
              <a:spcAft>
                <a:spcPts val="800"/>
              </a:spcAft>
              <a:defRPr sz="1400">
                <a:solidFill>
                  <a:srgbClr val="2D2D2D"/>
                </a:solidFill>
                <a:latin typeface="Helvetica Neue"/>
              </a:defRPr>
            </a:pPr>
            <a:r>
              <a:t>Mehr Praxisorientierung</a:t>
            </a:r>
          </a:p>
          <a:p>
            <a:pPr>
              <a:spcAft>
                <a:spcPts val="800"/>
              </a:spcAft>
              <a:defRPr sz="1400">
                <a:solidFill>
                  <a:srgbClr val="2D2D2D"/>
                </a:solidFill>
                <a:latin typeface="Helvetica Neue"/>
              </a:defRPr>
            </a:pPr>
            <a:r>
              <a:t>Mehr Wahlmöglichkeiten</a:t>
            </a:r>
          </a:p>
          <a:p>
            <a:pPr>
              <a:spcAft>
                <a:spcPts val="800"/>
              </a:spcAft>
              <a:defRPr sz="1400">
                <a:solidFill>
                  <a:srgbClr val="2D2D2D"/>
                </a:solidFill>
                <a:latin typeface="Helvetica Neue"/>
              </a:defRPr>
            </a:pPr>
            <a:r>
              <a:t>Projektorientiertes Lernen</a:t>
            </a:r>
          </a:p>
        </p:txBody>
      </p:sp>
      <p:sp>
        <p:nvSpPr>
          <p:cNvPr id="12" name="Rounded Rectangle 11"/>
          <p:cNvSpPr/>
          <p:nvPr/>
        </p:nvSpPr>
        <p:spPr>
          <a:xfrm>
            <a:off x="2286000" y="5669280"/>
            <a:ext cx="7589520" cy="640080"/>
          </a:xfrm>
          <a:prstGeom prst="roundRect">
            <a:avLst>
              <a:gd name="adj" fmla="val 12000"/>
            </a:avLst>
          </a:prstGeom>
          <a:solidFill>
            <a:srgbClr val="FFFFFF"/>
          </a:solidFill>
          <a:ln w="12700">
            <a:solidFill>
              <a:srgbClr val="5BA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5806440"/>
            <a:ext cx="7223760" cy="457200"/>
          </a:xfrm>
          <a:prstGeom prst="rect">
            <a:avLst/>
          </a:prstGeom>
          <a:noFill/>
        </p:spPr>
        <p:txBody>
          <a:bodyPr wrap="none">
            <a:spAutoFit/>
          </a:bodyPr>
          <a:lstStyle/>
          <a:p>
            <a:pPr algn="ctr">
              <a:defRPr sz="1800" b="1">
                <a:solidFill>
                  <a:srgbClr val="2D2D2D"/>
                </a:solidFill>
                <a:latin typeface="Helvetica Neue"/>
              </a:defRPr>
            </a:pPr>
            <a:r>
              <a:t>Kein System ist perfekt.</a:t>
            </a:r>
          </a:p>
        </p:txBody>
      </p:sp>
    </p:spTree>
  </p:cSld>
  <p:clrMapOvr>
    <a:masterClrMapping/>
  </p:clrMapOvr>
  <p:transition spd="med">
    <p:zoom/>
  </p:transition>
</p:sld>
</file>

<file path=ppt/slides/slide9.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Stärken und Schwächen</a:t>
            </a:r>
          </a:p>
        </p:txBody>
      </p:sp>
      <p:sp>
        <p:nvSpPr>
          <p:cNvPr id="3" name="Rounded Rectangle 2"/>
          <p:cNvSpPr/>
          <p:nvPr/>
        </p:nvSpPr>
        <p:spPr>
          <a:xfrm>
            <a:off x="640080" y="1280160"/>
            <a:ext cx="5303520" cy="4754880"/>
          </a:xfrm>
          <a:prstGeom prst="roundRect">
            <a:avLst>
              <a:gd name="adj" fmla="val 12000"/>
            </a:avLst>
          </a:prstGeom>
          <a:solidFill>
            <a:srgbClr val="D4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4754880" cy="548640"/>
          </a:xfrm>
          <a:prstGeom prst="rect">
            <a:avLst/>
          </a:prstGeom>
          <a:noFill/>
        </p:spPr>
        <p:txBody>
          <a:bodyPr wrap="none">
            <a:spAutoFit/>
          </a:bodyPr>
          <a:lstStyle/>
          <a:p>
            <a:pPr algn="l">
              <a:defRPr sz="2400" b="1">
                <a:solidFill>
                  <a:srgbClr val="2D2D2D"/>
                </a:solidFill>
                <a:latin typeface="Helvetica Neue"/>
              </a:defRPr>
            </a:pPr>
            <a:r>
              <a:t>Stärken</a:t>
            </a:r>
          </a:p>
        </p:txBody>
      </p:sp>
      <p:sp>
        <p:nvSpPr>
          <p:cNvPr id="5" name="TextBox 4"/>
          <p:cNvSpPr txBox="1"/>
          <p:nvPr/>
        </p:nvSpPr>
        <p:spPr>
          <a:xfrm>
            <a:off x="914400" y="2286000"/>
            <a:ext cx="4754880" cy="3200400"/>
          </a:xfrm>
          <a:prstGeom prst="rect">
            <a:avLst/>
          </a:prstGeom>
          <a:noFill/>
        </p:spPr>
        <p:txBody>
          <a:bodyPr wrap="square">
            <a:spAutoFit/>
          </a:bodyPr>
          <a:lstStyle/>
          <a:p>
            <a:pPr>
              <a:spcAft>
                <a:spcPts val="800"/>
              </a:spcAft>
              <a:defRPr sz="1600">
                <a:solidFill>
                  <a:srgbClr val="2D2D2D"/>
                </a:solidFill>
                <a:latin typeface="Helvetica Neue"/>
              </a:defRPr>
            </a:pPr>
            <a:r>
              <a:t>Verschiedene Bildungswege ermöglichen gezielte Förderung</a:t>
            </a:r>
          </a:p>
          <a:p>
            <a:pPr>
              <a:spcAft>
                <a:spcPts val="800"/>
              </a:spcAft>
              <a:defRPr sz="1600">
                <a:solidFill>
                  <a:srgbClr val="2D2D2D"/>
                </a:solidFill>
                <a:latin typeface="Helvetica Neue"/>
              </a:defRPr>
            </a:pPr>
            <a:r>
              <a:t>Duales Ausbildungssystem erleichtert den Berufseinstieg</a:t>
            </a:r>
          </a:p>
          <a:p>
            <a:pPr>
              <a:spcAft>
                <a:spcPts val="800"/>
              </a:spcAft>
              <a:defRPr sz="1600">
                <a:solidFill>
                  <a:srgbClr val="2D2D2D"/>
                </a:solidFill>
                <a:latin typeface="Helvetica Neue"/>
              </a:defRPr>
            </a:pPr>
            <a:r>
              <a:t>Hohe akademische Standards im Gymnasium</a:t>
            </a:r>
          </a:p>
        </p:txBody>
      </p:sp>
      <p:sp>
        <p:nvSpPr>
          <p:cNvPr id="6" name="Rounded Rectangle 5"/>
          <p:cNvSpPr/>
          <p:nvPr/>
        </p:nvSpPr>
        <p:spPr>
          <a:xfrm>
            <a:off x="6217920" y="1280160"/>
            <a:ext cx="5303520" cy="4754880"/>
          </a:xfrm>
          <a:prstGeom prst="roundRect">
            <a:avLst>
              <a:gd name="adj" fmla="val 12000"/>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754880" cy="548640"/>
          </a:xfrm>
          <a:prstGeom prst="rect">
            <a:avLst/>
          </a:prstGeom>
          <a:noFill/>
        </p:spPr>
        <p:txBody>
          <a:bodyPr wrap="none">
            <a:spAutoFit/>
          </a:bodyPr>
          <a:lstStyle/>
          <a:p>
            <a:pPr algn="l">
              <a:defRPr sz="2400" b="1">
                <a:solidFill>
                  <a:srgbClr val="2D2D2D"/>
                </a:solidFill>
                <a:latin typeface="Helvetica Neue"/>
              </a:defRPr>
            </a:pPr>
            <a:r>
              <a:t>Schwächen</a:t>
            </a:r>
          </a:p>
        </p:txBody>
      </p:sp>
      <p:sp>
        <p:nvSpPr>
          <p:cNvPr id="8" name="TextBox 7"/>
          <p:cNvSpPr txBox="1"/>
          <p:nvPr/>
        </p:nvSpPr>
        <p:spPr>
          <a:xfrm>
            <a:off x="6492240" y="2286000"/>
            <a:ext cx="4754880" cy="3200400"/>
          </a:xfrm>
          <a:prstGeom prst="rect">
            <a:avLst/>
          </a:prstGeom>
          <a:noFill/>
        </p:spPr>
        <p:txBody>
          <a:bodyPr wrap="square">
            <a:spAutoFit/>
          </a:bodyPr>
          <a:lstStyle/>
          <a:p>
            <a:pPr>
              <a:spcAft>
                <a:spcPts val="800"/>
              </a:spcAft>
              <a:defRPr sz="1600">
                <a:solidFill>
                  <a:srgbClr val="2D2D2D"/>
                </a:solidFill>
                <a:latin typeface="Helvetica Neue"/>
              </a:defRPr>
            </a:pPr>
            <a:r>
              <a:t>Frühe Selektion nach der Grundschule</a:t>
            </a:r>
          </a:p>
          <a:p>
            <a:pPr>
              <a:spcAft>
                <a:spcPts val="800"/>
              </a:spcAft>
              <a:defRPr sz="1600">
                <a:solidFill>
                  <a:srgbClr val="2D2D2D"/>
                </a:solidFill>
                <a:latin typeface="Helvetica Neue"/>
              </a:defRPr>
            </a:pPr>
            <a:r>
              <a:t>Hoher Leistungsdruck durch Noten und Prüfungen</a:t>
            </a:r>
          </a:p>
          <a:p>
            <a:pPr>
              <a:spcAft>
                <a:spcPts val="800"/>
              </a:spcAft>
              <a:defRPr sz="1600">
                <a:solidFill>
                  <a:srgbClr val="2D2D2D"/>
                </a:solidFill>
                <a:latin typeface="Helvetica Neue"/>
              </a:defRPr>
            </a:pPr>
            <a:r>
              <a:t>Soziale Ungleichheiten und Segregation</a:t>
            </a:r>
          </a:p>
        </p:txBody>
      </p:sp>
    </p:spTree>
  </p:cSld>
  <p:clrMapOvr>
    <a:masterClrMapping/>
  </p:clrMapOvr>
  <p:transition spd="med">
    <p:push/>
  </p:transition>
</p:sld>
</file>

<file path=ppt/slides/slide10.xml><?xml version="1.0" encoding="utf-8"?>
<p:sld xmlns:a="http://schemas.openxmlformats.org/drawingml/2006/main" xmlns:ns2="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40080" y="411480"/>
            <a:ext cx="10789920" cy="822960"/>
          </a:xfrm>
          <a:prstGeom prst="rect">
            <a:avLst/>
          </a:prstGeom>
          <a:noFill/>
        </p:spPr>
        <p:txBody>
          <a:bodyPr wrap="none">
            <a:spAutoFit/>
          </a:bodyPr>
          <a:lstStyle/>
          <a:p>
            <a:pPr algn="l">
              <a:defRPr sz="4000" b="1">
                <a:solidFill>
                  <a:srgbClr val="2D2D2D"/>
                </a:solidFill>
                <a:latin typeface="Helvetica Neue"/>
              </a:defRPr>
            </a:pPr>
            <a:r>
              <a:t>Reformansätze</a:t>
            </a:r>
          </a:p>
        </p:txBody>
      </p:sp>
      <p:pic>
        <p:nvPicPr>
          <p:cNvPr id="3" name="Picture 2" descr="future.png"/>
          <p:cNvPicPr>
            <a:picLocks noChangeAspect="1"/>
          </p:cNvPicPr>
          <p:nvPr/>
        </p:nvPicPr>
        <p:blipFill>
          <a:blip ns2:embed="rId2"/>
          <a:stretch>
            <a:fillRect/>
          </a:stretch>
        </p:blipFill>
        <p:spPr>
          <a:xfrm>
            <a:off x="457200" y="5029200"/>
            <a:ext cx="11247120" cy="4820194"/>
          </a:xfrm>
          <a:prstGeom prst="rect">
            <a:avLst/>
          </a:prstGeom>
        </p:spPr>
      </p:pic>
      <p:sp>
        <p:nvSpPr>
          <p:cNvPr id="4" name="Oval 3"/>
          <p:cNvSpPr/>
          <p:nvPr/>
        </p:nvSpPr>
        <p:spPr>
          <a:xfrm>
            <a:off x="731520" y="1645920"/>
            <a:ext cx="3200400" cy="2011680"/>
          </a:xfrm>
          <a:prstGeom prst="ellipse">
            <a:avLst/>
          </a:prstGeom>
          <a:solidFill>
            <a:srgbClr val="CF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11680"/>
            <a:ext cx="2926080" cy="1097280"/>
          </a:xfrm>
          <a:prstGeom prst="rect">
            <a:avLst/>
          </a:prstGeom>
          <a:noFill/>
        </p:spPr>
        <p:txBody>
          <a:bodyPr wrap="square">
            <a:spAutoFit/>
          </a:bodyPr>
          <a:lstStyle/>
          <a:p>
            <a:pPr algn="ctr">
              <a:defRPr sz="1500" b="1">
                <a:solidFill>
                  <a:srgbClr val="2D2D2D"/>
                </a:solidFill>
                <a:latin typeface="Helvetica Neue"/>
              </a:defRPr>
            </a:pPr>
            <a:r>
              <a:t>Mehr Lebenskompetenzen</a:t>
            </a:r>
          </a:p>
        </p:txBody>
      </p:sp>
      <p:sp>
        <p:nvSpPr>
          <p:cNvPr id="6" name="TextBox 5"/>
          <p:cNvSpPr txBox="1"/>
          <p:nvPr/>
        </p:nvSpPr>
        <p:spPr>
          <a:xfrm>
            <a:off x="822960" y="3840480"/>
            <a:ext cx="3108960" cy="1097280"/>
          </a:xfrm>
          <a:prstGeom prst="rect">
            <a:avLst/>
          </a:prstGeom>
          <a:noFill/>
        </p:spPr>
        <p:txBody>
          <a:bodyPr wrap="square">
            <a:spAutoFit/>
          </a:bodyPr>
          <a:lstStyle/>
          <a:p>
            <a:pPr algn="ctr">
              <a:defRPr sz="1300" b="0">
                <a:solidFill>
                  <a:srgbClr val="666666"/>
                </a:solidFill>
                <a:latin typeface="Helvetica Neue"/>
              </a:defRPr>
            </a:pPr>
            <a:r>
              <a:t>Finanzbildung, Medienkompetenz, praktische Alltagsfähigkeiten</a:t>
            </a:r>
          </a:p>
        </p:txBody>
      </p:sp>
      <p:sp>
        <p:nvSpPr>
          <p:cNvPr id="7" name="Oval 6"/>
          <p:cNvSpPr/>
          <p:nvPr/>
        </p:nvSpPr>
        <p:spPr>
          <a:xfrm>
            <a:off x="4389120" y="1645920"/>
            <a:ext cx="3200400" cy="2011680"/>
          </a:xfrm>
          <a:prstGeom prst="ellipse">
            <a:avLst/>
          </a:prstGeom>
          <a:solidFill>
            <a:srgbClr val="FFD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011680"/>
            <a:ext cx="2926080" cy="1097280"/>
          </a:xfrm>
          <a:prstGeom prst="rect">
            <a:avLst/>
          </a:prstGeom>
          <a:noFill/>
        </p:spPr>
        <p:txBody>
          <a:bodyPr wrap="square">
            <a:spAutoFit/>
          </a:bodyPr>
          <a:lstStyle/>
          <a:p>
            <a:pPr algn="ctr">
              <a:defRPr sz="1500" b="1">
                <a:solidFill>
                  <a:srgbClr val="2D2D2D"/>
                </a:solidFill>
                <a:latin typeface="Helvetica Neue"/>
              </a:defRPr>
            </a:pPr>
            <a:r>
              <a:t>Spätere Leistungsdifferenzierung</a:t>
            </a:r>
          </a:p>
        </p:txBody>
      </p:sp>
      <p:sp>
        <p:nvSpPr>
          <p:cNvPr id="9" name="TextBox 8"/>
          <p:cNvSpPr txBox="1"/>
          <p:nvPr/>
        </p:nvSpPr>
        <p:spPr>
          <a:xfrm>
            <a:off x="4480560" y="3840480"/>
            <a:ext cx="3108960" cy="1097280"/>
          </a:xfrm>
          <a:prstGeom prst="rect">
            <a:avLst/>
          </a:prstGeom>
          <a:noFill/>
        </p:spPr>
        <p:txBody>
          <a:bodyPr wrap="square">
            <a:spAutoFit/>
          </a:bodyPr>
          <a:lstStyle/>
          <a:p>
            <a:pPr algn="ctr">
              <a:defRPr sz="1300" b="0">
                <a:solidFill>
                  <a:srgbClr val="666666"/>
                </a:solidFill>
                <a:latin typeface="Helvetica Neue"/>
              </a:defRPr>
            </a:pPr>
            <a:r>
              <a:t>Mehr Zeit für Entwicklung, wie in skandinavischen Modellen</a:t>
            </a:r>
          </a:p>
        </p:txBody>
      </p:sp>
      <p:sp>
        <p:nvSpPr>
          <p:cNvPr id="10" name="Oval 9"/>
          <p:cNvSpPr/>
          <p:nvPr/>
        </p:nvSpPr>
        <p:spPr>
          <a:xfrm>
            <a:off x="8046720" y="1645920"/>
            <a:ext cx="3200400" cy="2011680"/>
          </a:xfrm>
          <a:prstGeom prst="ellipse">
            <a:avLst/>
          </a:prstGeom>
          <a:solidFill>
            <a:srgbClr val="FFF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2011680"/>
            <a:ext cx="2926080" cy="1097280"/>
          </a:xfrm>
          <a:prstGeom prst="rect">
            <a:avLst/>
          </a:prstGeom>
          <a:noFill/>
        </p:spPr>
        <p:txBody>
          <a:bodyPr wrap="square">
            <a:spAutoFit/>
          </a:bodyPr>
          <a:lstStyle/>
          <a:p>
            <a:pPr algn="ctr">
              <a:defRPr sz="1500" b="1">
                <a:solidFill>
                  <a:srgbClr val="2D2D2D"/>
                </a:solidFill>
                <a:latin typeface="Helvetica Neue"/>
              </a:defRPr>
            </a:pPr>
            <a:r>
              <a:t>Alternative Bewertungsformen</a:t>
            </a:r>
          </a:p>
        </p:txBody>
      </p:sp>
      <p:sp>
        <p:nvSpPr>
          <p:cNvPr id="12" name="TextBox 11"/>
          <p:cNvSpPr txBox="1"/>
          <p:nvPr/>
        </p:nvSpPr>
        <p:spPr>
          <a:xfrm>
            <a:off x="8138160" y="3840480"/>
            <a:ext cx="3108960" cy="1097280"/>
          </a:xfrm>
          <a:prstGeom prst="rect">
            <a:avLst/>
          </a:prstGeom>
          <a:noFill/>
        </p:spPr>
        <p:txBody>
          <a:bodyPr wrap="square">
            <a:spAutoFit/>
          </a:bodyPr>
          <a:lstStyle/>
          <a:p>
            <a:pPr algn="ctr">
              <a:defRPr sz="1300" b="0">
                <a:solidFill>
                  <a:srgbClr val="666666"/>
                </a:solidFill>
                <a:latin typeface="Helvetica Neue"/>
              </a:defRPr>
            </a:pPr>
            <a:r>
              <a:t>Portfolioarbeit, Lernfeedback, projektbasierte Bewertung</a:t>
            </a:r>
          </a:p>
        </p:txBody>
      </p:sp>
    </p:spTree>
  </p:cSld>
  <p:clrMapOvr>
    <a:masterClrMapping/>
  </p:clrMapOvr>
  <p:transition spd="med">
    <p:fade/>
  </p:transition>
</p:sld>
</file>

<file path=ppt/slides/slide11.xml><?xml version="1.0" encoding="utf-8"?>
<p:sld xmlns:a="http://schemas.openxmlformats.org/drawingml/2006/main" xmlns:ns2="http://schemas.openxmlformats.org/officeDocument/2006/relationships" xmlns:p="http://schemas.openxmlformats.org/presentationml/2006/main">
  <p:cSld>
    <p:bg>
      <p:bgPr>
        <a:solidFill>
          <a:srgbClr val="CFEFFF"/>
        </a:solidFill>
        <a:effectLst/>
      </p:bgPr>
    </p:bg>
    <p:spTree>
      <p:nvGrpSpPr>
        <p:cNvPr id="1" name=""/>
        <p:cNvGrpSpPr/>
        <p:nvPr/>
      </p:nvGrpSpPr>
      <p:grpSpPr/>
      <p:sp>
        <p:nvSpPr>
          <p:cNvPr id="2" name="Rounded Rectangle 1"/>
          <p:cNvSpPr/>
          <p:nvPr/>
        </p:nvSpPr>
        <p:spPr>
          <a:xfrm>
            <a:off x="0" y="5029200"/>
            <a:ext cx="12191695" cy="1828800"/>
          </a:xfrm>
          <a:prstGeom prst="roundRect">
            <a:avLst>
              <a:gd name="adj" fmla="val 12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515600" cy="1097280"/>
          </a:xfrm>
          <a:prstGeom prst="rect">
            <a:avLst/>
          </a:prstGeom>
          <a:noFill/>
        </p:spPr>
        <p:txBody>
          <a:bodyPr wrap="none">
            <a:spAutoFit/>
          </a:bodyPr>
          <a:lstStyle/>
          <a:p>
            <a:pPr algn="ctr">
              <a:defRPr sz="3600" b="1">
                <a:solidFill>
                  <a:srgbClr val="2D2D2D"/>
                </a:solidFill>
                <a:latin typeface="Helvetica Neue"/>
              </a:defRPr>
            </a:pPr>
            <a:r>
              <a:t>Schule beeinflusst mehr als nur Noten.</a:t>
            </a:r>
          </a:p>
        </p:txBody>
      </p:sp>
      <p:sp>
        <p:nvSpPr>
          <p:cNvPr id="4" name="Rounded Rectangle 3"/>
          <p:cNvSpPr/>
          <p:nvPr/>
        </p:nvSpPr>
        <p:spPr>
          <a:xfrm>
            <a:off x="1371600" y="2011680"/>
            <a:ext cx="9418320" cy="68580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2121408"/>
            <a:ext cx="8869680" cy="502920"/>
          </a:xfrm>
          <a:prstGeom prst="rect">
            <a:avLst/>
          </a:prstGeom>
          <a:noFill/>
        </p:spPr>
        <p:txBody>
          <a:bodyPr wrap="none">
            <a:spAutoFit/>
          </a:bodyPr>
          <a:lstStyle/>
          <a:p>
            <a:pPr algn="l">
              <a:defRPr sz="1700" b="0">
                <a:solidFill>
                  <a:srgbClr val="2D2D2D"/>
                </a:solidFill>
                <a:latin typeface="Helvetica Neue"/>
              </a:defRPr>
            </a:pPr>
            <a:r>
              <a:t>✓  Strukturen wirken auf das Wohlbefinden.</a:t>
            </a:r>
          </a:p>
        </p:txBody>
      </p:sp>
      <p:sp>
        <p:nvSpPr>
          <p:cNvPr id="6" name="Rounded Rectangle 5"/>
          <p:cNvSpPr/>
          <p:nvPr/>
        </p:nvSpPr>
        <p:spPr>
          <a:xfrm>
            <a:off x="1371600" y="2880360"/>
            <a:ext cx="9418320" cy="68580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990088"/>
            <a:ext cx="8869680" cy="502920"/>
          </a:xfrm>
          <a:prstGeom prst="rect">
            <a:avLst/>
          </a:prstGeom>
          <a:noFill/>
        </p:spPr>
        <p:txBody>
          <a:bodyPr wrap="none">
            <a:spAutoFit/>
          </a:bodyPr>
          <a:lstStyle/>
          <a:p>
            <a:pPr algn="l">
              <a:defRPr sz="1700" b="0">
                <a:solidFill>
                  <a:srgbClr val="2D2D2D"/>
                </a:solidFill>
                <a:latin typeface="Helvetica Neue"/>
              </a:defRPr>
            </a:pPr>
            <a:r>
              <a:t>✓  Leistungsdruck und Schulklima spielen eine zentrale Rolle.</a:t>
            </a:r>
          </a:p>
        </p:txBody>
      </p:sp>
      <p:sp>
        <p:nvSpPr>
          <p:cNvPr id="8" name="Rounded Rectangle 7"/>
          <p:cNvSpPr/>
          <p:nvPr/>
        </p:nvSpPr>
        <p:spPr>
          <a:xfrm>
            <a:off x="1371600" y="3749040"/>
            <a:ext cx="9418320" cy="685800"/>
          </a:xfrm>
          <a:prstGeom prst="roundRect">
            <a:avLst>
              <a:gd name="adj" fmla="val 12000"/>
            </a:avLst>
          </a:prstGeom>
          <a:solidFill>
            <a:srgbClr val="FFFFFF"/>
          </a:solidFill>
          <a:ln w="12700">
            <a:solidFill>
              <a:srgbClr val="5B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3858768"/>
            <a:ext cx="8869680" cy="502920"/>
          </a:xfrm>
          <a:prstGeom prst="rect">
            <a:avLst/>
          </a:prstGeom>
          <a:noFill/>
        </p:spPr>
        <p:txBody>
          <a:bodyPr wrap="none">
            <a:spAutoFit/>
          </a:bodyPr>
          <a:lstStyle/>
          <a:p>
            <a:pPr algn="l">
              <a:defRPr sz="1700" b="0">
                <a:solidFill>
                  <a:srgbClr val="2D2D2D"/>
                </a:solidFill>
                <a:latin typeface="Helvetica Neue"/>
              </a:defRPr>
            </a:pPr>
            <a:r>
              <a:t>✓  Reformen könnten Bildung und Glück stärker miteinander verbinden.</a:t>
            </a:r>
          </a:p>
        </p:txBody>
      </p:sp>
      <p:pic>
        <p:nvPicPr>
          <p:cNvPr id="10" name="Picture 9" descr="calm.png"/>
          <p:cNvPicPr>
            <a:picLocks noChangeAspect="1"/>
          </p:cNvPicPr>
          <p:nvPr/>
        </p:nvPicPr>
        <p:blipFill>
          <a:blip ns2:embed="rId2"/>
          <a:stretch>
            <a:fillRect/>
          </a:stretch>
        </p:blipFill>
        <p:spPr>
          <a:xfrm>
            <a:off x="1371600" y="5212080"/>
            <a:ext cx="4572000" cy="1714500"/>
          </a:xfrm>
          <a:prstGeom prst="rect">
            <a:avLst/>
          </a:prstGeom>
        </p:spPr>
      </p:pic>
      <p:sp>
        <p:nvSpPr>
          <p:cNvPr id="11" name="TextBox 10"/>
          <p:cNvSpPr txBox="1"/>
          <p:nvPr/>
        </p:nvSpPr>
        <p:spPr>
          <a:xfrm>
            <a:off x="5943600" y="5669280"/>
            <a:ext cx="5486400" cy="731520"/>
          </a:xfrm>
          <a:prstGeom prst="rect">
            <a:avLst/>
          </a:prstGeom>
          <a:noFill/>
        </p:spPr>
        <p:txBody>
          <a:bodyPr wrap="none">
            <a:spAutoFit/>
          </a:bodyPr>
          <a:lstStyle/>
          <a:p>
            <a:pPr algn="l">
              <a:defRPr sz="2400" b="1">
                <a:solidFill>
                  <a:srgbClr val="2D2D2D"/>
                </a:solidFill>
                <a:latin typeface="Helvetica Neue"/>
              </a:defRPr>
            </a:pPr>
            <a:r>
              <a:t>Danke für eure Aufmerksamkeit!</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