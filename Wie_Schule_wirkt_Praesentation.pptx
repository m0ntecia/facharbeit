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Herzlich willkommen zu meiner Präsentation im Seminarfachkurs Glück.</a:t>
            </a:r>
          </a:p>
          <a:p>
            <a:r>
              <a:rPr sz="1300">
                <a:latin typeface="Helvetica Neue"/>
              </a:rPr>
              <a:t>Mein Thema lautet: „Wie Schule wirkt – Strukturelle Unterschiede und ihr Effekt auf das Wohlbefinden von Schülerinnen und Schülern.“</a:t>
            </a:r>
          </a:p>
          <a:p>
            <a:r>
              <a:rPr sz="1300">
                <a:latin typeface="Helvetica Neue"/>
              </a:rPr>
              <a:t>In den nächsten rund 15 Minuten möchte ich euch zeigen, dass Schule weit mehr ist als nur ein Ort, an dem Wissen vermittelt wird. Sie ist auch ein Lebensraum, der unser Wohlbefinden, unsere Motivation und unser Selbstbild stark prägt.</a:t>
            </a:r>
          </a:p>
          <a:p>
            <a:r>
              <a:rPr sz="1300">
                <a:latin typeface="Helvetica Neue"/>
              </a:rPr>
              <a:t>Wir werden uns gemeinsam ansehen, wie das deutsche Schulsystem aufgebaut ist, welche Auswirkungen Leistungsdruck und Schulklima haben, wie es im internationalen Vergleich abschneidet und welche Reformideen gerade diskutiert werden.</a:t>
            </a:r>
          </a:p>
          <a:p>
            <a:r>
              <a:rPr sz="1300">
                <a:latin typeface="Helvetica Neue"/>
              </a:rPr>
              <a:t>Lasst uns mit der Frage starten, warum dieses Thema überhaupt so wichtig 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Bevor wir tief ins Thema einsteigen, kurz die Frage: Warum lohnt sich dieser Blick auf die Schule überhaupt?</a:t>
            </a:r>
          </a:p>
          <a:p>
            <a:r>
              <a:rPr sz="1300">
                <a:latin typeface="Helvetica Neue"/>
              </a:rPr>
              <a:t>Wir verbringen einen riesigen Teil unseres Tages in der Schule. Sie ist nicht nur Lernort, sondern auch sozialer Lebensraum, in dem Freundschaften entstehen, Selbstbild geformt wird und Zukunftsperspektiven gesetzt werden.</a:t>
            </a:r>
          </a:p>
          <a:p>
            <a:r>
              <a:rPr sz="1300">
                <a:latin typeface="Helvetica Neue"/>
              </a:rPr>
              <a:t>Gleichzeitig nimmt der Leistungsdruck in den letzten Jahren spürbar zu. Bildung entscheidet darüber, welche Berufe und Studienwege offenstehen – und damit auch über gesellschaftliche Teilhabe.</a:t>
            </a:r>
          </a:p>
          <a:p>
            <a:r>
              <a:rPr sz="1300">
                <a:latin typeface="Helvetica Neue"/>
              </a:rPr>
              <a:t>Studien wie die der WHO und des Robert Koch-Instituts zeigen außerdem: Wohlbefinden ist kein Beiwerk, sondern eine zentrale Voraussetzung dafür, dass Lernen überhaupt gut funktioniert.</a:t>
            </a:r>
          </a:p>
          <a:p>
            <a:r>
              <a:rPr sz="1300">
                <a:latin typeface="Helvetica Neue"/>
              </a:rPr>
              <a:t>Daraus ergibt sich die Leitfrage meiner Facharbeit, die ihr hier in der gelben Box seht: Inwiefern beeinflussen strukturelle Unterschiede im deutschen Schulsystem das Wohlbefinden von Schülerinnen und Schülern?</a:t>
            </a:r>
          </a:p>
          <a:p>
            <a:r>
              <a:rPr sz="1300">
                <a:latin typeface="Helvetica Neue"/>
              </a:rPr>
              <a:t>Um diese Frage beantworten zu können, brauchen wir zunächst ein paar Grundlagen.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Für die ganze Arbeit nutze ich drei Schlüsselbegriffe – sozusagen als Kompass.</a:t>
            </a:r>
          </a:p>
          <a:p>
            <a:r>
              <a:rPr sz="1300">
                <a:latin typeface="Helvetica Neue"/>
              </a:rPr>
              <a:t>Der erste sind die Strukturmerkmale von Schule: also alles, was das Bildungssystem als Institution prägt. Dazu gehören die verschiedenen Schulformen, das Notensystem, Versetzungsregelungen und die Abschlüsse.</a:t>
            </a:r>
          </a:p>
          <a:p>
            <a:r>
              <a:rPr sz="1300">
                <a:latin typeface="Helvetica Neue"/>
              </a:rPr>
              <a:t>Der zweite Begriff ist Wohlbefinden. Damit meine ich – im Sinne der WHO – nicht nur die Abwesenheit von Krankheit, sondern psychische Gesundheit, soziale Beziehungen in der Klasse und die Lebenszufriedenheit insgesamt.</a:t>
            </a:r>
          </a:p>
          <a:p>
            <a:r>
              <a:rPr sz="1300">
                <a:latin typeface="Helvetica Neue"/>
              </a:rPr>
              <a:t>Der dritte Begriff ist Bildungsgerechtigkeit. Sie beschreibt, ob alle Kinder unabhängig von ihrer sozialen Herkunft faire Chancen auf Bildung haben.</a:t>
            </a:r>
          </a:p>
          <a:p>
            <a:r>
              <a:rPr sz="1300">
                <a:latin typeface="Helvetica Neue"/>
              </a:rPr>
              <a:t>Diese drei Begriffe wirken zusammen: Strukturelle Merkmale entscheiden mit darüber, wie Wohlbefinden und Bildungsgerechtigkeit erlebt werden. Schauen wir uns deshalb das deutsche Schulsystem konkret 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In Deutschland ist das Schulsystem mehrgliedrig aufgebaut – das heißt: Schon nach der Grundschule werden Kinder auf unterschiedliche Schulformen verteilt.</a:t>
            </a:r>
          </a:p>
          <a:p>
            <a:r>
              <a:rPr sz="1300">
                <a:latin typeface="Helvetica Neue"/>
              </a:rPr>
              <a:t>Das Gymnasium ist die Schulform mit den höchsten akademischen Anforderungen. Ziel ist das Abitur und der Weg an die Universität – aber auch der Leistungsdruck ist besonders hoch.</a:t>
            </a:r>
          </a:p>
          <a:p>
            <a:r>
              <a:rPr sz="1300">
                <a:latin typeface="Helvetica Neue"/>
              </a:rPr>
              <a:t>Die Realschule führt in der Regel zum mittleren Schulabschluss. Sie verbindet allgemeine Bildung mit mehr Praxisorientierung als das Gymnasium und ist oft ein Sprungbrett in die berufliche Ausbildung.</a:t>
            </a:r>
          </a:p>
          <a:p>
            <a:r>
              <a:rPr sz="1300">
                <a:latin typeface="Helvetica Neue"/>
              </a:rPr>
              <a:t>Die Hauptschule war traditionell stark auf das Berufsleben ausgerichtet, hat aber an Bedeutung verloren und wird in vielen Bundesländern mit anderen Schulformen zusammengelegt. Hier wird in der Facharbeit auch das Problem der Stigmatisierung angesprochen.</a:t>
            </a:r>
          </a:p>
          <a:p>
            <a:r>
              <a:rPr sz="1300">
                <a:latin typeface="Helvetica Neue"/>
              </a:rPr>
              <a:t>Die Gesamtschule – ein Reformmodell seit den 1970er-Jahren – lässt Schülerinnen und Schüler länger gemeinsam lernen und bietet verschiedene Abschlüsse unter einem Dach.</a:t>
            </a:r>
          </a:p>
          <a:p>
            <a:r>
              <a:rPr sz="1300">
                <a:latin typeface="Helvetica Neue"/>
              </a:rPr>
              <a:t>Und schließlich die Beruflichen Schulen, die mit dem dualen Ausbildungssystem international als deutsches Vorzeigemodell gelten.</a:t>
            </a:r>
          </a:p>
          <a:p>
            <a:r>
              <a:rPr sz="1300">
                <a:latin typeface="Helvetica Neue"/>
              </a:rPr>
              <a:t>Damit ist klar, wie viele Wege es gibt – aber auch, wie früh die Weichen gestellt werden. Das führt uns direkt zum nächsten Punkt: dem Leistungsdruck.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Leistungsdruck gehört zu den wichtigsten Belastungsfaktoren, die schulisches Wohlbefinden beeinflussen.</a:t>
            </a:r>
          </a:p>
          <a:p>
            <a:r>
              <a:rPr sz="1300">
                <a:latin typeface="Helvetica Neue"/>
              </a:rPr>
              <a:t>Links seht ihr die Quellen dieses Drucks: Noten entscheiden über Versetzungen und Abschlüsse, Prüfungen schaffen ständige Bewertungssituationen, der Vergleich mit Mitschülern erzeugt Konkurrenz, und auch die Erwartungen von Eltern, Lehrkräften und der Gesellschaft spielen eine Rolle.</a:t>
            </a:r>
          </a:p>
          <a:p>
            <a:r>
              <a:rPr sz="1300">
                <a:latin typeface="Helvetica Neue"/>
              </a:rPr>
              <a:t>Auf der rechten Seite seht ihr, was daraus werden kann: Stress, Schlafprobleme, Unsicherheit und ein geringeres Selbstwertgefühl. Die KiGGS-Studie des Robert Koch-Instituts und die HBSC-Studie der WHO zeigen genau diese Zusammenhänge: schulischer Stress gehört zu den häufigsten Belastungsfaktoren im Jugendalter.</a:t>
            </a:r>
          </a:p>
          <a:p>
            <a:r>
              <a:rPr sz="1300">
                <a:latin typeface="Helvetica Neue"/>
              </a:rPr>
              <a:t>Wichtig ist aber: Leistungsdruck ist nicht per se schlecht. Er kann Motivation fördern – und wirkt für jede Person unterschiedlich. Während die einen ihn als Ansporn erleben, ist er für andere eine echte psychische Belastung.</a:t>
            </a:r>
          </a:p>
          <a:p>
            <a:r>
              <a:rPr sz="1300">
                <a:latin typeface="Helvetica Neue"/>
              </a:rPr>
              <a:t>Das ist auch der Kernsatz unten in Gelb. Festhalten lässt sich: Druck ist ambivalent – er hat zwei Seiten. Genauso wichtig ist deshalb das Schulklima, zu dem wir jetzt kommen.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Neben dem Druck spielt das Schulklima eine entscheidende Rolle dafür, wie wohl wir uns in der Schule fühlen. Drei Aspekte stehen dabei besonders im Vordergrund.</a:t>
            </a:r>
          </a:p>
          <a:p>
            <a:r>
              <a:rPr sz="1300">
                <a:latin typeface="Helvetica Neue"/>
              </a:rPr>
              <a:t>Erstens: das Lehrer-Schüler-Verhältnis. Lehrkräfte sind nicht nur Wissensvermittler, sondern auch Bezugspersonen. Wer sich ernst genommen und unterstützt fühlt, lernt motivierter und ist weniger gestresst. Umgekehrt können ungerechte Behandlung oder fehlende Unterstützung das Wohlbefinden deutlich verschlechtern.</a:t>
            </a:r>
          </a:p>
          <a:p>
            <a:r>
              <a:rPr sz="1300">
                <a:latin typeface="Helvetica Neue"/>
              </a:rPr>
              <a:t>Zweitens: die Mitbestimmung. Wenn Schülerinnen und Schüler über Schülervertretungen, Klassenräte oder Projekte echte Einflussmöglichkeiten haben, stärkt das ihr Gefühl von Selbstwirksamkeit – also das Gefühl, etwas bewirken zu können.</a:t>
            </a:r>
          </a:p>
          <a:p>
            <a:r>
              <a:rPr sz="1300">
                <a:latin typeface="Helvetica Neue"/>
              </a:rPr>
              <a:t>Drittens: die Feedbackkultur. Noten allein sind oft zu wenig. Qualitative Rückmeldungen, die individuelle Stärken benennen und Lernprozesse begleiten, sind besonders wertvoll. In der Facharbeit wird daher das Konzept der formativen Bewertung hervorgehoben.</a:t>
            </a:r>
          </a:p>
          <a:p>
            <a:r>
              <a:rPr sz="1300">
                <a:latin typeface="Helvetica Neue"/>
              </a:rPr>
              <a:t>All das zusammen ergibt ein Schulklima, das nicht nur das Wohlbefinden, sondern auch die Lernergebnisse verbessert. Bevor wir den Blick ins Ausland richten, möchte ich aber kurz euch einbinden.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Jetzt seid ihr kurz dran. Schaut auf die vier Karten – Notendruck, Lehrkräfte, Mitschüler und Zeitstress.</a:t>
            </a:r>
          </a:p>
          <a:p>
            <a:r>
              <a:rPr sz="1300">
                <a:latin typeface="Helvetica Neue"/>
              </a:rPr>
              <a:t>Bitte hebt einmal kurz die Hand bei der Antwortmöglichkeit, die euer eigenes Wohlbefinden in der Schule am stärksten beeinflusst. Ich zähle einmal kurz mit.</a:t>
            </a:r>
          </a:p>
          <a:p>
            <a:r>
              <a:rPr sz="1300">
                <a:latin typeface="Helvetica Neue"/>
              </a:rPr>
              <a:t>…</a:t>
            </a:r>
          </a:p>
          <a:p>
            <a:r>
              <a:rPr sz="1300">
                <a:latin typeface="Helvetica Neue"/>
              </a:rPr>
              <a:t>Spannend! Was meine Facharbeit zeigt: Es gibt nicht die EINE Ursache. Genau dieser Mix – Noten und Prüfungen, Beziehungen zu Lehrkräften und Mitschülerinnen sowie der Zeitdruck im Alltag – wirkt zusammen.</a:t>
            </a:r>
          </a:p>
          <a:p>
            <a:r>
              <a:rPr sz="1300">
                <a:latin typeface="Helvetica Neue"/>
              </a:rPr>
              <a:t>Genau deshalb ist es so wichtig, beim Thema Wohlbefinden nicht nur einen Faktor zu betrachten, sondern die strukturellen Rahmenbedingungen insgesamt.</a:t>
            </a:r>
          </a:p>
          <a:p>
            <a:r>
              <a:rPr sz="1300">
                <a:latin typeface="Helvetica Neue"/>
              </a:rPr>
              <a:t>Werfen wir nach diesem kleinen Stimmungsbild den Blick über die Grenzen Deutschlands hinaus.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Im internationalen Vergleich werden die Besonderheiten unseres Systems erst richtig sichtbar.</a:t>
            </a:r>
          </a:p>
          <a:p>
            <a:r>
              <a:rPr sz="1300">
                <a:latin typeface="Helvetica Neue"/>
              </a:rPr>
              <a:t>In Deutschland erfolgt die Aufteilung in unterschiedliche Schulformen sehr früh – meist nach der vierten Klasse. Noten spielen eine zentrale Rolle und gibt es vergleichsweise viele.</a:t>
            </a:r>
          </a:p>
          <a:p>
            <a:r>
              <a:rPr sz="1300">
                <a:latin typeface="Helvetica Neue"/>
              </a:rPr>
              <a:t>Finnland geht einen anderen Weg: Dort lernen Kinder bis zur neunten Klasse gemeinsam. Leistungsdifferenzierung erfolgt also viel später, und in den ersten Schuljahren wird seltener standardisiert benotet. Stattdessen gibt es mehr qualitative Rückmeldung. Finnland gilt zudem deshalb als Vorzeigesystem, weil Lehrkräfte ein hohes gesellschaftliches Ansehen genießen.</a:t>
            </a:r>
          </a:p>
          <a:p>
            <a:r>
              <a:rPr sz="1300">
                <a:latin typeface="Helvetica Neue"/>
              </a:rPr>
              <a:t>In angelsächsischen Systemen, etwa in Großbritannien oder den USA, lernen Kinder ebenfalls länger gemeinsam in Gesamtschulen, können dafür aber mehr eigene Schwerpunkte und Wahlfächer setzen. Projektorientiertes und praktisches Arbeiten spielt eine größere Rolle – allerdings unterscheiden sich die einzelnen Schulen oft stark.</a:t>
            </a:r>
          </a:p>
          <a:p>
            <a:r>
              <a:rPr sz="1300">
                <a:latin typeface="Helvetica Neue"/>
              </a:rPr>
              <a:t>Wichtig: Keines dieser Systeme ist perfekt. Jedes muss unterschiedliche gesellschaftliche Anforderungen erfüllen. Aber genau dieser Vergleich liefert wertvolle Ideen für die Stärken- und Schwächen-Analyse, die wir uns jetzt anschauen.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Aus all dem ergibt sich ein recht klares Bild – mit zwei Seiten.</a:t>
            </a:r>
          </a:p>
          <a:p>
            <a:r>
              <a:rPr sz="1300">
                <a:latin typeface="Helvetica Neue"/>
              </a:rPr>
              <a:t>Zu den Stärken gehört zunächst die Vielfalt an Bildungswegen. Verschiedene Schulformen ermöglichen, dass Lernende auf unterschiedlichem Niveau gezielt gefördert werden. Besonders hervorzuheben ist das duale Ausbildungssystem, das international als Modell gilt und maßgeblich dazu beiträgt, dass Deutschland eine vergleichsweise niedrige Jugendarbeitslosigkeit hat. Zudem bietet besonders das Gymnasium hohe akademische Standards, die gut auf ein Studium vorbereiten.</a:t>
            </a:r>
          </a:p>
          <a:p>
            <a:r>
              <a:rPr sz="1300">
                <a:latin typeface="Helvetica Neue"/>
              </a:rPr>
              <a:t>Auf der anderen Seite stehen klare Schwächen. Die frühe Selektion nach der vierten Klasse legt Bildungswege zu einem Zeitpunkt fest, an dem Leistungen noch stark von familiärem Hintergrund abhängen. Der Leistungsdruck durch Noten, Prüfungen und Versetzungsentscheidungen kann erheblichen Stress erzeugen. Und schließlich ist der Zusammenhang zwischen sozialer Herkunft und Bildungserfolg in Deutschland besonders ausgeprägt – das zeigen OECD-Studien immer wieder.</a:t>
            </a:r>
          </a:p>
          <a:p>
            <a:r>
              <a:rPr sz="1300">
                <a:latin typeface="Helvetica Neue"/>
              </a:rPr>
              <a:t>Genau deshalb wird über Reformen diskutiert – und einige davon stelle ich euch jetzt vor.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Welche Ideen werden also diskutiert, um Bildung und Wohlbefinden besser zu verbinden? Drei zentrale Reformansätze stehen in der Facharbeit im Mittelpunkt.</a:t>
            </a:r>
          </a:p>
          <a:p>
            <a:r>
              <a:rPr sz="1300">
                <a:latin typeface="Helvetica Neue"/>
              </a:rPr>
              <a:t>Erstens: Mehr Lebenskompetenzen im Curriculum. Konkret heißt das, Themen wie Finanzbildung, Medienkompetenz und praktische Alltagsfähigkeiten stärker zu integrieren. Auch die OECD betont die wachsende Bedeutung von Problemlösung, kritischem Denken und Teamarbeit.</a:t>
            </a:r>
          </a:p>
          <a:p>
            <a:r>
              <a:rPr sz="1300">
                <a:latin typeface="Helvetica Neue"/>
              </a:rPr>
              <a:t>Zweitens: Eine spätere Leistungsdifferenzierung – also nicht schon nach der vierten Klasse die Weichen zu stellen. Skandinavische Systeme zeigen, dass längeres gemeinsames Lernen soziale Ungleichheiten reduzieren und Bildungsentscheidungen fundierter machen kann.</a:t>
            </a:r>
          </a:p>
          <a:p>
            <a:r>
              <a:rPr sz="1300">
                <a:latin typeface="Helvetica Neue"/>
              </a:rPr>
              <a:t>Drittens: Alternative Bewertungsformen. Neben Noten könnten Portfolios, projektbasierte Bewertungen und ausführliche Lernrückmeldungen den Lernprozess stärker in den Mittelpunkt rücken – statt nur die Prüfungsergebnisse.</a:t>
            </a:r>
          </a:p>
          <a:p>
            <a:r>
              <a:rPr sz="1300">
                <a:latin typeface="Helvetica Neue"/>
              </a:rPr>
              <a:t>Diese drei Pfeile zeigen gemeinsam in Richtung einer Schule der Zukunft: eine Schule, die mehr ist als Leistungsbewertung. Damit komme ich zu meinem Fazit.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Helvetica Neue"/>
              </a:rPr>
              <a:t>Damit zum Schluss meine drei Kernaussagen.</a:t>
            </a:r>
          </a:p>
          <a:p>
            <a:r>
              <a:rPr sz="1300">
                <a:latin typeface="Helvetica Neue"/>
              </a:rPr>
              <a:t>Erstens: Schulische Strukturen wirken sich messbar auf das Wohlbefinden der Schülerinnen und Schüler aus. Die Wahl der Schulform, das Bewertungssystem und die Versetzungsregelungen sind keine reine Organisationsfrage – sie beeinflussen, wie wohl wir uns fühlen.</a:t>
            </a:r>
          </a:p>
          <a:p>
            <a:r>
              <a:rPr sz="1300">
                <a:latin typeface="Helvetica Neue"/>
              </a:rPr>
              <a:t>Zweitens: Leistungsdruck und Schulklima sind zentrale Faktoren. Druck kann motivieren, aber auch belasten – und ein gutes Schulklima mit unterstützenden Lehrkräften, Mitbestimmung und qualitativem Feedback kann viel auffangen.</a:t>
            </a:r>
          </a:p>
          <a:p>
            <a:r>
              <a:rPr sz="1300">
                <a:latin typeface="Helvetica Neue"/>
              </a:rPr>
              <a:t>Drittens: Reformen wie spätere Differenzierung, mehr Lebenskompetenzen und alternative Bewertungsformen können Bildung und Glück enger miteinander verbinden.</a:t>
            </a:r>
          </a:p>
          <a:p>
            <a:r>
              <a:rPr sz="1300">
                <a:latin typeface="Helvetica Neue"/>
              </a:rPr>
              <a:t>Damit komme ich zurück zur Leitfrage: Strukturen im deutschen Schulsystem beeinflussen das Wohlbefinden ganz entscheidend – sowohl positiv durch differenzierte Wege und hohe Standards, als auch belastend durch frühe Selektion und Leistungsdruck.</a:t>
            </a:r>
          </a:p>
          <a:p>
            <a:r>
              <a:rPr sz="1300">
                <a:latin typeface="Helvetica Neue"/>
              </a:rPr>
              <a:t>Ich danke euch herzlich für eure Aufmerksamkeit und freue mich jetzt auf eure Fragen und Anmerkungen!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0" y="-2743200"/>
            <a:ext cx="6400800" cy="6400800"/>
          </a:xfrm>
          <a:prstGeom prst="ellipse">
            <a:avLst/>
          </a:prstGeom>
          <a:solidFill>
            <a:srgbClr val="CFEF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0" y="5029200"/>
            <a:ext cx="4572000" cy="4572000"/>
          </a:xfrm>
          <a:prstGeom prst="ellipse">
            <a:avLst/>
          </a:prstGeom>
          <a:solidFill>
            <a:srgbClr val="FFD9E8">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058400" y="-1371600"/>
            <a:ext cx="2377440" cy="2377440"/>
          </a:xfrm>
          <a:prstGeom prst="ellipse">
            <a:avLst/>
          </a:prstGeom>
          <a:solidFill>
            <a:srgbClr val="FFF7C7">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822960"/>
            <a:ext cx="7315200" cy="365760"/>
          </a:xfrm>
          <a:prstGeom prst="rect">
            <a:avLst/>
          </a:prstGeom>
          <a:noFill/>
        </p:spPr>
        <p:txBody>
          <a:bodyPr wrap="square" lIns="0" rIns="0" tIns="0" bIns="0" anchor="t">
            <a:spAutoFit/>
          </a:bodyPr>
          <a:lstStyle/>
          <a:p>
            <a:pPr algn="l">
              <a:lnSpc>
                <a:spcPct val="115000"/>
              </a:lnSpc>
            </a:pPr>
            <a:r>
              <a:rPr sz="1400" b="1">
                <a:solidFill>
                  <a:srgbClr val="2C6BA8"/>
                </a:solidFill>
                <a:latin typeface="Helvetica Neue"/>
              </a:rPr>
              <a:t>SEMINARFACHKURS GLÜCK</a:t>
            </a:r>
          </a:p>
        </p:txBody>
      </p:sp>
      <p:sp>
        <p:nvSpPr>
          <p:cNvPr id="7" name="TextBox 6"/>
          <p:cNvSpPr txBox="1"/>
          <p:nvPr/>
        </p:nvSpPr>
        <p:spPr>
          <a:xfrm>
            <a:off x="731520" y="1463040"/>
            <a:ext cx="7315200" cy="1097280"/>
          </a:xfrm>
          <a:prstGeom prst="rect">
            <a:avLst/>
          </a:prstGeom>
          <a:noFill/>
        </p:spPr>
        <p:txBody>
          <a:bodyPr wrap="square" lIns="0" rIns="0" tIns="0" bIns="0" anchor="t">
            <a:spAutoFit/>
          </a:bodyPr>
          <a:lstStyle/>
          <a:p>
            <a:pPr algn="l">
              <a:lnSpc>
                <a:spcPct val="100000"/>
              </a:lnSpc>
            </a:pPr>
            <a:r>
              <a:rPr sz="5800" b="1">
                <a:solidFill>
                  <a:srgbClr val="2B2D42"/>
                </a:solidFill>
                <a:latin typeface="Helvetica Neue"/>
              </a:rPr>
              <a:t>Wie Schule wirkt</a:t>
            </a:r>
          </a:p>
        </p:txBody>
      </p:sp>
      <p:sp>
        <p:nvSpPr>
          <p:cNvPr id="8" name="TextBox 7"/>
          <p:cNvSpPr txBox="1"/>
          <p:nvPr/>
        </p:nvSpPr>
        <p:spPr>
          <a:xfrm>
            <a:off x="731520" y="2743200"/>
            <a:ext cx="6949440" cy="2011680"/>
          </a:xfrm>
          <a:prstGeom prst="rect">
            <a:avLst/>
          </a:prstGeom>
          <a:noFill/>
        </p:spPr>
        <p:txBody>
          <a:bodyPr wrap="square" lIns="0" rIns="0" tIns="0" bIns="0" anchor="t">
            <a:spAutoFit/>
          </a:bodyPr>
          <a:lstStyle/>
          <a:p>
            <a:pPr algn="l">
              <a:lnSpc>
                <a:spcPct val="130000"/>
              </a:lnSpc>
            </a:pPr>
            <a:r>
              <a:rPr sz="2400" b="0">
                <a:solidFill>
                  <a:srgbClr val="6B6F7B"/>
                </a:solidFill>
                <a:latin typeface="Helvetica Neue"/>
              </a:rPr>
              <a:t>Strukturelle Unterschiede und ihr</a:t>
            </a:r>
          </a:p>
          <a:p>
            <a:pPr algn="l">
              <a:lnSpc>
                <a:spcPct val="130000"/>
              </a:lnSpc>
            </a:pPr>
            <a:r>
              <a:rPr sz="2400" b="0">
                <a:solidFill>
                  <a:srgbClr val="6B6F7B"/>
                </a:solidFill>
                <a:latin typeface="Helvetica Neue"/>
              </a:rPr>
              <a:t>Effekt auf das Wohlbefinden von</a:t>
            </a:r>
          </a:p>
          <a:p>
            <a:pPr algn="l">
              <a:lnSpc>
                <a:spcPct val="130000"/>
              </a:lnSpc>
            </a:pPr>
            <a:r>
              <a:rPr sz="2400" b="0">
                <a:solidFill>
                  <a:srgbClr val="6B6F7B"/>
                </a:solidFill>
                <a:latin typeface="Helvetica Neue"/>
              </a:rPr>
              <a:t>Schülerinnen und Schülern</a:t>
            </a:r>
          </a:p>
        </p:txBody>
      </p:sp>
      <p:sp>
        <p:nvSpPr>
          <p:cNvPr id="9" name="Rounded Rectangle 8"/>
          <p:cNvSpPr/>
          <p:nvPr/>
        </p:nvSpPr>
        <p:spPr>
          <a:xfrm>
            <a:off x="731520" y="5486400"/>
            <a:ext cx="3291840" cy="640080"/>
          </a:xfrm>
          <a:prstGeom prst="roundRect">
            <a:avLst>
              <a:gd name="adj" fmla="val 45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86400"/>
            <a:ext cx="3291840" cy="640080"/>
          </a:xfrm>
          <a:prstGeom prst="rect">
            <a:avLst/>
          </a:prstGeom>
          <a:noFill/>
        </p:spPr>
        <p:txBody>
          <a:bodyPr wrap="square" lIns="0" rIns="0" tIns="0" bIns="0" anchor="ctr">
            <a:spAutoFit/>
          </a:bodyPr>
          <a:lstStyle/>
          <a:p>
            <a:pPr algn="ctr">
              <a:lnSpc>
                <a:spcPct val="115000"/>
              </a:lnSpc>
            </a:pPr>
            <a:r>
              <a:rPr sz="1600" b="1">
                <a:solidFill>
                  <a:srgbClr val="2B2D42"/>
                </a:solidFill>
                <a:latin typeface="Helvetica Neue"/>
              </a:rPr>
              <a:t>Svea Timphus  •  März 2026</a:t>
            </a:r>
          </a:p>
        </p:txBody>
      </p:sp>
      <p:sp>
        <p:nvSpPr>
          <p:cNvPr id="11" name="Isosceles Triangle 10"/>
          <p:cNvSpPr/>
          <p:nvPr/>
        </p:nvSpPr>
        <p:spPr>
          <a:xfrm>
            <a:off x="7872985" y="1920240"/>
            <a:ext cx="3822191" cy="1216151"/>
          </a:xfrm>
          <a:prstGeom prst="triangle">
            <a:avLst/>
          </a:prstGeom>
          <a:solidFill>
            <a:srgbClr val="D6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3588" y="3136393"/>
            <a:ext cx="3300984" cy="2084831"/>
          </a:xfrm>
          <a:prstGeom prst="roundRect">
            <a:avLst>
              <a:gd name="adj" fmla="val 5000"/>
            </a:avLst>
          </a:prstGeom>
          <a:solidFill>
            <a:srgbClr val="FFFFFF"/>
          </a:solidFill>
          <a:ln w="9525">
            <a:solidFill>
              <a:srgbClr val="2C6BA8"/>
            </a:solid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6608" y="1312164"/>
            <a:ext cx="694944" cy="781812"/>
          </a:xfrm>
          <a:prstGeom prst="roundRect">
            <a:avLst>
              <a:gd name="adj" fmla="val 20000"/>
            </a:avLst>
          </a:prstGeom>
          <a:solidFill>
            <a:srgbClr val="FFF7C7"/>
          </a:solidFill>
          <a:ln w="9525">
            <a:solidFill>
              <a:srgbClr val="2C6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393174" y="4352544"/>
            <a:ext cx="781812" cy="868680"/>
          </a:xfrm>
          <a:prstGeom prst="roundRect">
            <a:avLst>
              <a:gd name="adj" fmla="val 12000"/>
            </a:avLst>
          </a:prstGeom>
          <a:solidFill>
            <a:srgbClr val="CFEFFF"/>
          </a:solidFill>
          <a:ln w="9525">
            <a:solidFill>
              <a:srgbClr val="2C6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98230" y="3483864"/>
            <a:ext cx="651509" cy="564642"/>
          </a:xfrm>
          <a:prstGeom prst="roundRect">
            <a:avLst>
              <a:gd name="adj" fmla="val 18000"/>
            </a:avLst>
          </a:prstGeom>
          <a:solidFill>
            <a:srgbClr val="FFF7C7"/>
          </a:solidFill>
          <a:ln w="9525">
            <a:solidFill>
              <a:srgbClr val="2C6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218420" y="3483864"/>
            <a:ext cx="651509" cy="564642"/>
          </a:xfrm>
          <a:prstGeom prst="roundRect">
            <a:avLst>
              <a:gd name="adj" fmla="val 18000"/>
            </a:avLst>
          </a:prstGeom>
          <a:solidFill>
            <a:srgbClr val="FFF7C7"/>
          </a:solidFill>
          <a:ln w="9525">
            <a:solidFill>
              <a:srgbClr val="2C6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521440" y="1485900"/>
            <a:ext cx="651509" cy="651509"/>
          </a:xfrm>
          <a:prstGeom prst="ellipse">
            <a:avLst/>
          </a:prstGeom>
          <a:solidFill>
            <a:srgbClr val="B88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0" y="5120640"/>
            <a:ext cx="544068" cy="544068"/>
          </a:xfrm>
          <a:prstGeom prst="ellipse">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07858" y="5625846"/>
            <a:ext cx="621792" cy="854964"/>
          </a:xfrm>
          <a:prstGeom prst="roundRect">
            <a:avLst>
              <a:gd name="adj" fmla="val 35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86623" y="5314950"/>
            <a:ext cx="54406" cy="54406"/>
          </a:xfrm>
          <a:prstGeom prst="ellipse">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96478" y="5314950"/>
            <a:ext cx="54406" cy="54406"/>
          </a:xfrm>
          <a:prstGeom prst="ellipse">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17712" y="5431536"/>
            <a:ext cx="202082" cy="124358"/>
          </a:xfrm>
          <a:prstGeom prst="ellipse">
            <a:avLst/>
          </a:prstGeom>
          <a:solidFill>
            <a:srgbClr val="D6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881360" y="5120640"/>
            <a:ext cx="544068" cy="544068"/>
          </a:xfrm>
          <a:prstGeom prst="ellipse">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842498" y="5625846"/>
            <a:ext cx="621792" cy="854964"/>
          </a:xfrm>
          <a:prstGeom prst="roundRect">
            <a:avLst>
              <a:gd name="adj" fmla="val 35000"/>
            </a:avLst>
          </a:prstGeom>
          <a:solidFill>
            <a:srgbClr val="D6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021263" y="5330494"/>
            <a:ext cx="54406" cy="54406"/>
          </a:xfrm>
          <a:prstGeom prst="ellipse">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231118" y="5330494"/>
            <a:ext cx="54406" cy="54406"/>
          </a:xfrm>
          <a:prstGeom prst="ellipse">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052352" y="5509260"/>
            <a:ext cx="202082" cy="31089"/>
          </a:xfrm>
          <a:prstGeom prst="roundRect">
            <a:avLst>
              <a:gd name="adj" fmla="val 50000"/>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6"/>
                            </p:tgtEl>
                            <p:attrNameLst>
                              <p:attrName>style.visibility</p:attrName>
                            </p:attrNameLst>
                          </p:cBhvr>
                          <p:to>
                            <p:strVal val="visible"/>
                          </p:to>
                        </p:set>
                        <p:anim calcmode="lin" valueType="num">
                          <p:cBhvr additive="base">
                            <p:cTn id="102" dur="600" fill="hold"/>
                            <p:tgtEl>
                              <p:spTgt spid="6"/>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7"/>
                            </p:tgtEl>
                            <p:attrNameLst>
                              <p:attrName>style.visibility</p:attrName>
                            </p:attrNameLst>
                          </p:cBhvr>
                          <p:to>
                            <p:strVal val="visible"/>
                          </p:to>
                        </p:set>
                        <p:anim calcmode="lin" valueType="num">
                          <p:cBhvr additive="base">
                            <p:cTn id="112" dur="600" fill="hold"/>
                            <p:tgtEl>
                              <p:spTgt spid="7"/>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8"/>
                            </p:tgtEl>
                            <p:attrNameLst>
                              <p:attrName>style.visibility</p:attrName>
                            </p:attrNameLst>
                          </p:cBhvr>
                          <p:to>
                            <p:strVal val="visible"/>
                          </p:to>
                        </p:set>
                        <p:anim calcmode="lin" valueType="num">
                          <p:cBhvr additive="base">
                            <p:cTn id="122" dur="600" fill="hold"/>
                            <p:tgtEl>
                              <p:spTgt spid="8"/>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9"/>
                            </p:tgtEl>
                            <p:attrNameLst>
                              <p:attrName>style.visibility</p:attrName>
                            </p:attrNameLst>
                          </p:cBhvr>
                          <p:to>
                            <p:strVal val="visible"/>
                          </p:to>
                        </p:set>
                        <p:anim calcmode="lin" valueType="num">
                          <p:cBhvr additive="base">
                            <p:cTn id="132" dur="600" fill="hold"/>
                            <p:tgtEl>
                              <p:spTgt spid="9"/>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0"/>
                            </p:tgtEl>
                            <p:attrNameLst>
                              <p:attrName>style.visibility</p:attrName>
                            </p:attrNameLst>
                          </p:cBhvr>
                          <p:to>
                            <p:strVal val="visible"/>
                          </p:to>
                        </p:set>
                        <p:anim calcmode="lin" valueType="num">
                          <p:cBhvr additive="base">
                            <p:cTn id="142" dur="600" fill="hold"/>
                            <p:tgtEl>
                              <p:spTgt spid="10"/>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3657600"/>
            <a:ext cx="6400800" cy="5486400"/>
          </a:xfrm>
          <a:prstGeom prst="ellipse">
            <a:avLst/>
          </a:prstGeom>
          <a:solidFill>
            <a:srgbClr val="CFE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1828800"/>
            <a:ext cx="5486400" cy="4572000"/>
          </a:xfrm>
          <a:prstGeom prst="ellipse">
            <a:avLst/>
          </a:prstGeom>
          <a:solidFill>
            <a:srgbClr val="FFD9E8">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65760"/>
          </a:xfrm>
          <a:prstGeom prst="rect">
            <a:avLst/>
          </a:prstGeom>
          <a:noFill/>
        </p:spPr>
        <p:txBody>
          <a:bodyPr wrap="square" lIns="0" rIns="0" tIns="0" bIns="0" anchor="t">
            <a:spAutoFit/>
          </a:bodyPr>
          <a:lstStyle/>
          <a:p>
            <a:pPr algn="l">
              <a:lnSpc>
                <a:spcPct val="115000"/>
              </a:lnSpc>
            </a:pPr>
            <a:r>
              <a:rPr sz="1300" b="1">
                <a:solidFill>
                  <a:srgbClr val="2C6BA8"/>
                </a:solidFill>
                <a:latin typeface="Helvetica Neue"/>
              </a:rPr>
              <a:t>01  ·  EINSTIEG</a:t>
            </a:r>
          </a:p>
        </p:txBody>
      </p:sp>
      <p:sp>
        <p:nvSpPr>
          <p:cNvPr id="6" name="TextBox 5"/>
          <p:cNvSpPr txBox="1"/>
          <p:nvPr/>
        </p:nvSpPr>
        <p:spPr>
          <a:xfrm>
            <a:off x="731520" y="1005840"/>
            <a:ext cx="10058400" cy="914400"/>
          </a:xfrm>
          <a:prstGeom prst="rect">
            <a:avLst/>
          </a:prstGeom>
          <a:noFill/>
        </p:spPr>
        <p:txBody>
          <a:bodyPr wrap="square" lIns="0" rIns="0" tIns="0" bIns="0" anchor="t">
            <a:spAutoFit/>
          </a:bodyPr>
          <a:lstStyle/>
          <a:p>
            <a:pPr algn="l">
              <a:lnSpc>
                <a:spcPct val="115000"/>
              </a:lnSpc>
            </a:pPr>
            <a:r>
              <a:rPr sz="3800" b="1">
                <a:solidFill>
                  <a:srgbClr val="2B2D42"/>
                </a:solidFill>
                <a:latin typeface="Helvetica Neue"/>
              </a:rPr>
              <a:t>Warum ist das Thema wichtig?</a:t>
            </a:r>
          </a:p>
        </p:txBody>
      </p:sp>
      <p:sp>
        <p:nvSpPr>
          <p:cNvPr id="7" name="TextBox 6"/>
          <p:cNvSpPr txBox="1"/>
          <p:nvPr/>
        </p:nvSpPr>
        <p:spPr>
          <a:xfrm>
            <a:off x="731520" y="2377440"/>
            <a:ext cx="6217920" cy="2377440"/>
          </a:xfrm>
          <a:prstGeom prst="rect">
            <a:avLst/>
          </a:prstGeom>
          <a:noFill/>
        </p:spPr>
        <p:txBody>
          <a:bodyPr wrap="square" lIns="0" rIns="0" tIns="0" bIns="0">
            <a:spAutoFit/>
          </a:bodyPr>
          <a:lstStyle/>
          <a:p>
            <a:pPr algn="l">
              <a:lnSpc>
                <a:spcPct val="140000"/>
              </a:lnSpc>
            </a:pPr>
            <a:r>
              <a:rPr sz="2200" b="1">
                <a:solidFill>
                  <a:srgbClr val="D64F8B"/>
                </a:solidFill>
                <a:latin typeface="Helvetica Neue"/>
              </a:rPr>
              <a:t>•  </a:t>
            </a:r>
            <a:r>
              <a:rPr sz="2000" b="0">
                <a:solidFill>
                  <a:srgbClr val="2B2D42"/>
                </a:solidFill>
                <a:latin typeface="Helvetica Neue"/>
              </a:rPr>
              <a:t>Schule prägt unseren Alltag</a:t>
            </a:r>
          </a:p>
          <a:p>
            <a:pPr algn="l">
              <a:lnSpc>
                <a:spcPct val="140000"/>
              </a:lnSpc>
            </a:pPr>
            <a:r>
              <a:rPr sz="2200" b="1">
                <a:solidFill>
                  <a:srgbClr val="D64F8B"/>
                </a:solidFill>
                <a:latin typeface="Helvetica Neue"/>
              </a:rPr>
              <a:t>•  </a:t>
            </a:r>
            <a:r>
              <a:rPr sz="2000" b="0">
                <a:solidFill>
                  <a:srgbClr val="2B2D42"/>
                </a:solidFill>
                <a:latin typeface="Helvetica Neue"/>
              </a:rPr>
              <a:t>Leistungsdruck nimmt zu</a:t>
            </a:r>
          </a:p>
          <a:p>
            <a:pPr algn="l">
              <a:lnSpc>
                <a:spcPct val="140000"/>
              </a:lnSpc>
            </a:pPr>
            <a:r>
              <a:rPr sz="2200" b="1">
                <a:solidFill>
                  <a:srgbClr val="D64F8B"/>
                </a:solidFill>
                <a:latin typeface="Helvetica Neue"/>
              </a:rPr>
              <a:t>•  </a:t>
            </a:r>
            <a:r>
              <a:rPr sz="2000" b="0">
                <a:solidFill>
                  <a:srgbClr val="2B2D42"/>
                </a:solidFill>
                <a:latin typeface="Helvetica Neue"/>
              </a:rPr>
              <a:t>Bildung beeinflusst unsere Zukunft</a:t>
            </a:r>
          </a:p>
          <a:p>
            <a:pPr algn="l">
              <a:lnSpc>
                <a:spcPct val="140000"/>
              </a:lnSpc>
            </a:pPr>
            <a:r>
              <a:rPr sz="2200" b="1">
                <a:solidFill>
                  <a:srgbClr val="D64F8B"/>
                </a:solidFill>
                <a:latin typeface="Helvetica Neue"/>
              </a:rPr>
              <a:t>•  </a:t>
            </a:r>
            <a:r>
              <a:rPr sz="2000" b="0">
                <a:solidFill>
                  <a:srgbClr val="2B2D42"/>
                </a:solidFill>
                <a:latin typeface="Helvetica Neue"/>
              </a:rPr>
              <a:t>Wohlbefinden ist Teil erfolgreicher Bildung</a:t>
            </a:r>
          </a:p>
        </p:txBody>
      </p:sp>
      <p:sp>
        <p:nvSpPr>
          <p:cNvPr id="8" name="Rounded Rectangle 7"/>
          <p:cNvSpPr/>
          <p:nvPr/>
        </p:nvSpPr>
        <p:spPr>
          <a:xfrm>
            <a:off x="731520" y="5029200"/>
            <a:ext cx="10607040" cy="1371600"/>
          </a:xfrm>
          <a:prstGeom prst="roundRect">
            <a:avLst>
              <a:gd name="adj" fmla="val 18000"/>
            </a:avLst>
          </a:prstGeom>
          <a:solidFill>
            <a:srgbClr val="FFF7C7"/>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166360"/>
            <a:ext cx="10058400" cy="365760"/>
          </a:xfrm>
          <a:prstGeom prst="rect">
            <a:avLst/>
          </a:prstGeom>
          <a:noFill/>
        </p:spPr>
        <p:txBody>
          <a:bodyPr wrap="square" lIns="0" rIns="0" tIns="0" bIns="0" anchor="t">
            <a:spAutoFit/>
          </a:bodyPr>
          <a:lstStyle/>
          <a:p>
            <a:pPr algn="l">
              <a:lnSpc>
                <a:spcPct val="115000"/>
              </a:lnSpc>
            </a:pPr>
            <a:r>
              <a:rPr sz="1200" b="1">
                <a:solidFill>
                  <a:srgbClr val="B88E1F"/>
                </a:solidFill>
                <a:latin typeface="Helvetica Neue"/>
              </a:rPr>
              <a:t>LEITFRAGE</a:t>
            </a:r>
          </a:p>
        </p:txBody>
      </p:sp>
      <p:sp>
        <p:nvSpPr>
          <p:cNvPr id="10" name="TextBox 9"/>
          <p:cNvSpPr txBox="1"/>
          <p:nvPr/>
        </p:nvSpPr>
        <p:spPr>
          <a:xfrm>
            <a:off x="1005840" y="5486400"/>
            <a:ext cx="10058400" cy="822960"/>
          </a:xfrm>
          <a:prstGeom prst="rect">
            <a:avLst/>
          </a:prstGeom>
          <a:noFill/>
        </p:spPr>
        <p:txBody>
          <a:bodyPr wrap="square" lIns="0" rIns="0" tIns="0" bIns="0" anchor="t">
            <a:spAutoFit/>
          </a:bodyPr>
          <a:lstStyle/>
          <a:p>
            <a:pPr algn="l">
              <a:lnSpc>
                <a:spcPct val="125000"/>
              </a:lnSpc>
            </a:pPr>
            <a:r>
              <a:rPr sz="1700" b="1">
                <a:solidFill>
                  <a:srgbClr val="2B2D42"/>
                </a:solidFill>
                <a:latin typeface="Helvetica Neue"/>
              </a:rPr>
              <a:t>„Inwiefern beeinflussen strukturelle Unterschiede im deutschen Schulsystem das Wohlbefinden von Schülerinnen und Schülern?“</a:t>
            </a:r>
          </a:p>
        </p:txBody>
      </p:sp>
      <p:sp>
        <p:nvSpPr>
          <p:cNvPr id="11" name="Isosceles Triangle 10"/>
          <p:cNvSpPr/>
          <p:nvPr/>
        </p:nvSpPr>
        <p:spPr>
          <a:xfrm>
            <a:off x="9107424" y="3977640"/>
            <a:ext cx="1170432" cy="1097280"/>
          </a:xfrm>
          <a:prstGeom prst="triangle">
            <a:avLst/>
          </a:prstGeom>
          <a:solidFill>
            <a:srgbClr val="2C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48749" y="2295144"/>
            <a:ext cx="87782" cy="1901952"/>
          </a:xfrm>
          <a:prstGeom prst="roundRect">
            <a:avLst>
              <a:gd name="adj" fmla="val 40000"/>
            </a:avLst>
          </a:prstGeom>
          <a:solidFill>
            <a:srgbClr val="2C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83296" y="2258568"/>
            <a:ext cx="3218688" cy="117043"/>
          </a:xfrm>
          <a:prstGeom prst="roundRect">
            <a:avLst>
              <a:gd name="adj" fmla="val 50000"/>
            </a:avLst>
          </a:prstGeom>
          <a:solidFill>
            <a:srgbClr val="2C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571232" y="2514600"/>
            <a:ext cx="1170432" cy="292608"/>
          </a:xfrm>
          <a:prstGeom prst="ellipse">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643616" y="2514600"/>
            <a:ext cx="1170432" cy="292608"/>
          </a:xfrm>
          <a:prstGeom prst="ellipse">
            <a:avLst/>
          </a:prstGeom>
          <a:solidFill>
            <a:srgbClr val="FFF7C7"/>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2606040"/>
            <a:ext cx="2194560" cy="365760"/>
          </a:xfrm>
          <a:prstGeom prst="rect">
            <a:avLst/>
          </a:prstGeom>
          <a:noFill/>
        </p:spPr>
        <p:txBody>
          <a:bodyPr wrap="square" lIns="0" rIns="0" tIns="0" bIns="0" anchor="t">
            <a:spAutoFit/>
          </a:bodyPr>
          <a:lstStyle/>
          <a:p>
            <a:pPr algn="ctr">
              <a:lnSpc>
                <a:spcPct val="115000"/>
              </a:lnSpc>
            </a:pPr>
            <a:r>
              <a:rPr sz="1200" b="1">
                <a:solidFill>
                  <a:srgbClr val="D64F8B"/>
                </a:solidFill>
                <a:latin typeface="Helvetica Neue"/>
              </a:rPr>
              <a:t>BILDUNG</a:t>
            </a:r>
          </a:p>
        </p:txBody>
      </p:sp>
      <p:sp>
        <p:nvSpPr>
          <p:cNvPr id="17" name="TextBox 16"/>
          <p:cNvSpPr txBox="1"/>
          <p:nvPr/>
        </p:nvSpPr>
        <p:spPr>
          <a:xfrm>
            <a:off x="10058400" y="2606040"/>
            <a:ext cx="2194560" cy="365760"/>
          </a:xfrm>
          <a:prstGeom prst="rect">
            <a:avLst/>
          </a:prstGeom>
          <a:noFill/>
        </p:spPr>
        <p:txBody>
          <a:bodyPr wrap="square" lIns="0" rIns="0" tIns="0" bIns="0" anchor="t">
            <a:spAutoFit/>
          </a:bodyPr>
          <a:lstStyle/>
          <a:p>
            <a:pPr algn="ctr">
              <a:lnSpc>
                <a:spcPct val="115000"/>
              </a:lnSpc>
            </a:pPr>
            <a:r>
              <a:rPr sz="1200" b="1">
                <a:solidFill>
                  <a:srgbClr val="B88E1F"/>
                </a:solidFill>
                <a:latin typeface="Helvetica Neue"/>
              </a:rPr>
              <a:t>WOHLBEFINDEN</a:t>
            </a: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600" fill="hold"/>
                            <p:tgtEl>
                              <p:spTgt spid="5"/>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6"/>
                            </p:tgtEl>
                            <p:attrNameLst>
                              <p:attrName>style.visibility</p:attrName>
                            </p:attrNameLst>
                          </p:cBhvr>
                          <p:to>
                            <p:strVal val="visible"/>
                          </p:to>
                        </p:set>
                        <p:anim calcmode="lin" valueType="num">
                          <p:cBhvr additive="base">
                            <p:cTn id="112" dur="600" fill="hold"/>
                            <p:tgtEl>
                              <p:spTgt spid="6"/>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600" fill="hold"/>
                            <p:tgtEl>
                              <p:spTgt spid="7"/>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8"/>
                            </p:tgtEl>
                            <p:attrNameLst>
                              <p:attrName>style.visibility</p:attrName>
                            </p:attrNameLst>
                          </p:cBhvr>
                          <p:to>
                            <p:strVal val="visible"/>
                          </p:to>
                        </p:set>
                        <p:anim calcmode="lin" valueType="num">
                          <p:cBhvr additive="base">
                            <p:cTn id="132" dur="600" fill="hold"/>
                            <p:tgtEl>
                              <p:spTgt spid="8"/>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0"/>
                            </p:tgtEl>
                            <p:attrNameLst>
                              <p:attrName>style.visibility</p:attrName>
                            </p:attrNameLst>
                          </p:cBhvr>
                          <p:to>
                            <p:strVal val="visible"/>
                          </p:to>
                        </p:set>
                        <p:anim calcmode="lin" valueType="num">
                          <p:cBhvr additive="base">
                            <p:cTn id="142" dur="600" fill="hold"/>
                            <p:tgtEl>
                              <p:spTgt spid="10"/>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Lst>
  </p:timing>
  <mc:AlternateContent xmlns:mc="http://schemas.openxmlformats.org/markup-compatibility/2006">
    <mc:Choice xmlns:p14="http://schemas.microsoft.com/office/powerpoint/2010/main" Requires="p14">
      <p:transition spd="med" p14:dur="900">
        <p14:zoom dir="in"/>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743200"/>
            <a:ext cx="5486400" cy="5486400"/>
          </a:xfrm>
          <a:prstGeom prst="ellipse">
            <a:avLst/>
          </a:prstGeom>
          <a:solidFill>
            <a:srgbClr val="FFF7C7">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5486400"/>
            <a:ext cx="4572000" cy="4572000"/>
          </a:xfrm>
          <a:prstGeom prst="ellipse">
            <a:avLst/>
          </a:prstGeom>
          <a:solidFill>
            <a:srgbClr val="FFD9E8">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65760"/>
          </a:xfrm>
          <a:prstGeom prst="rect">
            <a:avLst/>
          </a:prstGeom>
          <a:noFill/>
        </p:spPr>
        <p:txBody>
          <a:bodyPr wrap="square" lIns="0" rIns="0" tIns="0" bIns="0" anchor="t">
            <a:spAutoFit/>
          </a:bodyPr>
          <a:lstStyle/>
          <a:p>
            <a:pPr algn="l">
              <a:lnSpc>
                <a:spcPct val="115000"/>
              </a:lnSpc>
            </a:pPr>
            <a:r>
              <a:rPr sz="1300" b="1">
                <a:solidFill>
                  <a:srgbClr val="B88E1F"/>
                </a:solidFill>
                <a:latin typeface="Helvetica Neue"/>
              </a:rPr>
              <a:t>02  ·  GRUNDLAGEN</a:t>
            </a:r>
          </a:p>
        </p:txBody>
      </p:sp>
      <p:sp>
        <p:nvSpPr>
          <p:cNvPr id="6" name="TextBox 5"/>
          <p:cNvSpPr txBox="1"/>
          <p:nvPr/>
        </p:nvSpPr>
        <p:spPr>
          <a:xfrm>
            <a:off x="731520" y="1005840"/>
            <a:ext cx="10058400" cy="914400"/>
          </a:xfrm>
          <a:prstGeom prst="rect">
            <a:avLst/>
          </a:prstGeom>
          <a:noFill/>
        </p:spPr>
        <p:txBody>
          <a:bodyPr wrap="square" lIns="0" rIns="0" tIns="0" bIns="0" anchor="t">
            <a:spAutoFit/>
          </a:bodyPr>
          <a:lstStyle/>
          <a:p>
            <a:pPr algn="l">
              <a:lnSpc>
                <a:spcPct val="115000"/>
              </a:lnSpc>
            </a:pPr>
            <a:r>
              <a:rPr sz="3800" b="1">
                <a:solidFill>
                  <a:srgbClr val="2B2D42"/>
                </a:solidFill>
                <a:latin typeface="Helvetica Neue"/>
              </a:rPr>
              <a:t>Drei Begriffe als Kompass</a:t>
            </a:r>
          </a:p>
        </p:txBody>
      </p:sp>
      <p:sp>
        <p:nvSpPr>
          <p:cNvPr id="7" name="Oval 6"/>
          <p:cNvSpPr/>
          <p:nvPr/>
        </p:nvSpPr>
        <p:spPr>
          <a:xfrm>
            <a:off x="5410047" y="3566160"/>
            <a:ext cx="1371600" cy="1371600"/>
          </a:xfrm>
          <a:prstGeom prst="ellipse">
            <a:avLst/>
          </a:prstGeom>
          <a:solidFill>
            <a:srgbClr val="2B2D42"/>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10047" y="3566160"/>
            <a:ext cx="1371600" cy="1371600"/>
          </a:xfrm>
          <a:prstGeom prst="rect">
            <a:avLst/>
          </a:prstGeom>
          <a:noFill/>
        </p:spPr>
        <p:txBody>
          <a:bodyPr wrap="square" lIns="0" rIns="0" tIns="0" bIns="0" anchor="ctr">
            <a:spAutoFit/>
          </a:bodyPr>
          <a:lstStyle/>
          <a:p>
            <a:pPr algn="ctr">
              <a:lnSpc>
                <a:spcPct val="105000"/>
              </a:lnSpc>
            </a:pPr>
            <a:r>
              <a:rPr sz="1200" b="1">
                <a:solidFill>
                  <a:srgbClr val="FFFFFF"/>
                </a:solidFill>
                <a:latin typeface="Helvetica Neue"/>
              </a:rPr>
              <a:t>Schule
&amp;
Wohlbefinden</a:t>
            </a:r>
          </a:p>
        </p:txBody>
      </p:sp>
      <p:sp>
        <p:nvSpPr>
          <p:cNvPr id="9" name="Rounded Rectangle 8"/>
          <p:cNvSpPr/>
          <p:nvPr/>
        </p:nvSpPr>
        <p:spPr>
          <a:xfrm>
            <a:off x="548640" y="2743200"/>
            <a:ext cx="3200400" cy="2286000"/>
          </a:xfrm>
          <a:prstGeom prst="roundRect">
            <a:avLst>
              <a:gd name="adj" fmla="val 10000"/>
            </a:avLst>
          </a:prstGeom>
          <a:solidFill>
            <a:srgbClr val="CFEFFF"/>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926080"/>
            <a:ext cx="2743200" cy="457200"/>
          </a:xfrm>
          <a:prstGeom prst="rect">
            <a:avLst/>
          </a:prstGeom>
          <a:noFill/>
        </p:spPr>
        <p:txBody>
          <a:bodyPr wrap="square" lIns="0" rIns="0" tIns="0" bIns="0" anchor="t">
            <a:spAutoFit/>
          </a:bodyPr>
          <a:lstStyle/>
          <a:p>
            <a:pPr algn="l">
              <a:lnSpc>
                <a:spcPct val="115000"/>
              </a:lnSpc>
            </a:pPr>
            <a:r>
              <a:rPr sz="1700" b="1">
                <a:solidFill>
                  <a:srgbClr val="2C6BA8"/>
                </a:solidFill>
                <a:latin typeface="Helvetica Neue"/>
              </a:rPr>
              <a:t>Strukturmerkmale</a:t>
            </a:r>
          </a:p>
        </p:txBody>
      </p:sp>
      <p:sp>
        <p:nvSpPr>
          <p:cNvPr id="11" name="TextBox 10"/>
          <p:cNvSpPr txBox="1"/>
          <p:nvPr/>
        </p:nvSpPr>
        <p:spPr>
          <a:xfrm>
            <a:off x="777240" y="3520440"/>
            <a:ext cx="2743200" cy="1371600"/>
          </a:xfrm>
          <a:prstGeom prst="rect">
            <a:avLst/>
          </a:prstGeom>
          <a:noFill/>
        </p:spPr>
        <p:txBody>
          <a:bodyPr wrap="square" lIns="0" rIns="0" tIns="0" bIns="0">
            <a:spAutoFit/>
          </a:bodyPr>
          <a:lstStyle/>
          <a:p>
            <a:pPr algn="l">
              <a:lnSpc>
                <a:spcPct val="140000"/>
              </a:lnSpc>
            </a:pPr>
            <a:r>
              <a:rPr sz="1500" b="1">
                <a:solidFill>
                  <a:srgbClr val="2C6BA8"/>
                </a:solidFill>
                <a:latin typeface="Helvetica Neue"/>
              </a:rPr>
              <a:t>•  </a:t>
            </a:r>
            <a:r>
              <a:rPr sz="1300" b="0">
                <a:solidFill>
                  <a:srgbClr val="2B2D42"/>
                </a:solidFill>
                <a:latin typeface="Helvetica Neue"/>
              </a:rPr>
              <a:t>Schulformen</a:t>
            </a:r>
          </a:p>
          <a:p>
            <a:pPr algn="l">
              <a:lnSpc>
                <a:spcPct val="140000"/>
              </a:lnSpc>
            </a:pPr>
            <a:r>
              <a:rPr sz="1500" b="1">
                <a:solidFill>
                  <a:srgbClr val="2C6BA8"/>
                </a:solidFill>
                <a:latin typeface="Helvetica Neue"/>
              </a:rPr>
              <a:t>•  </a:t>
            </a:r>
            <a:r>
              <a:rPr sz="1300" b="0">
                <a:solidFill>
                  <a:srgbClr val="2B2D42"/>
                </a:solidFill>
                <a:latin typeface="Helvetica Neue"/>
              </a:rPr>
              <a:t>Notensystem</a:t>
            </a:r>
          </a:p>
          <a:p>
            <a:pPr algn="l">
              <a:lnSpc>
                <a:spcPct val="140000"/>
              </a:lnSpc>
            </a:pPr>
            <a:r>
              <a:rPr sz="1500" b="1">
                <a:solidFill>
                  <a:srgbClr val="2C6BA8"/>
                </a:solidFill>
                <a:latin typeface="Helvetica Neue"/>
              </a:rPr>
              <a:t>•  </a:t>
            </a:r>
            <a:r>
              <a:rPr sz="1300" b="0">
                <a:solidFill>
                  <a:srgbClr val="2B2D42"/>
                </a:solidFill>
                <a:latin typeface="Helvetica Neue"/>
              </a:rPr>
              <a:t>Versetzungen</a:t>
            </a:r>
          </a:p>
          <a:p>
            <a:pPr algn="l">
              <a:lnSpc>
                <a:spcPct val="140000"/>
              </a:lnSpc>
            </a:pPr>
            <a:r>
              <a:rPr sz="1500" b="1">
                <a:solidFill>
                  <a:srgbClr val="2C6BA8"/>
                </a:solidFill>
                <a:latin typeface="Helvetica Neue"/>
              </a:rPr>
              <a:t>•  </a:t>
            </a:r>
            <a:r>
              <a:rPr sz="1300" b="0">
                <a:solidFill>
                  <a:srgbClr val="2B2D42"/>
                </a:solidFill>
                <a:latin typeface="Helvetica Neue"/>
              </a:rPr>
              <a:t>Abschlüsse</a:t>
            </a:r>
          </a:p>
        </p:txBody>
      </p:sp>
      <p:sp>
        <p:nvSpPr>
          <p:cNvPr id="12" name="Rounded Rectangle 11"/>
          <p:cNvSpPr/>
          <p:nvPr/>
        </p:nvSpPr>
        <p:spPr>
          <a:xfrm>
            <a:off x="4480560" y="4754880"/>
            <a:ext cx="3200400" cy="2011680"/>
          </a:xfrm>
          <a:prstGeom prst="roundRect">
            <a:avLst>
              <a:gd name="adj" fmla="val 10000"/>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4937760"/>
            <a:ext cx="2743200" cy="457200"/>
          </a:xfrm>
          <a:prstGeom prst="rect">
            <a:avLst/>
          </a:prstGeom>
          <a:noFill/>
        </p:spPr>
        <p:txBody>
          <a:bodyPr wrap="square" lIns="0" rIns="0" tIns="0" bIns="0" anchor="t">
            <a:spAutoFit/>
          </a:bodyPr>
          <a:lstStyle/>
          <a:p>
            <a:pPr algn="l">
              <a:lnSpc>
                <a:spcPct val="115000"/>
              </a:lnSpc>
            </a:pPr>
            <a:r>
              <a:rPr sz="1700" b="1">
                <a:solidFill>
                  <a:srgbClr val="D64F8B"/>
                </a:solidFill>
                <a:latin typeface="Helvetica Neue"/>
              </a:rPr>
              <a:t>Wohlbefinden</a:t>
            </a:r>
          </a:p>
        </p:txBody>
      </p:sp>
      <p:sp>
        <p:nvSpPr>
          <p:cNvPr id="14" name="TextBox 13"/>
          <p:cNvSpPr txBox="1"/>
          <p:nvPr/>
        </p:nvSpPr>
        <p:spPr>
          <a:xfrm>
            <a:off x="4709160" y="5532120"/>
            <a:ext cx="2743200" cy="1097280"/>
          </a:xfrm>
          <a:prstGeom prst="rect">
            <a:avLst/>
          </a:prstGeom>
          <a:noFill/>
        </p:spPr>
        <p:txBody>
          <a:bodyPr wrap="square" lIns="0" rIns="0" tIns="0" bIns="0">
            <a:spAutoFit/>
          </a:bodyPr>
          <a:lstStyle/>
          <a:p>
            <a:pPr algn="l">
              <a:lnSpc>
                <a:spcPct val="140000"/>
              </a:lnSpc>
            </a:pPr>
            <a:r>
              <a:rPr sz="1500" b="1">
                <a:solidFill>
                  <a:srgbClr val="D64F8B"/>
                </a:solidFill>
                <a:latin typeface="Helvetica Neue"/>
              </a:rPr>
              <a:t>•  </a:t>
            </a:r>
            <a:r>
              <a:rPr sz="1300" b="0">
                <a:solidFill>
                  <a:srgbClr val="2B2D42"/>
                </a:solidFill>
                <a:latin typeface="Helvetica Neue"/>
              </a:rPr>
              <a:t>psychische Gesundheit</a:t>
            </a:r>
          </a:p>
          <a:p>
            <a:pPr algn="l">
              <a:lnSpc>
                <a:spcPct val="140000"/>
              </a:lnSpc>
            </a:pPr>
            <a:r>
              <a:rPr sz="1500" b="1">
                <a:solidFill>
                  <a:srgbClr val="D64F8B"/>
                </a:solidFill>
                <a:latin typeface="Helvetica Neue"/>
              </a:rPr>
              <a:t>•  </a:t>
            </a:r>
            <a:r>
              <a:rPr sz="1300" b="0">
                <a:solidFill>
                  <a:srgbClr val="2B2D42"/>
                </a:solidFill>
                <a:latin typeface="Helvetica Neue"/>
              </a:rPr>
              <a:t>soziale Beziehungen</a:t>
            </a:r>
          </a:p>
          <a:p>
            <a:pPr algn="l">
              <a:lnSpc>
                <a:spcPct val="140000"/>
              </a:lnSpc>
            </a:pPr>
            <a:r>
              <a:rPr sz="1500" b="1">
                <a:solidFill>
                  <a:srgbClr val="D64F8B"/>
                </a:solidFill>
                <a:latin typeface="Helvetica Neue"/>
              </a:rPr>
              <a:t>•  </a:t>
            </a:r>
            <a:r>
              <a:rPr sz="1300" b="0">
                <a:solidFill>
                  <a:srgbClr val="2B2D42"/>
                </a:solidFill>
                <a:latin typeface="Helvetica Neue"/>
              </a:rPr>
              <a:t>Lebenszufriedenheit</a:t>
            </a:r>
          </a:p>
        </p:txBody>
      </p:sp>
      <p:sp>
        <p:nvSpPr>
          <p:cNvPr id="15" name="Rounded Rectangle 14"/>
          <p:cNvSpPr/>
          <p:nvPr/>
        </p:nvSpPr>
        <p:spPr>
          <a:xfrm>
            <a:off x="8412480" y="2743200"/>
            <a:ext cx="3200400" cy="2286000"/>
          </a:xfrm>
          <a:prstGeom prst="roundRect">
            <a:avLst>
              <a:gd name="adj" fmla="val 10000"/>
            </a:avLst>
          </a:prstGeom>
          <a:solidFill>
            <a:srgbClr val="CBEFD3"/>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2926080"/>
            <a:ext cx="2743200" cy="457200"/>
          </a:xfrm>
          <a:prstGeom prst="rect">
            <a:avLst/>
          </a:prstGeom>
          <a:noFill/>
        </p:spPr>
        <p:txBody>
          <a:bodyPr wrap="square" lIns="0" rIns="0" tIns="0" bIns="0" anchor="t">
            <a:spAutoFit/>
          </a:bodyPr>
          <a:lstStyle/>
          <a:p>
            <a:pPr algn="l">
              <a:lnSpc>
                <a:spcPct val="115000"/>
              </a:lnSpc>
            </a:pPr>
            <a:r>
              <a:rPr sz="1700" b="1">
                <a:solidFill>
                  <a:srgbClr val="3F9B5A"/>
                </a:solidFill>
                <a:latin typeface="Helvetica Neue"/>
              </a:rPr>
              <a:t>Bildungsgerechtigkeit</a:t>
            </a:r>
          </a:p>
        </p:txBody>
      </p:sp>
      <p:sp>
        <p:nvSpPr>
          <p:cNvPr id="17" name="TextBox 16"/>
          <p:cNvSpPr txBox="1"/>
          <p:nvPr/>
        </p:nvSpPr>
        <p:spPr>
          <a:xfrm>
            <a:off x="8641080" y="3520440"/>
            <a:ext cx="2743200" cy="1371600"/>
          </a:xfrm>
          <a:prstGeom prst="rect">
            <a:avLst/>
          </a:prstGeom>
          <a:noFill/>
        </p:spPr>
        <p:txBody>
          <a:bodyPr wrap="square" lIns="0" rIns="0" tIns="0" bIns="0">
            <a:spAutoFit/>
          </a:bodyPr>
          <a:lstStyle/>
          <a:p>
            <a:pPr algn="l">
              <a:lnSpc>
                <a:spcPct val="140000"/>
              </a:lnSpc>
            </a:pPr>
            <a:r>
              <a:rPr sz="1500" b="1">
                <a:solidFill>
                  <a:srgbClr val="3F9B5A"/>
                </a:solidFill>
                <a:latin typeface="Helvetica Neue"/>
              </a:rPr>
              <a:t>•  </a:t>
            </a:r>
            <a:r>
              <a:rPr sz="1300" b="0">
                <a:solidFill>
                  <a:srgbClr val="2B2D42"/>
                </a:solidFill>
                <a:latin typeface="Helvetica Neue"/>
              </a:rPr>
              <a:t>faire Chancen</a:t>
            </a:r>
          </a:p>
          <a:p>
            <a:pPr algn="l">
              <a:lnSpc>
                <a:spcPct val="140000"/>
              </a:lnSpc>
            </a:pPr>
            <a:r>
              <a:rPr sz="1500" b="1">
                <a:solidFill>
                  <a:srgbClr val="3F9B5A"/>
                </a:solidFill>
                <a:latin typeface="Helvetica Neue"/>
              </a:rPr>
              <a:t>•  </a:t>
            </a:r>
            <a:r>
              <a:rPr sz="1300" b="0">
                <a:solidFill>
                  <a:srgbClr val="2B2D42"/>
                </a:solidFill>
                <a:latin typeface="Helvetica Neue"/>
              </a:rPr>
              <a:t>unabhängig von sozialer Herkunft</a:t>
            </a:r>
          </a:p>
        </p:txBody>
      </p:sp>
      <p:sp>
        <p:nvSpPr>
          <p:cNvPr id="18" name="Rounded Rectangle 17"/>
          <p:cNvSpPr/>
          <p:nvPr/>
        </p:nvSpPr>
        <p:spPr>
          <a:xfrm>
            <a:off x="3749039" y="4206240"/>
            <a:ext cx="1828800" cy="36576"/>
          </a:xfrm>
          <a:prstGeom prst="roundRect">
            <a:avLst>
              <a:gd name="adj" fmla="val 50000"/>
            </a:avLst>
          </a:prstGeom>
          <a:solidFill>
            <a:srgbClr val="9A9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629400" y="4206240"/>
            <a:ext cx="1783080" cy="36576"/>
          </a:xfrm>
          <a:prstGeom prst="roundRect">
            <a:avLst>
              <a:gd name="adj" fmla="val 50000"/>
            </a:avLst>
          </a:prstGeom>
          <a:solidFill>
            <a:srgbClr val="9A9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080760" y="4572000"/>
            <a:ext cx="36576" cy="274320"/>
          </a:xfrm>
          <a:prstGeom prst="roundRect">
            <a:avLst>
              <a:gd name="adj" fmla="val 50000"/>
            </a:avLst>
          </a:prstGeom>
          <a:solidFill>
            <a:srgbClr val="9A9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600" fill="hold"/>
                            <p:tgtEl>
                              <p:spTgt spid="5"/>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6"/>
                            </p:tgtEl>
                            <p:attrNameLst>
                              <p:attrName>style.visibility</p:attrName>
                            </p:attrNameLst>
                          </p:cBhvr>
                          <p:to>
                            <p:strVal val="visible"/>
                          </p:to>
                        </p:set>
                        <p:anim calcmode="lin" valueType="num">
                          <p:cBhvr additive="base">
                            <p:cTn id="112" dur="600" fill="hold"/>
                            <p:tgtEl>
                              <p:spTgt spid="6"/>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600" fill="hold"/>
                            <p:tgtEl>
                              <p:spTgt spid="7"/>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9"/>
                            </p:tgtEl>
                            <p:attrNameLst>
                              <p:attrName>style.visibility</p:attrName>
                            </p:attrNameLst>
                          </p:cBhvr>
                          <p:to>
                            <p:strVal val="visible"/>
                          </p:to>
                        </p:set>
                        <p:anim calcmode="lin" valueType="num">
                          <p:cBhvr additive="base">
                            <p:cTn id="132" dur="600" fill="hold"/>
                            <p:tgtEl>
                              <p:spTgt spid="9"/>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2"/>
                            </p:tgtEl>
                            <p:attrNameLst>
                              <p:attrName>style.visibility</p:attrName>
                            </p:attrNameLst>
                          </p:cBhvr>
                          <p:to>
                            <p:strVal val="visible"/>
                          </p:to>
                        </p:set>
                        <p:anim calcmode="lin" valueType="num">
                          <p:cBhvr additive="base">
                            <p:cTn id="142" dur="600" fill="hold"/>
                            <p:tgtEl>
                              <p:spTgt spid="12"/>
                            </p:tgtEl>
                            <p:attrNameLst>
                              <p:attrName>style.opacity</p:attrName>
                            </p:attrNameLst>
                          </p:cBhvr>
                          <p:tavLst>
                            <p:tav tm="0">
                              <p:val>
                                <p:fltVal val="0"/>
                              </p:val>
                            </p:tav>
                            <p:tav tm="100000">
                              <p:val>
                                <p:fltVal val="1"/>
                              </p:val>
                            </p:tav>
                          </p:tavLst>
                        </p:anim>
                      </p:childTnLst>
                    </p:cTn>
                  </p:par>
                  <p:par>
                    <p:cTn id="150" presetID="10" presetClass="entr" presetSubtype="0" fill="hold" grpId="0" nodeType="afterEffect">
                      <p:stCondLst>
                        <p:cond delay="350"/>
                      </p:stCondLst>
                      <p:childTnLst>
                        <p:set>
                          <p:cBhvr>
                            <p:cTn id="151" dur="1" fill="hold">
                              <p:stCondLst>
                                <p:cond delay="0"/>
                              </p:stCondLst>
                            </p:cTn>
                            <p:tgtEl>
                              <p:spTgt spid="15"/>
                            </p:tgtEl>
                            <p:attrNameLst>
                              <p:attrName>style.visibility</p:attrName>
                            </p:attrNameLst>
                          </p:cBhvr>
                          <p:to>
                            <p:strVal val="visible"/>
                          </p:to>
                        </p:set>
                        <p:anim calcmode="lin" valueType="num">
                          <p:cBhvr additive="base">
                            <p:cTn id="152" dur="600" fill="hold"/>
                            <p:tgtEl>
                              <p:spTgt spid="15"/>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2" grpId="0"/>
      <p:bldP spid="15" grpId="0"/>
    </p:bldLst>
  </p:timing>
  <p:transition spd="med">
    <p:cover dir="l"/>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2286000"/>
            <a:ext cx="4572000" cy="4572000"/>
          </a:xfrm>
          <a:prstGeom prst="ellipse">
            <a:avLst/>
          </a:prstGeom>
          <a:solidFill>
            <a:srgbClr val="CFEF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286000" y="5029200"/>
            <a:ext cx="4572000" cy="4572000"/>
          </a:xfrm>
          <a:prstGeom prst="ellipse">
            <a:avLst/>
          </a:prstGeom>
          <a:solidFill>
            <a:srgbClr val="FFD9E8">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65760"/>
          </a:xfrm>
          <a:prstGeom prst="rect">
            <a:avLst/>
          </a:prstGeom>
          <a:noFill/>
        </p:spPr>
        <p:txBody>
          <a:bodyPr wrap="square" lIns="0" rIns="0" tIns="0" bIns="0" anchor="t">
            <a:spAutoFit/>
          </a:bodyPr>
          <a:lstStyle/>
          <a:p>
            <a:pPr algn="l">
              <a:lnSpc>
                <a:spcPct val="115000"/>
              </a:lnSpc>
            </a:pPr>
            <a:r>
              <a:rPr sz="1300" b="1">
                <a:solidFill>
                  <a:srgbClr val="2C6BA8"/>
                </a:solidFill>
                <a:latin typeface="Helvetica Neue"/>
              </a:rPr>
              <a:t>03  ·  ÜBERBLICK</a:t>
            </a:r>
          </a:p>
        </p:txBody>
      </p:sp>
      <p:sp>
        <p:nvSpPr>
          <p:cNvPr id="6" name="TextBox 5"/>
          <p:cNvSpPr txBox="1"/>
          <p:nvPr/>
        </p:nvSpPr>
        <p:spPr>
          <a:xfrm>
            <a:off x="731520" y="1005840"/>
            <a:ext cx="8229600" cy="1097280"/>
          </a:xfrm>
          <a:prstGeom prst="rect">
            <a:avLst/>
          </a:prstGeom>
          <a:noFill/>
        </p:spPr>
        <p:txBody>
          <a:bodyPr wrap="square" lIns="0" rIns="0" tIns="0" bIns="0" anchor="t">
            <a:spAutoFit/>
          </a:bodyPr>
          <a:lstStyle/>
          <a:p>
            <a:pPr algn="l">
              <a:lnSpc>
                <a:spcPct val="115000"/>
              </a:lnSpc>
            </a:pPr>
            <a:r>
              <a:rPr sz="4200" b="1">
                <a:solidFill>
                  <a:srgbClr val="2B2D42"/>
                </a:solidFill>
                <a:latin typeface="Helvetica Neue"/>
              </a:rPr>
              <a:t>Das deutsche Schulsystem</a:t>
            </a:r>
          </a:p>
        </p:txBody>
      </p:sp>
      <p:sp>
        <p:nvSpPr>
          <p:cNvPr id="7" name="TextBox 6"/>
          <p:cNvSpPr txBox="1"/>
          <p:nvPr/>
        </p:nvSpPr>
        <p:spPr>
          <a:xfrm>
            <a:off x="731520" y="1783080"/>
            <a:ext cx="10058400" cy="457200"/>
          </a:xfrm>
          <a:prstGeom prst="rect">
            <a:avLst/>
          </a:prstGeom>
          <a:noFill/>
        </p:spPr>
        <p:txBody>
          <a:bodyPr wrap="square" lIns="0" rIns="0" tIns="0" bIns="0" anchor="t">
            <a:spAutoFit/>
          </a:bodyPr>
          <a:lstStyle/>
          <a:p>
            <a:pPr algn="l">
              <a:lnSpc>
                <a:spcPct val="115000"/>
              </a:lnSpc>
            </a:pPr>
            <a:r>
              <a:rPr sz="1800" b="0">
                <a:solidFill>
                  <a:srgbClr val="6B6F7B"/>
                </a:solidFill>
                <a:latin typeface="Helvetica Neue"/>
              </a:rPr>
              <a:t>Fünf Schulformen – fünf Wege</a:t>
            </a:r>
          </a:p>
        </p:txBody>
      </p:sp>
      <p:sp>
        <p:nvSpPr>
          <p:cNvPr id="8" name="Rounded Rectangle 7"/>
          <p:cNvSpPr/>
          <p:nvPr/>
        </p:nvSpPr>
        <p:spPr>
          <a:xfrm>
            <a:off x="472287" y="2743200"/>
            <a:ext cx="2103120" cy="3200400"/>
          </a:xfrm>
          <a:prstGeom prst="roundRect">
            <a:avLst>
              <a:gd name="adj" fmla="val 10000"/>
            </a:avLst>
          </a:prstGeom>
          <a:solidFill>
            <a:srgbClr val="CFEFFF"/>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287" y="3017520"/>
            <a:ext cx="2103120" cy="640080"/>
          </a:xfrm>
          <a:prstGeom prst="rect">
            <a:avLst/>
          </a:prstGeom>
          <a:noFill/>
        </p:spPr>
        <p:txBody>
          <a:bodyPr wrap="square" lIns="0" rIns="0" tIns="0" bIns="0" anchor="t">
            <a:spAutoFit/>
          </a:bodyPr>
          <a:lstStyle/>
          <a:p>
            <a:pPr algn="ctr">
              <a:lnSpc>
                <a:spcPct val="115000"/>
              </a:lnSpc>
            </a:pPr>
            <a:r>
              <a:rPr sz="3400" b="0">
                <a:solidFill>
                  <a:srgbClr val="2B2D42"/>
                </a:solidFill>
                <a:latin typeface="Helvetica Neue"/>
              </a:rPr>
              <a:t>🎓</a:t>
            </a:r>
          </a:p>
        </p:txBody>
      </p:sp>
      <p:sp>
        <p:nvSpPr>
          <p:cNvPr id="10" name="TextBox 9"/>
          <p:cNvSpPr txBox="1"/>
          <p:nvPr/>
        </p:nvSpPr>
        <p:spPr>
          <a:xfrm>
            <a:off x="563727" y="3749040"/>
            <a:ext cx="1920240" cy="548640"/>
          </a:xfrm>
          <a:prstGeom prst="rect">
            <a:avLst/>
          </a:prstGeom>
          <a:noFill/>
        </p:spPr>
        <p:txBody>
          <a:bodyPr wrap="square" lIns="0" rIns="0" tIns="0" bIns="0" anchor="t">
            <a:spAutoFit/>
          </a:bodyPr>
          <a:lstStyle/>
          <a:p>
            <a:pPr algn="ctr">
              <a:lnSpc>
                <a:spcPct val="115000"/>
              </a:lnSpc>
            </a:pPr>
            <a:r>
              <a:rPr sz="1500" b="1">
                <a:solidFill>
                  <a:srgbClr val="2C6BA8"/>
                </a:solidFill>
                <a:latin typeface="Helvetica Neue"/>
              </a:rPr>
              <a:t>Gymnasium</a:t>
            </a:r>
          </a:p>
        </p:txBody>
      </p:sp>
      <p:sp>
        <p:nvSpPr>
          <p:cNvPr id="11" name="Rounded Rectangle 10"/>
          <p:cNvSpPr/>
          <p:nvPr/>
        </p:nvSpPr>
        <p:spPr>
          <a:xfrm>
            <a:off x="1295247" y="4251960"/>
            <a:ext cx="457200" cy="45720"/>
          </a:xfrm>
          <a:prstGeom prst="roundRect">
            <a:avLst>
              <a:gd name="adj" fmla="val 50000"/>
            </a:avLst>
          </a:prstGeom>
          <a:solidFill>
            <a:srgbClr val="2C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447" y="4434840"/>
            <a:ext cx="1828800" cy="1371600"/>
          </a:xfrm>
          <a:prstGeom prst="rect">
            <a:avLst/>
          </a:prstGeom>
          <a:noFill/>
        </p:spPr>
        <p:txBody>
          <a:bodyPr wrap="square" lIns="0" rIns="0" tIns="0" bIns="0" anchor="t">
            <a:spAutoFit/>
          </a:bodyPr>
          <a:lstStyle/>
          <a:p>
            <a:pPr algn="ctr">
              <a:lnSpc>
                <a:spcPct val="130000"/>
              </a:lnSpc>
            </a:pPr>
            <a:r>
              <a:rPr sz="1100" b="0">
                <a:solidFill>
                  <a:srgbClr val="2B2D42"/>
                </a:solidFill>
                <a:latin typeface="Helvetica Neue"/>
              </a:rPr>
              <a:t>Abitur · Studium
hohe akademische
Anforderungen</a:t>
            </a:r>
          </a:p>
        </p:txBody>
      </p:sp>
      <p:sp>
        <p:nvSpPr>
          <p:cNvPr id="13" name="Rounded Rectangle 12"/>
          <p:cNvSpPr/>
          <p:nvPr/>
        </p:nvSpPr>
        <p:spPr>
          <a:xfrm>
            <a:off x="2758287" y="2743200"/>
            <a:ext cx="2103120" cy="3200400"/>
          </a:xfrm>
          <a:prstGeom prst="roundRect">
            <a:avLst>
              <a:gd name="adj" fmla="val 10000"/>
            </a:avLst>
          </a:prstGeom>
          <a:solidFill>
            <a:srgbClr val="FFF7C7"/>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58287" y="3017520"/>
            <a:ext cx="2103120" cy="640080"/>
          </a:xfrm>
          <a:prstGeom prst="rect">
            <a:avLst/>
          </a:prstGeom>
          <a:noFill/>
        </p:spPr>
        <p:txBody>
          <a:bodyPr wrap="square" lIns="0" rIns="0" tIns="0" bIns="0" anchor="t">
            <a:spAutoFit/>
          </a:bodyPr>
          <a:lstStyle/>
          <a:p>
            <a:pPr algn="ctr">
              <a:lnSpc>
                <a:spcPct val="115000"/>
              </a:lnSpc>
            </a:pPr>
            <a:r>
              <a:rPr sz="3400" b="0">
                <a:solidFill>
                  <a:srgbClr val="2B2D42"/>
                </a:solidFill>
                <a:latin typeface="Helvetica Neue"/>
              </a:rPr>
              <a:t>📘</a:t>
            </a:r>
          </a:p>
        </p:txBody>
      </p:sp>
      <p:sp>
        <p:nvSpPr>
          <p:cNvPr id="15" name="TextBox 14"/>
          <p:cNvSpPr txBox="1"/>
          <p:nvPr/>
        </p:nvSpPr>
        <p:spPr>
          <a:xfrm>
            <a:off x="2849727" y="3749040"/>
            <a:ext cx="1920240" cy="548640"/>
          </a:xfrm>
          <a:prstGeom prst="rect">
            <a:avLst/>
          </a:prstGeom>
          <a:noFill/>
        </p:spPr>
        <p:txBody>
          <a:bodyPr wrap="square" lIns="0" rIns="0" tIns="0" bIns="0" anchor="t">
            <a:spAutoFit/>
          </a:bodyPr>
          <a:lstStyle/>
          <a:p>
            <a:pPr algn="ctr">
              <a:lnSpc>
                <a:spcPct val="115000"/>
              </a:lnSpc>
            </a:pPr>
            <a:r>
              <a:rPr sz="1500" b="1">
                <a:solidFill>
                  <a:srgbClr val="B88E1F"/>
                </a:solidFill>
                <a:latin typeface="Helvetica Neue"/>
              </a:rPr>
              <a:t>Realschule</a:t>
            </a:r>
          </a:p>
        </p:txBody>
      </p:sp>
      <p:sp>
        <p:nvSpPr>
          <p:cNvPr id="16" name="Rounded Rectangle 15"/>
          <p:cNvSpPr/>
          <p:nvPr/>
        </p:nvSpPr>
        <p:spPr>
          <a:xfrm>
            <a:off x="3581247" y="4251960"/>
            <a:ext cx="457200" cy="45720"/>
          </a:xfrm>
          <a:prstGeom prst="roundRect">
            <a:avLst>
              <a:gd name="adj" fmla="val 50000"/>
            </a:avLst>
          </a:prstGeom>
          <a:solidFill>
            <a:srgbClr val="B88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95447" y="4434840"/>
            <a:ext cx="1828800" cy="1371600"/>
          </a:xfrm>
          <a:prstGeom prst="rect">
            <a:avLst/>
          </a:prstGeom>
          <a:noFill/>
        </p:spPr>
        <p:txBody>
          <a:bodyPr wrap="square" lIns="0" rIns="0" tIns="0" bIns="0" anchor="t">
            <a:spAutoFit/>
          </a:bodyPr>
          <a:lstStyle/>
          <a:p>
            <a:pPr algn="ctr">
              <a:lnSpc>
                <a:spcPct val="130000"/>
              </a:lnSpc>
            </a:pPr>
            <a:r>
              <a:rPr sz="1100" b="0">
                <a:solidFill>
                  <a:srgbClr val="2B2D42"/>
                </a:solidFill>
                <a:latin typeface="Helvetica Neue"/>
              </a:rPr>
              <a:t>Mittlerer Abschluss
allgemein +
praktisch</a:t>
            </a:r>
          </a:p>
        </p:txBody>
      </p:sp>
      <p:sp>
        <p:nvSpPr>
          <p:cNvPr id="18" name="Rounded Rectangle 17"/>
          <p:cNvSpPr/>
          <p:nvPr/>
        </p:nvSpPr>
        <p:spPr>
          <a:xfrm>
            <a:off x="5044287" y="2743200"/>
            <a:ext cx="2103120" cy="3200400"/>
          </a:xfrm>
          <a:prstGeom prst="roundRect">
            <a:avLst>
              <a:gd name="adj" fmla="val 10000"/>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4287" y="3017520"/>
            <a:ext cx="2103120" cy="640080"/>
          </a:xfrm>
          <a:prstGeom prst="rect">
            <a:avLst/>
          </a:prstGeom>
          <a:noFill/>
        </p:spPr>
        <p:txBody>
          <a:bodyPr wrap="square" lIns="0" rIns="0" tIns="0" bIns="0" anchor="t">
            <a:spAutoFit/>
          </a:bodyPr>
          <a:lstStyle/>
          <a:p>
            <a:pPr algn="ctr">
              <a:lnSpc>
                <a:spcPct val="115000"/>
              </a:lnSpc>
            </a:pPr>
            <a:r>
              <a:rPr sz="3400" b="0">
                <a:solidFill>
                  <a:srgbClr val="2B2D42"/>
                </a:solidFill>
                <a:latin typeface="Helvetica Neue"/>
              </a:rPr>
              <a:t>🔧</a:t>
            </a:r>
          </a:p>
        </p:txBody>
      </p:sp>
      <p:sp>
        <p:nvSpPr>
          <p:cNvPr id="20" name="TextBox 19"/>
          <p:cNvSpPr txBox="1"/>
          <p:nvPr/>
        </p:nvSpPr>
        <p:spPr>
          <a:xfrm>
            <a:off x="5135727" y="3749040"/>
            <a:ext cx="1920240" cy="548640"/>
          </a:xfrm>
          <a:prstGeom prst="rect">
            <a:avLst/>
          </a:prstGeom>
          <a:noFill/>
        </p:spPr>
        <p:txBody>
          <a:bodyPr wrap="square" lIns="0" rIns="0" tIns="0" bIns="0" anchor="t">
            <a:spAutoFit/>
          </a:bodyPr>
          <a:lstStyle/>
          <a:p>
            <a:pPr algn="ctr">
              <a:lnSpc>
                <a:spcPct val="115000"/>
              </a:lnSpc>
            </a:pPr>
            <a:r>
              <a:rPr sz="1500" b="1">
                <a:solidFill>
                  <a:srgbClr val="D64F8B"/>
                </a:solidFill>
                <a:latin typeface="Helvetica Neue"/>
              </a:rPr>
              <a:t>Hauptschule</a:t>
            </a:r>
          </a:p>
        </p:txBody>
      </p:sp>
      <p:sp>
        <p:nvSpPr>
          <p:cNvPr id="21" name="Rounded Rectangle 20"/>
          <p:cNvSpPr/>
          <p:nvPr/>
        </p:nvSpPr>
        <p:spPr>
          <a:xfrm>
            <a:off x="5867247" y="4251960"/>
            <a:ext cx="457200" cy="45720"/>
          </a:xfrm>
          <a:prstGeom prst="roundRect">
            <a:avLst>
              <a:gd name="adj" fmla="val 50000"/>
            </a:avLst>
          </a:prstGeom>
          <a:solidFill>
            <a:srgbClr val="D6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81447" y="4434840"/>
            <a:ext cx="1828800" cy="1371600"/>
          </a:xfrm>
          <a:prstGeom prst="rect">
            <a:avLst/>
          </a:prstGeom>
          <a:noFill/>
        </p:spPr>
        <p:txBody>
          <a:bodyPr wrap="square" lIns="0" rIns="0" tIns="0" bIns="0" anchor="t">
            <a:spAutoFit/>
          </a:bodyPr>
          <a:lstStyle/>
          <a:p>
            <a:pPr algn="ctr">
              <a:lnSpc>
                <a:spcPct val="130000"/>
              </a:lnSpc>
            </a:pPr>
            <a:r>
              <a:rPr sz="1100" b="0">
                <a:solidFill>
                  <a:srgbClr val="2B2D42"/>
                </a:solidFill>
                <a:latin typeface="Helvetica Neue"/>
              </a:rPr>
              <a:t>berufliche Bildung
seltener geworden</a:t>
            </a:r>
          </a:p>
        </p:txBody>
      </p:sp>
      <p:sp>
        <p:nvSpPr>
          <p:cNvPr id="23" name="Rounded Rectangle 22"/>
          <p:cNvSpPr/>
          <p:nvPr/>
        </p:nvSpPr>
        <p:spPr>
          <a:xfrm>
            <a:off x="7330287" y="2743200"/>
            <a:ext cx="2103120" cy="3200400"/>
          </a:xfrm>
          <a:prstGeom prst="roundRect">
            <a:avLst>
              <a:gd name="adj" fmla="val 10000"/>
            </a:avLst>
          </a:prstGeom>
          <a:solidFill>
            <a:srgbClr val="CBEFD3"/>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0287" y="3017520"/>
            <a:ext cx="2103120" cy="640080"/>
          </a:xfrm>
          <a:prstGeom prst="rect">
            <a:avLst/>
          </a:prstGeom>
          <a:noFill/>
        </p:spPr>
        <p:txBody>
          <a:bodyPr wrap="square" lIns="0" rIns="0" tIns="0" bIns="0" anchor="t">
            <a:spAutoFit/>
          </a:bodyPr>
          <a:lstStyle/>
          <a:p>
            <a:pPr algn="ctr">
              <a:lnSpc>
                <a:spcPct val="115000"/>
              </a:lnSpc>
            </a:pPr>
            <a:r>
              <a:rPr sz="3400" b="0">
                <a:solidFill>
                  <a:srgbClr val="2B2D42"/>
                </a:solidFill>
                <a:latin typeface="Helvetica Neue"/>
              </a:rPr>
              <a:t>🤝</a:t>
            </a:r>
          </a:p>
        </p:txBody>
      </p:sp>
      <p:sp>
        <p:nvSpPr>
          <p:cNvPr id="25" name="TextBox 24"/>
          <p:cNvSpPr txBox="1"/>
          <p:nvPr/>
        </p:nvSpPr>
        <p:spPr>
          <a:xfrm>
            <a:off x="7421727" y="3749040"/>
            <a:ext cx="1920240" cy="548640"/>
          </a:xfrm>
          <a:prstGeom prst="rect">
            <a:avLst/>
          </a:prstGeom>
          <a:noFill/>
        </p:spPr>
        <p:txBody>
          <a:bodyPr wrap="square" lIns="0" rIns="0" tIns="0" bIns="0" anchor="t">
            <a:spAutoFit/>
          </a:bodyPr>
          <a:lstStyle/>
          <a:p>
            <a:pPr algn="ctr">
              <a:lnSpc>
                <a:spcPct val="115000"/>
              </a:lnSpc>
            </a:pPr>
            <a:r>
              <a:rPr sz="1500" b="1">
                <a:solidFill>
                  <a:srgbClr val="3F9B5A"/>
                </a:solidFill>
                <a:latin typeface="Helvetica Neue"/>
              </a:rPr>
              <a:t>Gesamtschule</a:t>
            </a:r>
          </a:p>
        </p:txBody>
      </p:sp>
      <p:sp>
        <p:nvSpPr>
          <p:cNvPr id="26" name="Rounded Rectangle 25"/>
          <p:cNvSpPr/>
          <p:nvPr/>
        </p:nvSpPr>
        <p:spPr>
          <a:xfrm>
            <a:off x="8153247" y="4251960"/>
            <a:ext cx="457200" cy="45720"/>
          </a:xfrm>
          <a:prstGeom prst="roundRect">
            <a:avLst>
              <a:gd name="adj" fmla="val 50000"/>
            </a:avLst>
          </a:prstGeom>
          <a:solidFill>
            <a:srgbClr val="3F9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67447" y="4434840"/>
            <a:ext cx="1828800" cy="1371600"/>
          </a:xfrm>
          <a:prstGeom prst="rect">
            <a:avLst/>
          </a:prstGeom>
          <a:noFill/>
        </p:spPr>
        <p:txBody>
          <a:bodyPr wrap="square" lIns="0" rIns="0" tIns="0" bIns="0" anchor="t">
            <a:spAutoFit/>
          </a:bodyPr>
          <a:lstStyle/>
          <a:p>
            <a:pPr algn="ctr">
              <a:lnSpc>
                <a:spcPct val="130000"/>
              </a:lnSpc>
            </a:pPr>
            <a:r>
              <a:rPr sz="1100" b="0">
                <a:solidFill>
                  <a:srgbClr val="2B2D42"/>
                </a:solidFill>
                <a:latin typeface="Helvetica Neue"/>
              </a:rPr>
              <a:t>längeres gemein-
sames Lernen
mehrere Abschlüsse</a:t>
            </a:r>
          </a:p>
        </p:txBody>
      </p:sp>
      <p:sp>
        <p:nvSpPr>
          <p:cNvPr id="28" name="Rounded Rectangle 27"/>
          <p:cNvSpPr/>
          <p:nvPr/>
        </p:nvSpPr>
        <p:spPr>
          <a:xfrm>
            <a:off x="9616287" y="2743200"/>
            <a:ext cx="2103120" cy="3200400"/>
          </a:xfrm>
          <a:prstGeom prst="roundRect">
            <a:avLst>
              <a:gd name="adj" fmla="val 10000"/>
            </a:avLst>
          </a:prstGeom>
          <a:solidFill>
            <a:srgbClr val="CFEFFF"/>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16287" y="3017520"/>
            <a:ext cx="2103120" cy="640080"/>
          </a:xfrm>
          <a:prstGeom prst="rect">
            <a:avLst/>
          </a:prstGeom>
          <a:noFill/>
        </p:spPr>
        <p:txBody>
          <a:bodyPr wrap="square" lIns="0" rIns="0" tIns="0" bIns="0" anchor="t">
            <a:spAutoFit/>
          </a:bodyPr>
          <a:lstStyle/>
          <a:p>
            <a:pPr algn="ctr">
              <a:lnSpc>
                <a:spcPct val="115000"/>
              </a:lnSpc>
            </a:pPr>
            <a:r>
              <a:rPr sz="3400" b="0">
                <a:solidFill>
                  <a:srgbClr val="2B2D42"/>
                </a:solidFill>
                <a:latin typeface="Helvetica Neue"/>
              </a:rPr>
              <a:t>🏭</a:t>
            </a:r>
          </a:p>
        </p:txBody>
      </p:sp>
      <p:sp>
        <p:nvSpPr>
          <p:cNvPr id="30" name="TextBox 29"/>
          <p:cNvSpPr txBox="1"/>
          <p:nvPr/>
        </p:nvSpPr>
        <p:spPr>
          <a:xfrm>
            <a:off x="9707727" y="3749040"/>
            <a:ext cx="1920240" cy="548640"/>
          </a:xfrm>
          <a:prstGeom prst="rect">
            <a:avLst/>
          </a:prstGeom>
          <a:noFill/>
        </p:spPr>
        <p:txBody>
          <a:bodyPr wrap="square" lIns="0" rIns="0" tIns="0" bIns="0" anchor="t">
            <a:spAutoFit/>
          </a:bodyPr>
          <a:lstStyle/>
          <a:p>
            <a:pPr algn="ctr">
              <a:lnSpc>
                <a:spcPct val="115000"/>
              </a:lnSpc>
            </a:pPr>
            <a:r>
              <a:rPr sz="1500" b="1">
                <a:solidFill>
                  <a:srgbClr val="4C9AFF"/>
                </a:solidFill>
                <a:latin typeface="Helvetica Neue"/>
              </a:rPr>
              <a:t>Berufliche Schule</a:t>
            </a:r>
          </a:p>
        </p:txBody>
      </p:sp>
      <p:sp>
        <p:nvSpPr>
          <p:cNvPr id="31" name="Rounded Rectangle 30"/>
          <p:cNvSpPr/>
          <p:nvPr/>
        </p:nvSpPr>
        <p:spPr>
          <a:xfrm>
            <a:off x="10439247" y="4251960"/>
            <a:ext cx="457200" cy="45720"/>
          </a:xfrm>
          <a:prstGeom prst="roundRect">
            <a:avLst>
              <a:gd name="adj" fmla="val 50000"/>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53447" y="4434840"/>
            <a:ext cx="1828800" cy="1371600"/>
          </a:xfrm>
          <a:prstGeom prst="rect">
            <a:avLst/>
          </a:prstGeom>
          <a:noFill/>
        </p:spPr>
        <p:txBody>
          <a:bodyPr wrap="square" lIns="0" rIns="0" tIns="0" bIns="0" anchor="t">
            <a:spAutoFit/>
          </a:bodyPr>
          <a:lstStyle/>
          <a:p>
            <a:pPr algn="ctr">
              <a:lnSpc>
                <a:spcPct val="130000"/>
              </a:lnSpc>
            </a:pPr>
            <a:r>
              <a:rPr sz="1100" b="0">
                <a:solidFill>
                  <a:srgbClr val="2B2D42"/>
                </a:solidFill>
                <a:latin typeface="Helvetica Neue"/>
              </a:rPr>
              <a:t>duales System
Schule + Betrieb</a:t>
            </a: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600" fill="hold"/>
                            <p:tgtEl>
                              <p:spTgt spid="5"/>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6"/>
                            </p:tgtEl>
                            <p:attrNameLst>
                              <p:attrName>style.visibility</p:attrName>
                            </p:attrNameLst>
                          </p:cBhvr>
                          <p:to>
                            <p:strVal val="visible"/>
                          </p:to>
                        </p:set>
                        <p:anim calcmode="lin" valueType="num">
                          <p:cBhvr additive="base">
                            <p:cTn id="112" dur="600" fill="hold"/>
                            <p:tgtEl>
                              <p:spTgt spid="6"/>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600" fill="hold"/>
                            <p:tgtEl>
                              <p:spTgt spid="7"/>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8"/>
                            </p:tgtEl>
                            <p:attrNameLst>
                              <p:attrName>style.visibility</p:attrName>
                            </p:attrNameLst>
                          </p:cBhvr>
                          <p:to>
                            <p:strVal val="visible"/>
                          </p:to>
                        </p:set>
                        <p:anim calcmode="lin" valueType="num">
                          <p:cBhvr additive="base">
                            <p:cTn id="132" dur="600" fill="hold"/>
                            <p:tgtEl>
                              <p:spTgt spid="8"/>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3"/>
                            </p:tgtEl>
                            <p:attrNameLst>
                              <p:attrName>style.visibility</p:attrName>
                            </p:attrNameLst>
                          </p:cBhvr>
                          <p:to>
                            <p:strVal val="visible"/>
                          </p:to>
                        </p:set>
                        <p:anim calcmode="lin" valueType="num">
                          <p:cBhvr additive="base">
                            <p:cTn id="142" dur="600" fill="hold"/>
                            <p:tgtEl>
                              <p:spTgt spid="13"/>
                            </p:tgtEl>
                            <p:attrNameLst>
                              <p:attrName>style.opacity</p:attrName>
                            </p:attrNameLst>
                          </p:cBhvr>
                          <p:tavLst>
                            <p:tav tm="0">
                              <p:val>
                                <p:fltVal val="0"/>
                              </p:val>
                            </p:tav>
                            <p:tav tm="100000">
                              <p:val>
                                <p:fltVal val="1"/>
                              </p:val>
                            </p:tav>
                          </p:tavLst>
                        </p:anim>
                      </p:childTnLst>
                    </p:cTn>
                  </p:par>
                  <p:par>
                    <p:cTn id="150" presetID="10" presetClass="entr" presetSubtype="0" fill="hold" grpId="0" nodeType="afterEffect">
                      <p:stCondLst>
                        <p:cond delay="350"/>
                      </p:stCondLst>
                      <p:childTnLst>
                        <p:set>
                          <p:cBhvr>
                            <p:cTn id="151" dur="1" fill="hold">
                              <p:stCondLst>
                                <p:cond delay="0"/>
                              </p:stCondLst>
                            </p:cTn>
                            <p:tgtEl>
                              <p:spTgt spid="18"/>
                            </p:tgtEl>
                            <p:attrNameLst>
                              <p:attrName>style.visibility</p:attrName>
                            </p:attrNameLst>
                          </p:cBhvr>
                          <p:to>
                            <p:strVal val="visible"/>
                          </p:to>
                        </p:set>
                        <p:anim calcmode="lin" valueType="num">
                          <p:cBhvr additive="base">
                            <p:cTn id="152" dur="600" fill="hold"/>
                            <p:tgtEl>
                              <p:spTgt spid="18"/>
                            </p:tgtEl>
                            <p:attrNameLst>
                              <p:attrName>style.opacity</p:attrName>
                            </p:attrNameLst>
                          </p:cBhvr>
                          <p:tavLst>
                            <p:tav tm="0">
                              <p:val>
                                <p:fltVal val="0"/>
                              </p:val>
                            </p:tav>
                            <p:tav tm="100000">
                              <p:val>
                                <p:fltVal val="1"/>
                              </p:val>
                            </p:tav>
                          </p:tavLst>
                        </p:anim>
                      </p:childTnLst>
                    </p:cTn>
                  </p:par>
                  <p:par>
                    <p:cTn id="160" presetID="10" presetClass="entr" presetSubtype="0" fill="hold" grpId="0" nodeType="afterEffect">
                      <p:stCondLst>
                        <p:cond delay="350"/>
                      </p:stCondLst>
                      <p:childTnLst>
                        <p:set>
                          <p:cBhvr>
                            <p:cTn id="161" dur="1" fill="hold">
                              <p:stCondLst>
                                <p:cond delay="0"/>
                              </p:stCondLst>
                            </p:cTn>
                            <p:tgtEl>
                              <p:spTgt spid="23"/>
                            </p:tgtEl>
                            <p:attrNameLst>
                              <p:attrName>style.visibility</p:attrName>
                            </p:attrNameLst>
                          </p:cBhvr>
                          <p:to>
                            <p:strVal val="visible"/>
                          </p:to>
                        </p:set>
                        <p:anim calcmode="lin" valueType="num">
                          <p:cBhvr additive="base">
                            <p:cTn id="162" dur="600" fill="hold"/>
                            <p:tgtEl>
                              <p:spTgt spid="23"/>
                            </p:tgtEl>
                            <p:attrNameLst>
                              <p:attrName>style.opacity</p:attrName>
                            </p:attrNameLst>
                          </p:cBhvr>
                          <p:tavLst>
                            <p:tav tm="0">
                              <p:val>
                                <p:fltVal val="0"/>
                              </p:val>
                            </p:tav>
                            <p:tav tm="100000">
                              <p:val>
                                <p:fltVal val="1"/>
                              </p:val>
                            </p:tav>
                          </p:tavLst>
                        </p:anim>
                      </p:childTnLst>
                    </p:cTn>
                  </p:par>
                  <p:par>
                    <p:cTn id="170" presetID="10" presetClass="entr" presetSubtype="0" fill="hold" grpId="0" nodeType="afterEffect">
                      <p:stCondLst>
                        <p:cond delay="350"/>
                      </p:stCondLst>
                      <p:childTnLst>
                        <p:set>
                          <p:cBhvr>
                            <p:cTn id="171" dur="1" fill="hold">
                              <p:stCondLst>
                                <p:cond delay="0"/>
                              </p:stCondLst>
                            </p:cTn>
                            <p:tgtEl>
                              <p:spTgt spid="28"/>
                            </p:tgtEl>
                            <p:attrNameLst>
                              <p:attrName>style.visibility</p:attrName>
                            </p:attrNameLst>
                          </p:cBhvr>
                          <p:to>
                            <p:strVal val="visible"/>
                          </p:to>
                        </p:set>
                        <p:anim calcmode="lin" valueType="num">
                          <p:cBhvr additive="base">
                            <p:cTn id="172" dur="600" fill="hold"/>
                            <p:tgtEl>
                              <p:spTgt spid="28"/>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3" grpId="0"/>
      <p:bldP spid="18" grpId="0"/>
      <p:bldP spid="23" grpId="0"/>
      <p:bldP spid="28" grpId="0"/>
    </p:bldLst>
  </p:timing>
  <mc:AlternateContent xmlns:mc="http://schemas.openxmlformats.org/markup-compatibility/2006">
    <mc:Choice xmlns:p159="http://schemas.microsoft.com/office/powerpoint/2015/09/main" Requires="p159">
      <p:transition xmlns:p14="http://schemas.microsoft.com/office/powerpoint/2010/main" spd="med" p14:dur="1200">
        <p159:morph option="byObject"/>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4572000"/>
            <a:ext cx="5486400" cy="5486400"/>
          </a:xfrm>
          <a:prstGeom prst="ellipse">
            <a:avLst/>
          </a:prstGeom>
          <a:solidFill>
            <a:srgbClr val="FFD9E8">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1828800"/>
            <a:ext cx="4572000" cy="4572000"/>
          </a:xfrm>
          <a:prstGeom prst="ellipse">
            <a:avLst/>
          </a:prstGeom>
          <a:solidFill>
            <a:srgbClr val="FFF7C7">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7315200" cy="365760"/>
          </a:xfrm>
          <a:prstGeom prst="rect">
            <a:avLst/>
          </a:prstGeom>
          <a:noFill/>
        </p:spPr>
        <p:txBody>
          <a:bodyPr wrap="square" lIns="0" rIns="0" tIns="0" bIns="0" anchor="t">
            <a:spAutoFit/>
          </a:bodyPr>
          <a:lstStyle/>
          <a:p>
            <a:pPr algn="l">
              <a:lnSpc>
                <a:spcPct val="115000"/>
              </a:lnSpc>
            </a:pPr>
            <a:r>
              <a:rPr sz="1300" b="1">
                <a:solidFill>
                  <a:srgbClr val="D64F8B"/>
                </a:solidFill>
                <a:latin typeface="Helvetica Neue"/>
              </a:rPr>
              <a:t>04  ·  LEISTUNGSDRUCK</a:t>
            </a:r>
          </a:p>
        </p:txBody>
      </p:sp>
      <p:sp>
        <p:nvSpPr>
          <p:cNvPr id="6" name="TextBox 5"/>
          <p:cNvSpPr txBox="1"/>
          <p:nvPr/>
        </p:nvSpPr>
        <p:spPr>
          <a:xfrm>
            <a:off x="731520" y="914400"/>
            <a:ext cx="10058400" cy="1097280"/>
          </a:xfrm>
          <a:prstGeom prst="rect">
            <a:avLst/>
          </a:prstGeom>
          <a:noFill/>
        </p:spPr>
        <p:txBody>
          <a:bodyPr wrap="square" lIns="0" rIns="0" tIns="0" bIns="0" anchor="t">
            <a:spAutoFit/>
          </a:bodyPr>
          <a:lstStyle/>
          <a:p>
            <a:pPr algn="l">
              <a:lnSpc>
                <a:spcPct val="115000"/>
              </a:lnSpc>
            </a:pPr>
            <a:r>
              <a:rPr sz="4000" b="1">
                <a:solidFill>
                  <a:srgbClr val="2B2D42"/>
                </a:solidFill>
                <a:latin typeface="Helvetica Neue"/>
              </a:rPr>
              <a:t>Leistungsdruck &amp; Wohlbefinden</a:t>
            </a:r>
          </a:p>
        </p:txBody>
      </p:sp>
      <p:sp>
        <p:nvSpPr>
          <p:cNvPr id="7" name="Rounded Rectangle 6"/>
          <p:cNvSpPr/>
          <p:nvPr/>
        </p:nvSpPr>
        <p:spPr>
          <a:xfrm>
            <a:off x="731520" y="2377440"/>
            <a:ext cx="4937760" cy="2926080"/>
          </a:xfrm>
          <a:prstGeom prst="roundRect">
            <a:avLst>
              <a:gd name="adj" fmla="val 10000"/>
            </a:avLst>
          </a:prstGeom>
          <a:solidFill>
            <a:srgbClr val="CFEFFF"/>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14600"/>
            <a:ext cx="4572000" cy="457200"/>
          </a:xfrm>
          <a:prstGeom prst="rect">
            <a:avLst/>
          </a:prstGeom>
          <a:noFill/>
        </p:spPr>
        <p:txBody>
          <a:bodyPr wrap="square" lIns="0" rIns="0" tIns="0" bIns="0" anchor="t">
            <a:spAutoFit/>
          </a:bodyPr>
          <a:lstStyle/>
          <a:p>
            <a:pPr algn="l">
              <a:lnSpc>
                <a:spcPct val="115000"/>
              </a:lnSpc>
            </a:pPr>
            <a:r>
              <a:rPr sz="2200" b="1">
                <a:solidFill>
                  <a:srgbClr val="2C6BA8"/>
                </a:solidFill>
                <a:latin typeface="Helvetica Neue"/>
              </a:rPr>
              <a:t>Leistungsdruck</a:t>
            </a:r>
          </a:p>
        </p:txBody>
      </p:sp>
      <p:sp>
        <p:nvSpPr>
          <p:cNvPr id="9" name="TextBox 8"/>
          <p:cNvSpPr txBox="1"/>
          <p:nvPr/>
        </p:nvSpPr>
        <p:spPr>
          <a:xfrm>
            <a:off x="1005840" y="3154680"/>
            <a:ext cx="4572000" cy="2103120"/>
          </a:xfrm>
          <a:prstGeom prst="rect">
            <a:avLst/>
          </a:prstGeom>
          <a:noFill/>
        </p:spPr>
        <p:txBody>
          <a:bodyPr wrap="square" lIns="0" rIns="0" tIns="0" bIns="0">
            <a:spAutoFit/>
          </a:bodyPr>
          <a:lstStyle/>
          <a:p>
            <a:pPr algn="l">
              <a:lnSpc>
                <a:spcPct val="140000"/>
              </a:lnSpc>
            </a:pPr>
            <a:r>
              <a:rPr sz="1900" b="1">
                <a:solidFill>
                  <a:srgbClr val="2C6BA8"/>
                </a:solidFill>
                <a:latin typeface="Helvetica Neue"/>
              </a:rPr>
              <a:t>•  </a:t>
            </a:r>
            <a:r>
              <a:rPr sz="1700" b="0">
                <a:solidFill>
                  <a:srgbClr val="2B2D42"/>
                </a:solidFill>
                <a:latin typeface="Helvetica Neue"/>
              </a:rPr>
              <a:t>Noten</a:t>
            </a:r>
          </a:p>
          <a:p>
            <a:pPr algn="l">
              <a:lnSpc>
                <a:spcPct val="140000"/>
              </a:lnSpc>
            </a:pPr>
            <a:r>
              <a:rPr sz="1900" b="1">
                <a:solidFill>
                  <a:srgbClr val="2C6BA8"/>
                </a:solidFill>
                <a:latin typeface="Helvetica Neue"/>
              </a:rPr>
              <a:t>•  </a:t>
            </a:r>
            <a:r>
              <a:rPr sz="1700" b="0">
                <a:solidFill>
                  <a:srgbClr val="2B2D42"/>
                </a:solidFill>
                <a:latin typeface="Helvetica Neue"/>
              </a:rPr>
              <a:t>Prüfungen</a:t>
            </a:r>
          </a:p>
          <a:p>
            <a:pPr algn="l">
              <a:lnSpc>
                <a:spcPct val="140000"/>
              </a:lnSpc>
            </a:pPr>
            <a:r>
              <a:rPr sz="1900" b="1">
                <a:solidFill>
                  <a:srgbClr val="2C6BA8"/>
                </a:solidFill>
                <a:latin typeface="Helvetica Neue"/>
              </a:rPr>
              <a:t>•  </a:t>
            </a:r>
            <a:r>
              <a:rPr sz="1700" b="0">
                <a:solidFill>
                  <a:srgbClr val="2B2D42"/>
                </a:solidFill>
                <a:latin typeface="Helvetica Neue"/>
              </a:rPr>
              <a:t>Konkurrenz</a:t>
            </a:r>
          </a:p>
          <a:p>
            <a:pPr algn="l">
              <a:lnSpc>
                <a:spcPct val="140000"/>
              </a:lnSpc>
            </a:pPr>
            <a:r>
              <a:rPr sz="1900" b="1">
                <a:solidFill>
                  <a:srgbClr val="2C6BA8"/>
                </a:solidFill>
                <a:latin typeface="Helvetica Neue"/>
              </a:rPr>
              <a:t>•  </a:t>
            </a:r>
            <a:r>
              <a:rPr sz="1700" b="0">
                <a:solidFill>
                  <a:srgbClr val="2B2D42"/>
                </a:solidFill>
                <a:latin typeface="Helvetica Neue"/>
              </a:rPr>
              <a:t>Erwartungen</a:t>
            </a:r>
          </a:p>
        </p:txBody>
      </p:sp>
      <p:sp>
        <p:nvSpPr>
          <p:cNvPr id="10" name="Rounded Rectangle 9"/>
          <p:cNvSpPr/>
          <p:nvPr/>
        </p:nvSpPr>
        <p:spPr>
          <a:xfrm>
            <a:off x="6400800" y="2377440"/>
            <a:ext cx="4937760" cy="2926080"/>
          </a:xfrm>
          <a:prstGeom prst="roundRect">
            <a:avLst>
              <a:gd name="adj" fmla="val 10000"/>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514600"/>
            <a:ext cx="4572000" cy="457200"/>
          </a:xfrm>
          <a:prstGeom prst="rect">
            <a:avLst/>
          </a:prstGeom>
          <a:noFill/>
        </p:spPr>
        <p:txBody>
          <a:bodyPr wrap="square" lIns="0" rIns="0" tIns="0" bIns="0" anchor="t">
            <a:spAutoFit/>
          </a:bodyPr>
          <a:lstStyle/>
          <a:p>
            <a:pPr algn="l">
              <a:lnSpc>
                <a:spcPct val="115000"/>
              </a:lnSpc>
            </a:pPr>
            <a:r>
              <a:rPr sz="2200" b="1">
                <a:solidFill>
                  <a:srgbClr val="D64F8B"/>
                </a:solidFill>
                <a:latin typeface="Helvetica Neue"/>
              </a:rPr>
              <a:t>Folgen</a:t>
            </a:r>
          </a:p>
        </p:txBody>
      </p:sp>
      <p:sp>
        <p:nvSpPr>
          <p:cNvPr id="12" name="TextBox 11"/>
          <p:cNvSpPr txBox="1"/>
          <p:nvPr/>
        </p:nvSpPr>
        <p:spPr>
          <a:xfrm>
            <a:off x="6675120" y="3154680"/>
            <a:ext cx="4572000" cy="2103120"/>
          </a:xfrm>
          <a:prstGeom prst="rect">
            <a:avLst/>
          </a:prstGeom>
          <a:noFill/>
        </p:spPr>
        <p:txBody>
          <a:bodyPr wrap="square" lIns="0" rIns="0" tIns="0" bIns="0">
            <a:spAutoFit/>
          </a:bodyPr>
          <a:lstStyle/>
          <a:p>
            <a:pPr algn="l">
              <a:lnSpc>
                <a:spcPct val="140000"/>
              </a:lnSpc>
            </a:pPr>
            <a:r>
              <a:rPr sz="1900" b="1">
                <a:solidFill>
                  <a:srgbClr val="D64F8B"/>
                </a:solidFill>
                <a:latin typeface="Helvetica Neue"/>
              </a:rPr>
              <a:t>•  </a:t>
            </a:r>
            <a:r>
              <a:rPr sz="1700" b="0">
                <a:solidFill>
                  <a:srgbClr val="2B2D42"/>
                </a:solidFill>
                <a:latin typeface="Helvetica Neue"/>
              </a:rPr>
              <a:t>Stress</a:t>
            </a:r>
          </a:p>
          <a:p>
            <a:pPr algn="l">
              <a:lnSpc>
                <a:spcPct val="140000"/>
              </a:lnSpc>
            </a:pPr>
            <a:r>
              <a:rPr sz="1900" b="1">
                <a:solidFill>
                  <a:srgbClr val="D64F8B"/>
                </a:solidFill>
                <a:latin typeface="Helvetica Neue"/>
              </a:rPr>
              <a:t>•  </a:t>
            </a:r>
            <a:r>
              <a:rPr sz="1700" b="0">
                <a:solidFill>
                  <a:srgbClr val="2B2D42"/>
                </a:solidFill>
                <a:latin typeface="Helvetica Neue"/>
              </a:rPr>
              <a:t>Schlafprobleme</a:t>
            </a:r>
          </a:p>
          <a:p>
            <a:pPr algn="l">
              <a:lnSpc>
                <a:spcPct val="140000"/>
              </a:lnSpc>
            </a:pPr>
            <a:r>
              <a:rPr sz="1900" b="1">
                <a:solidFill>
                  <a:srgbClr val="D64F8B"/>
                </a:solidFill>
                <a:latin typeface="Helvetica Neue"/>
              </a:rPr>
              <a:t>•  </a:t>
            </a:r>
            <a:r>
              <a:rPr sz="1700" b="0">
                <a:solidFill>
                  <a:srgbClr val="2B2D42"/>
                </a:solidFill>
                <a:latin typeface="Helvetica Neue"/>
              </a:rPr>
              <a:t>Unsicherheit</a:t>
            </a:r>
          </a:p>
          <a:p>
            <a:pPr algn="l">
              <a:lnSpc>
                <a:spcPct val="140000"/>
              </a:lnSpc>
            </a:pPr>
            <a:r>
              <a:rPr sz="1900" b="1">
                <a:solidFill>
                  <a:srgbClr val="D64F8B"/>
                </a:solidFill>
                <a:latin typeface="Helvetica Neue"/>
              </a:rPr>
              <a:t>•  </a:t>
            </a:r>
            <a:r>
              <a:rPr sz="1700" b="0">
                <a:solidFill>
                  <a:srgbClr val="2B2D42"/>
                </a:solidFill>
                <a:latin typeface="Helvetica Neue"/>
              </a:rPr>
              <a:t>geringeres Selbstwertgefühl</a:t>
            </a:r>
          </a:p>
        </p:txBody>
      </p:sp>
      <p:sp>
        <p:nvSpPr>
          <p:cNvPr id="13" name="Right Arrow 12"/>
          <p:cNvSpPr/>
          <p:nvPr/>
        </p:nvSpPr>
        <p:spPr>
          <a:xfrm>
            <a:off x="5715000" y="3611880"/>
            <a:ext cx="640080" cy="457200"/>
          </a:xfrm>
          <a:prstGeom prst="rightArrow">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577840"/>
            <a:ext cx="10607040" cy="868680"/>
          </a:xfrm>
          <a:prstGeom prst="roundRect">
            <a:avLst>
              <a:gd name="adj" fmla="val 20000"/>
            </a:avLst>
          </a:prstGeom>
          <a:solidFill>
            <a:srgbClr val="FFF7C7"/>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10241280" cy="777240"/>
          </a:xfrm>
          <a:prstGeom prst="rect">
            <a:avLst/>
          </a:prstGeom>
          <a:noFill/>
        </p:spPr>
        <p:txBody>
          <a:bodyPr wrap="square" lIns="0" rIns="0" tIns="0" bIns="0" anchor="ctr">
            <a:spAutoFit/>
          </a:bodyPr>
          <a:lstStyle/>
          <a:p>
            <a:pPr algn="ctr">
              <a:lnSpc>
                <a:spcPct val="115000"/>
              </a:lnSpc>
            </a:pPr>
            <a:r>
              <a:rPr sz="1800" b="1">
                <a:solidFill>
                  <a:srgbClr val="2B2D42"/>
                </a:solidFill>
                <a:latin typeface="Helvetica Neue"/>
              </a:rPr>
              <a:t>„Leistungsdruck kann Motivation fördern, aber auch das Wohlbefinden beeinträchtigen.“</a:t>
            </a: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600" fill="hold"/>
                            <p:tgtEl>
                              <p:spTgt spid="5"/>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6"/>
                            </p:tgtEl>
                            <p:attrNameLst>
                              <p:attrName>style.visibility</p:attrName>
                            </p:attrNameLst>
                          </p:cBhvr>
                          <p:to>
                            <p:strVal val="visible"/>
                          </p:to>
                        </p:set>
                        <p:anim calcmode="lin" valueType="num">
                          <p:cBhvr additive="base">
                            <p:cTn id="112" dur="600" fill="hold"/>
                            <p:tgtEl>
                              <p:spTgt spid="6"/>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600" fill="hold"/>
                            <p:tgtEl>
                              <p:spTgt spid="7"/>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9"/>
                            </p:tgtEl>
                            <p:attrNameLst>
                              <p:attrName>style.visibility</p:attrName>
                            </p:attrNameLst>
                          </p:cBhvr>
                          <p:to>
                            <p:strVal val="visible"/>
                          </p:to>
                        </p:set>
                        <p:anim calcmode="lin" valueType="num">
                          <p:cBhvr additive="base">
                            <p:cTn id="132" dur="600" fill="hold"/>
                            <p:tgtEl>
                              <p:spTgt spid="9"/>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3"/>
                            </p:tgtEl>
                            <p:attrNameLst>
                              <p:attrName>style.visibility</p:attrName>
                            </p:attrNameLst>
                          </p:cBhvr>
                          <p:to>
                            <p:strVal val="visible"/>
                          </p:to>
                        </p:set>
                        <p:anim calcmode="lin" valueType="num">
                          <p:cBhvr additive="base">
                            <p:cTn id="142" dur="600" fill="hold"/>
                            <p:tgtEl>
                              <p:spTgt spid="13"/>
                            </p:tgtEl>
                            <p:attrNameLst>
                              <p:attrName>style.opacity</p:attrName>
                            </p:attrNameLst>
                          </p:cBhvr>
                          <p:tavLst>
                            <p:tav tm="0">
                              <p:val>
                                <p:fltVal val="0"/>
                              </p:val>
                            </p:tav>
                            <p:tav tm="100000">
                              <p:val>
                                <p:fltVal val="1"/>
                              </p:val>
                            </p:tav>
                          </p:tavLst>
                        </p:anim>
                      </p:childTnLst>
                    </p:cTn>
                  </p:par>
                  <p:par>
                    <p:cTn id="150" presetID="10" presetClass="entr" presetSubtype="0" fill="hold" grpId="0" nodeType="afterEffect">
                      <p:stCondLst>
                        <p:cond delay="350"/>
                      </p:stCondLst>
                      <p:childTnLst>
                        <p:set>
                          <p:cBhvr>
                            <p:cTn id="151" dur="1" fill="hold">
                              <p:stCondLst>
                                <p:cond delay="0"/>
                              </p:stCondLst>
                            </p:cTn>
                            <p:tgtEl>
                              <p:spTgt spid="10"/>
                            </p:tgtEl>
                            <p:attrNameLst>
                              <p:attrName>style.visibility</p:attrName>
                            </p:attrNameLst>
                          </p:cBhvr>
                          <p:to>
                            <p:strVal val="visible"/>
                          </p:to>
                        </p:set>
                        <p:anim calcmode="lin" valueType="num">
                          <p:cBhvr additive="base">
                            <p:cTn id="152" dur="600" fill="hold"/>
                            <p:tgtEl>
                              <p:spTgt spid="10"/>
                            </p:tgtEl>
                            <p:attrNameLst>
                              <p:attrName>style.opacity</p:attrName>
                            </p:attrNameLst>
                          </p:cBhvr>
                          <p:tavLst>
                            <p:tav tm="0">
                              <p:val>
                                <p:fltVal val="0"/>
                              </p:val>
                            </p:tav>
                            <p:tav tm="100000">
                              <p:val>
                                <p:fltVal val="1"/>
                              </p:val>
                            </p:tav>
                          </p:tavLst>
                        </p:anim>
                      </p:childTnLst>
                    </p:cTn>
                  </p:par>
                  <p:par>
                    <p:cTn id="160" presetID="10" presetClass="entr" presetSubtype="0" fill="hold" grpId="0" nodeType="afterEffect">
                      <p:stCondLst>
                        <p:cond delay="350"/>
                      </p:stCondLst>
                      <p:childTnLst>
                        <p:set>
                          <p:cBhvr>
                            <p:cTn id="161" dur="1" fill="hold">
                              <p:stCondLst>
                                <p:cond delay="0"/>
                              </p:stCondLst>
                            </p:cTn>
                            <p:tgtEl>
                              <p:spTgt spid="12"/>
                            </p:tgtEl>
                            <p:attrNameLst>
                              <p:attrName>style.visibility</p:attrName>
                            </p:attrNameLst>
                          </p:cBhvr>
                          <p:to>
                            <p:strVal val="visible"/>
                          </p:to>
                        </p:set>
                        <p:anim calcmode="lin" valueType="num">
                          <p:cBhvr additive="base">
                            <p:cTn id="162" dur="600" fill="hold"/>
                            <p:tgtEl>
                              <p:spTgt spid="12"/>
                            </p:tgtEl>
                            <p:attrNameLst>
                              <p:attrName>style.opacity</p:attrName>
                            </p:attrNameLst>
                          </p:cBhvr>
                          <p:tavLst>
                            <p:tav tm="0">
                              <p:val>
                                <p:fltVal val="0"/>
                              </p:val>
                            </p:tav>
                            <p:tav tm="100000">
                              <p:val>
                                <p:fltVal val="1"/>
                              </p:val>
                            </p:tav>
                          </p:tavLst>
                        </p:anim>
                      </p:childTnLst>
                    </p:cTn>
                  </p:par>
                  <p:par>
                    <p:cTn id="170" presetID="10" presetClass="entr" presetSubtype="0" fill="hold" grpId="0" nodeType="afterEffect">
                      <p:stCondLst>
                        <p:cond delay="350"/>
                      </p:stCondLst>
                      <p:childTnLst>
                        <p:set>
                          <p:cBhvr>
                            <p:cTn id="171" dur="1" fill="hold">
                              <p:stCondLst>
                                <p:cond delay="0"/>
                              </p:stCondLst>
                            </p:cTn>
                            <p:tgtEl>
                              <p:spTgt spid="14"/>
                            </p:tgtEl>
                            <p:attrNameLst>
                              <p:attrName>style.visibility</p:attrName>
                            </p:attrNameLst>
                          </p:cBhvr>
                          <p:to>
                            <p:strVal val="visible"/>
                          </p:to>
                        </p:set>
                        <p:anim calcmode="lin" valueType="num">
                          <p:cBhvr additive="base">
                            <p:cTn id="172" dur="600" fill="hold"/>
                            <p:tgtEl>
                              <p:spTgt spid="14"/>
                            </p:tgtEl>
                            <p:attrNameLst>
                              <p:attrName>style.opacity</p:attrName>
                            </p:attrNameLst>
                          </p:cBhvr>
                          <p:tavLst>
                            <p:tav tm="0">
                              <p:val>
                                <p:fltVal val="0"/>
                              </p:val>
                            </p:tav>
                            <p:tav tm="100000">
                              <p:val>
                                <p:fltVal val="1"/>
                              </p:val>
                            </p:tav>
                          </p:tavLst>
                        </p:anim>
                      </p:childTnLst>
                    </p:cTn>
                  </p:par>
                  <p:par>
                    <p:cTn id="180" presetID="10" presetClass="entr" presetSubtype="0" fill="hold" grpId="0" nodeType="afterEffect">
                      <p:stCondLst>
                        <p:cond delay="350"/>
                      </p:stCondLst>
                      <p:childTnLst>
                        <p:set>
                          <p:cBhvr>
                            <p:cTn id="181" dur="1" fill="hold">
                              <p:stCondLst>
                                <p:cond delay="0"/>
                              </p:stCondLst>
                            </p:cTn>
                            <p:tgtEl>
                              <p:spTgt spid="15"/>
                            </p:tgtEl>
                            <p:attrNameLst>
                              <p:attrName>style.visibility</p:attrName>
                            </p:attrNameLst>
                          </p:cBhvr>
                          <p:to>
                            <p:strVal val="visible"/>
                          </p:to>
                        </p:set>
                        <p:anim calcmode="lin" valueType="num">
                          <p:cBhvr additive="base">
                            <p:cTn id="182" dur="600" fill="hold"/>
                            <p:tgtEl>
                              <p:spTgt spid="15"/>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3" grpId="0"/>
      <p:bldP spid="10" grpId="0"/>
      <p:bldP spid="12" grpId="0"/>
      <p:bldP spid="14" grpId="0"/>
      <p:bldP spid="15" grpId="0"/>
    </p:bldLst>
  </p:timing>
  <mc:AlternateContent xmlns:mc="http://schemas.openxmlformats.org/markup-compatibility/2006">
    <mc:Choice xmlns:p14="http://schemas.microsoft.com/office/powerpoint/2010/main" Requires="p14">
      <p:transition spd="med" p14:dur="900">
        <p14:zoom dir="out"/>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2286000"/>
            <a:ext cx="4572000" cy="4572000"/>
          </a:xfrm>
          <a:prstGeom prst="ellipse">
            <a:avLst/>
          </a:prstGeom>
          <a:solidFill>
            <a:srgbClr val="CBEFD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0" y="5029200"/>
            <a:ext cx="3657600" cy="3657600"/>
          </a:xfrm>
          <a:prstGeom prst="ellipse">
            <a:avLst/>
          </a:prstGeom>
          <a:solidFill>
            <a:srgbClr val="CFEF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65760"/>
          </a:xfrm>
          <a:prstGeom prst="rect">
            <a:avLst/>
          </a:prstGeom>
          <a:noFill/>
        </p:spPr>
        <p:txBody>
          <a:bodyPr wrap="square" lIns="0" rIns="0" tIns="0" bIns="0" anchor="t">
            <a:spAutoFit/>
          </a:bodyPr>
          <a:lstStyle/>
          <a:p>
            <a:pPr algn="l">
              <a:lnSpc>
                <a:spcPct val="115000"/>
              </a:lnSpc>
            </a:pPr>
            <a:r>
              <a:rPr sz="1300" b="1">
                <a:solidFill>
                  <a:srgbClr val="3F9B5A"/>
                </a:solidFill>
                <a:latin typeface="Helvetica Neue"/>
              </a:rPr>
              <a:t>05  ·  SCHULKLIMA</a:t>
            </a:r>
          </a:p>
        </p:txBody>
      </p:sp>
      <p:sp>
        <p:nvSpPr>
          <p:cNvPr id="6" name="TextBox 5"/>
          <p:cNvSpPr txBox="1"/>
          <p:nvPr/>
        </p:nvSpPr>
        <p:spPr>
          <a:xfrm>
            <a:off x="731520" y="1005840"/>
            <a:ext cx="10058400" cy="1097280"/>
          </a:xfrm>
          <a:prstGeom prst="rect">
            <a:avLst/>
          </a:prstGeom>
          <a:noFill/>
        </p:spPr>
        <p:txBody>
          <a:bodyPr wrap="square" lIns="0" rIns="0" tIns="0" bIns="0" anchor="t">
            <a:spAutoFit/>
          </a:bodyPr>
          <a:lstStyle/>
          <a:p>
            <a:pPr algn="l">
              <a:lnSpc>
                <a:spcPct val="115000"/>
              </a:lnSpc>
            </a:pPr>
            <a:r>
              <a:rPr sz="4000" b="1">
                <a:solidFill>
                  <a:srgbClr val="2B2D42"/>
                </a:solidFill>
                <a:latin typeface="Helvetica Neue"/>
              </a:rPr>
              <a:t>Schulklima trägt das Lernen</a:t>
            </a:r>
          </a:p>
        </p:txBody>
      </p:sp>
      <p:sp>
        <p:nvSpPr>
          <p:cNvPr id="7" name="Rounded Rectangle 6"/>
          <p:cNvSpPr/>
          <p:nvPr/>
        </p:nvSpPr>
        <p:spPr>
          <a:xfrm>
            <a:off x="655167" y="2468880"/>
            <a:ext cx="3474720" cy="3749039"/>
          </a:xfrm>
          <a:prstGeom prst="roundRect">
            <a:avLst>
              <a:gd name="adj" fmla="val 8000"/>
            </a:avLst>
          </a:prstGeom>
          <a:solidFill>
            <a:srgbClr val="CFEFFF"/>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5167" y="2788920"/>
            <a:ext cx="3474720" cy="731520"/>
          </a:xfrm>
          <a:prstGeom prst="rect">
            <a:avLst/>
          </a:prstGeom>
          <a:noFill/>
        </p:spPr>
        <p:txBody>
          <a:bodyPr wrap="square" lIns="0" rIns="0" tIns="0" bIns="0" anchor="t">
            <a:spAutoFit/>
          </a:bodyPr>
          <a:lstStyle/>
          <a:p>
            <a:pPr algn="ctr">
              <a:lnSpc>
                <a:spcPct val="115000"/>
              </a:lnSpc>
            </a:pPr>
            <a:r>
              <a:rPr sz="4400" b="0">
                <a:solidFill>
                  <a:srgbClr val="2B2D42"/>
                </a:solidFill>
                <a:latin typeface="Helvetica Neue"/>
              </a:rPr>
              <a:t>👩‍🏫</a:t>
            </a:r>
          </a:p>
        </p:txBody>
      </p:sp>
      <p:sp>
        <p:nvSpPr>
          <p:cNvPr id="9" name="TextBox 8"/>
          <p:cNvSpPr txBox="1"/>
          <p:nvPr/>
        </p:nvSpPr>
        <p:spPr>
          <a:xfrm>
            <a:off x="929487" y="3749040"/>
            <a:ext cx="2926080" cy="1005840"/>
          </a:xfrm>
          <a:prstGeom prst="rect">
            <a:avLst/>
          </a:prstGeom>
          <a:noFill/>
        </p:spPr>
        <p:txBody>
          <a:bodyPr wrap="square" lIns="0" rIns="0" tIns="0" bIns="0" anchor="t">
            <a:spAutoFit/>
          </a:bodyPr>
          <a:lstStyle/>
          <a:p>
            <a:pPr algn="ctr">
              <a:lnSpc>
                <a:spcPct val="110000"/>
              </a:lnSpc>
            </a:pPr>
            <a:r>
              <a:rPr sz="1800" b="1">
                <a:solidFill>
                  <a:srgbClr val="2C6BA8"/>
                </a:solidFill>
                <a:latin typeface="Helvetica Neue"/>
              </a:rPr>
              <a:t>Lehrer-Schüler-
Verhältnis</a:t>
            </a:r>
          </a:p>
        </p:txBody>
      </p:sp>
      <p:sp>
        <p:nvSpPr>
          <p:cNvPr id="10" name="TextBox 9"/>
          <p:cNvSpPr txBox="1"/>
          <p:nvPr/>
        </p:nvSpPr>
        <p:spPr>
          <a:xfrm>
            <a:off x="1112367" y="4937760"/>
            <a:ext cx="2651760" cy="1188720"/>
          </a:xfrm>
          <a:prstGeom prst="rect">
            <a:avLst/>
          </a:prstGeom>
          <a:noFill/>
        </p:spPr>
        <p:txBody>
          <a:bodyPr wrap="square" lIns="0" rIns="0" tIns="0" bIns="0">
            <a:spAutoFit/>
          </a:bodyPr>
          <a:lstStyle/>
          <a:p>
            <a:pPr algn="l">
              <a:lnSpc>
                <a:spcPct val="140000"/>
              </a:lnSpc>
            </a:pPr>
            <a:r>
              <a:rPr sz="1500" b="1">
                <a:solidFill>
                  <a:srgbClr val="2C6BA8"/>
                </a:solidFill>
                <a:latin typeface="Helvetica Neue"/>
              </a:rPr>
              <a:t>•  </a:t>
            </a:r>
            <a:r>
              <a:rPr sz="1300" b="0">
                <a:solidFill>
                  <a:srgbClr val="2B2D42"/>
                </a:solidFill>
                <a:latin typeface="Helvetica Neue"/>
              </a:rPr>
              <a:t>respektvoll</a:t>
            </a:r>
          </a:p>
          <a:p>
            <a:pPr algn="l">
              <a:lnSpc>
                <a:spcPct val="140000"/>
              </a:lnSpc>
            </a:pPr>
            <a:r>
              <a:rPr sz="1500" b="1">
                <a:solidFill>
                  <a:srgbClr val="2C6BA8"/>
                </a:solidFill>
                <a:latin typeface="Helvetica Neue"/>
              </a:rPr>
              <a:t>•  </a:t>
            </a:r>
            <a:r>
              <a:rPr sz="1300" b="0">
                <a:solidFill>
                  <a:srgbClr val="2B2D42"/>
                </a:solidFill>
                <a:latin typeface="Helvetica Neue"/>
              </a:rPr>
              <a:t>vertrauensvoll</a:t>
            </a:r>
          </a:p>
          <a:p>
            <a:pPr algn="l">
              <a:lnSpc>
                <a:spcPct val="140000"/>
              </a:lnSpc>
            </a:pPr>
            <a:r>
              <a:rPr sz="1500" b="1">
                <a:solidFill>
                  <a:srgbClr val="2C6BA8"/>
                </a:solidFill>
                <a:latin typeface="Helvetica Neue"/>
              </a:rPr>
              <a:t>•  </a:t>
            </a:r>
            <a:r>
              <a:rPr sz="1300" b="0">
                <a:solidFill>
                  <a:srgbClr val="2B2D42"/>
                </a:solidFill>
                <a:latin typeface="Helvetica Neue"/>
              </a:rPr>
              <a:t>Unterstützung</a:t>
            </a:r>
          </a:p>
        </p:txBody>
      </p:sp>
      <p:sp>
        <p:nvSpPr>
          <p:cNvPr id="11" name="Rounded Rectangle 10"/>
          <p:cNvSpPr/>
          <p:nvPr/>
        </p:nvSpPr>
        <p:spPr>
          <a:xfrm>
            <a:off x="4358487" y="2468880"/>
            <a:ext cx="3474720" cy="3749039"/>
          </a:xfrm>
          <a:prstGeom prst="roundRect">
            <a:avLst>
              <a:gd name="adj" fmla="val 8000"/>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8487" y="2788920"/>
            <a:ext cx="3474720" cy="731520"/>
          </a:xfrm>
          <a:prstGeom prst="rect">
            <a:avLst/>
          </a:prstGeom>
          <a:noFill/>
        </p:spPr>
        <p:txBody>
          <a:bodyPr wrap="square" lIns="0" rIns="0" tIns="0" bIns="0" anchor="t">
            <a:spAutoFit/>
          </a:bodyPr>
          <a:lstStyle/>
          <a:p>
            <a:pPr algn="ctr">
              <a:lnSpc>
                <a:spcPct val="115000"/>
              </a:lnSpc>
            </a:pPr>
            <a:r>
              <a:rPr sz="4400" b="0">
                <a:solidFill>
                  <a:srgbClr val="2B2D42"/>
                </a:solidFill>
                <a:latin typeface="Helvetica Neue"/>
              </a:rPr>
              <a:t>🗣️</a:t>
            </a:r>
          </a:p>
        </p:txBody>
      </p:sp>
      <p:sp>
        <p:nvSpPr>
          <p:cNvPr id="13" name="TextBox 12"/>
          <p:cNvSpPr txBox="1"/>
          <p:nvPr/>
        </p:nvSpPr>
        <p:spPr>
          <a:xfrm>
            <a:off x="4632807" y="3749040"/>
            <a:ext cx="2926080" cy="1005840"/>
          </a:xfrm>
          <a:prstGeom prst="rect">
            <a:avLst/>
          </a:prstGeom>
          <a:noFill/>
        </p:spPr>
        <p:txBody>
          <a:bodyPr wrap="square" lIns="0" rIns="0" tIns="0" bIns="0" anchor="t">
            <a:spAutoFit/>
          </a:bodyPr>
          <a:lstStyle/>
          <a:p>
            <a:pPr algn="ctr">
              <a:lnSpc>
                <a:spcPct val="110000"/>
              </a:lnSpc>
            </a:pPr>
            <a:r>
              <a:rPr sz="1800" b="1">
                <a:solidFill>
                  <a:srgbClr val="D64F8B"/>
                </a:solidFill>
                <a:latin typeface="Helvetica Neue"/>
              </a:rPr>
              <a:t>Mitbestimmung</a:t>
            </a:r>
          </a:p>
        </p:txBody>
      </p:sp>
      <p:sp>
        <p:nvSpPr>
          <p:cNvPr id="14" name="TextBox 13"/>
          <p:cNvSpPr txBox="1"/>
          <p:nvPr/>
        </p:nvSpPr>
        <p:spPr>
          <a:xfrm>
            <a:off x="4815687" y="4937760"/>
            <a:ext cx="2651760" cy="1188720"/>
          </a:xfrm>
          <a:prstGeom prst="rect">
            <a:avLst/>
          </a:prstGeom>
          <a:noFill/>
        </p:spPr>
        <p:txBody>
          <a:bodyPr wrap="square" lIns="0" rIns="0" tIns="0" bIns="0">
            <a:spAutoFit/>
          </a:bodyPr>
          <a:lstStyle/>
          <a:p>
            <a:pPr algn="l">
              <a:lnSpc>
                <a:spcPct val="140000"/>
              </a:lnSpc>
            </a:pPr>
            <a:r>
              <a:rPr sz="1500" b="1">
                <a:solidFill>
                  <a:srgbClr val="D64F8B"/>
                </a:solidFill>
                <a:latin typeface="Helvetica Neue"/>
              </a:rPr>
              <a:t>•  </a:t>
            </a:r>
            <a:r>
              <a:rPr sz="1300" b="0">
                <a:solidFill>
                  <a:srgbClr val="2B2D42"/>
                </a:solidFill>
                <a:latin typeface="Helvetica Neue"/>
              </a:rPr>
              <a:t>SV &amp; Klassenrat</a:t>
            </a:r>
          </a:p>
          <a:p>
            <a:pPr algn="l">
              <a:lnSpc>
                <a:spcPct val="140000"/>
              </a:lnSpc>
            </a:pPr>
            <a:r>
              <a:rPr sz="1500" b="1">
                <a:solidFill>
                  <a:srgbClr val="D64F8B"/>
                </a:solidFill>
                <a:latin typeface="Helvetica Neue"/>
              </a:rPr>
              <a:t>•  </a:t>
            </a:r>
            <a:r>
              <a:rPr sz="1300" b="0">
                <a:solidFill>
                  <a:srgbClr val="2B2D42"/>
                </a:solidFill>
                <a:latin typeface="Helvetica Neue"/>
              </a:rPr>
              <a:t>Projekte mitgestalten</a:t>
            </a:r>
          </a:p>
          <a:p>
            <a:pPr algn="l">
              <a:lnSpc>
                <a:spcPct val="140000"/>
              </a:lnSpc>
            </a:pPr>
            <a:r>
              <a:rPr sz="1500" b="1">
                <a:solidFill>
                  <a:srgbClr val="D64F8B"/>
                </a:solidFill>
                <a:latin typeface="Helvetica Neue"/>
              </a:rPr>
              <a:t>•  </a:t>
            </a:r>
            <a:r>
              <a:rPr sz="1300" b="0">
                <a:solidFill>
                  <a:srgbClr val="2B2D42"/>
                </a:solidFill>
                <a:latin typeface="Helvetica Neue"/>
              </a:rPr>
              <a:t>Selbstwirksamkeit</a:t>
            </a:r>
          </a:p>
        </p:txBody>
      </p:sp>
      <p:sp>
        <p:nvSpPr>
          <p:cNvPr id="15" name="Rounded Rectangle 14"/>
          <p:cNvSpPr/>
          <p:nvPr/>
        </p:nvSpPr>
        <p:spPr>
          <a:xfrm>
            <a:off x="8061807" y="2468880"/>
            <a:ext cx="3474720" cy="3749039"/>
          </a:xfrm>
          <a:prstGeom prst="roundRect">
            <a:avLst>
              <a:gd name="adj" fmla="val 8000"/>
            </a:avLst>
          </a:prstGeom>
          <a:solidFill>
            <a:srgbClr val="FFF7C7"/>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61807" y="2788920"/>
            <a:ext cx="3474720" cy="731520"/>
          </a:xfrm>
          <a:prstGeom prst="rect">
            <a:avLst/>
          </a:prstGeom>
          <a:noFill/>
        </p:spPr>
        <p:txBody>
          <a:bodyPr wrap="square" lIns="0" rIns="0" tIns="0" bIns="0" anchor="t">
            <a:spAutoFit/>
          </a:bodyPr>
          <a:lstStyle/>
          <a:p>
            <a:pPr algn="ctr">
              <a:lnSpc>
                <a:spcPct val="115000"/>
              </a:lnSpc>
            </a:pPr>
            <a:r>
              <a:rPr sz="4400" b="0">
                <a:solidFill>
                  <a:srgbClr val="2B2D42"/>
                </a:solidFill>
                <a:latin typeface="Helvetica Neue"/>
              </a:rPr>
              <a:t>💬</a:t>
            </a:r>
          </a:p>
        </p:txBody>
      </p:sp>
      <p:sp>
        <p:nvSpPr>
          <p:cNvPr id="17" name="TextBox 16"/>
          <p:cNvSpPr txBox="1"/>
          <p:nvPr/>
        </p:nvSpPr>
        <p:spPr>
          <a:xfrm>
            <a:off x="8336127" y="3749040"/>
            <a:ext cx="2926080" cy="1005840"/>
          </a:xfrm>
          <a:prstGeom prst="rect">
            <a:avLst/>
          </a:prstGeom>
          <a:noFill/>
        </p:spPr>
        <p:txBody>
          <a:bodyPr wrap="square" lIns="0" rIns="0" tIns="0" bIns="0" anchor="t">
            <a:spAutoFit/>
          </a:bodyPr>
          <a:lstStyle/>
          <a:p>
            <a:pPr algn="ctr">
              <a:lnSpc>
                <a:spcPct val="110000"/>
              </a:lnSpc>
            </a:pPr>
            <a:r>
              <a:rPr sz="1800" b="1">
                <a:solidFill>
                  <a:srgbClr val="B88E1F"/>
                </a:solidFill>
                <a:latin typeface="Helvetica Neue"/>
              </a:rPr>
              <a:t>Feedbackkultur</a:t>
            </a:r>
          </a:p>
        </p:txBody>
      </p:sp>
      <p:sp>
        <p:nvSpPr>
          <p:cNvPr id="18" name="TextBox 17"/>
          <p:cNvSpPr txBox="1"/>
          <p:nvPr/>
        </p:nvSpPr>
        <p:spPr>
          <a:xfrm>
            <a:off x="8519007" y="4937760"/>
            <a:ext cx="2651760" cy="1188720"/>
          </a:xfrm>
          <a:prstGeom prst="rect">
            <a:avLst/>
          </a:prstGeom>
          <a:noFill/>
        </p:spPr>
        <p:txBody>
          <a:bodyPr wrap="square" lIns="0" rIns="0" tIns="0" bIns="0">
            <a:spAutoFit/>
          </a:bodyPr>
          <a:lstStyle/>
          <a:p>
            <a:pPr algn="l">
              <a:lnSpc>
                <a:spcPct val="140000"/>
              </a:lnSpc>
            </a:pPr>
            <a:r>
              <a:rPr sz="1500" b="1">
                <a:solidFill>
                  <a:srgbClr val="B88E1F"/>
                </a:solidFill>
                <a:latin typeface="Helvetica Neue"/>
              </a:rPr>
              <a:t>•  </a:t>
            </a:r>
            <a:r>
              <a:rPr sz="1300" b="0">
                <a:solidFill>
                  <a:srgbClr val="2B2D42"/>
                </a:solidFill>
                <a:latin typeface="Helvetica Neue"/>
              </a:rPr>
              <a:t>Noten + Worte</a:t>
            </a:r>
          </a:p>
          <a:p>
            <a:pPr algn="l">
              <a:lnSpc>
                <a:spcPct val="140000"/>
              </a:lnSpc>
            </a:pPr>
            <a:r>
              <a:rPr sz="1500" b="1">
                <a:solidFill>
                  <a:srgbClr val="B88E1F"/>
                </a:solidFill>
                <a:latin typeface="Helvetica Neue"/>
              </a:rPr>
              <a:t>•  </a:t>
            </a:r>
            <a:r>
              <a:rPr sz="1300" b="0">
                <a:solidFill>
                  <a:srgbClr val="2B2D42"/>
                </a:solidFill>
                <a:latin typeface="Helvetica Neue"/>
              </a:rPr>
              <a:t>formatives Lernen</a:t>
            </a:r>
          </a:p>
          <a:p>
            <a:pPr algn="l">
              <a:lnSpc>
                <a:spcPct val="140000"/>
              </a:lnSpc>
            </a:pPr>
            <a:r>
              <a:rPr sz="1500" b="1">
                <a:solidFill>
                  <a:srgbClr val="B88E1F"/>
                </a:solidFill>
                <a:latin typeface="Helvetica Neue"/>
              </a:rPr>
              <a:t>•  </a:t>
            </a:r>
            <a:r>
              <a:rPr sz="1300" b="0">
                <a:solidFill>
                  <a:srgbClr val="2B2D42"/>
                </a:solidFill>
                <a:latin typeface="Helvetica Neue"/>
              </a:rPr>
              <a:t>individuelle Stärken</a:t>
            </a: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600" fill="hold"/>
                            <p:tgtEl>
                              <p:spTgt spid="5"/>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6"/>
                            </p:tgtEl>
                            <p:attrNameLst>
                              <p:attrName>style.visibility</p:attrName>
                            </p:attrNameLst>
                          </p:cBhvr>
                          <p:to>
                            <p:strVal val="visible"/>
                          </p:to>
                        </p:set>
                        <p:anim calcmode="lin" valueType="num">
                          <p:cBhvr additive="base">
                            <p:cTn id="112" dur="600" fill="hold"/>
                            <p:tgtEl>
                              <p:spTgt spid="6"/>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600" fill="hold"/>
                            <p:tgtEl>
                              <p:spTgt spid="7"/>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11"/>
                            </p:tgtEl>
                            <p:attrNameLst>
                              <p:attrName>style.visibility</p:attrName>
                            </p:attrNameLst>
                          </p:cBhvr>
                          <p:to>
                            <p:strVal val="visible"/>
                          </p:to>
                        </p:set>
                        <p:anim calcmode="lin" valueType="num">
                          <p:cBhvr additive="base">
                            <p:cTn id="132" dur="600" fill="hold"/>
                            <p:tgtEl>
                              <p:spTgt spid="11"/>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5"/>
                            </p:tgtEl>
                            <p:attrNameLst>
                              <p:attrName>style.visibility</p:attrName>
                            </p:attrNameLst>
                          </p:cBhvr>
                          <p:to>
                            <p:strVal val="visible"/>
                          </p:to>
                        </p:set>
                        <p:anim calcmode="lin" valueType="num">
                          <p:cBhvr additive="base">
                            <p:cTn id="142" dur="600" fill="hold"/>
                            <p:tgtEl>
                              <p:spTgt spid="15"/>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1" grpId="0"/>
      <p:bldP spid="15" grpId="0"/>
    </p:bldLst>
  </p:timing>
  <p:transition spd="med">
    <p:push dir="l"/>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4572000" cy="4572000"/>
          </a:xfrm>
          <a:prstGeom prst="ellipse">
            <a:avLst/>
          </a:prstGeom>
          <a:solidFill>
            <a:srgbClr val="FFF7C7">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5029200"/>
            <a:ext cx="3657600" cy="3657600"/>
          </a:xfrm>
          <a:prstGeom prst="ellipse">
            <a:avLst/>
          </a:prstGeom>
          <a:solidFill>
            <a:srgbClr val="CFEF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65760"/>
          </a:xfrm>
          <a:prstGeom prst="rect">
            <a:avLst/>
          </a:prstGeom>
          <a:noFill/>
        </p:spPr>
        <p:txBody>
          <a:bodyPr wrap="square" lIns="0" rIns="0" tIns="0" bIns="0" anchor="t">
            <a:spAutoFit/>
          </a:bodyPr>
          <a:lstStyle/>
          <a:p>
            <a:pPr algn="l">
              <a:lnSpc>
                <a:spcPct val="115000"/>
              </a:lnSpc>
            </a:pPr>
            <a:r>
              <a:rPr sz="1300" b="1">
                <a:solidFill>
                  <a:srgbClr val="4C9AFF"/>
                </a:solidFill>
                <a:latin typeface="Helvetica Neue"/>
              </a:rPr>
              <a:t>06  ·  INTERAKTION</a:t>
            </a:r>
          </a:p>
        </p:txBody>
      </p:sp>
      <p:sp>
        <p:nvSpPr>
          <p:cNvPr id="6" name="TextBox 5"/>
          <p:cNvSpPr txBox="1"/>
          <p:nvPr/>
        </p:nvSpPr>
        <p:spPr>
          <a:xfrm>
            <a:off x="731520" y="1005840"/>
            <a:ext cx="10058400" cy="914400"/>
          </a:xfrm>
          <a:prstGeom prst="rect">
            <a:avLst/>
          </a:prstGeom>
          <a:noFill/>
        </p:spPr>
        <p:txBody>
          <a:bodyPr wrap="square" lIns="0" rIns="0" tIns="0" bIns="0" anchor="t">
            <a:spAutoFit/>
          </a:bodyPr>
          <a:lstStyle/>
          <a:p>
            <a:pPr algn="l">
              <a:lnSpc>
                <a:spcPct val="115000"/>
              </a:lnSpc>
            </a:pPr>
            <a:r>
              <a:rPr sz="4200" b="1">
                <a:solidFill>
                  <a:srgbClr val="2B2D42"/>
                </a:solidFill>
                <a:latin typeface="Helvetica Neue"/>
              </a:rPr>
              <a:t>Kurze Umfrage</a:t>
            </a:r>
          </a:p>
        </p:txBody>
      </p:sp>
      <p:sp>
        <p:nvSpPr>
          <p:cNvPr id="7" name="Rounded Rectangle 6"/>
          <p:cNvSpPr/>
          <p:nvPr/>
        </p:nvSpPr>
        <p:spPr>
          <a:xfrm>
            <a:off x="1371600" y="2011680"/>
            <a:ext cx="9418320" cy="1188720"/>
          </a:xfrm>
          <a:prstGeom prst="roundRect">
            <a:avLst>
              <a:gd name="adj" fmla="val 18000"/>
            </a:avLst>
          </a:prstGeom>
          <a:solidFill>
            <a:srgbClr val="FFFFFF"/>
          </a:solidFill>
          <a:ln w="9525">
            <a:solidFill>
              <a:srgbClr val="9A9DA8"/>
            </a:solid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011680"/>
            <a:ext cx="9418320" cy="1188720"/>
          </a:xfrm>
          <a:prstGeom prst="rect">
            <a:avLst/>
          </a:prstGeom>
          <a:noFill/>
        </p:spPr>
        <p:txBody>
          <a:bodyPr wrap="square" lIns="0" rIns="0" tIns="0" bIns="0" anchor="ctr">
            <a:spAutoFit/>
          </a:bodyPr>
          <a:lstStyle/>
          <a:p>
            <a:pPr algn="ctr">
              <a:lnSpc>
                <a:spcPct val="115000"/>
              </a:lnSpc>
            </a:pPr>
            <a:r>
              <a:rPr sz="2200" b="1">
                <a:solidFill>
                  <a:srgbClr val="2B2D42"/>
                </a:solidFill>
                <a:latin typeface="Helvetica Neue"/>
              </a:rPr>
              <a:t>„Was beeinflusst euer Wohlbefinden in der Schule am stärksten?“</a:t>
            </a:r>
          </a:p>
        </p:txBody>
      </p:sp>
      <p:sp>
        <p:nvSpPr>
          <p:cNvPr id="9" name="Rounded Rectangle 8"/>
          <p:cNvSpPr/>
          <p:nvPr/>
        </p:nvSpPr>
        <p:spPr>
          <a:xfrm>
            <a:off x="998067" y="3657600"/>
            <a:ext cx="2377440" cy="1554480"/>
          </a:xfrm>
          <a:prstGeom prst="roundRect">
            <a:avLst>
              <a:gd name="adj" fmla="val 18000"/>
            </a:avLst>
          </a:prstGeom>
          <a:solidFill>
            <a:srgbClr val="FFF7C7"/>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8067" y="3886200"/>
            <a:ext cx="2377440" cy="548640"/>
          </a:xfrm>
          <a:prstGeom prst="rect">
            <a:avLst/>
          </a:prstGeom>
          <a:noFill/>
        </p:spPr>
        <p:txBody>
          <a:bodyPr wrap="square" lIns="0" rIns="0" tIns="0" bIns="0" anchor="t">
            <a:spAutoFit/>
          </a:bodyPr>
          <a:lstStyle/>
          <a:p>
            <a:pPr algn="ctr">
              <a:lnSpc>
                <a:spcPct val="115000"/>
              </a:lnSpc>
            </a:pPr>
            <a:r>
              <a:rPr sz="3000" b="0">
                <a:solidFill>
                  <a:srgbClr val="2B2D42"/>
                </a:solidFill>
                <a:latin typeface="Helvetica Neue"/>
              </a:rPr>
              <a:t>📚</a:t>
            </a:r>
          </a:p>
        </p:txBody>
      </p:sp>
      <p:sp>
        <p:nvSpPr>
          <p:cNvPr id="11" name="TextBox 10"/>
          <p:cNvSpPr txBox="1"/>
          <p:nvPr/>
        </p:nvSpPr>
        <p:spPr>
          <a:xfrm>
            <a:off x="998067" y="4572000"/>
            <a:ext cx="2377440" cy="548640"/>
          </a:xfrm>
          <a:prstGeom prst="rect">
            <a:avLst/>
          </a:prstGeom>
          <a:noFill/>
        </p:spPr>
        <p:txBody>
          <a:bodyPr wrap="square" lIns="0" rIns="0" tIns="0" bIns="0" anchor="ctr">
            <a:spAutoFit/>
          </a:bodyPr>
          <a:lstStyle/>
          <a:p>
            <a:pPr algn="ctr">
              <a:lnSpc>
                <a:spcPct val="115000"/>
              </a:lnSpc>
            </a:pPr>
            <a:r>
              <a:rPr sz="1600" b="1">
                <a:solidFill>
                  <a:srgbClr val="B88E1F"/>
                </a:solidFill>
                <a:latin typeface="Helvetica Neue"/>
              </a:rPr>
              <a:t>Notendruck</a:t>
            </a:r>
          </a:p>
        </p:txBody>
      </p:sp>
      <p:sp>
        <p:nvSpPr>
          <p:cNvPr id="12" name="Rounded Rectangle 11"/>
          <p:cNvSpPr/>
          <p:nvPr/>
        </p:nvSpPr>
        <p:spPr>
          <a:xfrm>
            <a:off x="3604107" y="3657600"/>
            <a:ext cx="2377440" cy="1554480"/>
          </a:xfrm>
          <a:prstGeom prst="roundRect">
            <a:avLst>
              <a:gd name="adj" fmla="val 18000"/>
            </a:avLst>
          </a:prstGeom>
          <a:solidFill>
            <a:srgbClr val="CFEFFF"/>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4107" y="3886200"/>
            <a:ext cx="2377440" cy="548640"/>
          </a:xfrm>
          <a:prstGeom prst="rect">
            <a:avLst/>
          </a:prstGeom>
          <a:noFill/>
        </p:spPr>
        <p:txBody>
          <a:bodyPr wrap="square" lIns="0" rIns="0" tIns="0" bIns="0" anchor="t">
            <a:spAutoFit/>
          </a:bodyPr>
          <a:lstStyle/>
          <a:p>
            <a:pPr algn="ctr">
              <a:lnSpc>
                <a:spcPct val="115000"/>
              </a:lnSpc>
            </a:pPr>
            <a:r>
              <a:rPr sz="3000" b="0">
                <a:solidFill>
                  <a:srgbClr val="2B2D42"/>
                </a:solidFill>
                <a:latin typeface="Helvetica Neue"/>
              </a:rPr>
              <a:t>👩‍🏫</a:t>
            </a:r>
          </a:p>
        </p:txBody>
      </p:sp>
      <p:sp>
        <p:nvSpPr>
          <p:cNvPr id="14" name="TextBox 13"/>
          <p:cNvSpPr txBox="1"/>
          <p:nvPr/>
        </p:nvSpPr>
        <p:spPr>
          <a:xfrm>
            <a:off x="3604107" y="4572000"/>
            <a:ext cx="2377440" cy="548640"/>
          </a:xfrm>
          <a:prstGeom prst="rect">
            <a:avLst/>
          </a:prstGeom>
          <a:noFill/>
        </p:spPr>
        <p:txBody>
          <a:bodyPr wrap="square" lIns="0" rIns="0" tIns="0" bIns="0" anchor="ctr">
            <a:spAutoFit/>
          </a:bodyPr>
          <a:lstStyle/>
          <a:p>
            <a:pPr algn="ctr">
              <a:lnSpc>
                <a:spcPct val="115000"/>
              </a:lnSpc>
            </a:pPr>
            <a:r>
              <a:rPr sz="1600" b="1">
                <a:solidFill>
                  <a:srgbClr val="2C6BA8"/>
                </a:solidFill>
                <a:latin typeface="Helvetica Neue"/>
              </a:rPr>
              <a:t>Lehrkräfte</a:t>
            </a:r>
          </a:p>
        </p:txBody>
      </p:sp>
      <p:sp>
        <p:nvSpPr>
          <p:cNvPr id="15" name="Rounded Rectangle 14"/>
          <p:cNvSpPr/>
          <p:nvPr/>
        </p:nvSpPr>
        <p:spPr>
          <a:xfrm>
            <a:off x="6210147" y="3657600"/>
            <a:ext cx="2377440" cy="1554480"/>
          </a:xfrm>
          <a:prstGeom prst="roundRect">
            <a:avLst>
              <a:gd name="adj" fmla="val 18000"/>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0147" y="3886200"/>
            <a:ext cx="2377440" cy="548640"/>
          </a:xfrm>
          <a:prstGeom prst="rect">
            <a:avLst/>
          </a:prstGeom>
          <a:noFill/>
        </p:spPr>
        <p:txBody>
          <a:bodyPr wrap="square" lIns="0" rIns="0" tIns="0" bIns="0" anchor="t">
            <a:spAutoFit/>
          </a:bodyPr>
          <a:lstStyle/>
          <a:p>
            <a:pPr algn="ctr">
              <a:lnSpc>
                <a:spcPct val="115000"/>
              </a:lnSpc>
            </a:pPr>
            <a:r>
              <a:rPr sz="3000" b="0">
                <a:solidFill>
                  <a:srgbClr val="2B2D42"/>
                </a:solidFill>
                <a:latin typeface="Helvetica Neue"/>
              </a:rPr>
              <a:t>👥</a:t>
            </a:r>
          </a:p>
        </p:txBody>
      </p:sp>
      <p:sp>
        <p:nvSpPr>
          <p:cNvPr id="17" name="TextBox 16"/>
          <p:cNvSpPr txBox="1"/>
          <p:nvPr/>
        </p:nvSpPr>
        <p:spPr>
          <a:xfrm>
            <a:off x="6210147" y="4572000"/>
            <a:ext cx="2377440" cy="548640"/>
          </a:xfrm>
          <a:prstGeom prst="rect">
            <a:avLst/>
          </a:prstGeom>
          <a:noFill/>
        </p:spPr>
        <p:txBody>
          <a:bodyPr wrap="square" lIns="0" rIns="0" tIns="0" bIns="0" anchor="ctr">
            <a:spAutoFit/>
          </a:bodyPr>
          <a:lstStyle/>
          <a:p>
            <a:pPr algn="ctr">
              <a:lnSpc>
                <a:spcPct val="115000"/>
              </a:lnSpc>
            </a:pPr>
            <a:r>
              <a:rPr sz="1600" b="1">
                <a:solidFill>
                  <a:srgbClr val="D64F8B"/>
                </a:solidFill>
                <a:latin typeface="Helvetica Neue"/>
              </a:rPr>
              <a:t>Mitschüler</a:t>
            </a:r>
          </a:p>
        </p:txBody>
      </p:sp>
      <p:sp>
        <p:nvSpPr>
          <p:cNvPr id="18" name="Rounded Rectangle 17"/>
          <p:cNvSpPr/>
          <p:nvPr/>
        </p:nvSpPr>
        <p:spPr>
          <a:xfrm>
            <a:off x="8816187" y="3657600"/>
            <a:ext cx="2377440" cy="1554480"/>
          </a:xfrm>
          <a:prstGeom prst="roundRect">
            <a:avLst>
              <a:gd name="adj" fmla="val 18000"/>
            </a:avLst>
          </a:prstGeom>
          <a:solidFill>
            <a:srgbClr val="CBEFD3"/>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16187" y="3886200"/>
            <a:ext cx="2377440" cy="548640"/>
          </a:xfrm>
          <a:prstGeom prst="rect">
            <a:avLst/>
          </a:prstGeom>
          <a:noFill/>
        </p:spPr>
        <p:txBody>
          <a:bodyPr wrap="square" lIns="0" rIns="0" tIns="0" bIns="0" anchor="t">
            <a:spAutoFit/>
          </a:bodyPr>
          <a:lstStyle/>
          <a:p>
            <a:pPr algn="ctr">
              <a:lnSpc>
                <a:spcPct val="115000"/>
              </a:lnSpc>
            </a:pPr>
            <a:r>
              <a:rPr sz="3000" b="0">
                <a:solidFill>
                  <a:srgbClr val="2B2D42"/>
                </a:solidFill>
                <a:latin typeface="Helvetica Neue"/>
              </a:rPr>
              <a:t>🕒</a:t>
            </a:r>
          </a:p>
        </p:txBody>
      </p:sp>
      <p:sp>
        <p:nvSpPr>
          <p:cNvPr id="20" name="TextBox 19"/>
          <p:cNvSpPr txBox="1"/>
          <p:nvPr/>
        </p:nvSpPr>
        <p:spPr>
          <a:xfrm>
            <a:off x="8816187" y="4572000"/>
            <a:ext cx="2377440" cy="548640"/>
          </a:xfrm>
          <a:prstGeom prst="rect">
            <a:avLst/>
          </a:prstGeom>
          <a:noFill/>
        </p:spPr>
        <p:txBody>
          <a:bodyPr wrap="square" lIns="0" rIns="0" tIns="0" bIns="0" anchor="ctr">
            <a:spAutoFit/>
          </a:bodyPr>
          <a:lstStyle/>
          <a:p>
            <a:pPr algn="ctr">
              <a:lnSpc>
                <a:spcPct val="115000"/>
              </a:lnSpc>
            </a:pPr>
            <a:r>
              <a:rPr sz="1600" b="1">
                <a:solidFill>
                  <a:srgbClr val="3F9B5A"/>
                </a:solidFill>
                <a:latin typeface="Helvetica Neue"/>
              </a:rPr>
              <a:t>Zeitstress</a:t>
            </a:r>
          </a:p>
        </p:txBody>
      </p:sp>
      <p:sp>
        <p:nvSpPr>
          <p:cNvPr id="21" name="TextBox 20"/>
          <p:cNvSpPr txBox="1"/>
          <p:nvPr/>
        </p:nvSpPr>
        <p:spPr>
          <a:xfrm>
            <a:off x="731520" y="5440680"/>
            <a:ext cx="10607040" cy="457200"/>
          </a:xfrm>
          <a:prstGeom prst="rect">
            <a:avLst/>
          </a:prstGeom>
          <a:noFill/>
        </p:spPr>
        <p:txBody>
          <a:bodyPr wrap="square" lIns="0" rIns="0" tIns="0" bIns="0" anchor="t">
            <a:spAutoFit/>
          </a:bodyPr>
          <a:lstStyle/>
          <a:p>
            <a:pPr algn="ctr">
              <a:lnSpc>
                <a:spcPct val="115000"/>
              </a:lnSpc>
            </a:pPr>
            <a:r>
              <a:rPr sz="1600" b="0">
                <a:solidFill>
                  <a:srgbClr val="6B6F7B"/>
                </a:solidFill>
                <a:latin typeface="Helvetica Neue"/>
              </a:rPr>
              <a:t>→ Kurzes Handzeichen, bitte!</a:t>
            </a:r>
          </a:p>
        </p:txBody>
      </p:sp>
      <p:sp>
        <p:nvSpPr>
          <p:cNvPr id="22" name="Rounded Rectangle 21"/>
          <p:cNvSpPr/>
          <p:nvPr/>
        </p:nvSpPr>
        <p:spPr>
          <a:xfrm>
            <a:off x="914400" y="5989320"/>
            <a:ext cx="10332720" cy="731520"/>
          </a:xfrm>
          <a:prstGeom prst="roundRect">
            <a:avLst>
              <a:gd name="adj" fmla="val 45000"/>
            </a:avLst>
          </a:prstGeom>
          <a:solidFill>
            <a:srgbClr val="2B2D42"/>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989320"/>
            <a:ext cx="10332720" cy="731520"/>
          </a:xfrm>
          <a:prstGeom prst="rect">
            <a:avLst/>
          </a:prstGeom>
          <a:noFill/>
        </p:spPr>
        <p:txBody>
          <a:bodyPr wrap="square" lIns="0" rIns="0" tIns="0" bIns="0" anchor="ctr">
            <a:spAutoFit/>
          </a:bodyPr>
          <a:lstStyle/>
          <a:p>
            <a:pPr algn="ctr">
              <a:lnSpc>
                <a:spcPct val="115000"/>
              </a:lnSpc>
            </a:pPr>
            <a:r>
              <a:rPr sz="1600" b="1">
                <a:solidFill>
                  <a:srgbClr val="FFFFFF"/>
                </a:solidFill>
                <a:latin typeface="Helvetica Neue"/>
              </a:rPr>
              <a:t>Laut Facharbeit spielen ALLE diese Faktoren eine wichtige Rolle.</a:t>
            </a: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600" fill="hold"/>
                            <p:tgtEl>
                              <p:spTgt spid="5"/>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6"/>
                            </p:tgtEl>
                            <p:attrNameLst>
                              <p:attrName>style.visibility</p:attrName>
                            </p:attrNameLst>
                          </p:cBhvr>
                          <p:to>
                            <p:strVal val="visible"/>
                          </p:to>
                        </p:set>
                        <p:anim calcmode="lin" valueType="num">
                          <p:cBhvr additive="base">
                            <p:cTn id="112" dur="600" fill="hold"/>
                            <p:tgtEl>
                              <p:spTgt spid="6"/>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600" fill="hold"/>
                            <p:tgtEl>
                              <p:spTgt spid="7"/>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8"/>
                            </p:tgtEl>
                            <p:attrNameLst>
                              <p:attrName>style.visibility</p:attrName>
                            </p:attrNameLst>
                          </p:cBhvr>
                          <p:to>
                            <p:strVal val="visible"/>
                          </p:to>
                        </p:set>
                        <p:anim calcmode="lin" valueType="num">
                          <p:cBhvr additive="base">
                            <p:cTn id="132" dur="600" fill="hold"/>
                            <p:tgtEl>
                              <p:spTgt spid="8"/>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9"/>
                            </p:tgtEl>
                            <p:attrNameLst>
                              <p:attrName>style.visibility</p:attrName>
                            </p:attrNameLst>
                          </p:cBhvr>
                          <p:to>
                            <p:strVal val="visible"/>
                          </p:to>
                        </p:set>
                        <p:anim calcmode="lin" valueType="num">
                          <p:cBhvr additive="base">
                            <p:cTn id="142" dur="600" fill="hold"/>
                            <p:tgtEl>
                              <p:spTgt spid="9"/>
                            </p:tgtEl>
                            <p:attrNameLst>
                              <p:attrName>style.opacity</p:attrName>
                            </p:attrNameLst>
                          </p:cBhvr>
                          <p:tavLst>
                            <p:tav tm="0">
                              <p:val>
                                <p:fltVal val="0"/>
                              </p:val>
                            </p:tav>
                            <p:tav tm="100000">
                              <p:val>
                                <p:fltVal val="1"/>
                              </p:val>
                            </p:tav>
                          </p:tavLst>
                        </p:anim>
                      </p:childTnLst>
                    </p:cTn>
                  </p:par>
                  <p:par>
                    <p:cTn id="150" presetID="10" presetClass="entr" presetSubtype="0" fill="hold" grpId="0" nodeType="afterEffect">
                      <p:stCondLst>
                        <p:cond delay="350"/>
                      </p:stCondLst>
                      <p:childTnLst>
                        <p:set>
                          <p:cBhvr>
                            <p:cTn id="151" dur="1" fill="hold">
                              <p:stCondLst>
                                <p:cond delay="0"/>
                              </p:stCondLst>
                            </p:cTn>
                            <p:tgtEl>
                              <p:spTgt spid="12"/>
                            </p:tgtEl>
                            <p:attrNameLst>
                              <p:attrName>style.visibility</p:attrName>
                            </p:attrNameLst>
                          </p:cBhvr>
                          <p:to>
                            <p:strVal val="visible"/>
                          </p:to>
                        </p:set>
                        <p:anim calcmode="lin" valueType="num">
                          <p:cBhvr additive="base">
                            <p:cTn id="152" dur="600" fill="hold"/>
                            <p:tgtEl>
                              <p:spTgt spid="12"/>
                            </p:tgtEl>
                            <p:attrNameLst>
                              <p:attrName>style.opacity</p:attrName>
                            </p:attrNameLst>
                          </p:cBhvr>
                          <p:tavLst>
                            <p:tav tm="0">
                              <p:val>
                                <p:fltVal val="0"/>
                              </p:val>
                            </p:tav>
                            <p:tav tm="100000">
                              <p:val>
                                <p:fltVal val="1"/>
                              </p:val>
                            </p:tav>
                          </p:tavLst>
                        </p:anim>
                      </p:childTnLst>
                    </p:cTn>
                  </p:par>
                  <p:par>
                    <p:cTn id="160" presetID="10" presetClass="entr" presetSubtype="0" fill="hold" grpId="0" nodeType="afterEffect">
                      <p:stCondLst>
                        <p:cond delay="350"/>
                      </p:stCondLst>
                      <p:childTnLst>
                        <p:set>
                          <p:cBhvr>
                            <p:cTn id="161" dur="1" fill="hold">
                              <p:stCondLst>
                                <p:cond delay="0"/>
                              </p:stCondLst>
                            </p:cTn>
                            <p:tgtEl>
                              <p:spTgt spid="15"/>
                            </p:tgtEl>
                            <p:attrNameLst>
                              <p:attrName>style.visibility</p:attrName>
                            </p:attrNameLst>
                          </p:cBhvr>
                          <p:to>
                            <p:strVal val="visible"/>
                          </p:to>
                        </p:set>
                        <p:anim calcmode="lin" valueType="num">
                          <p:cBhvr additive="base">
                            <p:cTn id="162" dur="600" fill="hold"/>
                            <p:tgtEl>
                              <p:spTgt spid="15"/>
                            </p:tgtEl>
                            <p:attrNameLst>
                              <p:attrName>style.opacity</p:attrName>
                            </p:attrNameLst>
                          </p:cBhvr>
                          <p:tavLst>
                            <p:tav tm="0">
                              <p:val>
                                <p:fltVal val="0"/>
                              </p:val>
                            </p:tav>
                            <p:tav tm="100000">
                              <p:val>
                                <p:fltVal val="1"/>
                              </p:val>
                            </p:tav>
                          </p:tavLst>
                        </p:anim>
                      </p:childTnLst>
                    </p:cTn>
                  </p:par>
                  <p:par>
                    <p:cTn id="170" presetID="10" presetClass="entr" presetSubtype="0" fill="hold" grpId="0" nodeType="afterEffect">
                      <p:stCondLst>
                        <p:cond delay="350"/>
                      </p:stCondLst>
                      <p:childTnLst>
                        <p:set>
                          <p:cBhvr>
                            <p:cTn id="171" dur="1" fill="hold">
                              <p:stCondLst>
                                <p:cond delay="0"/>
                              </p:stCondLst>
                            </p:cTn>
                            <p:tgtEl>
                              <p:spTgt spid="18"/>
                            </p:tgtEl>
                            <p:attrNameLst>
                              <p:attrName>style.visibility</p:attrName>
                            </p:attrNameLst>
                          </p:cBhvr>
                          <p:to>
                            <p:strVal val="visible"/>
                          </p:to>
                        </p:set>
                        <p:anim calcmode="lin" valueType="num">
                          <p:cBhvr additive="base">
                            <p:cTn id="172" dur="600" fill="hold"/>
                            <p:tgtEl>
                              <p:spTgt spid="18"/>
                            </p:tgtEl>
                            <p:attrNameLst>
                              <p:attrName>style.opacity</p:attrName>
                            </p:attrNameLst>
                          </p:cBhvr>
                          <p:tavLst>
                            <p:tav tm="0">
                              <p:val>
                                <p:fltVal val="0"/>
                              </p:val>
                            </p:tav>
                            <p:tav tm="100000">
                              <p:val>
                                <p:fltVal val="1"/>
                              </p:val>
                            </p:tav>
                          </p:tavLst>
                        </p:anim>
                      </p:childTnLst>
                    </p:cTn>
                  </p:par>
                  <p:par>
                    <p:cTn id="180" presetID="10" presetClass="entr" presetSubtype="0" fill="hold" grpId="0" nodeType="afterEffect">
                      <p:stCondLst>
                        <p:cond delay="350"/>
                      </p:stCondLst>
                      <p:childTnLst>
                        <p:set>
                          <p:cBhvr>
                            <p:cTn id="181" dur="1" fill="hold">
                              <p:stCondLst>
                                <p:cond delay="0"/>
                              </p:stCondLst>
                            </p:cTn>
                            <p:tgtEl>
                              <p:spTgt spid="21"/>
                            </p:tgtEl>
                            <p:attrNameLst>
                              <p:attrName>style.visibility</p:attrName>
                            </p:attrNameLst>
                          </p:cBhvr>
                          <p:to>
                            <p:strVal val="visible"/>
                          </p:to>
                        </p:set>
                        <p:anim calcmode="lin" valueType="num">
                          <p:cBhvr additive="base">
                            <p:cTn id="182" dur="600" fill="hold"/>
                            <p:tgtEl>
                              <p:spTgt spid="21"/>
                            </p:tgtEl>
                            <p:attrNameLst>
                              <p:attrName>style.opacity</p:attrName>
                            </p:attrNameLst>
                          </p:cBhvr>
                          <p:tavLst>
                            <p:tav tm="0">
                              <p:val>
                                <p:fltVal val="0"/>
                              </p:val>
                            </p:tav>
                            <p:tav tm="100000">
                              <p:val>
                                <p:fltVal val="1"/>
                              </p:val>
                            </p:tav>
                          </p:tavLst>
                        </p:anim>
                      </p:childTnLst>
                    </p:cTn>
                  </p:par>
                  <p:par>
                    <p:cTn id="190" presetID="10" presetClass="entr" presetSubtype="0" fill="hold" grpId="0" nodeType="afterEffect">
                      <p:stCondLst>
                        <p:cond delay="350"/>
                      </p:stCondLst>
                      <p:childTnLst>
                        <p:set>
                          <p:cBhvr>
                            <p:cTn id="191" dur="1" fill="hold">
                              <p:stCondLst>
                                <p:cond delay="0"/>
                              </p:stCondLst>
                            </p:cTn>
                            <p:tgtEl>
                              <p:spTgt spid="22"/>
                            </p:tgtEl>
                            <p:attrNameLst>
                              <p:attrName>style.visibility</p:attrName>
                            </p:attrNameLst>
                          </p:cBhvr>
                          <p:to>
                            <p:strVal val="visible"/>
                          </p:to>
                        </p:set>
                        <p:anim calcmode="lin" valueType="num">
                          <p:cBhvr additive="base">
                            <p:cTn id="192" dur="600" fill="hold"/>
                            <p:tgtEl>
                              <p:spTgt spid="22"/>
                            </p:tgtEl>
                            <p:attrNameLst>
                              <p:attrName>style.opacity</p:attrName>
                            </p:attrNameLst>
                          </p:cBhvr>
                          <p:tavLst>
                            <p:tav tm="0">
                              <p:val>
                                <p:fltVal val="0"/>
                              </p:val>
                            </p:tav>
                            <p:tav tm="100000">
                              <p:val>
                                <p:fltVal val="1"/>
                              </p:val>
                            </p:tav>
                          </p:tavLst>
                        </p:anim>
                      </p:childTnLst>
                    </p:cTn>
                  </p:par>
                  <p:par>
                    <p:cTn id="200" presetID="10" presetClass="entr" presetSubtype="0" fill="hold" grpId="0" nodeType="afterEffect">
                      <p:stCondLst>
                        <p:cond delay="350"/>
                      </p:stCondLst>
                      <p:childTnLst>
                        <p:set>
                          <p:cBhvr>
                            <p:cTn id="201" dur="1" fill="hold">
                              <p:stCondLst>
                                <p:cond delay="0"/>
                              </p:stCondLst>
                            </p:cTn>
                            <p:tgtEl>
                              <p:spTgt spid="23"/>
                            </p:tgtEl>
                            <p:attrNameLst>
                              <p:attrName>style.visibility</p:attrName>
                            </p:attrNameLst>
                          </p:cBhvr>
                          <p:to>
                            <p:strVal val="visible"/>
                          </p:to>
                        </p:set>
                        <p:anim calcmode="lin" valueType="num">
                          <p:cBhvr additive="base">
                            <p:cTn id="202" dur="600" fill="hold"/>
                            <p:tgtEl>
                              <p:spTgt spid="23"/>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2" grpId="0"/>
      <p:bldP spid="15" grpId="0"/>
      <p:bldP spid="18" grpId="0"/>
      <p:bldP spid="21" grpId="0"/>
      <p:bldP spid="22" grpId="0"/>
      <p:bldP spid="23" grpId="0"/>
    </p:bldLst>
  </p:timing>
  <p:transition spd="med">
    <p:dissolv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4572000"/>
            <a:ext cx="5486400" cy="5486400"/>
          </a:xfrm>
          <a:prstGeom prst="ellipse">
            <a:avLst/>
          </a:prstGeom>
          <a:solidFill>
            <a:srgbClr val="CFEF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1828800"/>
            <a:ext cx="4572000" cy="4572000"/>
          </a:xfrm>
          <a:prstGeom prst="ellipse">
            <a:avLst/>
          </a:prstGeom>
          <a:solidFill>
            <a:srgbClr val="FFD9E8">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65760"/>
          </a:xfrm>
          <a:prstGeom prst="rect">
            <a:avLst/>
          </a:prstGeom>
          <a:noFill/>
        </p:spPr>
        <p:txBody>
          <a:bodyPr wrap="square" lIns="0" rIns="0" tIns="0" bIns="0" anchor="t">
            <a:spAutoFit/>
          </a:bodyPr>
          <a:lstStyle/>
          <a:p>
            <a:pPr algn="l">
              <a:lnSpc>
                <a:spcPct val="115000"/>
              </a:lnSpc>
            </a:pPr>
            <a:r>
              <a:rPr sz="1300" b="1">
                <a:solidFill>
                  <a:srgbClr val="2C6BA8"/>
                </a:solidFill>
                <a:latin typeface="Helvetica Neue"/>
              </a:rPr>
              <a:t>07  ·  INTERNATIONAL</a:t>
            </a:r>
          </a:p>
        </p:txBody>
      </p:sp>
      <p:sp>
        <p:nvSpPr>
          <p:cNvPr id="6" name="TextBox 5"/>
          <p:cNvSpPr txBox="1"/>
          <p:nvPr/>
        </p:nvSpPr>
        <p:spPr>
          <a:xfrm>
            <a:off x="731520" y="1005840"/>
            <a:ext cx="10058400" cy="1097280"/>
          </a:xfrm>
          <a:prstGeom prst="rect">
            <a:avLst/>
          </a:prstGeom>
          <a:noFill/>
        </p:spPr>
        <p:txBody>
          <a:bodyPr wrap="square" lIns="0" rIns="0" tIns="0" bIns="0" anchor="t">
            <a:spAutoFit/>
          </a:bodyPr>
          <a:lstStyle/>
          <a:p>
            <a:pPr algn="l">
              <a:lnSpc>
                <a:spcPct val="115000"/>
              </a:lnSpc>
            </a:pPr>
            <a:r>
              <a:rPr sz="4000" b="1">
                <a:solidFill>
                  <a:srgbClr val="2B2D42"/>
                </a:solidFill>
                <a:latin typeface="Helvetica Neue"/>
              </a:rPr>
              <a:t>Andere Länder, andere Wege</a:t>
            </a:r>
          </a:p>
        </p:txBody>
      </p:sp>
      <p:sp>
        <p:nvSpPr>
          <p:cNvPr id="7" name="Rounded Rectangle 6"/>
          <p:cNvSpPr/>
          <p:nvPr/>
        </p:nvSpPr>
        <p:spPr>
          <a:xfrm>
            <a:off x="655167" y="2468880"/>
            <a:ext cx="3474720" cy="3291840"/>
          </a:xfrm>
          <a:prstGeom prst="roundRect">
            <a:avLst>
              <a:gd name="adj" fmla="val 8000"/>
            </a:avLst>
          </a:prstGeom>
          <a:solidFill>
            <a:srgbClr val="CFEFFF"/>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5167" y="2788920"/>
            <a:ext cx="3474720" cy="731520"/>
          </a:xfrm>
          <a:prstGeom prst="rect">
            <a:avLst/>
          </a:prstGeom>
          <a:noFill/>
        </p:spPr>
        <p:txBody>
          <a:bodyPr wrap="square" lIns="0" rIns="0" tIns="0" bIns="0" anchor="t">
            <a:spAutoFit/>
          </a:bodyPr>
          <a:lstStyle/>
          <a:p>
            <a:pPr algn="ctr">
              <a:lnSpc>
                <a:spcPct val="115000"/>
              </a:lnSpc>
            </a:pPr>
            <a:r>
              <a:rPr sz="4400" b="0">
                <a:solidFill>
                  <a:srgbClr val="2B2D42"/>
                </a:solidFill>
                <a:latin typeface="Helvetica Neue"/>
              </a:rPr>
              <a:t>🇩🇪</a:t>
            </a:r>
          </a:p>
        </p:txBody>
      </p:sp>
      <p:sp>
        <p:nvSpPr>
          <p:cNvPr id="9" name="TextBox 8"/>
          <p:cNvSpPr txBox="1"/>
          <p:nvPr/>
        </p:nvSpPr>
        <p:spPr>
          <a:xfrm>
            <a:off x="929487" y="3749040"/>
            <a:ext cx="2926080" cy="548640"/>
          </a:xfrm>
          <a:prstGeom prst="rect">
            <a:avLst/>
          </a:prstGeom>
          <a:noFill/>
        </p:spPr>
        <p:txBody>
          <a:bodyPr wrap="square" lIns="0" rIns="0" tIns="0" bIns="0" anchor="t">
            <a:spAutoFit/>
          </a:bodyPr>
          <a:lstStyle/>
          <a:p>
            <a:pPr algn="ctr">
              <a:lnSpc>
                <a:spcPct val="115000"/>
              </a:lnSpc>
            </a:pPr>
            <a:r>
              <a:rPr sz="2000" b="1">
                <a:solidFill>
                  <a:srgbClr val="2C6BA8"/>
                </a:solidFill>
                <a:latin typeface="Helvetica Neue"/>
              </a:rPr>
              <a:t>Deutschland</a:t>
            </a:r>
          </a:p>
        </p:txBody>
      </p:sp>
      <p:sp>
        <p:nvSpPr>
          <p:cNvPr id="10" name="Rounded Rectangle 9"/>
          <p:cNvSpPr/>
          <p:nvPr/>
        </p:nvSpPr>
        <p:spPr>
          <a:xfrm>
            <a:off x="2118207" y="4343399"/>
            <a:ext cx="548640" cy="45720"/>
          </a:xfrm>
          <a:prstGeom prst="roundRect">
            <a:avLst>
              <a:gd name="adj" fmla="val 50000"/>
            </a:avLst>
          </a:prstGeom>
          <a:solidFill>
            <a:srgbClr val="2C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2367" y="4526280"/>
            <a:ext cx="2560320" cy="1188720"/>
          </a:xfrm>
          <a:prstGeom prst="rect">
            <a:avLst/>
          </a:prstGeom>
          <a:noFill/>
        </p:spPr>
        <p:txBody>
          <a:bodyPr wrap="square" lIns="0" rIns="0" tIns="0" bIns="0">
            <a:spAutoFit/>
          </a:bodyPr>
          <a:lstStyle/>
          <a:p>
            <a:pPr algn="l">
              <a:lnSpc>
                <a:spcPct val="140000"/>
              </a:lnSpc>
            </a:pPr>
            <a:r>
              <a:rPr sz="1600" b="1">
                <a:solidFill>
                  <a:srgbClr val="2C6BA8"/>
                </a:solidFill>
                <a:latin typeface="Helvetica Neue"/>
              </a:rPr>
              <a:t>•  </a:t>
            </a:r>
            <a:r>
              <a:rPr sz="1400" b="0">
                <a:solidFill>
                  <a:srgbClr val="2B2D42"/>
                </a:solidFill>
                <a:latin typeface="Helvetica Neue"/>
              </a:rPr>
              <a:t>frühe Aufteilung</a:t>
            </a:r>
          </a:p>
          <a:p>
            <a:pPr algn="l">
              <a:lnSpc>
                <a:spcPct val="140000"/>
              </a:lnSpc>
            </a:pPr>
            <a:r>
              <a:rPr sz="1600" b="1">
                <a:solidFill>
                  <a:srgbClr val="2C6BA8"/>
                </a:solidFill>
                <a:latin typeface="Helvetica Neue"/>
              </a:rPr>
              <a:t>•  </a:t>
            </a:r>
            <a:r>
              <a:rPr sz="1400" b="0">
                <a:solidFill>
                  <a:srgbClr val="2B2D42"/>
                </a:solidFill>
                <a:latin typeface="Helvetica Neue"/>
              </a:rPr>
              <a:t>viele Noten</a:t>
            </a:r>
          </a:p>
        </p:txBody>
      </p:sp>
      <p:sp>
        <p:nvSpPr>
          <p:cNvPr id="12" name="Rounded Rectangle 11"/>
          <p:cNvSpPr/>
          <p:nvPr/>
        </p:nvSpPr>
        <p:spPr>
          <a:xfrm>
            <a:off x="4358487" y="2468880"/>
            <a:ext cx="3474720" cy="3291840"/>
          </a:xfrm>
          <a:prstGeom prst="roundRect">
            <a:avLst>
              <a:gd name="adj" fmla="val 8000"/>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8487" y="2788920"/>
            <a:ext cx="3474720" cy="731520"/>
          </a:xfrm>
          <a:prstGeom prst="rect">
            <a:avLst/>
          </a:prstGeom>
          <a:noFill/>
        </p:spPr>
        <p:txBody>
          <a:bodyPr wrap="square" lIns="0" rIns="0" tIns="0" bIns="0" anchor="t">
            <a:spAutoFit/>
          </a:bodyPr>
          <a:lstStyle/>
          <a:p>
            <a:pPr algn="ctr">
              <a:lnSpc>
                <a:spcPct val="115000"/>
              </a:lnSpc>
            </a:pPr>
            <a:r>
              <a:rPr sz="4400" b="0">
                <a:solidFill>
                  <a:srgbClr val="2B2D42"/>
                </a:solidFill>
                <a:latin typeface="Helvetica Neue"/>
              </a:rPr>
              <a:t>🇫🇮</a:t>
            </a:r>
          </a:p>
        </p:txBody>
      </p:sp>
      <p:sp>
        <p:nvSpPr>
          <p:cNvPr id="14" name="TextBox 13"/>
          <p:cNvSpPr txBox="1"/>
          <p:nvPr/>
        </p:nvSpPr>
        <p:spPr>
          <a:xfrm>
            <a:off x="4632807" y="3749040"/>
            <a:ext cx="2926080" cy="548640"/>
          </a:xfrm>
          <a:prstGeom prst="rect">
            <a:avLst/>
          </a:prstGeom>
          <a:noFill/>
        </p:spPr>
        <p:txBody>
          <a:bodyPr wrap="square" lIns="0" rIns="0" tIns="0" bIns="0" anchor="t">
            <a:spAutoFit/>
          </a:bodyPr>
          <a:lstStyle/>
          <a:p>
            <a:pPr algn="ctr">
              <a:lnSpc>
                <a:spcPct val="115000"/>
              </a:lnSpc>
            </a:pPr>
            <a:r>
              <a:rPr sz="2000" b="1">
                <a:solidFill>
                  <a:srgbClr val="D64F8B"/>
                </a:solidFill>
                <a:latin typeface="Helvetica Neue"/>
              </a:rPr>
              <a:t>Finnland</a:t>
            </a:r>
          </a:p>
        </p:txBody>
      </p:sp>
      <p:sp>
        <p:nvSpPr>
          <p:cNvPr id="15" name="Rounded Rectangle 14"/>
          <p:cNvSpPr/>
          <p:nvPr/>
        </p:nvSpPr>
        <p:spPr>
          <a:xfrm>
            <a:off x="5821527" y="4343399"/>
            <a:ext cx="548640" cy="45720"/>
          </a:xfrm>
          <a:prstGeom prst="roundRect">
            <a:avLst>
              <a:gd name="adj" fmla="val 50000"/>
            </a:avLst>
          </a:prstGeom>
          <a:solidFill>
            <a:srgbClr val="D6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5687" y="4526280"/>
            <a:ext cx="2560320" cy="1188720"/>
          </a:xfrm>
          <a:prstGeom prst="rect">
            <a:avLst/>
          </a:prstGeom>
          <a:noFill/>
        </p:spPr>
        <p:txBody>
          <a:bodyPr wrap="square" lIns="0" rIns="0" tIns="0" bIns="0">
            <a:spAutoFit/>
          </a:bodyPr>
          <a:lstStyle/>
          <a:p>
            <a:pPr algn="l">
              <a:lnSpc>
                <a:spcPct val="140000"/>
              </a:lnSpc>
            </a:pPr>
            <a:r>
              <a:rPr sz="1600" b="1">
                <a:solidFill>
                  <a:srgbClr val="D64F8B"/>
                </a:solidFill>
                <a:latin typeface="Helvetica Neue"/>
              </a:rPr>
              <a:t>•  </a:t>
            </a:r>
            <a:r>
              <a:rPr sz="1400" b="0">
                <a:solidFill>
                  <a:srgbClr val="2B2D42"/>
                </a:solidFill>
                <a:latin typeface="Helvetica Neue"/>
              </a:rPr>
              <a:t>länger gemeinsam</a:t>
            </a:r>
          </a:p>
          <a:p>
            <a:pPr algn="l">
              <a:lnSpc>
                <a:spcPct val="140000"/>
              </a:lnSpc>
            </a:pPr>
            <a:r>
              <a:rPr sz="1600" b="1">
                <a:solidFill>
                  <a:srgbClr val="D64F8B"/>
                </a:solidFill>
                <a:latin typeface="Helvetica Neue"/>
              </a:rPr>
              <a:t>•  </a:t>
            </a:r>
            <a:r>
              <a:rPr sz="1400" b="0">
                <a:solidFill>
                  <a:srgbClr val="2B2D42"/>
                </a:solidFill>
                <a:latin typeface="Helvetica Neue"/>
              </a:rPr>
              <a:t>spätere Differenzierung</a:t>
            </a:r>
          </a:p>
        </p:txBody>
      </p:sp>
      <p:sp>
        <p:nvSpPr>
          <p:cNvPr id="17" name="Rounded Rectangle 16"/>
          <p:cNvSpPr/>
          <p:nvPr/>
        </p:nvSpPr>
        <p:spPr>
          <a:xfrm>
            <a:off x="8061807" y="2468880"/>
            <a:ext cx="3474720" cy="3291840"/>
          </a:xfrm>
          <a:prstGeom prst="roundRect">
            <a:avLst>
              <a:gd name="adj" fmla="val 8000"/>
            </a:avLst>
          </a:prstGeom>
          <a:solidFill>
            <a:srgbClr val="FFF7C7"/>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1807" y="2788920"/>
            <a:ext cx="3474720" cy="731520"/>
          </a:xfrm>
          <a:prstGeom prst="rect">
            <a:avLst/>
          </a:prstGeom>
          <a:noFill/>
        </p:spPr>
        <p:txBody>
          <a:bodyPr wrap="square" lIns="0" rIns="0" tIns="0" bIns="0" anchor="t">
            <a:spAutoFit/>
          </a:bodyPr>
          <a:lstStyle/>
          <a:p>
            <a:pPr algn="ctr">
              <a:lnSpc>
                <a:spcPct val="115000"/>
              </a:lnSpc>
            </a:pPr>
            <a:r>
              <a:rPr sz="4400" b="0">
                <a:solidFill>
                  <a:srgbClr val="2B2D42"/>
                </a:solidFill>
                <a:latin typeface="Helvetica Neue"/>
              </a:rPr>
              <a:t>🇬🇧 🇺🇸</a:t>
            </a:r>
          </a:p>
        </p:txBody>
      </p:sp>
      <p:sp>
        <p:nvSpPr>
          <p:cNvPr id="19" name="TextBox 18"/>
          <p:cNvSpPr txBox="1"/>
          <p:nvPr/>
        </p:nvSpPr>
        <p:spPr>
          <a:xfrm>
            <a:off x="8336127" y="3749040"/>
            <a:ext cx="2926080" cy="548640"/>
          </a:xfrm>
          <a:prstGeom prst="rect">
            <a:avLst/>
          </a:prstGeom>
          <a:noFill/>
        </p:spPr>
        <p:txBody>
          <a:bodyPr wrap="square" lIns="0" rIns="0" tIns="0" bIns="0" anchor="t">
            <a:spAutoFit/>
          </a:bodyPr>
          <a:lstStyle/>
          <a:p>
            <a:pPr algn="ctr">
              <a:lnSpc>
                <a:spcPct val="115000"/>
              </a:lnSpc>
            </a:pPr>
            <a:r>
              <a:rPr sz="2000" b="1">
                <a:solidFill>
                  <a:srgbClr val="B88E1F"/>
                </a:solidFill>
                <a:latin typeface="Helvetica Neue"/>
              </a:rPr>
              <a:t>Angelsächsisch</a:t>
            </a:r>
          </a:p>
        </p:txBody>
      </p:sp>
      <p:sp>
        <p:nvSpPr>
          <p:cNvPr id="20" name="Rounded Rectangle 19"/>
          <p:cNvSpPr/>
          <p:nvPr/>
        </p:nvSpPr>
        <p:spPr>
          <a:xfrm>
            <a:off x="9524847" y="4343399"/>
            <a:ext cx="548640" cy="45720"/>
          </a:xfrm>
          <a:prstGeom prst="roundRect">
            <a:avLst>
              <a:gd name="adj" fmla="val 50000"/>
            </a:avLst>
          </a:prstGeom>
          <a:solidFill>
            <a:srgbClr val="B88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19007" y="4526280"/>
            <a:ext cx="2560320" cy="1188720"/>
          </a:xfrm>
          <a:prstGeom prst="rect">
            <a:avLst/>
          </a:prstGeom>
          <a:noFill/>
        </p:spPr>
        <p:txBody>
          <a:bodyPr wrap="square" lIns="0" rIns="0" tIns="0" bIns="0">
            <a:spAutoFit/>
          </a:bodyPr>
          <a:lstStyle/>
          <a:p>
            <a:pPr algn="l">
              <a:lnSpc>
                <a:spcPct val="140000"/>
              </a:lnSpc>
            </a:pPr>
            <a:r>
              <a:rPr sz="1600" b="1">
                <a:solidFill>
                  <a:srgbClr val="B88E1F"/>
                </a:solidFill>
                <a:latin typeface="Helvetica Neue"/>
              </a:rPr>
              <a:t>•  </a:t>
            </a:r>
            <a:r>
              <a:rPr sz="1400" b="0">
                <a:solidFill>
                  <a:srgbClr val="2B2D42"/>
                </a:solidFill>
                <a:latin typeface="Helvetica Neue"/>
              </a:rPr>
              <a:t>mehr Praxis</a:t>
            </a:r>
          </a:p>
          <a:p>
            <a:pPr algn="l">
              <a:lnSpc>
                <a:spcPct val="140000"/>
              </a:lnSpc>
            </a:pPr>
            <a:r>
              <a:rPr sz="1600" b="1">
                <a:solidFill>
                  <a:srgbClr val="B88E1F"/>
                </a:solidFill>
                <a:latin typeface="Helvetica Neue"/>
              </a:rPr>
              <a:t>•  </a:t>
            </a:r>
            <a:r>
              <a:rPr sz="1400" b="0">
                <a:solidFill>
                  <a:srgbClr val="2B2D42"/>
                </a:solidFill>
                <a:latin typeface="Helvetica Neue"/>
              </a:rPr>
              <a:t>mehr Wahlmöglichkeiten</a:t>
            </a:r>
          </a:p>
        </p:txBody>
      </p:sp>
      <p:sp>
        <p:nvSpPr>
          <p:cNvPr id="22" name="Rounded Rectangle 21"/>
          <p:cNvSpPr/>
          <p:nvPr/>
        </p:nvSpPr>
        <p:spPr>
          <a:xfrm>
            <a:off x="731520" y="5989320"/>
            <a:ext cx="10607040" cy="640080"/>
          </a:xfrm>
          <a:prstGeom prst="roundRect">
            <a:avLst>
              <a:gd name="adj" fmla="val 40000"/>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989320"/>
            <a:ext cx="10607040" cy="640080"/>
          </a:xfrm>
          <a:prstGeom prst="rect">
            <a:avLst/>
          </a:prstGeom>
          <a:noFill/>
        </p:spPr>
        <p:txBody>
          <a:bodyPr wrap="square" lIns="0" rIns="0" tIns="0" bIns="0" anchor="ctr">
            <a:spAutoFit/>
          </a:bodyPr>
          <a:lstStyle/>
          <a:p>
            <a:pPr algn="ctr">
              <a:lnSpc>
                <a:spcPct val="115000"/>
              </a:lnSpc>
            </a:pPr>
            <a:r>
              <a:rPr sz="1500" b="1">
                <a:solidFill>
                  <a:srgbClr val="FFFFFF"/>
                </a:solidFill>
                <a:latin typeface="Helvetica Neue"/>
              </a:rPr>
              <a:t>Kein System ist perfekt – jedes Land setzt eigene Schwerpunkte.</a:t>
            </a: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600" fill="hold"/>
                            <p:tgtEl>
                              <p:spTgt spid="5"/>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6"/>
                            </p:tgtEl>
                            <p:attrNameLst>
                              <p:attrName>style.visibility</p:attrName>
                            </p:attrNameLst>
                          </p:cBhvr>
                          <p:to>
                            <p:strVal val="visible"/>
                          </p:to>
                        </p:set>
                        <p:anim calcmode="lin" valueType="num">
                          <p:cBhvr additive="base">
                            <p:cTn id="112" dur="600" fill="hold"/>
                            <p:tgtEl>
                              <p:spTgt spid="6"/>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600" fill="hold"/>
                            <p:tgtEl>
                              <p:spTgt spid="7"/>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12"/>
                            </p:tgtEl>
                            <p:attrNameLst>
                              <p:attrName>style.visibility</p:attrName>
                            </p:attrNameLst>
                          </p:cBhvr>
                          <p:to>
                            <p:strVal val="visible"/>
                          </p:to>
                        </p:set>
                        <p:anim calcmode="lin" valueType="num">
                          <p:cBhvr additive="base">
                            <p:cTn id="132" dur="600" fill="hold"/>
                            <p:tgtEl>
                              <p:spTgt spid="12"/>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7"/>
                            </p:tgtEl>
                            <p:attrNameLst>
                              <p:attrName>style.visibility</p:attrName>
                            </p:attrNameLst>
                          </p:cBhvr>
                          <p:to>
                            <p:strVal val="visible"/>
                          </p:to>
                        </p:set>
                        <p:anim calcmode="lin" valueType="num">
                          <p:cBhvr additive="base">
                            <p:cTn id="142" dur="600" fill="hold"/>
                            <p:tgtEl>
                              <p:spTgt spid="17"/>
                            </p:tgtEl>
                            <p:attrNameLst>
                              <p:attrName>style.opacity</p:attrName>
                            </p:attrNameLst>
                          </p:cBhvr>
                          <p:tavLst>
                            <p:tav tm="0">
                              <p:val>
                                <p:fltVal val="0"/>
                              </p:val>
                            </p:tav>
                            <p:tav tm="100000">
                              <p:val>
                                <p:fltVal val="1"/>
                              </p:val>
                            </p:tav>
                          </p:tavLst>
                        </p:anim>
                      </p:childTnLst>
                    </p:cTn>
                  </p:par>
                  <p:par>
                    <p:cTn id="150" presetID="10" presetClass="entr" presetSubtype="0" fill="hold" grpId="0" nodeType="afterEffect">
                      <p:stCondLst>
                        <p:cond delay="350"/>
                      </p:stCondLst>
                      <p:childTnLst>
                        <p:set>
                          <p:cBhvr>
                            <p:cTn id="151" dur="1" fill="hold">
                              <p:stCondLst>
                                <p:cond delay="0"/>
                              </p:stCondLst>
                            </p:cTn>
                            <p:tgtEl>
                              <p:spTgt spid="22"/>
                            </p:tgtEl>
                            <p:attrNameLst>
                              <p:attrName>style.visibility</p:attrName>
                            </p:attrNameLst>
                          </p:cBhvr>
                          <p:to>
                            <p:strVal val="visible"/>
                          </p:to>
                        </p:set>
                        <p:anim calcmode="lin" valueType="num">
                          <p:cBhvr additive="base">
                            <p:cTn id="152" dur="600" fill="hold"/>
                            <p:tgtEl>
                              <p:spTgt spid="22"/>
                            </p:tgtEl>
                            <p:attrNameLst>
                              <p:attrName>style.opacity</p:attrName>
                            </p:attrNameLst>
                          </p:cBhvr>
                          <p:tavLst>
                            <p:tav tm="0">
                              <p:val>
                                <p:fltVal val="0"/>
                              </p:val>
                            </p:tav>
                            <p:tav tm="100000">
                              <p:val>
                                <p:fltVal val="1"/>
                              </p:val>
                            </p:tav>
                          </p:tavLst>
                        </p:anim>
                      </p:childTnLst>
                    </p:cTn>
                  </p:par>
                  <p:par>
                    <p:cTn id="160" presetID="10" presetClass="entr" presetSubtype="0" fill="hold" grpId="0" nodeType="afterEffect">
                      <p:stCondLst>
                        <p:cond delay="350"/>
                      </p:stCondLst>
                      <p:childTnLst>
                        <p:set>
                          <p:cBhvr>
                            <p:cTn id="161" dur="1" fill="hold">
                              <p:stCondLst>
                                <p:cond delay="0"/>
                              </p:stCondLst>
                            </p:cTn>
                            <p:tgtEl>
                              <p:spTgt spid="23"/>
                            </p:tgtEl>
                            <p:attrNameLst>
                              <p:attrName>style.visibility</p:attrName>
                            </p:attrNameLst>
                          </p:cBhvr>
                          <p:to>
                            <p:strVal val="visible"/>
                          </p:to>
                        </p:set>
                        <p:anim calcmode="lin" valueType="num">
                          <p:cBhvr additive="base">
                            <p:cTn id="162" dur="600" fill="hold"/>
                            <p:tgtEl>
                              <p:spTgt spid="23"/>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2" grpId="0"/>
      <p:bldP spid="17" grpId="0"/>
      <p:bldP spid="22" grpId="0"/>
      <p:bldP spid="23" grpId="0"/>
    </p:bldLst>
  </p:timing>
  <mc:AlternateContent xmlns:mc="http://schemas.openxmlformats.org/markup-compatibility/2006">
    <mc:Choice xmlns:p14="http://schemas.microsoft.com/office/powerpoint/2010/main" Requires="p14">
      <p:transition spd="med" p14:dur="700">
        <p14:flash/>
      </p:transition>
    </mc:Choice>
    <mc:Fallback>
      <p:transition spd="med">
        <p:split orient="horz" dir="out"/>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5029200"/>
            <a:ext cx="3657600" cy="3657600"/>
          </a:xfrm>
          <a:prstGeom prst="ellipse">
            <a:avLst/>
          </a:prstGeom>
          <a:solidFill>
            <a:srgbClr val="FFF7C7">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0" y="-1828800"/>
            <a:ext cx="4114800" cy="4114800"/>
          </a:xfrm>
          <a:prstGeom prst="ellipse">
            <a:avLst/>
          </a:prstGeom>
          <a:solidFill>
            <a:srgbClr val="CFEFF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65760"/>
          </a:xfrm>
          <a:prstGeom prst="rect">
            <a:avLst/>
          </a:prstGeom>
          <a:noFill/>
        </p:spPr>
        <p:txBody>
          <a:bodyPr wrap="square" lIns="0" rIns="0" tIns="0" bIns="0" anchor="t">
            <a:spAutoFit/>
          </a:bodyPr>
          <a:lstStyle/>
          <a:p>
            <a:pPr algn="l">
              <a:lnSpc>
                <a:spcPct val="115000"/>
              </a:lnSpc>
            </a:pPr>
            <a:r>
              <a:rPr sz="1300" b="1">
                <a:solidFill>
                  <a:srgbClr val="B88E1F"/>
                </a:solidFill>
                <a:latin typeface="Helvetica Neue"/>
              </a:rPr>
              <a:t>08  ·  KRITISCHE BEWERTUNG</a:t>
            </a:r>
          </a:p>
        </p:txBody>
      </p:sp>
      <p:sp>
        <p:nvSpPr>
          <p:cNvPr id="6" name="TextBox 5"/>
          <p:cNvSpPr txBox="1"/>
          <p:nvPr/>
        </p:nvSpPr>
        <p:spPr>
          <a:xfrm>
            <a:off x="731520" y="1005840"/>
            <a:ext cx="10058400" cy="1097280"/>
          </a:xfrm>
          <a:prstGeom prst="rect">
            <a:avLst/>
          </a:prstGeom>
          <a:noFill/>
        </p:spPr>
        <p:txBody>
          <a:bodyPr wrap="square" lIns="0" rIns="0" tIns="0" bIns="0" anchor="t">
            <a:spAutoFit/>
          </a:bodyPr>
          <a:lstStyle/>
          <a:p>
            <a:pPr algn="l">
              <a:lnSpc>
                <a:spcPct val="115000"/>
              </a:lnSpc>
            </a:pPr>
            <a:r>
              <a:rPr sz="4000" b="1">
                <a:solidFill>
                  <a:srgbClr val="2B2D42"/>
                </a:solidFill>
                <a:latin typeface="Helvetica Neue"/>
              </a:rPr>
              <a:t>Stärken &amp; Schwächen</a:t>
            </a:r>
          </a:p>
        </p:txBody>
      </p:sp>
      <p:sp>
        <p:nvSpPr>
          <p:cNvPr id="7" name="Rounded Rectangle 6"/>
          <p:cNvSpPr/>
          <p:nvPr/>
        </p:nvSpPr>
        <p:spPr>
          <a:xfrm>
            <a:off x="822960" y="2468880"/>
            <a:ext cx="5212080" cy="4023360"/>
          </a:xfrm>
          <a:prstGeom prst="roundRect">
            <a:avLst>
              <a:gd name="adj" fmla="val 10000"/>
            </a:avLst>
          </a:prstGeom>
          <a:solidFill>
            <a:srgbClr val="CBEFD3"/>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606040"/>
            <a:ext cx="4572000" cy="457200"/>
          </a:xfrm>
          <a:prstGeom prst="rect">
            <a:avLst/>
          </a:prstGeom>
          <a:noFill/>
        </p:spPr>
        <p:txBody>
          <a:bodyPr wrap="square" lIns="0" rIns="0" tIns="0" bIns="0" anchor="t">
            <a:spAutoFit/>
          </a:bodyPr>
          <a:lstStyle/>
          <a:p>
            <a:pPr algn="l">
              <a:lnSpc>
                <a:spcPct val="115000"/>
              </a:lnSpc>
            </a:pPr>
            <a:r>
              <a:rPr sz="2400" b="1">
                <a:solidFill>
                  <a:srgbClr val="3F9B5A"/>
                </a:solidFill>
                <a:latin typeface="Helvetica Neue"/>
              </a:rPr>
              <a:t>✓  Stärken</a:t>
            </a:r>
          </a:p>
        </p:txBody>
      </p:sp>
      <p:sp>
        <p:nvSpPr>
          <p:cNvPr id="9" name="TextBox 8"/>
          <p:cNvSpPr txBox="1"/>
          <p:nvPr/>
        </p:nvSpPr>
        <p:spPr>
          <a:xfrm>
            <a:off x="1188720" y="3337560"/>
            <a:ext cx="4754880" cy="2743200"/>
          </a:xfrm>
          <a:prstGeom prst="rect">
            <a:avLst/>
          </a:prstGeom>
          <a:noFill/>
        </p:spPr>
        <p:txBody>
          <a:bodyPr wrap="square" lIns="0" rIns="0" tIns="0" bIns="0">
            <a:spAutoFit/>
          </a:bodyPr>
          <a:lstStyle/>
          <a:p>
            <a:pPr algn="l">
              <a:lnSpc>
                <a:spcPct val="160000"/>
              </a:lnSpc>
            </a:pPr>
            <a:r>
              <a:rPr sz="2000" b="1">
                <a:solidFill>
                  <a:srgbClr val="3F9B5A"/>
                </a:solidFill>
                <a:latin typeface="Helvetica Neue"/>
              </a:rPr>
              <a:t>•  </a:t>
            </a:r>
            <a:r>
              <a:rPr sz="1800" b="0">
                <a:solidFill>
                  <a:srgbClr val="2B2D42"/>
                </a:solidFill>
                <a:latin typeface="Helvetica Neue"/>
              </a:rPr>
              <a:t>verschiedene Bildungswege</a:t>
            </a:r>
          </a:p>
          <a:p>
            <a:pPr algn="l">
              <a:lnSpc>
                <a:spcPct val="160000"/>
              </a:lnSpc>
            </a:pPr>
            <a:r>
              <a:rPr sz="2000" b="1">
                <a:solidFill>
                  <a:srgbClr val="3F9B5A"/>
                </a:solidFill>
                <a:latin typeface="Helvetica Neue"/>
              </a:rPr>
              <a:t>•  </a:t>
            </a:r>
            <a:r>
              <a:rPr sz="1800" b="0">
                <a:solidFill>
                  <a:srgbClr val="2B2D42"/>
                </a:solidFill>
                <a:latin typeface="Helvetica Neue"/>
              </a:rPr>
              <a:t>duales Ausbildungssystem</a:t>
            </a:r>
          </a:p>
          <a:p>
            <a:pPr algn="l">
              <a:lnSpc>
                <a:spcPct val="160000"/>
              </a:lnSpc>
            </a:pPr>
            <a:r>
              <a:rPr sz="2000" b="1">
                <a:solidFill>
                  <a:srgbClr val="3F9B5A"/>
                </a:solidFill>
                <a:latin typeface="Helvetica Neue"/>
              </a:rPr>
              <a:t>•  </a:t>
            </a:r>
            <a:r>
              <a:rPr sz="1800" b="0">
                <a:solidFill>
                  <a:srgbClr val="2B2D42"/>
                </a:solidFill>
                <a:latin typeface="Helvetica Neue"/>
              </a:rPr>
              <a:t>hohe akademische Standards</a:t>
            </a:r>
          </a:p>
        </p:txBody>
      </p:sp>
      <p:sp>
        <p:nvSpPr>
          <p:cNvPr id="10" name="Rounded Rectangle 9"/>
          <p:cNvSpPr/>
          <p:nvPr/>
        </p:nvSpPr>
        <p:spPr>
          <a:xfrm>
            <a:off x="6217920" y="2468880"/>
            <a:ext cx="5212080" cy="4023360"/>
          </a:xfrm>
          <a:prstGeom prst="roundRect">
            <a:avLst>
              <a:gd name="adj" fmla="val 10000"/>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606040"/>
            <a:ext cx="4572000" cy="457200"/>
          </a:xfrm>
          <a:prstGeom prst="rect">
            <a:avLst/>
          </a:prstGeom>
          <a:noFill/>
        </p:spPr>
        <p:txBody>
          <a:bodyPr wrap="square" lIns="0" rIns="0" tIns="0" bIns="0" anchor="t">
            <a:spAutoFit/>
          </a:bodyPr>
          <a:lstStyle/>
          <a:p>
            <a:pPr algn="l">
              <a:lnSpc>
                <a:spcPct val="115000"/>
              </a:lnSpc>
            </a:pPr>
            <a:r>
              <a:rPr sz="2400" b="1">
                <a:solidFill>
                  <a:srgbClr val="D64F8B"/>
                </a:solidFill>
                <a:latin typeface="Helvetica Neue"/>
              </a:rPr>
              <a:t>✗  Schwächen</a:t>
            </a:r>
          </a:p>
        </p:txBody>
      </p:sp>
      <p:sp>
        <p:nvSpPr>
          <p:cNvPr id="12" name="TextBox 11"/>
          <p:cNvSpPr txBox="1"/>
          <p:nvPr/>
        </p:nvSpPr>
        <p:spPr>
          <a:xfrm>
            <a:off x="6583680" y="3337560"/>
            <a:ext cx="4754880" cy="2743200"/>
          </a:xfrm>
          <a:prstGeom prst="rect">
            <a:avLst/>
          </a:prstGeom>
          <a:noFill/>
        </p:spPr>
        <p:txBody>
          <a:bodyPr wrap="square" lIns="0" rIns="0" tIns="0" bIns="0">
            <a:spAutoFit/>
          </a:bodyPr>
          <a:lstStyle/>
          <a:p>
            <a:pPr algn="l">
              <a:lnSpc>
                <a:spcPct val="160000"/>
              </a:lnSpc>
            </a:pPr>
            <a:r>
              <a:rPr sz="2000" b="1">
                <a:solidFill>
                  <a:srgbClr val="D64F8B"/>
                </a:solidFill>
                <a:latin typeface="Helvetica Neue"/>
              </a:rPr>
              <a:t>•  </a:t>
            </a:r>
            <a:r>
              <a:rPr sz="1800" b="0">
                <a:solidFill>
                  <a:srgbClr val="2B2D42"/>
                </a:solidFill>
                <a:latin typeface="Helvetica Neue"/>
              </a:rPr>
              <a:t>frühe Selektion</a:t>
            </a:r>
          </a:p>
          <a:p>
            <a:pPr algn="l">
              <a:lnSpc>
                <a:spcPct val="160000"/>
              </a:lnSpc>
            </a:pPr>
            <a:r>
              <a:rPr sz="2000" b="1">
                <a:solidFill>
                  <a:srgbClr val="D64F8B"/>
                </a:solidFill>
                <a:latin typeface="Helvetica Neue"/>
              </a:rPr>
              <a:t>•  </a:t>
            </a:r>
            <a:r>
              <a:rPr sz="1800" b="0">
                <a:solidFill>
                  <a:srgbClr val="2B2D42"/>
                </a:solidFill>
                <a:latin typeface="Helvetica Neue"/>
              </a:rPr>
              <a:t>Leistungsdruck</a:t>
            </a:r>
          </a:p>
          <a:p>
            <a:pPr algn="l">
              <a:lnSpc>
                <a:spcPct val="160000"/>
              </a:lnSpc>
            </a:pPr>
            <a:r>
              <a:rPr sz="2000" b="1">
                <a:solidFill>
                  <a:srgbClr val="D64F8B"/>
                </a:solidFill>
                <a:latin typeface="Helvetica Neue"/>
              </a:rPr>
              <a:t>•  </a:t>
            </a:r>
            <a:r>
              <a:rPr sz="1800" b="0">
                <a:solidFill>
                  <a:srgbClr val="2B2D42"/>
                </a:solidFill>
                <a:latin typeface="Helvetica Neue"/>
              </a:rPr>
              <a:t>soziale Ungleichheiten</a:t>
            </a: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600" fill="hold"/>
                            <p:tgtEl>
                              <p:spTgt spid="5"/>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6"/>
                            </p:tgtEl>
                            <p:attrNameLst>
                              <p:attrName>style.visibility</p:attrName>
                            </p:attrNameLst>
                          </p:cBhvr>
                          <p:to>
                            <p:strVal val="visible"/>
                          </p:to>
                        </p:set>
                        <p:anim calcmode="lin" valueType="num">
                          <p:cBhvr additive="base">
                            <p:cTn id="112" dur="600" fill="hold"/>
                            <p:tgtEl>
                              <p:spTgt spid="6"/>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600" fill="hold"/>
                            <p:tgtEl>
                              <p:spTgt spid="7"/>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9"/>
                            </p:tgtEl>
                            <p:attrNameLst>
                              <p:attrName>style.visibility</p:attrName>
                            </p:attrNameLst>
                          </p:cBhvr>
                          <p:to>
                            <p:strVal val="visible"/>
                          </p:to>
                        </p:set>
                        <p:anim calcmode="lin" valueType="num">
                          <p:cBhvr additive="base">
                            <p:cTn id="132" dur="600" fill="hold"/>
                            <p:tgtEl>
                              <p:spTgt spid="9"/>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0"/>
                            </p:tgtEl>
                            <p:attrNameLst>
                              <p:attrName>style.visibility</p:attrName>
                            </p:attrNameLst>
                          </p:cBhvr>
                          <p:to>
                            <p:strVal val="visible"/>
                          </p:to>
                        </p:set>
                        <p:anim calcmode="lin" valueType="num">
                          <p:cBhvr additive="base">
                            <p:cTn id="142" dur="600" fill="hold"/>
                            <p:tgtEl>
                              <p:spTgt spid="10"/>
                            </p:tgtEl>
                            <p:attrNameLst>
                              <p:attrName>style.opacity</p:attrName>
                            </p:attrNameLst>
                          </p:cBhvr>
                          <p:tavLst>
                            <p:tav tm="0">
                              <p:val>
                                <p:fltVal val="0"/>
                              </p:val>
                            </p:tav>
                            <p:tav tm="100000">
                              <p:val>
                                <p:fltVal val="1"/>
                              </p:val>
                            </p:tav>
                          </p:tavLst>
                        </p:anim>
                      </p:childTnLst>
                    </p:cTn>
                  </p:par>
                  <p:par>
                    <p:cTn id="150" presetID="10" presetClass="entr" presetSubtype="0" fill="hold" grpId="0" nodeType="afterEffect">
                      <p:stCondLst>
                        <p:cond delay="350"/>
                      </p:stCondLst>
                      <p:childTnLst>
                        <p:set>
                          <p:cBhvr>
                            <p:cTn id="151" dur="1" fill="hold">
                              <p:stCondLst>
                                <p:cond delay="0"/>
                              </p:stCondLst>
                            </p:cTn>
                            <p:tgtEl>
                              <p:spTgt spid="12"/>
                            </p:tgtEl>
                            <p:attrNameLst>
                              <p:attrName>style.visibility</p:attrName>
                            </p:attrNameLst>
                          </p:cBhvr>
                          <p:to>
                            <p:strVal val="visible"/>
                          </p:to>
                        </p:set>
                        <p:anim calcmode="lin" valueType="num">
                          <p:cBhvr additive="base">
                            <p:cTn id="152" dur="600" fill="hold"/>
                            <p:tgtEl>
                              <p:spTgt spid="12"/>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P spid="12" grpId="0"/>
    </p:bldLst>
  </p:timing>
  <p:transition spd="med">
    <p:push dir="r"/>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4572000" cy="4572000"/>
          </a:xfrm>
          <a:prstGeom prst="ellipse">
            <a:avLst/>
          </a:prstGeom>
          <a:solidFill>
            <a:srgbClr val="CBEFD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5029200"/>
            <a:ext cx="4114800" cy="4114800"/>
          </a:xfrm>
          <a:prstGeom prst="ellipse">
            <a:avLst/>
          </a:prstGeom>
          <a:solidFill>
            <a:srgbClr val="FFD9E8">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65760"/>
          </a:xfrm>
          <a:prstGeom prst="rect">
            <a:avLst/>
          </a:prstGeom>
          <a:noFill/>
        </p:spPr>
        <p:txBody>
          <a:bodyPr wrap="square" lIns="0" rIns="0" tIns="0" bIns="0" anchor="t">
            <a:spAutoFit/>
          </a:bodyPr>
          <a:lstStyle/>
          <a:p>
            <a:pPr algn="l">
              <a:lnSpc>
                <a:spcPct val="115000"/>
              </a:lnSpc>
            </a:pPr>
            <a:r>
              <a:rPr sz="1300" b="1">
                <a:solidFill>
                  <a:srgbClr val="3F9B5A"/>
                </a:solidFill>
                <a:latin typeface="Helvetica Neue"/>
              </a:rPr>
              <a:t>09  ·  REFORMANSÄTZE</a:t>
            </a:r>
          </a:p>
        </p:txBody>
      </p:sp>
      <p:sp>
        <p:nvSpPr>
          <p:cNvPr id="6" name="TextBox 5"/>
          <p:cNvSpPr txBox="1"/>
          <p:nvPr/>
        </p:nvSpPr>
        <p:spPr>
          <a:xfrm>
            <a:off x="731520" y="1005840"/>
            <a:ext cx="10058400" cy="1097280"/>
          </a:xfrm>
          <a:prstGeom prst="rect">
            <a:avLst/>
          </a:prstGeom>
          <a:noFill/>
        </p:spPr>
        <p:txBody>
          <a:bodyPr wrap="square" lIns="0" rIns="0" tIns="0" bIns="0" anchor="t">
            <a:spAutoFit/>
          </a:bodyPr>
          <a:lstStyle/>
          <a:p>
            <a:pPr algn="l">
              <a:lnSpc>
                <a:spcPct val="115000"/>
              </a:lnSpc>
            </a:pPr>
            <a:r>
              <a:rPr sz="4000" b="1">
                <a:solidFill>
                  <a:srgbClr val="2B2D42"/>
                </a:solidFill>
                <a:latin typeface="Helvetica Neue"/>
              </a:rPr>
              <a:t>Schritte in die Zukunft</a:t>
            </a:r>
          </a:p>
        </p:txBody>
      </p:sp>
      <p:sp>
        <p:nvSpPr>
          <p:cNvPr id="7" name="Oval 6"/>
          <p:cNvSpPr/>
          <p:nvPr/>
        </p:nvSpPr>
        <p:spPr>
          <a:xfrm>
            <a:off x="1752447" y="2651760"/>
            <a:ext cx="2286000" cy="2286000"/>
          </a:xfrm>
          <a:prstGeom prst="ellipse">
            <a:avLst/>
          </a:prstGeom>
          <a:solidFill>
            <a:srgbClr val="CFEFFF"/>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52447" y="2651760"/>
            <a:ext cx="2286000" cy="2286000"/>
          </a:xfrm>
          <a:prstGeom prst="rect">
            <a:avLst/>
          </a:prstGeom>
          <a:noFill/>
        </p:spPr>
        <p:txBody>
          <a:bodyPr wrap="square" lIns="0" rIns="0" tIns="0" bIns="0" anchor="ctr">
            <a:spAutoFit/>
          </a:bodyPr>
          <a:lstStyle/>
          <a:p>
            <a:pPr algn="ctr">
              <a:lnSpc>
                <a:spcPct val="110000"/>
              </a:lnSpc>
            </a:pPr>
            <a:r>
              <a:rPr sz="1800" b="1">
                <a:solidFill>
                  <a:srgbClr val="2C6BA8"/>
                </a:solidFill>
                <a:latin typeface="Helvetica Neue"/>
              </a:rPr>
              <a:t>Lebens-
kompetenzen</a:t>
            </a:r>
          </a:p>
        </p:txBody>
      </p:sp>
      <p:sp>
        <p:nvSpPr>
          <p:cNvPr id="9" name="TextBox 8"/>
          <p:cNvSpPr txBox="1"/>
          <p:nvPr/>
        </p:nvSpPr>
        <p:spPr>
          <a:xfrm>
            <a:off x="1478127" y="5120640"/>
            <a:ext cx="2834640" cy="1554480"/>
          </a:xfrm>
          <a:prstGeom prst="rect">
            <a:avLst/>
          </a:prstGeom>
          <a:noFill/>
        </p:spPr>
        <p:txBody>
          <a:bodyPr wrap="square" lIns="0" rIns="0" tIns="0" bIns="0" anchor="t">
            <a:spAutoFit/>
          </a:bodyPr>
          <a:lstStyle/>
          <a:p>
            <a:pPr algn="ctr">
              <a:lnSpc>
                <a:spcPct val="135000"/>
              </a:lnSpc>
            </a:pPr>
            <a:r>
              <a:rPr sz="1300" b="0">
                <a:solidFill>
                  <a:srgbClr val="2B2D42"/>
                </a:solidFill>
                <a:latin typeface="Helvetica Neue"/>
              </a:rPr>
              <a:t>Finanzen, Medien, Alltagskompetenzen stärker im Lehrplan</a:t>
            </a:r>
          </a:p>
        </p:txBody>
      </p:sp>
      <p:sp>
        <p:nvSpPr>
          <p:cNvPr id="10" name="Oval 9"/>
          <p:cNvSpPr/>
          <p:nvPr/>
        </p:nvSpPr>
        <p:spPr>
          <a:xfrm>
            <a:off x="4952847" y="2651760"/>
            <a:ext cx="2286000" cy="2286000"/>
          </a:xfrm>
          <a:prstGeom prst="ellipse">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2847" y="2651760"/>
            <a:ext cx="2286000" cy="2286000"/>
          </a:xfrm>
          <a:prstGeom prst="rect">
            <a:avLst/>
          </a:prstGeom>
          <a:noFill/>
        </p:spPr>
        <p:txBody>
          <a:bodyPr wrap="square" lIns="0" rIns="0" tIns="0" bIns="0" anchor="ctr">
            <a:spAutoFit/>
          </a:bodyPr>
          <a:lstStyle/>
          <a:p>
            <a:pPr algn="ctr">
              <a:lnSpc>
                <a:spcPct val="110000"/>
              </a:lnSpc>
            </a:pPr>
            <a:r>
              <a:rPr sz="1800" b="1">
                <a:solidFill>
                  <a:srgbClr val="D64F8B"/>
                </a:solidFill>
                <a:latin typeface="Helvetica Neue"/>
              </a:rPr>
              <a:t>Spätere
Differenzierung</a:t>
            </a:r>
          </a:p>
        </p:txBody>
      </p:sp>
      <p:sp>
        <p:nvSpPr>
          <p:cNvPr id="12" name="TextBox 11"/>
          <p:cNvSpPr txBox="1"/>
          <p:nvPr/>
        </p:nvSpPr>
        <p:spPr>
          <a:xfrm>
            <a:off x="4678527" y="5120640"/>
            <a:ext cx="2834640" cy="1554480"/>
          </a:xfrm>
          <a:prstGeom prst="rect">
            <a:avLst/>
          </a:prstGeom>
          <a:noFill/>
        </p:spPr>
        <p:txBody>
          <a:bodyPr wrap="square" lIns="0" rIns="0" tIns="0" bIns="0" anchor="t">
            <a:spAutoFit/>
          </a:bodyPr>
          <a:lstStyle/>
          <a:p>
            <a:pPr algn="ctr">
              <a:lnSpc>
                <a:spcPct val="135000"/>
              </a:lnSpc>
            </a:pPr>
            <a:r>
              <a:rPr sz="1300" b="0">
                <a:solidFill>
                  <a:srgbClr val="2B2D42"/>
                </a:solidFill>
                <a:latin typeface="Helvetica Neue"/>
              </a:rPr>
              <a:t>Länger gemeinsam lernen – weniger Druck früh, fundiertere Entscheidungen</a:t>
            </a:r>
          </a:p>
        </p:txBody>
      </p:sp>
      <p:sp>
        <p:nvSpPr>
          <p:cNvPr id="13" name="Oval 12"/>
          <p:cNvSpPr/>
          <p:nvPr/>
        </p:nvSpPr>
        <p:spPr>
          <a:xfrm>
            <a:off x="8153247" y="2651760"/>
            <a:ext cx="2286000" cy="2286000"/>
          </a:xfrm>
          <a:prstGeom prst="ellipse">
            <a:avLst/>
          </a:prstGeom>
          <a:solidFill>
            <a:srgbClr val="FFF7C7"/>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3247" y="2651760"/>
            <a:ext cx="2286000" cy="2286000"/>
          </a:xfrm>
          <a:prstGeom prst="rect">
            <a:avLst/>
          </a:prstGeom>
          <a:noFill/>
        </p:spPr>
        <p:txBody>
          <a:bodyPr wrap="square" lIns="0" rIns="0" tIns="0" bIns="0" anchor="ctr">
            <a:spAutoFit/>
          </a:bodyPr>
          <a:lstStyle/>
          <a:p>
            <a:pPr algn="ctr">
              <a:lnSpc>
                <a:spcPct val="110000"/>
              </a:lnSpc>
            </a:pPr>
            <a:r>
              <a:rPr sz="1800" b="1">
                <a:solidFill>
                  <a:srgbClr val="B88E1F"/>
                </a:solidFill>
                <a:latin typeface="Helvetica Neue"/>
              </a:rPr>
              <a:t>Alternative
Bewertung</a:t>
            </a:r>
          </a:p>
        </p:txBody>
      </p:sp>
      <p:sp>
        <p:nvSpPr>
          <p:cNvPr id="15" name="TextBox 14"/>
          <p:cNvSpPr txBox="1"/>
          <p:nvPr/>
        </p:nvSpPr>
        <p:spPr>
          <a:xfrm>
            <a:off x="7878927" y="5120640"/>
            <a:ext cx="2834640" cy="1554480"/>
          </a:xfrm>
          <a:prstGeom prst="rect">
            <a:avLst/>
          </a:prstGeom>
          <a:noFill/>
        </p:spPr>
        <p:txBody>
          <a:bodyPr wrap="square" lIns="0" rIns="0" tIns="0" bIns="0" anchor="t">
            <a:spAutoFit/>
          </a:bodyPr>
          <a:lstStyle/>
          <a:p>
            <a:pPr algn="ctr">
              <a:lnSpc>
                <a:spcPct val="135000"/>
              </a:lnSpc>
            </a:pPr>
            <a:r>
              <a:rPr sz="1300" b="0">
                <a:solidFill>
                  <a:srgbClr val="2B2D42"/>
                </a:solidFill>
                <a:latin typeface="Helvetica Neue"/>
              </a:rPr>
              <a:t>Portfolios, Feedback und Projekte ergänzen klassische Noten</a:t>
            </a:r>
          </a:p>
        </p:txBody>
      </p:sp>
      <p:sp>
        <p:nvSpPr>
          <p:cNvPr id="16" name="Pentagon 15"/>
          <p:cNvSpPr/>
          <p:nvPr/>
        </p:nvSpPr>
        <p:spPr>
          <a:xfrm>
            <a:off x="10058400" y="3520440"/>
            <a:ext cx="1097280" cy="640080"/>
          </a:xfrm>
          <a:prstGeom prst="homePlate">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0" y="3520440"/>
            <a:ext cx="1097280" cy="640080"/>
          </a:xfrm>
          <a:prstGeom prst="rect">
            <a:avLst/>
          </a:prstGeom>
          <a:noFill/>
        </p:spPr>
        <p:txBody>
          <a:bodyPr wrap="square" lIns="0" rIns="0" tIns="0" bIns="0" anchor="ctr">
            <a:spAutoFit/>
          </a:bodyPr>
          <a:lstStyle/>
          <a:p>
            <a:pPr algn="ctr">
              <a:lnSpc>
                <a:spcPct val="115000"/>
              </a:lnSpc>
            </a:pPr>
            <a:r>
              <a:rPr sz="1100" b="1">
                <a:solidFill>
                  <a:srgbClr val="FFFFFF"/>
                </a:solidFill>
                <a:latin typeface="Helvetica Neue"/>
              </a:rPr>
              <a:t>Zukunft</a:t>
            </a: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600" fill="hold"/>
                            <p:tgtEl>
                              <p:spTgt spid="5"/>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6"/>
                            </p:tgtEl>
                            <p:attrNameLst>
                              <p:attrName>style.visibility</p:attrName>
                            </p:attrNameLst>
                          </p:cBhvr>
                          <p:to>
                            <p:strVal val="visible"/>
                          </p:to>
                        </p:set>
                        <p:anim calcmode="lin" valueType="num">
                          <p:cBhvr additive="base">
                            <p:cTn id="112" dur="600" fill="hold"/>
                            <p:tgtEl>
                              <p:spTgt spid="6"/>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600" fill="hold"/>
                            <p:tgtEl>
                              <p:spTgt spid="7"/>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10"/>
                            </p:tgtEl>
                            <p:attrNameLst>
                              <p:attrName>style.visibility</p:attrName>
                            </p:attrNameLst>
                          </p:cBhvr>
                          <p:to>
                            <p:strVal val="visible"/>
                          </p:to>
                        </p:set>
                        <p:anim calcmode="lin" valueType="num">
                          <p:cBhvr additive="base">
                            <p:cTn id="132" dur="600" fill="hold"/>
                            <p:tgtEl>
                              <p:spTgt spid="10"/>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3"/>
                            </p:tgtEl>
                            <p:attrNameLst>
                              <p:attrName>style.visibility</p:attrName>
                            </p:attrNameLst>
                          </p:cBhvr>
                          <p:to>
                            <p:strVal val="visible"/>
                          </p:to>
                        </p:set>
                        <p:anim calcmode="lin" valueType="num">
                          <p:cBhvr additive="base">
                            <p:cTn id="142" dur="600" fill="hold"/>
                            <p:tgtEl>
                              <p:spTgt spid="13"/>
                            </p:tgtEl>
                            <p:attrNameLst>
                              <p:attrName>style.opacity</p:attrName>
                            </p:attrNameLst>
                          </p:cBhvr>
                          <p:tavLst>
                            <p:tav tm="0">
                              <p:val>
                                <p:fltVal val="0"/>
                              </p:val>
                            </p:tav>
                            <p:tav tm="100000">
                              <p:val>
                                <p:fltVal val="1"/>
                              </p:val>
                            </p:tav>
                          </p:tavLst>
                        </p:anim>
                      </p:childTnLst>
                    </p:cTn>
                  </p:par>
                  <p:par>
                    <p:cTn id="150" presetID="10" presetClass="entr" presetSubtype="0" fill="hold" grpId="0" nodeType="afterEffect">
                      <p:stCondLst>
                        <p:cond delay="350"/>
                      </p:stCondLst>
                      <p:childTnLst>
                        <p:set>
                          <p:cBhvr>
                            <p:cTn id="151" dur="1" fill="hold">
                              <p:stCondLst>
                                <p:cond delay="0"/>
                              </p:stCondLst>
                            </p:cTn>
                            <p:tgtEl>
                              <p:spTgt spid="9"/>
                            </p:tgtEl>
                            <p:attrNameLst>
                              <p:attrName>style.visibility</p:attrName>
                            </p:attrNameLst>
                          </p:cBhvr>
                          <p:to>
                            <p:strVal val="visible"/>
                          </p:to>
                        </p:set>
                        <p:anim calcmode="lin" valueType="num">
                          <p:cBhvr additive="base">
                            <p:cTn id="152" dur="600" fill="hold"/>
                            <p:tgtEl>
                              <p:spTgt spid="9"/>
                            </p:tgtEl>
                            <p:attrNameLst>
                              <p:attrName>style.opacity</p:attrName>
                            </p:attrNameLst>
                          </p:cBhvr>
                          <p:tavLst>
                            <p:tav tm="0">
                              <p:val>
                                <p:fltVal val="0"/>
                              </p:val>
                            </p:tav>
                            <p:tav tm="100000">
                              <p:val>
                                <p:fltVal val="1"/>
                              </p:val>
                            </p:tav>
                          </p:tavLst>
                        </p:anim>
                      </p:childTnLst>
                    </p:cTn>
                  </p:par>
                  <p:par>
                    <p:cTn id="160" presetID="10" presetClass="entr" presetSubtype="0" fill="hold" grpId="0" nodeType="afterEffect">
                      <p:stCondLst>
                        <p:cond delay="350"/>
                      </p:stCondLst>
                      <p:childTnLst>
                        <p:set>
                          <p:cBhvr>
                            <p:cTn id="161" dur="1" fill="hold">
                              <p:stCondLst>
                                <p:cond delay="0"/>
                              </p:stCondLst>
                            </p:cTn>
                            <p:tgtEl>
                              <p:spTgt spid="12"/>
                            </p:tgtEl>
                            <p:attrNameLst>
                              <p:attrName>style.visibility</p:attrName>
                            </p:attrNameLst>
                          </p:cBhvr>
                          <p:to>
                            <p:strVal val="visible"/>
                          </p:to>
                        </p:set>
                        <p:anim calcmode="lin" valueType="num">
                          <p:cBhvr additive="base">
                            <p:cTn id="162" dur="600" fill="hold"/>
                            <p:tgtEl>
                              <p:spTgt spid="12"/>
                            </p:tgtEl>
                            <p:attrNameLst>
                              <p:attrName>style.opacity</p:attrName>
                            </p:attrNameLst>
                          </p:cBhvr>
                          <p:tavLst>
                            <p:tav tm="0">
                              <p:val>
                                <p:fltVal val="0"/>
                              </p:val>
                            </p:tav>
                            <p:tav tm="100000">
                              <p:val>
                                <p:fltVal val="1"/>
                              </p:val>
                            </p:tav>
                          </p:tavLst>
                        </p:anim>
                      </p:childTnLst>
                    </p:cTn>
                  </p:par>
                  <p:par>
                    <p:cTn id="170" presetID="10" presetClass="entr" presetSubtype="0" fill="hold" grpId="0" nodeType="afterEffect">
                      <p:stCondLst>
                        <p:cond delay="350"/>
                      </p:stCondLst>
                      <p:childTnLst>
                        <p:set>
                          <p:cBhvr>
                            <p:cTn id="171" dur="1" fill="hold">
                              <p:stCondLst>
                                <p:cond delay="0"/>
                              </p:stCondLst>
                            </p:cTn>
                            <p:tgtEl>
                              <p:spTgt spid="15"/>
                            </p:tgtEl>
                            <p:attrNameLst>
                              <p:attrName>style.visibility</p:attrName>
                            </p:attrNameLst>
                          </p:cBhvr>
                          <p:to>
                            <p:strVal val="visible"/>
                          </p:to>
                        </p:set>
                        <p:anim calcmode="lin" valueType="num">
                          <p:cBhvr additive="base">
                            <p:cTn id="172" dur="600" fill="hold"/>
                            <p:tgtEl>
                              <p:spTgt spid="15"/>
                            </p:tgtEl>
                            <p:attrNameLst>
                              <p:attrName>style.opacity</p:attrName>
                            </p:attrNameLst>
                          </p:cBhvr>
                          <p:tavLst>
                            <p:tav tm="0">
                              <p:val>
                                <p:fltVal val="0"/>
                              </p:val>
                            </p:tav>
                            <p:tav tm="100000">
                              <p:val>
                                <p:fltVal val="1"/>
                              </p:val>
                            </p:tav>
                          </p:tavLst>
                        </p:anim>
                      </p:childTnLst>
                    </p:cTn>
                  </p:par>
                  <p:par>
                    <p:cTn id="180" presetID="10" presetClass="entr" presetSubtype="0" fill="hold" grpId="0" nodeType="afterEffect">
                      <p:stCondLst>
                        <p:cond delay="350"/>
                      </p:stCondLst>
                      <p:childTnLst>
                        <p:set>
                          <p:cBhvr>
                            <p:cTn id="181" dur="1" fill="hold">
                              <p:stCondLst>
                                <p:cond delay="0"/>
                              </p:stCondLst>
                            </p:cTn>
                            <p:tgtEl>
                              <p:spTgt spid="16"/>
                            </p:tgtEl>
                            <p:attrNameLst>
                              <p:attrName>style.visibility</p:attrName>
                            </p:attrNameLst>
                          </p:cBhvr>
                          <p:to>
                            <p:strVal val="visible"/>
                          </p:to>
                        </p:set>
                        <p:anim calcmode="lin" valueType="num">
                          <p:cBhvr additive="base">
                            <p:cTn id="182" dur="600" fill="hold"/>
                            <p:tgtEl>
                              <p:spTgt spid="16"/>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P spid="13" grpId="0"/>
      <p:bldP spid="9" grpId="0"/>
      <p:bldP spid="12" grpId="0"/>
      <p:bldP spid="15" grpId="0"/>
      <p:bldP spid="16" grpId="0"/>
    </p:bldLst>
  </p:timing>
  <mc:AlternateContent xmlns:mc="http://schemas.openxmlformats.org/markup-compatibility/2006">
    <mc:Choice xmlns:p14="http://schemas.microsoft.com/office/powerpoint/2010/main" Requires="p14">
      <p:transition spd="med" p14:dur="1100">
        <p14:ferris dir="l"/>
      </p:transition>
    </mc:Choice>
    <mc:Fallback>
      <p:transition spd="med">
        <p:wheel spokes="1"/>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3657600"/>
            <a:ext cx="6400800" cy="5486400"/>
          </a:xfrm>
          <a:prstGeom prst="ellipse">
            <a:avLst/>
          </a:prstGeom>
          <a:solidFill>
            <a:srgbClr val="CFEF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1828800"/>
            <a:ext cx="5486400" cy="4572000"/>
          </a:xfrm>
          <a:prstGeom prst="ellipse">
            <a:avLst/>
          </a:prstGeom>
          <a:solidFill>
            <a:srgbClr val="FFD9E8">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15600" y="5029200"/>
            <a:ext cx="3657600" cy="3657600"/>
          </a:xfrm>
          <a:prstGeom prst="ellipse">
            <a:avLst/>
          </a:prstGeom>
          <a:solidFill>
            <a:srgbClr val="FFF7C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
            <a:ext cx="7315200" cy="365760"/>
          </a:xfrm>
          <a:prstGeom prst="rect">
            <a:avLst/>
          </a:prstGeom>
          <a:noFill/>
        </p:spPr>
        <p:txBody>
          <a:bodyPr wrap="square" lIns="0" rIns="0" tIns="0" bIns="0" anchor="t">
            <a:spAutoFit/>
          </a:bodyPr>
          <a:lstStyle/>
          <a:p>
            <a:pPr algn="l">
              <a:lnSpc>
                <a:spcPct val="115000"/>
              </a:lnSpc>
            </a:pPr>
            <a:r>
              <a:rPr sz="1300" b="1">
                <a:solidFill>
                  <a:srgbClr val="4C9AFF"/>
                </a:solidFill>
                <a:latin typeface="Helvetica Neue"/>
              </a:rPr>
              <a:t>10  ·  FAZIT</a:t>
            </a:r>
          </a:p>
        </p:txBody>
      </p:sp>
      <p:sp>
        <p:nvSpPr>
          <p:cNvPr id="7" name="TextBox 6"/>
          <p:cNvSpPr txBox="1"/>
          <p:nvPr/>
        </p:nvSpPr>
        <p:spPr>
          <a:xfrm>
            <a:off x="731520" y="1005840"/>
            <a:ext cx="10515600" cy="1463040"/>
          </a:xfrm>
          <a:prstGeom prst="rect">
            <a:avLst/>
          </a:prstGeom>
          <a:noFill/>
        </p:spPr>
        <p:txBody>
          <a:bodyPr wrap="square" lIns="0" rIns="0" tIns="0" bIns="0" anchor="t">
            <a:spAutoFit/>
          </a:bodyPr>
          <a:lstStyle/>
          <a:p>
            <a:pPr algn="l">
              <a:lnSpc>
                <a:spcPct val="105000"/>
              </a:lnSpc>
            </a:pPr>
            <a:r>
              <a:rPr sz="4000" b="1">
                <a:solidFill>
                  <a:srgbClr val="2B2D42"/>
                </a:solidFill>
                <a:latin typeface="Helvetica Neue"/>
              </a:rPr>
              <a:t>Schule beeinflusst mehr als nur Noten.</a:t>
            </a:r>
          </a:p>
        </p:txBody>
      </p:sp>
      <p:sp>
        <p:nvSpPr>
          <p:cNvPr id="8" name="Rounded Rectangle 7"/>
          <p:cNvSpPr/>
          <p:nvPr/>
        </p:nvSpPr>
        <p:spPr>
          <a:xfrm>
            <a:off x="731520" y="2834640"/>
            <a:ext cx="7863840" cy="713232"/>
          </a:xfrm>
          <a:prstGeom prst="roundRect">
            <a:avLst>
              <a:gd name="adj" fmla="val 45000"/>
            </a:avLst>
          </a:prstGeom>
          <a:solidFill>
            <a:srgbClr val="CFEFFF"/>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34640"/>
            <a:ext cx="731520" cy="713232"/>
          </a:xfrm>
          <a:prstGeom prst="rect">
            <a:avLst/>
          </a:prstGeom>
          <a:noFill/>
        </p:spPr>
        <p:txBody>
          <a:bodyPr wrap="square" lIns="0" rIns="0" tIns="0" bIns="0" anchor="ctr">
            <a:spAutoFit/>
          </a:bodyPr>
          <a:lstStyle/>
          <a:p>
            <a:pPr algn="ctr">
              <a:lnSpc>
                <a:spcPct val="115000"/>
              </a:lnSpc>
            </a:pPr>
            <a:r>
              <a:rPr sz="2200" b="1">
                <a:solidFill>
                  <a:srgbClr val="2C6BA8"/>
                </a:solidFill>
                <a:latin typeface="Helvetica Neue"/>
              </a:rPr>
              <a:t>✓</a:t>
            </a:r>
          </a:p>
        </p:txBody>
      </p:sp>
      <p:sp>
        <p:nvSpPr>
          <p:cNvPr id="10" name="TextBox 9"/>
          <p:cNvSpPr txBox="1"/>
          <p:nvPr/>
        </p:nvSpPr>
        <p:spPr>
          <a:xfrm>
            <a:off x="1645920" y="2834640"/>
            <a:ext cx="6400800" cy="713232"/>
          </a:xfrm>
          <a:prstGeom prst="rect">
            <a:avLst/>
          </a:prstGeom>
          <a:noFill/>
        </p:spPr>
        <p:txBody>
          <a:bodyPr wrap="square" lIns="0" rIns="0" tIns="0" bIns="0" anchor="ctr">
            <a:spAutoFit/>
          </a:bodyPr>
          <a:lstStyle/>
          <a:p>
            <a:pPr algn="l">
              <a:lnSpc>
                <a:spcPct val="115000"/>
              </a:lnSpc>
            </a:pPr>
            <a:r>
              <a:rPr sz="1700" b="0">
                <a:solidFill>
                  <a:srgbClr val="2B2D42"/>
                </a:solidFill>
                <a:latin typeface="Helvetica Neue"/>
              </a:rPr>
              <a:t>Strukturen wirken auf das Wohlbefinden.</a:t>
            </a:r>
          </a:p>
        </p:txBody>
      </p:sp>
      <p:sp>
        <p:nvSpPr>
          <p:cNvPr id="11" name="Rounded Rectangle 10"/>
          <p:cNvSpPr/>
          <p:nvPr/>
        </p:nvSpPr>
        <p:spPr>
          <a:xfrm>
            <a:off x="731520" y="3703320"/>
            <a:ext cx="7863840" cy="713232"/>
          </a:xfrm>
          <a:prstGeom prst="roundRect">
            <a:avLst>
              <a:gd name="adj" fmla="val 45000"/>
            </a:avLst>
          </a:prstGeom>
          <a:solidFill>
            <a:srgbClr val="FFD9E8"/>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03320"/>
            <a:ext cx="731520" cy="713232"/>
          </a:xfrm>
          <a:prstGeom prst="rect">
            <a:avLst/>
          </a:prstGeom>
          <a:noFill/>
        </p:spPr>
        <p:txBody>
          <a:bodyPr wrap="square" lIns="0" rIns="0" tIns="0" bIns="0" anchor="ctr">
            <a:spAutoFit/>
          </a:bodyPr>
          <a:lstStyle/>
          <a:p>
            <a:pPr algn="ctr">
              <a:lnSpc>
                <a:spcPct val="115000"/>
              </a:lnSpc>
            </a:pPr>
            <a:r>
              <a:rPr sz="2200" b="1">
                <a:solidFill>
                  <a:srgbClr val="D64F8B"/>
                </a:solidFill>
                <a:latin typeface="Helvetica Neue"/>
              </a:rPr>
              <a:t>✓</a:t>
            </a:r>
          </a:p>
        </p:txBody>
      </p:sp>
      <p:sp>
        <p:nvSpPr>
          <p:cNvPr id="13" name="TextBox 12"/>
          <p:cNvSpPr txBox="1"/>
          <p:nvPr/>
        </p:nvSpPr>
        <p:spPr>
          <a:xfrm>
            <a:off x="1645920" y="3703320"/>
            <a:ext cx="6400800" cy="713232"/>
          </a:xfrm>
          <a:prstGeom prst="rect">
            <a:avLst/>
          </a:prstGeom>
          <a:noFill/>
        </p:spPr>
        <p:txBody>
          <a:bodyPr wrap="square" lIns="0" rIns="0" tIns="0" bIns="0" anchor="ctr">
            <a:spAutoFit/>
          </a:bodyPr>
          <a:lstStyle/>
          <a:p>
            <a:pPr algn="l">
              <a:lnSpc>
                <a:spcPct val="115000"/>
              </a:lnSpc>
            </a:pPr>
            <a:r>
              <a:rPr sz="1700" b="0">
                <a:solidFill>
                  <a:srgbClr val="2B2D42"/>
                </a:solidFill>
                <a:latin typeface="Helvetica Neue"/>
              </a:rPr>
              <a:t>Leistungsdruck und Schulklima sind zentral.</a:t>
            </a:r>
          </a:p>
        </p:txBody>
      </p:sp>
      <p:sp>
        <p:nvSpPr>
          <p:cNvPr id="14" name="Rounded Rectangle 13"/>
          <p:cNvSpPr/>
          <p:nvPr/>
        </p:nvSpPr>
        <p:spPr>
          <a:xfrm>
            <a:off x="731520" y="4572000"/>
            <a:ext cx="7863840" cy="713232"/>
          </a:xfrm>
          <a:prstGeom prst="roundRect">
            <a:avLst>
              <a:gd name="adj" fmla="val 45000"/>
            </a:avLst>
          </a:prstGeom>
          <a:solidFill>
            <a:srgbClr val="FFF7C7"/>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572000"/>
            <a:ext cx="731520" cy="713232"/>
          </a:xfrm>
          <a:prstGeom prst="rect">
            <a:avLst/>
          </a:prstGeom>
          <a:noFill/>
        </p:spPr>
        <p:txBody>
          <a:bodyPr wrap="square" lIns="0" rIns="0" tIns="0" bIns="0" anchor="ctr">
            <a:spAutoFit/>
          </a:bodyPr>
          <a:lstStyle/>
          <a:p>
            <a:pPr algn="ctr">
              <a:lnSpc>
                <a:spcPct val="115000"/>
              </a:lnSpc>
            </a:pPr>
            <a:r>
              <a:rPr sz="2200" b="1">
                <a:solidFill>
                  <a:srgbClr val="B88E1F"/>
                </a:solidFill>
                <a:latin typeface="Helvetica Neue"/>
              </a:rPr>
              <a:t>✓</a:t>
            </a:r>
          </a:p>
        </p:txBody>
      </p:sp>
      <p:sp>
        <p:nvSpPr>
          <p:cNvPr id="16" name="TextBox 15"/>
          <p:cNvSpPr txBox="1"/>
          <p:nvPr/>
        </p:nvSpPr>
        <p:spPr>
          <a:xfrm>
            <a:off x="1645920" y="4572000"/>
            <a:ext cx="6400800" cy="713232"/>
          </a:xfrm>
          <a:prstGeom prst="rect">
            <a:avLst/>
          </a:prstGeom>
          <a:noFill/>
        </p:spPr>
        <p:txBody>
          <a:bodyPr wrap="square" lIns="0" rIns="0" tIns="0" bIns="0" anchor="ctr">
            <a:spAutoFit/>
          </a:bodyPr>
          <a:lstStyle/>
          <a:p>
            <a:pPr algn="l">
              <a:lnSpc>
                <a:spcPct val="115000"/>
              </a:lnSpc>
            </a:pPr>
            <a:r>
              <a:rPr sz="1700" b="0">
                <a:solidFill>
                  <a:srgbClr val="2B2D42"/>
                </a:solidFill>
                <a:latin typeface="Helvetica Neue"/>
              </a:rPr>
              <a:t>Reformen können Bildung und Glück verbinden.</a:t>
            </a:r>
          </a:p>
        </p:txBody>
      </p:sp>
      <p:sp>
        <p:nvSpPr>
          <p:cNvPr id="17" name="Rounded Rectangle 16"/>
          <p:cNvSpPr/>
          <p:nvPr/>
        </p:nvSpPr>
        <p:spPr>
          <a:xfrm>
            <a:off x="731520" y="5852160"/>
            <a:ext cx="7863840" cy="777240"/>
          </a:xfrm>
          <a:prstGeom prst="roundRect">
            <a:avLst>
              <a:gd name="adj" fmla="val 40000"/>
            </a:avLst>
          </a:prstGeom>
          <a:solidFill>
            <a:srgbClr val="2B2D42"/>
          </a:solidFill>
          <a:ln>
            <a:no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852160"/>
            <a:ext cx="7863840" cy="777240"/>
          </a:xfrm>
          <a:prstGeom prst="rect">
            <a:avLst/>
          </a:prstGeom>
          <a:noFill/>
        </p:spPr>
        <p:txBody>
          <a:bodyPr wrap="square" lIns="0" rIns="0" tIns="0" bIns="0" anchor="ctr">
            <a:spAutoFit/>
          </a:bodyPr>
          <a:lstStyle/>
          <a:p>
            <a:pPr algn="ctr">
              <a:lnSpc>
                <a:spcPct val="115000"/>
              </a:lnSpc>
            </a:pPr>
            <a:r>
              <a:rPr sz="2200" b="1">
                <a:solidFill>
                  <a:srgbClr val="FFFFFF"/>
                </a:solidFill>
                <a:latin typeface="Helvetica Neue"/>
              </a:rPr>
              <a:t>Danke für eure Aufmerksamkeit ✨</a:t>
            </a:r>
          </a:p>
        </p:txBody>
      </p:sp>
      <p:sp>
        <p:nvSpPr>
          <p:cNvPr id="19" name="Isosceles Triangle 18"/>
          <p:cNvSpPr/>
          <p:nvPr/>
        </p:nvSpPr>
        <p:spPr>
          <a:xfrm>
            <a:off x="9116568" y="3017520"/>
            <a:ext cx="2615184" cy="832103"/>
          </a:xfrm>
          <a:prstGeom prst="triangle">
            <a:avLst/>
          </a:prstGeom>
          <a:solidFill>
            <a:srgbClr val="D6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94876" y="3849624"/>
            <a:ext cx="2258568" cy="1426464"/>
          </a:xfrm>
          <a:prstGeom prst="roundRect">
            <a:avLst>
              <a:gd name="adj" fmla="val 5000"/>
            </a:avLst>
          </a:prstGeom>
          <a:solidFill>
            <a:srgbClr val="FFFFFF"/>
          </a:solidFill>
          <a:ln w="9525">
            <a:solidFill>
              <a:srgbClr val="2C6BA8"/>
            </a:solidFill>
          </a:ln>
          <a:effectLst>
            <a:outerShdw blurRad="63500" dist="254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86416" y="2601468"/>
            <a:ext cx="475488" cy="534924"/>
          </a:xfrm>
          <a:prstGeom prst="roundRect">
            <a:avLst>
              <a:gd name="adj" fmla="val 20000"/>
            </a:avLst>
          </a:prstGeom>
          <a:solidFill>
            <a:srgbClr val="FFF7C7"/>
          </a:solidFill>
          <a:ln w="9525">
            <a:solidFill>
              <a:srgbClr val="2C6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56698" y="4681728"/>
            <a:ext cx="534924" cy="594360"/>
          </a:xfrm>
          <a:prstGeom prst="roundRect">
            <a:avLst>
              <a:gd name="adj" fmla="val 12000"/>
            </a:avLst>
          </a:prstGeom>
          <a:solidFill>
            <a:srgbClr val="CFEFFF"/>
          </a:solidFill>
          <a:ln w="9525">
            <a:solidFill>
              <a:srgbClr val="2C6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81210" y="4087368"/>
            <a:ext cx="445770" cy="386334"/>
          </a:xfrm>
          <a:prstGeom prst="roundRect">
            <a:avLst>
              <a:gd name="adj" fmla="val 18000"/>
            </a:avLst>
          </a:prstGeom>
          <a:solidFill>
            <a:srgbClr val="FFF7C7"/>
          </a:solidFill>
          <a:ln w="9525">
            <a:solidFill>
              <a:srgbClr val="2C6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721340" y="4087368"/>
            <a:ext cx="445770" cy="386334"/>
          </a:xfrm>
          <a:prstGeom prst="roundRect">
            <a:avLst>
              <a:gd name="adj" fmla="val 18000"/>
            </a:avLst>
          </a:prstGeom>
          <a:solidFill>
            <a:srgbClr val="FFF7C7"/>
          </a:solidFill>
          <a:ln w="9525">
            <a:solidFill>
              <a:srgbClr val="2C6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612880" y="2720340"/>
            <a:ext cx="445770" cy="445770"/>
          </a:xfrm>
          <a:prstGeom prst="ellipse">
            <a:avLst/>
          </a:prstGeom>
          <a:solidFill>
            <a:srgbClr val="B88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18320" y="5074920"/>
            <a:ext cx="352044" cy="352044"/>
          </a:xfrm>
          <a:prstGeom prst="ellipse">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93174" y="5401818"/>
            <a:ext cx="402336" cy="553212"/>
          </a:xfrm>
          <a:prstGeom prst="roundRect">
            <a:avLst>
              <a:gd name="adj" fmla="val 35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845" y="5200650"/>
            <a:ext cx="35204" cy="35204"/>
          </a:xfrm>
          <a:prstGeom prst="ellipse">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44634" y="5200650"/>
            <a:ext cx="35204" cy="35204"/>
          </a:xfrm>
          <a:prstGeom prst="ellipse">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528962" y="5276088"/>
            <a:ext cx="130759" cy="80467"/>
          </a:xfrm>
          <a:prstGeom prst="ellipse">
            <a:avLst/>
          </a:prstGeom>
          <a:solidFill>
            <a:srgbClr val="D6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247120" y="5074920"/>
            <a:ext cx="352044" cy="352044"/>
          </a:xfrm>
          <a:prstGeom prst="ellipse">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221974" y="5401818"/>
            <a:ext cx="402336" cy="553212"/>
          </a:xfrm>
          <a:prstGeom prst="roundRect">
            <a:avLst>
              <a:gd name="adj" fmla="val 35000"/>
            </a:avLst>
          </a:prstGeom>
          <a:solidFill>
            <a:srgbClr val="D6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337645" y="5200650"/>
            <a:ext cx="35204" cy="35204"/>
          </a:xfrm>
          <a:prstGeom prst="ellipse">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473434" y="5200650"/>
            <a:ext cx="35204" cy="35204"/>
          </a:xfrm>
          <a:prstGeom prst="ellipse">
            <a:avLst/>
          </a:prstGeom>
          <a:solidFill>
            <a:srgbClr val="2B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357762" y="5276088"/>
            <a:ext cx="130759" cy="80467"/>
          </a:xfrm>
          <a:prstGeom prst="ellipse">
            <a:avLst/>
          </a:prstGeom>
          <a:solidFill>
            <a:srgbClr val="D6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6"/>
                            </p:tgtEl>
                            <p:attrNameLst>
                              <p:attrName>style.visibility</p:attrName>
                            </p:attrNameLst>
                          </p:cBhvr>
                          <p:to>
                            <p:strVal val="visible"/>
                          </p:to>
                        </p:set>
                        <p:anim calcmode="lin" valueType="num">
                          <p:cBhvr additive="base">
                            <p:cTn id="102" dur="600" fill="hold"/>
                            <p:tgtEl>
                              <p:spTgt spid="6"/>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350"/>
                      </p:stCondLst>
                      <p:childTnLst>
                        <p:set>
                          <p:cBhvr>
                            <p:cTn id="111" dur="1" fill="hold">
                              <p:stCondLst>
                                <p:cond delay="0"/>
                              </p:stCondLst>
                            </p:cTn>
                            <p:tgtEl>
                              <p:spTgt spid="7"/>
                            </p:tgtEl>
                            <p:attrNameLst>
                              <p:attrName>style.visibility</p:attrName>
                            </p:attrNameLst>
                          </p:cBhvr>
                          <p:to>
                            <p:strVal val="visible"/>
                          </p:to>
                        </p:set>
                        <p:anim calcmode="lin" valueType="num">
                          <p:cBhvr additive="base">
                            <p:cTn id="112" dur="600" fill="hold"/>
                            <p:tgtEl>
                              <p:spTgt spid="7"/>
                            </p:tgtEl>
                            <p:attrNameLst>
                              <p:attrName>style.opacity</p:attrName>
                            </p:attrNameLst>
                          </p:cBhvr>
                          <p:tavLst>
                            <p:tav tm="0">
                              <p:val>
                                <p:fltVal val="0"/>
                              </p:val>
                            </p:tav>
                            <p:tav tm="100000">
                              <p:val>
                                <p:fltVal val="1"/>
                              </p:val>
                            </p:tav>
                          </p:tavLst>
                        </p:anim>
                      </p:childTnLst>
                    </p:cTn>
                  </p:par>
                  <p:par>
                    <p:cTn id="120" presetID="10" presetClass="entr" presetSubtype="0" fill="hold" grpId="0" nodeType="afterEffect">
                      <p:stCondLst>
                        <p:cond delay="350"/>
                      </p:stCondLst>
                      <p:childTnLst>
                        <p:set>
                          <p:cBhvr>
                            <p:cTn id="121" dur="1" fill="hold">
                              <p:stCondLst>
                                <p:cond delay="0"/>
                              </p:stCondLst>
                            </p:cTn>
                            <p:tgtEl>
                              <p:spTgt spid="8"/>
                            </p:tgtEl>
                            <p:attrNameLst>
                              <p:attrName>style.visibility</p:attrName>
                            </p:attrNameLst>
                          </p:cBhvr>
                          <p:to>
                            <p:strVal val="visible"/>
                          </p:to>
                        </p:set>
                        <p:anim calcmode="lin" valueType="num">
                          <p:cBhvr additive="base">
                            <p:cTn id="122" dur="600" fill="hold"/>
                            <p:tgtEl>
                              <p:spTgt spid="8"/>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350"/>
                      </p:stCondLst>
                      <p:childTnLst>
                        <p:set>
                          <p:cBhvr>
                            <p:cTn id="131" dur="1" fill="hold">
                              <p:stCondLst>
                                <p:cond delay="0"/>
                              </p:stCondLst>
                            </p:cTn>
                            <p:tgtEl>
                              <p:spTgt spid="11"/>
                            </p:tgtEl>
                            <p:attrNameLst>
                              <p:attrName>style.visibility</p:attrName>
                            </p:attrNameLst>
                          </p:cBhvr>
                          <p:to>
                            <p:strVal val="visible"/>
                          </p:to>
                        </p:set>
                        <p:anim calcmode="lin" valueType="num">
                          <p:cBhvr additive="base">
                            <p:cTn id="132" dur="600" fill="hold"/>
                            <p:tgtEl>
                              <p:spTgt spid="11"/>
                            </p:tgtEl>
                            <p:attrNameLst>
                              <p:attrName>style.opacity</p:attrName>
                            </p:attrNameLst>
                          </p:cBhvr>
                          <p:tavLst>
                            <p:tav tm="0">
                              <p:val>
                                <p:fltVal val="0"/>
                              </p:val>
                            </p:tav>
                            <p:tav tm="100000">
                              <p:val>
                                <p:fltVal val="1"/>
                              </p:val>
                            </p:tav>
                          </p:tavLst>
                        </p:anim>
                      </p:childTnLst>
                    </p:cTn>
                  </p:par>
                  <p:par>
                    <p:cTn id="140" presetID="10" presetClass="entr" presetSubtype="0" fill="hold" grpId="0" nodeType="afterEffect">
                      <p:stCondLst>
                        <p:cond delay="350"/>
                      </p:stCondLst>
                      <p:childTnLst>
                        <p:set>
                          <p:cBhvr>
                            <p:cTn id="141" dur="1" fill="hold">
                              <p:stCondLst>
                                <p:cond delay="0"/>
                              </p:stCondLst>
                            </p:cTn>
                            <p:tgtEl>
                              <p:spTgt spid="14"/>
                            </p:tgtEl>
                            <p:attrNameLst>
                              <p:attrName>style.visibility</p:attrName>
                            </p:attrNameLst>
                          </p:cBhvr>
                          <p:to>
                            <p:strVal val="visible"/>
                          </p:to>
                        </p:set>
                        <p:anim calcmode="lin" valueType="num">
                          <p:cBhvr additive="base">
                            <p:cTn id="142" dur="600" fill="hold"/>
                            <p:tgtEl>
                              <p:spTgt spid="14"/>
                            </p:tgtEl>
                            <p:attrNameLst>
                              <p:attrName>style.opacity</p:attrName>
                            </p:attrNameLst>
                          </p:cBhvr>
                          <p:tavLst>
                            <p:tav tm="0">
                              <p:val>
                                <p:fltVal val="0"/>
                              </p:val>
                            </p:tav>
                            <p:tav tm="100000">
                              <p:val>
                                <p:fltVal val="1"/>
                              </p:val>
                            </p:tav>
                          </p:tavLst>
                        </p:anim>
                      </p:childTnLst>
                    </p:cTn>
                  </p:par>
                  <p:par>
                    <p:cTn id="150" presetID="10" presetClass="entr" presetSubtype="0" fill="hold" grpId="0" nodeType="afterEffect">
                      <p:stCondLst>
                        <p:cond delay="350"/>
                      </p:stCondLst>
                      <p:childTnLst>
                        <p:set>
                          <p:cBhvr>
                            <p:cTn id="151" dur="1" fill="hold">
                              <p:stCondLst>
                                <p:cond delay="0"/>
                              </p:stCondLst>
                            </p:cTn>
                            <p:tgtEl>
                              <p:spTgt spid="17"/>
                            </p:tgtEl>
                            <p:attrNameLst>
                              <p:attrName>style.visibility</p:attrName>
                            </p:attrNameLst>
                          </p:cBhvr>
                          <p:to>
                            <p:strVal val="visible"/>
                          </p:to>
                        </p:set>
                        <p:anim calcmode="lin" valueType="num">
                          <p:cBhvr additive="base">
                            <p:cTn id="152" dur="600" fill="hold"/>
                            <p:tgtEl>
                              <p:spTgt spid="17"/>
                            </p:tgtEl>
                            <p:attrNameLst>
                              <p:attrName>style.opacity</p:attrName>
                            </p:attrNameLst>
                          </p:cBhvr>
                          <p:tavLst>
                            <p:tav tm="0">
                              <p:val>
                                <p:fltVal val="0"/>
                              </p:val>
                            </p:tav>
                            <p:tav tm="100000">
                              <p:val>
                                <p:fltVal val="1"/>
                              </p:val>
                            </p:tav>
                          </p:tavLst>
                        </p:anim>
                      </p:childTnLst>
                    </p:cTn>
                  </p:par>
                  <p:par>
                    <p:cTn id="160" presetID="10" presetClass="entr" presetSubtype="0" fill="hold" grpId="0" nodeType="afterEffect">
                      <p:stCondLst>
                        <p:cond delay="350"/>
                      </p:stCondLst>
                      <p:childTnLst>
                        <p:set>
                          <p:cBhvr>
                            <p:cTn id="161" dur="1" fill="hold">
                              <p:stCondLst>
                                <p:cond delay="0"/>
                              </p:stCondLst>
                            </p:cTn>
                            <p:tgtEl>
                              <p:spTgt spid="18"/>
                            </p:tgtEl>
                            <p:attrNameLst>
                              <p:attrName>style.visibility</p:attrName>
                            </p:attrNameLst>
                          </p:cBhvr>
                          <p:to>
                            <p:strVal val="visible"/>
                          </p:to>
                        </p:set>
                        <p:anim calcmode="lin" valueType="num">
                          <p:cBhvr additive="base">
                            <p:cTn id="162" dur="600" fill="hold"/>
                            <p:tgtEl>
                              <p:spTgt spid="18"/>
                            </p:tgtEl>
                            <p:attrNameLst>
                              <p:attrName>style.opacity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1" grpId="0"/>
      <p:bldP spid="14" grpId="0"/>
      <p:bldP spid="17" grpId="0"/>
      <p:bldP spid="18" grpId="0"/>
    </p:bldLst>
  </p:timing>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