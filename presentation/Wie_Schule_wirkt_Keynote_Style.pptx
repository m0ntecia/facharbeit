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Ich beginne mit der Grundidee meiner Facharbeit: Schule ist nicht nur ein Ort, an dem Wissen vermittelt und Leistungen bewertet werden. Sie ist auch ein Lebensraum, in dem Schülerinnen und Schüler einen großen Teil ihres Alltags verbringen. Deshalb wirkt Schule auf Motivation, Selbstwertgefühl und Zukunftsperspektiven. In meiner Arbeit untersuche ich, wie strukturelle Unterschiede im deutschen Schulsystem mit dem Wohlbefinden zusammenhängen. Dabei geht es nicht darum, Schule grundsätzlich schlechtzureden, sondern die Spannung zwischen Bildungsauftrag und Lebensrealität sichtbar zu machen. Von dieser Ausgangsidee führt die nächste Folie zur Frage, warum das Thema gerade im Seminarfachkurs Glück wichtig 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Relevanz des Themas ergibt sich daraus, dass Schule den Alltag junger Menschen stark prägt. In der Facharbeit wird Schule als Institution beschrieben, die Wissen vermittelt, aber gleichzeitig auch bewertet, vergleicht und selektiert. Damit hängen Bildungswege und Zukunftschancen eng mit schulischen Erfahrungen zusammen. Zugleich wird in der Arbeit auf die öffentliche Diskussion über Leistungsdruck, psychische Belastungen und Praxisnähe verwiesen. Für einen Kurs zum Thema Glück ist daran besonders interessant: Wohlbefinden ist nicht nur ein privates Gefühl, sondern ein Bestandteil gelingender Bildung. Daraus entsteht die Leitfrage, die den weiteren Vortrag strukturiert.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die Leitfrage verständlich wird, klärt die Facharbeit zunächst drei Grundlagen. Mit Strukturmerkmalen sind Rahmenbedingungen gemeint, zum Beispiel Schulformen, das Notensystem, Versetzungen und Abschlüsse. Wohlbefinden meint nicht nur gute Laune, sondern psychische Gesundheit, soziale Beziehungen und Lebenszufriedenheit im schulischen Kontext. Bildungsgerechtigkeit beschreibt faire Chancen unabhängig von der sozialen Herkunft. Diese drei Bereiche hängen zusammen: Strukturen können Bildungswege öffnen oder begrenzen, und sie können beeinflussen, ob Schülerinnen und Schüler Schule als unterstützend oder belastend erleben. Im nächsten Schritt schaue ich deshalb auf das deutsche Schulsystem selbst.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deutsche Schulsystem ist durch Mehrgliedrigkeit geprägt. Die Facharbeit beschreibt, dass Schülerinnen und Schüler nach der Grundschule in verschiedene Schulformen wechseln. Das Gymnasium zielt auf das Abitur und akademische Bildungswege, ist aber auch mit hohen Leistungsanforderungen verbunden. Die Realschule verbindet allgemeine Bildung mit stärkerem Praxisbezug. Die Hauptschule war traditionell auf berufliche Wege ausgerichtet, wird aber in der Arbeit auch mit Stigmatisierung und veränderten Strukturen in den Bundesländern verbunden. Gesamtschulen ermöglichen längeres gemeinsames Lernen, und berufliche Schulen sind wichtig für das duale Ausbildungssystem. Auf dieser Grundlage wird verständlich, wo Leistungsdruck und Selektion im Alltag entstehen.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zentraler Zusammenhang der Facharbeit ist der zwischen Leistungsdruck und Wohlbefinden. Leistungsdruck entsteht vor allem durch Noten, Prüfungen, Konkurrenz und Erwartungen von Eltern, Lehrkräften oder der Gesellschaft. Die Arbeit betont, dass Leistungsanforderungen nicht grundsätzlich negativ sind: Sie können Orientierung geben und Motivation fördern. Problematisch wird es aber, wenn Anforderungen als dauerhaft belastend erlebt werden. Dann können Stress, Schlafprobleme, Unsicherheit und ein geringeres Selbstwertgefühl entstehen. Besonders wichtig ist dabei die subjektive Wahrnehmung: dieselbe Anforderung kann für manche motivierend und für andere überfordernd sein. Danach geht es um den Bereich, der Belastungen abfedern kann: das Schulklima.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Neben Leistung spielt das Schulklima eine entscheidende Rolle. Die Facharbeit beschreibt Schulklima als Qualität der Beziehungen, Atmosphäre, Sicherheit und Zugehörigkeit. Ein positives Lehrer-Schüler-Verhältnis kann Stress reduzieren, weil Schülerinnen und Schüler sich ernst genommen und unterstützt fühlen. Mitbestimmung stärkt das Gefühl, nicht nur Objekt von Entscheidungen zu sein, sondern die eigene Schule mitgestalten zu können. Feedbackkultur bedeutet, dass Rückmeldungen nicht nur aus Noten bestehen, sondern auch Lernfortschritte und Stärken sichtbar machen. So wird Lernen stärker als Entwicklung verstanden. Nach diesen inhaltlichen Punkten beziehe ich kurz das Publikum ein.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dieser Stelle eignet sich eine kurze Umfrage, weil das Thema nicht abstrakt bleiben soll. Ich frage: Was beeinflusst euer Wohlbefinden in der Schule am stärksten? Die vier Antworten greifen zentrale Bereiche der Facharbeit auf: Notendruck steht für Leistungsbewertung und Prüfungsstress, Lehrkräfte für das Lehrer-Schüler-Verhältnis, Mitschüler für soziale Beziehungen und Zeitstress für die Belastung durch schulische Anforderungen. Nach dem Handzeichen kann man kurz sichtbar machen, dass es vermutlich unterschiedliche Antworten gibt. Genau das passt zur Facharbeit: Wohlbefinden entsteht nicht aus einem einzelnen Faktor, sondern aus dem Zusammenspiel von Struktur, Leistung und Schulklima. Damit öffnet sich der Blick zum internationalen Vergleich.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internationale Vergleich hilft, das deutsche System einzuordnen. Die Facharbeit nennt Deutschland als Beispiel für frühe Aufteilung und eine starke Rolle von Noten und Prüfungen. Finnland steht für längeres gemeinsames Lernen und eine spätere Leistungsdifferenzierung. Außerdem werden dort individuelle Lernfortschritte und qualitative Rückmeldungen stärker betont, besonders in frühen Schuljahren. Angelsächsische Systeme werden in der Arbeit als stärker durch Gesamtschulen, Wahlmöglichkeiten, Projektorientierung und praktische Anwendungen geprägt beschrieben. Wichtig ist aber: Die Facharbeit behauptet nicht, dass ein System perfekt ist. Jedes Bildungssystem hat eigene Herausforderungen. Der Vergleich zeigt vor allem, dass Strukturentscheidungen unterschiedlich gestaltet werden können.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 der Analyse ergibt sich eine ausgewogene Bewertung. Zu den Stärken des deutschen Bildungssystems zählt die Facharbeit verschiedene Bildungswege. Diese können theoretisch passende Lernumgebungen und unterschiedliche Perspektiven ermöglichen. Außerdem wird das duale Ausbildungssystem hervorgehoben, weil es schulisches Lernen mit praktischer Ausbildung in Betrieben verbindet. Auch hohe akademische Standards, besonders im Gymnasium, werden als Stärke genannt. Gleichzeitig gibt es Schwächen: die frühe Selektion nach der Grundschule, Leistungsdruck durch Noten und Prüfungen sowie soziale Ungleichheiten. Diese Schwächen sind für die Leitfrage wichtig, weil sie direkt mit Wohlbefinden und Bildungsgerechtigkeit zusammenhängen. Daraus ergeben sich mögliche Reformansätze.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Facharbeit diskutiert drei Reformansätze. Erstens könnten mehr Lebenskompetenzen in den Unterricht integriert werden. Dazu gehören zum Beispiel finanzielle Grundbildung, Medienkompetenz und praktische Alltagsfähigkeiten, also Inhalte mit stärkerem Bezug zum späteren Leben. Zweitens wird eine spätere Leistungsdifferenzierung genannt. Wenn Schülerinnen und Schüler länger gemeinsam lernen, hätten sie mehr Zeit, Fähigkeiten zu entwickeln und fundiertere Bildungsentscheidungen zu treffen. Drittens geht es um alternative Bewertungsformen: ausführliches Lernfeedback, Portfolioarbeit oder projektbasierte Bewertung können Lernprozesse stärker sichtbar machen. Diese Ansätze lösen nicht alle Probleme automatisch, zeigen aber, wie Bildung und Wohlbefinden stärker zusammengedacht werden könnten.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Schluss lässt sich die Leitfrage so beantworten: Schule beeinflusst mehr als nur Noten. Die Facharbeit zeigt, dass Strukturen wie Schulformen, frühe Differenzierung, Notensystem und Übergangsentscheidungen auf Lernbedingungen und Wohlbefinden wirken können. Leistungsdruck und Schulklima spielen dabei eine zentrale Rolle. Noten und Prüfungen können Orientierung geben, aber auch Stress und Unsicherheit verstärken. Gleichzeitig können unterstützende Beziehungen, Mitbestimmung und gute Feedbackkultur Wohlbefinden fördern. Reformen könnten daher versuchen, Bildung und Glück stärker miteinander zu verbinden: nicht als Gegensatz zu Leistung, sondern als Voraussetzung dafür, dass Lernen langfristig gelingen kann. Damit danke ich euch für eure Aufmerksamkeit.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 y="-914400"/>
            <a:ext cx="3840480" cy="274320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5120640"/>
            <a:ext cx="3017520" cy="21945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713232"/>
            <a:ext cx="6309360" cy="658368"/>
          </a:xfrm>
          <a:prstGeom prst="rect">
            <a:avLst/>
          </a:prstGeom>
          <a:noFill/>
        </p:spPr>
        <p:txBody>
          <a:bodyPr wrap="none" lIns="45720" rIns="45720" anchor="t">
            <a:spAutoFit/>
          </a:bodyPr>
          <a:lstStyle/>
          <a:p>
            <a:pPr algn="l"/>
            <a:r>
              <a:rPr sz="4600" b="1">
                <a:solidFill>
                  <a:srgbClr val="36383D"/>
                </a:solidFill>
                <a:latin typeface="Aptos Display"/>
              </a:rPr>
              <a:t>Wie Schule wirkt:</a:t>
            </a:r>
          </a:p>
        </p:txBody>
      </p:sp>
      <p:sp>
        <p:nvSpPr>
          <p:cNvPr id="5" name="TextBox 4"/>
          <p:cNvSpPr txBox="1"/>
          <p:nvPr/>
        </p:nvSpPr>
        <p:spPr>
          <a:xfrm>
            <a:off x="694944" y="1444752"/>
            <a:ext cx="6080760" cy="1143000"/>
          </a:xfrm>
          <a:prstGeom prst="rect">
            <a:avLst/>
          </a:prstGeom>
          <a:noFill/>
        </p:spPr>
        <p:txBody>
          <a:bodyPr wrap="none" lIns="45720" rIns="45720" anchor="t">
            <a:spAutoFit/>
          </a:bodyPr>
          <a:lstStyle/>
          <a:p>
            <a:pPr algn="l"/>
            <a:r>
              <a:rPr sz="2700" b="1">
                <a:solidFill>
                  <a:srgbClr val="36383D"/>
                </a:solidFill>
                <a:latin typeface="Aptos Display"/>
              </a:rPr>
              <a:t>Strukturelle Unterschiede und ihr Effekt auf das Wohlbefinden von Schülerinnen und Schülern</a:t>
            </a:r>
          </a:p>
        </p:txBody>
      </p:sp>
      <p:sp>
        <p:nvSpPr>
          <p:cNvPr id="6" name="Rounded Rectangle 5"/>
          <p:cNvSpPr/>
          <p:nvPr/>
        </p:nvSpPr>
        <p:spPr>
          <a:xfrm>
            <a:off x="768096" y="2916936"/>
            <a:ext cx="2423160" cy="438912"/>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2852928"/>
            <a:ext cx="2423160" cy="438912"/>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962656"/>
            <a:ext cx="2103120" cy="201168"/>
          </a:xfrm>
          <a:prstGeom prst="rect">
            <a:avLst/>
          </a:prstGeom>
          <a:noFill/>
        </p:spPr>
        <p:txBody>
          <a:bodyPr wrap="none" lIns="45720" rIns="45720" anchor="t">
            <a:spAutoFit/>
          </a:bodyPr>
          <a:lstStyle/>
          <a:p>
            <a:pPr algn="ctr"/>
            <a:r>
              <a:rPr sz="1700" b="1">
                <a:solidFill>
                  <a:srgbClr val="36383D"/>
                </a:solidFill>
                <a:latin typeface="Aptos"/>
              </a:rPr>
              <a:t>Seminarfachkurs Glück</a:t>
            </a:r>
          </a:p>
        </p:txBody>
      </p:sp>
      <p:sp>
        <p:nvSpPr>
          <p:cNvPr id="9" name="Rounded Rectangle 8"/>
          <p:cNvSpPr/>
          <p:nvPr/>
        </p:nvSpPr>
        <p:spPr>
          <a:xfrm>
            <a:off x="7781544" y="1755648"/>
            <a:ext cx="2971800" cy="201168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26679" y="1691639"/>
            <a:ext cx="2971800" cy="2011680"/>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sosceles Triangle 10"/>
          <p:cNvSpPr/>
          <p:nvPr/>
        </p:nvSpPr>
        <p:spPr>
          <a:xfrm>
            <a:off x="8001000" y="1051560"/>
            <a:ext cx="2423160" cy="1005840"/>
          </a:xfrm>
          <a:prstGeom prst="triangle">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19972" y="2953512"/>
            <a:ext cx="585216"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10727" y="1984248"/>
            <a:ext cx="347472" cy="256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732519" y="1984248"/>
            <a:ext cx="347472" cy="256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354311" y="1984248"/>
            <a:ext cx="347472" cy="256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76104" y="1984248"/>
            <a:ext cx="347472" cy="256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10727" y="2496312"/>
            <a:ext cx="347472" cy="256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732519" y="2496312"/>
            <a:ext cx="347472" cy="256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354311" y="2496312"/>
            <a:ext cx="347472" cy="256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976104" y="2496312"/>
            <a:ext cx="347472" cy="256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41080" y="1737360"/>
            <a:ext cx="1143000" cy="274320"/>
          </a:xfrm>
          <a:prstGeom prst="rect">
            <a:avLst/>
          </a:prstGeom>
          <a:noFill/>
        </p:spPr>
        <p:txBody>
          <a:bodyPr wrap="none" lIns="45720" rIns="45720" anchor="t">
            <a:spAutoFit/>
          </a:bodyPr>
          <a:lstStyle/>
          <a:p>
            <a:pPr algn="ctr"/>
            <a:r>
              <a:rPr sz="1300" b="1">
                <a:solidFill>
                  <a:srgbClr val="36383D"/>
                </a:solidFill>
                <a:latin typeface="Aptos"/>
              </a:rPr>
              <a:t>SCHULE</a:t>
            </a:r>
          </a:p>
        </p:txBody>
      </p:sp>
      <p:sp>
        <p:nvSpPr>
          <p:cNvPr id="22" name="Oval 21"/>
          <p:cNvSpPr/>
          <p:nvPr/>
        </p:nvSpPr>
        <p:spPr>
          <a:xfrm>
            <a:off x="7315200" y="4096512"/>
            <a:ext cx="422452" cy="422452"/>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85024" y="4503877"/>
            <a:ext cx="482803" cy="678942"/>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435900" y="4247388"/>
            <a:ext cx="37719" cy="37719"/>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86776" y="4247388"/>
            <a:ext cx="37719" cy="37719"/>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7450988" y="4368088"/>
            <a:ext cx="181051" cy="0"/>
          </a:xfrm>
          <a:prstGeom prst="line">
            <a:avLst/>
          </a:prstGeom>
          <a:ln w="15240">
            <a:solidFill>
              <a:srgbClr val="36383D"/>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961120" y="3977639"/>
            <a:ext cx="371246" cy="371246"/>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34602" y="4335627"/>
            <a:ext cx="424281" cy="596646"/>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067190" y="4110227"/>
            <a:ext cx="33147" cy="33147"/>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99778" y="4110227"/>
            <a:ext cx="33147" cy="33147"/>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flipV="1">
            <a:off x="9080449" y="4216298"/>
            <a:ext cx="159105" cy="26518"/>
          </a:xfrm>
          <a:prstGeom prst="line">
            <a:avLst/>
          </a:prstGeom>
          <a:ln w="15240">
            <a:solidFill>
              <a:srgbClr val="36383D"/>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rot="20700000">
            <a:off x="9305848" y="3871569"/>
            <a:ext cx="238658" cy="238658"/>
          </a:xfrm>
          <a:prstGeom prst="rect">
            <a:avLst/>
          </a:prstGeom>
          <a:noFill/>
        </p:spPr>
        <p:txBody>
          <a:bodyPr wrap="none" lIns="45720" rIns="45720" anchor="t">
            <a:spAutoFit/>
          </a:bodyPr>
          <a:lstStyle/>
          <a:p>
            <a:pPr algn="l"/>
            <a:r>
              <a:rPr sz="1884" b="1">
                <a:solidFill>
                  <a:srgbClr val="FFD9E8"/>
                </a:solidFill>
                <a:latin typeface="Aptos"/>
              </a:rPr>
              <a:t>!</a:t>
            </a:r>
          </a:p>
        </p:txBody>
      </p:sp>
      <p:sp>
        <p:nvSpPr>
          <p:cNvPr id="33" name="Oval 32"/>
          <p:cNvSpPr/>
          <p:nvPr/>
        </p:nvSpPr>
        <p:spPr>
          <a:xfrm>
            <a:off x="10104120" y="4251960"/>
            <a:ext cx="320040" cy="32004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081260" y="4560570"/>
            <a:ext cx="365760" cy="514350"/>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195560" y="4366260"/>
            <a:ext cx="28575" cy="28575"/>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309860" y="4366260"/>
            <a:ext cx="28575" cy="28575"/>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10206990" y="4457700"/>
            <a:ext cx="137160" cy="0"/>
          </a:xfrm>
          <a:prstGeom prst="line">
            <a:avLst/>
          </a:prstGeom>
          <a:ln w="15240">
            <a:solidFill>
              <a:srgbClr val="3638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resetID="10" presetClass="entr" presetSubtype="0" nodeType="clickEffect">
                      <p:stCondLst>
                        <p:cond delay="0"/>
                      </p:stCondLst>
                      <p:childTnLst>
                        <p:animEffect transition="in" filter="fade">
                          <p:cBhvr>
                            <p:cTn id="4" dur="450" fill="hold"/>
                            <p:tgtEl>
                              <p:spTgt spid="4"/>
                            </p:tgtEl>
                          </p:cBhvr>
                        </p:animEffect>
                      </p:childTnLst>
                    </p:cTn>
                  </p:par>
                  <p:par>
                    <p:cTn id="5" fill="hold" presetID="10" presetClass="entr" presetSubtype="0" nodeType="afterEffect">
                      <p:stCondLst>
                        <p:cond delay="250"/>
                      </p:stCondLst>
                      <p:childTnLst>
                        <p:animEffect transition="in" filter="fade">
                          <p:cBhvr>
                            <p:cTn id="6" dur="450" fill="hold"/>
                            <p:tgtEl>
                              <p:spTgt spid="5"/>
                            </p:tgtEl>
                          </p:cBhvr>
                        </p:animEffect>
                      </p:childTnLst>
                    </p:cTn>
                  </p:par>
                  <p:par>
                    <p:cTn id="7" fill="hold" presetID="10" presetClass="entr" presetSubtype="0" nodeType="afterEffect">
                      <p:stCondLst>
                        <p:cond delay="250"/>
                      </p:stCondLst>
                      <p:childTnLst>
                        <p:animEffect transition="in" filter="fade">
                          <p:cBhvr>
                            <p:cTn id="8" dur="450" fill="hold"/>
                            <p:tgtEl>
                              <p:spTgt spid="8"/>
                            </p:tgtEl>
                          </p:cBhvr>
                        </p:animEffect>
                      </p:childTnLst>
                    </p:cTn>
                  </p:par>
                </p:childTnLst>
              </p:cTn>
            </p:seq>
          </p:childTnLst>
        </p:cTn>
      </p:par>
    </p:tnLst>
    <p:bldLst>
      <p:bldP spid="4" grpId="0" build="allAtOnce"/>
      <p:bldP spid="5" grpId="0" build="allAtOnce"/>
      <p:bldP spid="8" grpId="0" build="allAtOnce"/>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 y="-914400"/>
            <a:ext cx="3840480" cy="2743200"/>
          </a:xfrm>
          <a:prstGeom prst="ellipse">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5120640"/>
            <a:ext cx="3017520" cy="21945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132320" cy="640080"/>
          </a:xfrm>
          <a:prstGeom prst="rect">
            <a:avLst/>
          </a:prstGeom>
          <a:noFill/>
        </p:spPr>
        <p:txBody>
          <a:bodyPr wrap="none" lIns="45720" rIns="45720" anchor="t">
            <a:spAutoFit/>
          </a:bodyPr>
          <a:lstStyle/>
          <a:p>
            <a:pPr algn="l"/>
            <a:r>
              <a:rPr sz="4200" b="1">
                <a:solidFill>
                  <a:srgbClr val="36383D"/>
                </a:solidFill>
                <a:latin typeface="Aptos Display"/>
              </a:rPr>
              <a:t>Warum ist das Thema wichtig?</a:t>
            </a:r>
          </a:p>
        </p:txBody>
      </p:sp>
      <p:sp>
        <p:nvSpPr>
          <p:cNvPr id="5" name="TextBox 4"/>
          <p:cNvSpPr txBox="1"/>
          <p:nvPr/>
        </p:nvSpPr>
        <p:spPr>
          <a:xfrm>
            <a:off x="640080" y="1252728"/>
            <a:ext cx="7132320" cy="320040"/>
          </a:xfrm>
          <a:prstGeom prst="rect">
            <a:avLst/>
          </a:prstGeom>
          <a:noFill/>
        </p:spPr>
        <p:txBody>
          <a:bodyPr wrap="none" lIns="45720" rIns="45720" anchor="t">
            <a:spAutoFit/>
          </a:bodyPr>
          <a:lstStyle/>
          <a:p>
            <a:pPr algn="l"/>
            <a:r>
              <a:rPr sz="1800" b="0">
                <a:solidFill>
                  <a:srgbClr val="6E7278"/>
                </a:solidFill>
                <a:latin typeface="Aptos"/>
              </a:rPr>
              <a:t>Schule zwischen Bildungsauftrag und Lebensrealität</a:t>
            </a:r>
          </a:p>
        </p:txBody>
      </p:sp>
      <p:cxnSp>
        <p:nvCxnSpPr>
          <p:cNvPr id="6" name="Connector 5"/>
          <p:cNvCxnSpPr/>
          <p:nvPr/>
        </p:nvCxnSpPr>
        <p:spPr>
          <a:xfrm>
            <a:off x="9464040" y="1371600"/>
            <a:ext cx="0" cy="1737360"/>
          </a:xfrm>
          <a:prstGeom prst="line">
            <a:avLst/>
          </a:prstGeom>
          <a:ln w="25400">
            <a:solidFill>
              <a:srgbClr val="3638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321040" y="1572768"/>
            <a:ext cx="2286000" cy="0"/>
          </a:xfrm>
          <a:prstGeom prst="line">
            <a:avLst/>
          </a:prstGeom>
          <a:ln w="25400">
            <a:solidFill>
              <a:srgbClr val="3638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8257031" y="1572768"/>
            <a:ext cx="246889" cy="576072"/>
          </a:xfrm>
          <a:prstGeom prst="line">
            <a:avLst/>
          </a:prstGeom>
          <a:ln w="16510">
            <a:solidFill>
              <a:srgbClr val="6E72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915400" y="1572768"/>
            <a:ext cx="246888" cy="576072"/>
          </a:xfrm>
          <a:prstGeom prst="line">
            <a:avLst/>
          </a:prstGeom>
          <a:ln w="16510">
            <a:solidFill>
              <a:srgbClr val="6E72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9756648" y="1572768"/>
            <a:ext cx="256032" cy="576072"/>
          </a:xfrm>
          <a:prstGeom prst="line">
            <a:avLst/>
          </a:prstGeom>
          <a:ln w="16510">
            <a:solidFill>
              <a:srgbClr val="6E72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424160" y="1572768"/>
            <a:ext cx="246888" cy="576072"/>
          </a:xfrm>
          <a:prstGeom prst="line">
            <a:avLst/>
          </a:prstGeom>
          <a:ln w="16510">
            <a:solidFill>
              <a:srgbClr val="6E7278"/>
            </a:solidFill>
          </a:ln>
        </p:spPr>
        <p:style>
          <a:lnRef idx="2">
            <a:schemeClr val="accent1"/>
          </a:lnRef>
          <a:fillRef idx="0">
            <a:schemeClr val="accent1"/>
          </a:fillRef>
          <a:effectRef idx="1">
            <a:schemeClr val="accent1"/>
          </a:effectRef>
          <a:fontRef idx="minor">
            <a:schemeClr val="tx1"/>
          </a:fontRef>
        </p:style>
      </p:cxnSp>
      <p:sp>
        <p:nvSpPr>
          <p:cNvPr id="12" name="Arc 11"/>
          <p:cNvSpPr/>
          <p:nvPr/>
        </p:nvSpPr>
        <p:spPr>
          <a:xfrm>
            <a:off x="8165592" y="1920240"/>
            <a:ext cx="1115568" cy="566928"/>
          </a:xfrm>
          <a:prstGeom prst="arc">
            <a:avLst/>
          </a:prstGeom>
          <a:ln w="25400">
            <a:solidFill>
              <a:srgbClr val="3638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9646920" y="1920240"/>
            <a:ext cx="1115568" cy="566928"/>
          </a:xfrm>
          <a:prstGeom prst="arc">
            <a:avLst/>
          </a:prstGeom>
          <a:ln w="25400">
            <a:solidFill>
              <a:srgbClr val="3638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514600"/>
            <a:ext cx="1463040" cy="320040"/>
          </a:xfrm>
          <a:prstGeom prst="rect">
            <a:avLst/>
          </a:prstGeom>
          <a:noFill/>
        </p:spPr>
        <p:txBody>
          <a:bodyPr wrap="none" lIns="45720" rIns="45720" anchor="t">
            <a:spAutoFit/>
          </a:bodyPr>
          <a:lstStyle/>
          <a:p>
            <a:pPr algn="ctr"/>
            <a:r>
              <a:rPr sz="1600" b="1">
                <a:solidFill>
                  <a:srgbClr val="36383D"/>
                </a:solidFill>
                <a:latin typeface="Aptos"/>
              </a:rPr>
              <a:t>Bildung</a:t>
            </a:r>
          </a:p>
        </p:txBody>
      </p:sp>
      <p:sp>
        <p:nvSpPr>
          <p:cNvPr id="15" name="TextBox 14"/>
          <p:cNvSpPr txBox="1"/>
          <p:nvPr/>
        </p:nvSpPr>
        <p:spPr>
          <a:xfrm>
            <a:off x="9573768" y="2514600"/>
            <a:ext cx="1463040" cy="320040"/>
          </a:xfrm>
          <a:prstGeom prst="rect">
            <a:avLst/>
          </a:prstGeom>
          <a:noFill/>
        </p:spPr>
        <p:txBody>
          <a:bodyPr wrap="none" lIns="45720" rIns="45720" anchor="t">
            <a:spAutoFit/>
          </a:bodyPr>
          <a:lstStyle/>
          <a:p>
            <a:pPr algn="ctr"/>
            <a:r>
              <a:rPr sz="1600" b="1">
                <a:solidFill>
                  <a:srgbClr val="36383D"/>
                </a:solidFill>
                <a:latin typeface="Aptos"/>
              </a:rPr>
              <a:t>Wohlbefinden</a:t>
            </a:r>
          </a:p>
        </p:txBody>
      </p:sp>
      <p:sp>
        <p:nvSpPr>
          <p:cNvPr id="16" name="TextBox 15"/>
          <p:cNvSpPr txBox="1"/>
          <p:nvPr/>
        </p:nvSpPr>
        <p:spPr>
          <a:xfrm>
            <a:off x="804672" y="1901952"/>
            <a:ext cx="4754880" cy="2103120"/>
          </a:xfrm>
          <a:prstGeom prst="rect">
            <a:avLst/>
          </a:prstGeom>
          <a:noFill/>
        </p:spPr>
        <p:txBody>
          <a:bodyPr wrap="none" lIns="73152" rIns="73152" tIns="18288" bIns="18288">
            <a:spAutoFit/>
          </a:bodyPr>
          <a:lstStyle/>
          <a:p>
            <a:pPr marL="228600" indent="-127000">
              <a:spcAft>
                <a:spcPts val="880"/>
              </a:spcAft>
              <a:defRPr sz="2500">
                <a:solidFill>
                  <a:srgbClr val="36383D"/>
                </a:solidFill>
                <a:latin typeface="Aptos"/>
              </a:defRPr>
              <a:buChar char="•"/>
            </a:pPr>
            <a:r>
              <a:t>Schule prägt Alltag</a:t>
            </a:r>
          </a:p>
          <a:p>
            <a:pPr marL="228600" indent="-127000">
              <a:spcAft>
                <a:spcPts val="880"/>
              </a:spcAft>
              <a:defRPr sz="2500">
                <a:solidFill>
                  <a:srgbClr val="36383D"/>
                </a:solidFill>
                <a:latin typeface="Aptos"/>
              </a:defRPr>
              <a:buChar char="•"/>
            </a:pPr>
            <a:r>
              <a:t>Leistungsdruck nimmt zu</a:t>
            </a:r>
          </a:p>
          <a:p>
            <a:pPr marL="228600" indent="-127000">
              <a:spcAft>
                <a:spcPts val="880"/>
              </a:spcAft>
              <a:defRPr sz="2500">
                <a:solidFill>
                  <a:srgbClr val="36383D"/>
                </a:solidFill>
                <a:latin typeface="Aptos"/>
              </a:defRPr>
              <a:buChar char="•"/>
            </a:pPr>
            <a:r>
              <a:t>Bildung beeinflusst Zukunft</a:t>
            </a:r>
          </a:p>
          <a:p>
            <a:pPr marL="228600" indent="-127000">
              <a:spcAft>
                <a:spcPts val="880"/>
              </a:spcAft>
              <a:defRPr sz="2500">
                <a:solidFill>
                  <a:srgbClr val="36383D"/>
                </a:solidFill>
                <a:latin typeface="Aptos"/>
              </a:defRPr>
              <a:buChar char="•"/>
            </a:pPr>
            <a:r>
              <a:t>Wohlbefinden gehört zu erfolgreicher Bildung</a:t>
            </a:r>
          </a:p>
        </p:txBody>
      </p:sp>
      <p:sp>
        <p:nvSpPr>
          <p:cNvPr id="17" name="Rounded Rectangle 16"/>
          <p:cNvSpPr/>
          <p:nvPr/>
        </p:nvSpPr>
        <p:spPr>
          <a:xfrm>
            <a:off x="768096" y="4864608"/>
            <a:ext cx="10789920" cy="96012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3232" y="4800600"/>
            <a:ext cx="10789920" cy="960120"/>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020056"/>
            <a:ext cx="10241280" cy="502920"/>
          </a:xfrm>
          <a:prstGeom prst="rect">
            <a:avLst/>
          </a:prstGeom>
          <a:noFill/>
        </p:spPr>
        <p:txBody>
          <a:bodyPr wrap="none" lIns="45720" rIns="45720" anchor="t">
            <a:spAutoFit/>
          </a:bodyPr>
          <a:lstStyle/>
          <a:p>
            <a:pPr algn="ctr"/>
            <a:r>
              <a:rPr sz="2200" b="1">
                <a:solidFill>
                  <a:srgbClr val="36383D"/>
                </a:solidFill>
                <a:latin typeface="Aptos"/>
              </a:rPr>
              <a:t>Inwiefern beeinflussen strukturelle Unterschiede im deutschen Schulsystem das Wohlbefinden von Schülerinnen und Schülern?</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resetID="10" presetClass="entr" presetSubtype="0" nodeType="clickEffect">
                      <p:stCondLst>
                        <p:cond delay="0"/>
                      </p:stCondLst>
                      <p:childTnLst>
                        <p:animEffect transition="in" filter="fade">
                          <p:cBhvr>
                            <p:cTn id="4" dur="450" fill="hold"/>
                            <p:tgtEl>
                              <p:spTgt spid="4"/>
                            </p:tgtEl>
                          </p:cBhvr>
                        </p:animEffect>
                      </p:childTnLst>
                    </p:cTn>
                  </p:par>
                  <p:par>
                    <p:cTn id="5" fill="hold" presetID="10" presetClass="entr" presetSubtype="0" nodeType="afterEffect">
                      <p:stCondLst>
                        <p:cond delay="250"/>
                      </p:stCondLst>
                      <p:childTnLst>
                        <p:animEffect transition="in" filter="fade">
                          <p:cBhvr>
                            <p:cTn id="6" dur="450" fill="hold"/>
                            <p:tgtEl>
                              <p:spTgt spid="5"/>
                            </p:tgtEl>
                          </p:cBhvr>
                        </p:animEffect>
                      </p:childTnLst>
                    </p:cTn>
                  </p:par>
                  <p:par>
                    <p:cTn id="7" fill="hold" presetID="10" presetClass="entr" presetSubtype="0" nodeType="afterEffect">
                      <p:stCondLst>
                        <p:cond delay="250"/>
                      </p:stCondLst>
                      <p:childTnLst>
                        <p:animEffect transition="in" filter="fade">
                          <p:cBhvr>
                            <p:cTn id="8" dur="450" fill="hold"/>
                            <p:tgtEl>
                              <p:spTgt spid="16"/>
                            </p:tgtEl>
                          </p:cBhvr>
                        </p:animEffect>
                      </p:childTnLst>
                    </p:cTn>
                  </p:par>
                  <p:par>
                    <p:cTn id="9" fill="hold" presetID="10" presetClass="entr" presetSubtype="0" nodeType="afterEffect">
                      <p:stCondLst>
                        <p:cond delay="250"/>
                      </p:stCondLst>
                      <p:childTnLst>
                        <p:animEffect transition="in" filter="fade">
                          <p:cBhvr>
                            <p:cTn id="10" dur="450" fill="hold"/>
                            <p:tgtEl>
                              <p:spTgt spid="19"/>
                            </p:tgtEl>
                          </p:cBhvr>
                        </p:animEffect>
                      </p:childTnLst>
                    </p:cTn>
                  </p:par>
                </p:childTnLst>
              </p:cTn>
            </p:seq>
          </p:childTnLst>
        </p:cTn>
      </p:par>
    </p:tnLst>
    <p:bldLst>
      <p:bldP spid="4" grpId="0" build="allAtOnce"/>
      <p:bldP spid="5" grpId="0" build="allAtOnce"/>
      <p:bldP spid="16" grpId="0" build="allAtOnce"/>
      <p:bldP spid="19" grpId="0" build="allAtOnce"/>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 y="-914400"/>
            <a:ext cx="3840480" cy="274320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5120640"/>
            <a:ext cx="3017520" cy="21945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132320" cy="640080"/>
          </a:xfrm>
          <a:prstGeom prst="rect">
            <a:avLst/>
          </a:prstGeom>
          <a:noFill/>
        </p:spPr>
        <p:txBody>
          <a:bodyPr wrap="none" lIns="45720" rIns="45720" anchor="t">
            <a:spAutoFit/>
          </a:bodyPr>
          <a:lstStyle/>
          <a:p>
            <a:pPr algn="l"/>
            <a:r>
              <a:rPr sz="4200" b="1">
                <a:solidFill>
                  <a:srgbClr val="36383D"/>
                </a:solidFill>
                <a:latin typeface="Aptos Display"/>
              </a:rPr>
              <a:t>Grundlagen</a:t>
            </a:r>
          </a:p>
        </p:txBody>
      </p:sp>
      <p:sp>
        <p:nvSpPr>
          <p:cNvPr id="5" name="TextBox 4"/>
          <p:cNvSpPr txBox="1"/>
          <p:nvPr/>
        </p:nvSpPr>
        <p:spPr>
          <a:xfrm>
            <a:off x="640080" y="1252728"/>
            <a:ext cx="7132320" cy="320040"/>
          </a:xfrm>
          <a:prstGeom prst="rect">
            <a:avLst/>
          </a:prstGeom>
          <a:noFill/>
        </p:spPr>
        <p:txBody>
          <a:bodyPr wrap="none" lIns="45720" rIns="45720" anchor="t">
            <a:spAutoFit/>
          </a:bodyPr>
          <a:lstStyle/>
          <a:p>
            <a:pPr algn="l"/>
            <a:r>
              <a:rPr sz="1800" b="0">
                <a:solidFill>
                  <a:srgbClr val="6E7278"/>
                </a:solidFill>
                <a:latin typeface="Aptos"/>
              </a:rPr>
              <a:t>Drei Begriffe verbinden Struktur und Glück</a:t>
            </a:r>
          </a:p>
        </p:txBody>
      </p:sp>
      <p:sp>
        <p:nvSpPr>
          <p:cNvPr id="6" name="Rounded Rectangle 5"/>
          <p:cNvSpPr/>
          <p:nvPr/>
        </p:nvSpPr>
        <p:spPr>
          <a:xfrm>
            <a:off x="4764024" y="2670048"/>
            <a:ext cx="1965960" cy="73152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09160" y="2606040"/>
            <a:ext cx="196596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19472" y="2816352"/>
            <a:ext cx="1536192" cy="292608"/>
          </a:xfrm>
          <a:prstGeom prst="rect">
            <a:avLst/>
          </a:prstGeom>
          <a:noFill/>
        </p:spPr>
        <p:txBody>
          <a:bodyPr wrap="none" lIns="45720" rIns="45720" anchor="t">
            <a:spAutoFit/>
          </a:bodyPr>
          <a:lstStyle/>
          <a:p>
            <a:pPr algn="ctr"/>
            <a:r>
              <a:rPr sz="2800" b="1">
                <a:solidFill>
                  <a:srgbClr val="36383D"/>
                </a:solidFill>
                <a:latin typeface="Aptos"/>
              </a:rPr>
              <a:t>Schule</a:t>
            </a:r>
          </a:p>
        </p:txBody>
      </p:sp>
      <p:sp>
        <p:nvSpPr>
          <p:cNvPr id="9" name="Rounded Rectangle 8"/>
          <p:cNvSpPr/>
          <p:nvPr/>
        </p:nvSpPr>
        <p:spPr>
          <a:xfrm>
            <a:off x="786384" y="1892807"/>
            <a:ext cx="3291840" cy="141732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828800"/>
            <a:ext cx="3291840" cy="1417320"/>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11680"/>
            <a:ext cx="2834640" cy="256032"/>
          </a:xfrm>
          <a:prstGeom prst="rect">
            <a:avLst/>
          </a:prstGeom>
          <a:noFill/>
        </p:spPr>
        <p:txBody>
          <a:bodyPr wrap="none" lIns="45720" rIns="45720" anchor="t">
            <a:spAutoFit/>
          </a:bodyPr>
          <a:lstStyle/>
          <a:p>
            <a:pPr algn="ctr"/>
            <a:r>
              <a:rPr sz="2100" b="1">
                <a:solidFill>
                  <a:srgbClr val="36383D"/>
                </a:solidFill>
                <a:latin typeface="Aptos"/>
              </a:rPr>
              <a:t>Strukturmerkmale</a:t>
            </a:r>
          </a:p>
        </p:txBody>
      </p:sp>
      <p:sp>
        <p:nvSpPr>
          <p:cNvPr id="12" name="TextBox 11"/>
          <p:cNvSpPr txBox="1"/>
          <p:nvPr/>
        </p:nvSpPr>
        <p:spPr>
          <a:xfrm>
            <a:off x="1078992" y="2441448"/>
            <a:ext cx="2651760" cy="502920"/>
          </a:xfrm>
          <a:prstGeom prst="rect">
            <a:avLst/>
          </a:prstGeom>
          <a:noFill/>
        </p:spPr>
        <p:txBody>
          <a:bodyPr wrap="none" lIns="45720" rIns="45720" anchor="t">
            <a:spAutoFit/>
          </a:bodyPr>
          <a:lstStyle/>
          <a:p>
            <a:pPr algn="ctr"/>
            <a:r>
              <a:rPr sz="1500" b="0">
                <a:solidFill>
                  <a:srgbClr val="36383D"/>
                </a:solidFill>
                <a:latin typeface="Aptos"/>
              </a:rPr>
              <a:t>Schulformen • Notensystem • Versetzungen • Abschlüsse</a:t>
            </a:r>
          </a:p>
        </p:txBody>
      </p:sp>
      <p:cxnSp>
        <p:nvCxnSpPr>
          <p:cNvPr id="13" name="Connector 12"/>
          <p:cNvCxnSpPr/>
          <p:nvPr/>
        </p:nvCxnSpPr>
        <p:spPr>
          <a:xfrm flipH="1" flipV="1">
            <a:off x="2377440" y="2542032"/>
            <a:ext cx="3310128" cy="429768"/>
          </a:xfrm>
          <a:prstGeom prst="line">
            <a:avLst/>
          </a:prstGeom>
          <a:ln w="15240">
            <a:solidFill>
              <a:srgbClr val="6E727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55864" y="1755648"/>
            <a:ext cx="3291840" cy="141732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01000" y="1691640"/>
            <a:ext cx="3291840" cy="1417320"/>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874520"/>
            <a:ext cx="2834640" cy="256032"/>
          </a:xfrm>
          <a:prstGeom prst="rect">
            <a:avLst/>
          </a:prstGeom>
          <a:noFill/>
        </p:spPr>
        <p:txBody>
          <a:bodyPr wrap="none" lIns="45720" rIns="45720" anchor="t">
            <a:spAutoFit/>
          </a:bodyPr>
          <a:lstStyle/>
          <a:p>
            <a:pPr algn="ctr"/>
            <a:r>
              <a:rPr sz="2100" b="1">
                <a:solidFill>
                  <a:srgbClr val="36383D"/>
                </a:solidFill>
                <a:latin typeface="Aptos"/>
              </a:rPr>
              <a:t>Wohlbefinden</a:t>
            </a:r>
          </a:p>
        </p:txBody>
      </p:sp>
      <p:sp>
        <p:nvSpPr>
          <p:cNvPr id="17" name="TextBox 16"/>
          <p:cNvSpPr txBox="1"/>
          <p:nvPr/>
        </p:nvSpPr>
        <p:spPr>
          <a:xfrm>
            <a:off x="8348472" y="2304288"/>
            <a:ext cx="2651760" cy="502920"/>
          </a:xfrm>
          <a:prstGeom prst="rect">
            <a:avLst/>
          </a:prstGeom>
          <a:noFill/>
        </p:spPr>
        <p:txBody>
          <a:bodyPr wrap="none" lIns="45720" rIns="45720" anchor="t">
            <a:spAutoFit/>
          </a:bodyPr>
          <a:lstStyle/>
          <a:p>
            <a:pPr algn="ctr"/>
            <a:r>
              <a:rPr sz="1500" b="0">
                <a:solidFill>
                  <a:srgbClr val="36383D"/>
                </a:solidFill>
                <a:latin typeface="Aptos"/>
              </a:rPr>
              <a:t>psychische Gesundheit • soziale Beziehungen • Lebenszufriedenheit</a:t>
            </a:r>
          </a:p>
        </p:txBody>
      </p:sp>
      <p:cxnSp>
        <p:nvCxnSpPr>
          <p:cNvPr id="18" name="Connector 17"/>
          <p:cNvCxnSpPr/>
          <p:nvPr/>
        </p:nvCxnSpPr>
        <p:spPr>
          <a:xfrm flipV="1">
            <a:off x="5687568" y="2404872"/>
            <a:ext cx="3959352" cy="566928"/>
          </a:xfrm>
          <a:prstGeom prst="line">
            <a:avLst/>
          </a:prstGeom>
          <a:ln w="15240">
            <a:solidFill>
              <a:srgbClr val="6E7278"/>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712463" y="4773168"/>
            <a:ext cx="3291840" cy="141732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57600" y="4709160"/>
            <a:ext cx="3291840" cy="1417320"/>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86200" y="4892040"/>
            <a:ext cx="2834640" cy="256032"/>
          </a:xfrm>
          <a:prstGeom prst="rect">
            <a:avLst/>
          </a:prstGeom>
          <a:noFill/>
        </p:spPr>
        <p:txBody>
          <a:bodyPr wrap="none" lIns="45720" rIns="45720" anchor="t">
            <a:spAutoFit/>
          </a:bodyPr>
          <a:lstStyle/>
          <a:p>
            <a:pPr algn="ctr"/>
            <a:r>
              <a:rPr sz="2100" b="1">
                <a:solidFill>
                  <a:srgbClr val="36383D"/>
                </a:solidFill>
                <a:latin typeface="Aptos"/>
              </a:rPr>
              <a:t>Bildungsgerechtigkeit</a:t>
            </a:r>
          </a:p>
        </p:txBody>
      </p:sp>
      <p:sp>
        <p:nvSpPr>
          <p:cNvPr id="22" name="TextBox 21"/>
          <p:cNvSpPr txBox="1"/>
          <p:nvPr/>
        </p:nvSpPr>
        <p:spPr>
          <a:xfrm>
            <a:off x="4005072" y="5321808"/>
            <a:ext cx="2651760" cy="502920"/>
          </a:xfrm>
          <a:prstGeom prst="rect">
            <a:avLst/>
          </a:prstGeom>
          <a:noFill/>
        </p:spPr>
        <p:txBody>
          <a:bodyPr wrap="none" lIns="45720" rIns="45720" anchor="t">
            <a:spAutoFit/>
          </a:bodyPr>
          <a:lstStyle/>
          <a:p>
            <a:pPr algn="ctr"/>
            <a:r>
              <a:rPr sz="1500" b="0">
                <a:solidFill>
                  <a:srgbClr val="36383D"/>
                </a:solidFill>
                <a:latin typeface="Aptos"/>
              </a:rPr>
              <a:t>faire Chancen • unabhängig von sozialer Herkunft</a:t>
            </a:r>
          </a:p>
        </p:txBody>
      </p:sp>
      <p:cxnSp>
        <p:nvCxnSpPr>
          <p:cNvPr id="23" name="Connector 22"/>
          <p:cNvCxnSpPr/>
          <p:nvPr/>
        </p:nvCxnSpPr>
        <p:spPr>
          <a:xfrm flipH="1">
            <a:off x="5303520" y="2971800"/>
            <a:ext cx="384048" cy="2450592"/>
          </a:xfrm>
          <a:prstGeom prst="line">
            <a:avLst/>
          </a:prstGeom>
          <a:ln w="15240">
            <a:solidFill>
              <a:srgbClr val="6E7278"/>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resetID="10" presetClass="entr" presetSubtype="0" nodeType="clickEffect">
                      <p:stCondLst>
                        <p:cond delay="0"/>
                      </p:stCondLst>
                      <p:childTnLst>
                        <p:animEffect transition="in" filter="fade">
                          <p:cBhvr>
                            <p:cTn id="4" dur="450" fill="hold"/>
                            <p:tgtEl>
                              <p:spTgt spid="4"/>
                            </p:tgtEl>
                          </p:cBhvr>
                        </p:animEffect>
                      </p:childTnLst>
                    </p:cTn>
                  </p:par>
                  <p:par>
                    <p:cTn id="5" fill="hold" presetID="10" presetClass="entr" presetSubtype="0" nodeType="afterEffect">
                      <p:stCondLst>
                        <p:cond delay="250"/>
                      </p:stCondLst>
                      <p:childTnLst>
                        <p:animEffect transition="in" filter="fade">
                          <p:cBhvr>
                            <p:cTn id="6" dur="450" fill="hold"/>
                            <p:tgtEl>
                              <p:spTgt spid="5"/>
                            </p:tgtEl>
                          </p:cBhvr>
                        </p:animEffect>
                      </p:childTnLst>
                    </p:cTn>
                  </p:par>
                  <p:par>
                    <p:cTn id="7" fill="hold" presetID="10" presetClass="entr" presetSubtype="0" nodeType="afterEffect">
                      <p:stCondLst>
                        <p:cond delay="250"/>
                      </p:stCondLst>
                      <p:childTnLst>
                        <p:animEffect transition="in" filter="fade">
                          <p:cBhvr>
                            <p:cTn id="8" dur="450" fill="hold"/>
                            <p:tgtEl>
                              <p:spTgt spid="8"/>
                            </p:tgtEl>
                          </p:cBhvr>
                        </p:animEffect>
                      </p:childTnLst>
                    </p:cTn>
                  </p:par>
                  <p:par>
                    <p:cTn id="9" fill="hold" presetID="10" presetClass="entr" presetSubtype="0" nodeType="afterEffect">
                      <p:stCondLst>
                        <p:cond delay="250"/>
                      </p:stCondLst>
                      <p:childTnLst>
                        <p:animEffect transition="in" filter="fade">
                          <p:cBhvr>
                            <p:cTn id="10" dur="450" fill="hold"/>
                            <p:tgtEl>
                              <p:spTgt spid="11"/>
                            </p:tgtEl>
                          </p:cBhvr>
                        </p:animEffect>
                      </p:childTnLst>
                    </p:cTn>
                  </p:par>
                  <p:par>
                    <p:cTn id="11" fill="hold" presetID="10" presetClass="entr" presetSubtype="0" nodeType="afterEffect">
                      <p:stCondLst>
                        <p:cond delay="250"/>
                      </p:stCondLst>
                      <p:childTnLst>
                        <p:animEffect transition="in" filter="fade">
                          <p:cBhvr>
                            <p:cTn id="12" dur="450" fill="hold"/>
                            <p:tgtEl>
                              <p:spTgt spid="12"/>
                            </p:tgtEl>
                          </p:cBhvr>
                        </p:animEffect>
                      </p:childTnLst>
                    </p:cTn>
                  </p:par>
                  <p:par>
                    <p:cTn id="13" fill="hold" presetID="10" presetClass="entr" presetSubtype="0" nodeType="afterEffect">
                      <p:stCondLst>
                        <p:cond delay="250"/>
                      </p:stCondLst>
                      <p:childTnLst>
                        <p:animEffect transition="in" filter="fade">
                          <p:cBhvr>
                            <p:cTn id="14" dur="450" fill="hold"/>
                            <p:tgtEl>
                              <p:spTgt spid="16"/>
                            </p:tgtEl>
                          </p:cBhvr>
                        </p:animEffect>
                      </p:childTnLst>
                    </p:cTn>
                  </p:par>
                  <p:par>
                    <p:cTn id="15" fill="hold" presetID="10" presetClass="entr" presetSubtype="0" nodeType="afterEffect">
                      <p:stCondLst>
                        <p:cond delay="250"/>
                      </p:stCondLst>
                      <p:childTnLst>
                        <p:animEffect transition="in" filter="fade">
                          <p:cBhvr>
                            <p:cTn id="16" dur="450" fill="hold"/>
                            <p:tgtEl>
                              <p:spTgt spid="17"/>
                            </p:tgtEl>
                          </p:cBhvr>
                        </p:animEffect>
                      </p:childTnLst>
                    </p:cTn>
                  </p:par>
                  <p:par>
                    <p:cTn id="17" fill="hold" presetID="10" presetClass="entr" presetSubtype="0" nodeType="afterEffect">
                      <p:stCondLst>
                        <p:cond delay="250"/>
                      </p:stCondLst>
                      <p:childTnLst>
                        <p:animEffect transition="in" filter="fade">
                          <p:cBhvr>
                            <p:cTn id="18" dur="450" fill="hold"/>
                            <p:tgtEl>
                              <p:spTgt spid="21"/>
                            </p:tgtEl>
                          </p:cBhvr>
                        </p:animEffect>
                      </p:childTnLst>
                    </p:cTn>
                  </p:par>
                  <p:par>
                    <p:cTn id="19" fill="hold" presetID="10" presetClass="entr" presetSubtype="0" nodeType="afterEffect">
                      <p:stCondLst>
                        <p:cond delay="250"/>
                      </p:stCondLst>
                      <p:childTnLst>
                        <p:animEffect transition="in" filter="fade">
                          <p:cBhvr>
                            <p:cTn id="20" dur="450" fill="hold"/>
                            <p:tgtEl>
                              <p:spTgt spid="22"/>
                            </p:tgtEl>
                          </p:cBhvr>
                        </p:animEffect>
                      </p:childTnLst>
                    </p:cTn>
                  </p:par>
                </p:childTnLst>
              </p:cTn>
            </p:seq>
          </p:childTnLst>
        </p:cTn>
      </p:par>
    </p:tnLst>
    <p:bldLst>
      <p:bldP spid="4" grpId="0" build="allAtOnce"/>
      <p:bldP spid="5" grpId="0" build="allAtOnce"/>
      <p:bldP spid="8" grpId="0" build="allAtOnce"/>
      <p:bldP spid="11" grpId="0" build="allAtOnce"/>
      <p:bldP spid="12" grpId="0" build="allAtOnce"/>
      <p:bldP spid="16" grpId="0" build="allAtOnce"/>
      <p:bldP spid="17" grpId="0" build="allAtOnce"/>
      <p:bldP spid="21" grpId="0" build="allAtOnce"/>
      <p:bldP spid="22" grpId="0" build="allAtOnce"/>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 y="-914400"/>
            <a:ext cx="3840480" cy="274320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5120640"/>
            <a:ext cx="3017520" cy="21945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132320" cy="640080"/>
          </a:xfrm>
          <a:prstGeom prst="rect">
            <a:avLst/>
          </a:prstGeom>
          <a:noFill/>
        </p:spPr>
        <p:txBody>
          <a:bodyPr wrap="none" lIns="45720" rIns="45720" anchor="t">
            <a:spAutoFit/>
          </a:bodyPr>
          <a:lstStyle/>
          <a:p>
            <a:pPr algn="l"/>
            <a:r>
              <a:rPr sz="4200" b="1">
                <a:solidFill>
                  <a:srgbClr val="36383D"/>
                </a:solidFill>
                <a:latin typeface="Aptos Display"/>
              </a:rPr>
              <a:t>Das deutsche Schulsystem</a:t>
            </a:r>
          </a:p>
        </p:txBody>
      </p:sp>
      <p:sp>
        <p:nvSpPr>
          <p:cNvPr id="5" name="TextBox 4"/>
          <p:cNvSpPr txBox="1"/>
          <p:nvPr/>
        </p:nvSpPr>
        <p:spPr>
          <a:xfrm>
            <a:off x="640080" y="1252728"/>
            <a:ext cx="7132320" cy="320040"/>
          </a:xfrm>
          <a:prstGeom prst="rect">
            <a:avLst/>
          </a:prstGeom>
          <a:noFill/>
        </p:spPr>
        <p:txBody>
          <a:bodyPr wrap="none" lIns="45720" rIns="45720" anchor="t">
            <a:spAutoFit/>
          </a:bodyPr>
          <a:lstStyle/>
          <a:p>
            <a:pPr algn="l"/>
            <a:r>
              <a:rPr sz="1800" b="0">
                <a:solidFill>
                  <a:srgbClr val="6E7278"/>
                </a:solidFill>
                <a:latin typeface="Aptos"/>
              </a:rPr>
              <a:t>Fünf Bildungswege im Überblick</a:t>
            </a:r>
          </a:p>
        </p:txBody>
      </p:sp>
      <p:sp>
        <p:nvSpPr>
          <p:cNvPr id="6" name="Rounded Rectangle 5"/>
          <p:cNvSpPr/>
          <p:nvPr/>
        </p:nvSpPr>
        <p:spPr>
          <a:xfrm>
            <a:off x="566928" y="1938527"/>
            <a:ext cx="2057400" cy="333756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2064" y="1874519"/>
            <a:ext cx="2057400" cy="3337560"/>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2121408"/>
            <a:ext cx="1737360" cy="310896"/>
          </a:xfrm>
          <a:prstGeom prst="rect">
            <a:avLst/>
          </a:prstGeom>
          <a:noFill/>
        </p:spPr>
        <p:txBody>
          <a:bodyPr wrap="none" lIns="45720" rIns="45720" anchor="t">
            <a:spAutoFit/>
          </a:bodyPr>
          <a:lstStyle/>
          <a:p>
            <a:pPr algn="ctr"/>
            <a:r>
              <a:rPr sz="2500" b="0">
                <a:solidFill>
                  <a:srgbClr val="36383D"/>
                </a:solidFill>
                <a:latin typeface="Aptos"/>
              </a:rPr>
              <a:t>🎓</a:t>
            </a:r>
          </a:p>
        </p:txBody>
      </p:sp>
      <p:sp>
        <p:nvSpPr>
          <p:cNvPr id="9" name="TextBox 8"/>
          <p:cNvSpPr txBox="1"/>
          <p:nvPr/>
        </p:nvSpPr>
        <p:spPr>
          <a:xfrm>
            <a:off x="676656" y="2606040"/>
            <a:ext cx="1737360" cy="292608"/>
          </a:xfrm>
          <a:prstGeom prst="rect">
            <a:avLst/>
          </a:prstGeom>
          <a:noFill/>
        </p:spPr>
        <p:txBody>
          <a:bodyPr wrap="none" lIns="45720" rIns="45720" anchor="t">
            <a:spAutoFit/>
          </a:bodyPr>
          <a:lstStyle/>
          <a:p>
            <a:pPr algn="ctr"/>
            <a:r>
              <a:rPr sz="2000" b="1">
                <a:solidFill>
                  <a:srgbClr val="36383D"/>
                </a:solidFill>
                <a:latin typeface="Aptos"/>
              </a:rPr>
              <a:t>Gymnasium</a:t>
            </a:r>
          </a:p>
        </p:txBody>
      </p:sp>
      <p:sp>
        <p:nvSpPr>
          <p:cNvPr id="10" name="TextBox 9"/>
          <p:cNvSpPr txBox="1"/>
          <p:nvPr/>
        </p:nvSpPr>
        <p:spPr>
          <a:xfrm>
            <a:off x="676656" y="3218688"/>
            <a:ext cx="1737360" cy="1097280"/>
          </a:xfrm>
          <a:prstGeom prst="rect">
            <a:avLst/>
          </a:prstGeom>
          <a:noFill/>
        </p:spPr>
        <p:txBody>
          <a:bodyPr wrap="none" lIns="45720" rIns="45720" anchor="t">
            <a:spAutoFit/>
          </a:bodyPr>
          <a:lstStyle/>
          <a:p>
            <a:pPr algn="ctr"/>
            <a:r>
              <a:rPr sz="1400" b="0">
                <a:solidFill>
                  <a:srgbClr val="36383D"/>
                </a:solidFill>
                <a:latin typeface="Aptos"/>
              </a:rPr>
              <a:t>Abitur
akademische Wege
hohe Anforderungen</a:t>
            </a:r>
          </a:p>
        </p:txBody>
      </p:sp>
      <p:sp>
        <p:nvSpPr>
          <p:cNvPr id="11" name="Rounded Rectangle 10"/>
          <p:cNvSpPr/>
          <p:nvPr/>
        </p:nvSpPr>
        <p:spPr>
          <a:xfrm>
            <a:off x="2898648" y="1938527"/>
            <a:ext cx="2057400" cy="333756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43784" y="1874519"/>
            <a:ext cx="2057400" cy="3337560"/>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08376" y="2121408"/>
            <a:ext cx="1737360" cy="310896"/>
          </a:xfrm>
          <a:prstGeom prst="rect">
            <a:avLst/>
          </a:prstGeom>
          <a:noFill/>
        </p:spPr>
        <p:txBody>
          <a:bodyPr wrap="none" lIns="45720" rIns="45720" anchor="t">
            <a:spAutoFit/>
          </a:bodyPr>
          <a:lstStyle/>
          <a:p>
            <a:pPr algn="ctr"/>
            <a:r>
              <a:rPr sz="2500" b="0">
                <a:solidFill>
                  <a:srgbClr val="36383D"/>
                </a:solidFill>
                <a:latin typeface="Aptos"/>
              </a:rPr>
              <a:t>🧭</a:t>
            </a:r>
          </a:p>
        </p:txBody>
      </p:sp>
      <p:sp>
        <p:nvSpPr>
          <p:cNvPr id="14" name="TextBox 13"/>
          <p:cNvSpPr txBox="1"/>
          <p:nvPr/>
        </p:nvSpPr>
        <p:spPr>
          <a:xfrm>
            <a:off x="3008376" y="2606040"/>
            <a:ext cx="1737360" cy="292608"/>
          </a:xfrm>
          <a:prstGeom prst="rect">
            <a:avLst/>
          </a:prstGeom>
          <a:noFill/>
        </p:spPr>
        <p:txBody>
          <a:bodyPr wrap="none" lIns="45720" rIns="45720" anchor="t">
            <a:spAutoFit/>
          </a:bodyPr>
          <a:lstStyle/>
          <a:p>
            <a:pPr algn="ctr"/>
            <a:r>
              <a:rPr sz="2000" b="1">
                <a:solidFill>
                  <a:srgbClr val="36383D"/>
                </a:solidFill>
                <a:latin typeface="Aptos"/>
              </a:rPr>
              <a:t>Realschule</a:t>
            </a:r>
          </a:p>
        </p:txBody>
      </p:sp>
      <p:sp>
        <p:nvSpPr>
          <p:cNvPr id="15" name="TextBox 14"/>
          <p:cNvSpPr txBox="1"/>
          <p:nvPr/>
        </p:nvSpPr>
        <p:spPr>
          <a:xfrm>
            <a:off x="3008376" y="3218688"/>
            <a:ext cx="1737360" cy="1097280"/>
          </a:xfrm>
          <a:prstGeom prst="rect">
            <a:avLst/>
          </a:prstGeom>
          <a:noFill/>
        </p:spPr>
        <p:txBody>
          <a:bodyPr wrap="none" lIns="45720" rIns="45720" anchor="t">
            <a:spAutoFit/>
          </a:bodyPr>
          <a:lstStyle/>
          <a:p>
            <a:pPr algn="ctr"/>
            <a:r>
              <a:rPr sz="1400" b="0">
                <a:solidFill>
                  <a:srgbClr val="36383D"/>
                </a:solidFill>
                <a:latin typeface="Aptos"/>
              </a:rPr>
              <a:t>Mittlerer Abschluss
mehr Praxisbezug
Brücke zu Ausbildung</a:t>
            </a:r>
          </a:p>
        </p:txBody>
      </p:sp>
      <p:sp>
        <p:nvSpPr>
          <p:cNvPr id="16" name="Rounded Rectangle 15"/>
          <p:cNvSpPr/>
          <p:nvPr/>
        </p:nvSpPr>
        <p:spPr>
          <a:xfrm>
            <a:off x="5230368" y="1938527"/>
            <a:ext cx="2057400" cy="333756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75504" y="1874519"/>
            <a:ext cx="2057400" cy="3337560"/>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0096" y="2121408"/>
            <a:ext cx="1737360" cy="310896"/>
          </a:xfrm>
          <a:prstGeom prst="rect">
            <a:avLst/>
          </a:prstGeom>
          <a:noFill/>
        </p:spPr>
        <p:txBody>
          <a:bodyPr wrap="none" lIns="45720" rIns="45720" anchor="t">
            <a:spAutoFit/>
          </a:bodyPr>
          <a:lstStyle/>
          <a:p>
            <a:pPr algn="ctr"/>
            <a:r>
              <a:rPr sz="2500" b="0">
                <a:solidFill>
                  <a:srgbClr val="36383D"/>
                </a:solidFill>
                <a:latin typeface="Aptos"/>
              </a:rPr>
              <a:t>🛠</a:t>
            </a:r>
          </a:p>
        </p:txBody>
      </p:sp>
      <p:sp>
        <p:nvSpPr>
          <p:cNvPr id="19" name="TextBox 18"/>
          <p:cNvSpPr txBox="1"/>
          <p:nvPr/>
        </p:nvSpPr>
        <p:spPr>
          <a:xfrm>
            <a:off x="5340096" y="2606040"/>
            <a:ext cx="1737360" cy="292608"/>
          </a:xfrm>
          <a:prstGeom prst="rect">
            <a:avLst/>
          </a:prstGeom>
          <a:noFill/>
        </p:spPr>
        <p:txBody>
          <a:bodyPr wrap="none" lIns="45720" rIns="45720" anchor="t">
            <a:spAutoFit/>
          </a:bodyPr>
          <a:lstStyle/>
          <a:p>
            <a:pPr algn="ctr"/>
            <a:r>
              <a:rPr sz="2000" b="1">
                <a:solidFill>
                  <a:srgbClr val="36383D"/>
                </a:solidFill>
                <a:latin typeface="Aptos"/>
              </a:rPr>
              <a:t>Hauptschule</a:t>
            </a:r>
          </a:p>
        </p:txBody>
      </p:sp>
      <p:sp>
        <p:nvSpPr>
          <p:cNvPr id="20" name="TextBox 19"/>
          <p:cNvSpPr txBox="1"/>
          <p:nvPr/>
        </p:nvSpPr>
        <p:spPr>
          <a:xfrm>
            <a:off x="5340096" y="3218688"/>
            <a:ext cx="1737360" cy="1097280"/>
          </a:xfrm>
          <a:prstGeom prst="rect">
            <a:avLst/>
          </a:prstGeom>
          <a:noFill/>
        </p:spPr>
        <p:txBody>
          <a:bodyPr wrap="none" lIns="45720" rIns="45720" anchor="t">
            <a:spAutoFit/>
          </a:bodyPr>
          <a:lstStyle/>
          <a:p>
            <a:pPr algn="ctr"/>
            <a:r>
              <a:rPr sz="1400" b="0">
                <a:solidFill>
                  <a:srgbClr val="36383D"/>
                </a:solidFill>
                <a:latin typeface="Aptos"/>
              </a:rPr>
              <a:t>berufliche Ausrichtung
Ausbildung
teils Stigmatisierung</a:t>
            </a:r>
          </a:p>
        </p:txBody>
      </p:sp>
      <p:sp>
        <p:nvSpPr>
          <p:cNvPr id="21" name="Rounded Rectangle 20"/>
          <p:cNvSpPr/>
          <p:nvPr/>
        </p:nvSpPr>
        <p:spPr>
          <a:xfrm>
            <a:off x="7562088" y="1938527"/>
            <a:ext cx="2057400" cy="333756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507223" y="1874519"/>
            <a:ext cx="2057400" cy="3337560"/>
          </a:xfrm>
          <a:prstGeom prst="roundRect">
            <a:avLst/>
          </a:prstGeom>
          <a:solidFill>
            <a:srgbClr val="EA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71815" y="2121408"/>
            <a:ext cx="1737360" cy="310896"/>
          </a:xfrm>
          <a:prstGeom prst="rect">
            <a:avLst/>
          </a:prstGeom>
          <a:noFill/>
        </p:spPr>
        <p:txBody>
          <a:bodyPr wrap="none" lIns="45720" rIns="45720" anchor="t">
            <a:spAutoFit/>
          </a:bodyPr>
          <a:lstStyle/>
          <a:p>
            <a:pPr algn="ctr"/>
            <a:r>
              <a:rPr sz="2500" b="0">
                <a:solidFill>
                  <a:srgbClr val="36383D"/>
                </a:solidFill>
                <a:latin typeface="Aptos"/>
              </a:rPr>
              <a:t>🤝</a:t>
            </a:r>
          </a:p>
        </p:txBody>
      </p:sp>
      <p:sp>
        <p:nvSpPr>
          <p:cNvPr id="24" name="TextBox 23"/>
          <p:cNvSpPr txBox="1"/>
          <p:nvPr/>
        </p:nvSpPr>
        <p:spPr>
          <a:xfrm>
            <a:off x="7671815" y="2606040"/>
            <a:ext cx="1737360" cy="292608"/>
          </a:xfrm>
          <a:prstGeom prst="rect">
            <a:avLst/>
          </a:prstGeom>
          <a:noFill/>
        </p:spPr>
        <p:txBody>
          <a:bodyPr wrap="none" lIns="45720" rIns="45720" anchor="t">
            <a:spAutoFit/>
          </a:bodyPr>
          <a:lstStyle/>
          <a:p>
            <a:pPr algn="ctr"/>
            <a:r>
              <a:rPr sz="2000" b="1">
                <a:solidFill>
                  <a:srgbClr val="36383D"/>
                </a:solidFill>
                <a:latin typeface="Aptos"/>
              </a:rPr>
              <a:t>Gesamtschule</a:t>
            </a:r>
          </a:p>
        </p:txBody>
      </p:sp>
      <p:sp>
        <p:nvSpPr>
          <p:cNvPr id="25" name="TextBox 24"/>
          <p:cNvSpPr txBox="1"/>
          <p:nvPr/>
        </p:nvSpPr>
        <p:spPr>
          <a:xfrm>
            <a:off x="7671815" y="3218688"/>
            <a:ext cx="1737360" cy="1097280"/>
          </a:xfrm>
          <a:prstGeom prst="rect">
            <a:avLst/>
          </a:prstGeom>
          <a:noFill/>
        </p:spPr>
        <p:txBody>
          <a:bodyPr wrap="none" lIns="45720" rIns="45720" anchor="t">
            <a:spAutoFit/>
          </a:bodyPr>
          <a:lstStyle/>
          <a:p>
            <a:pPr algn="ctr"/>
            <a:r>
              <a:rPr sz="1400" b="0">
                <a:solidFill>
                  <a:srgbClr val="36383D"/>
                </a:solidFill>
                <a:latin typeface="Aptos"/>
              </a:rPr>
              <a:t>längeres gemeinsames Lernen
Kurse und Förderung
mehrere Abschlüsse</a:t>
            </a:r>
          </a:p>
        </p:txBody>
      </p:sp>
      <p:sp>
        <p:nvSpPr>
          <p:cNvPr id="26" name="Rounded Rectangle 25"/>
          <p:cNvSpPr/>
          <p:nvPr/>
        </p:nvSpPr>
        <p:spPr>
          <a:xfrm>
            <a:off x="9893808" y="1938527"/>
            <a:ext cx="2057400" cy="333756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38944" y="1874519"/>
            <a:ext cx="2057400" cy="3337560"/>
          </a:xfrm>
          <a:prstGeom prst="roundRect">
            <a:avLst/>
          </a:prstGeom>
          <a:solidFill>
            <a:srgbClr val="D8F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03536" y="2121408"/>
            <a:ext cx="1737360" cy="310896"/>
          </a:xfrm>
          <a:prstGeom prst="rect">
            <a:avLst/>
          </a:prstGeom>
          <a:noFill/>
        </p:spPr>
        <p:txBody>
          <a:bodyPr wrap="none" lIns="45720" rIns="45720" anchor="t">
            <a:spAutoFit/>
          </a:bodyPr>
          <a:lstStyle/>
          <a:p>
            <a:pPr algn="ctr"/>
            <a:r>
              <a:rPr sz="2500" b="0">
                <a:solidFill>
                  <a:srgbClr val="36383D"/>
                </a:solidFill>
                <a:latin typeface="Aptos"/>
              </a:rPr>
              <a:t>🏢</a:t>
            </a:r>
          </a:p>
        </p:txBody>
      </p:sp>
      <p:sp>
        <p:nvSpPr>
          <p:cNvPr id="29" name="TextBox 28"/>
          <p:cNvSpPr txBox="1"/>
          <p:nvPr/>
        </p:nvSpPr>
        <p:spPr>
          <a:xfrm>
            <a:off x="10003536" y="2606040"/>
            <a:ext cx="1737360" cy="292608"/>
          </a:xfrm>
          <a:prstGeom prst="rect">
            <a:avLst/>
          </a:prstGeom>
          <a:noFill/>
        </p:spPr>
        <p:txBody>
          <a:bodyPr wrap="none" lIns="45720" rIns="45720" anchor="t">
            <a:spAutoFit/>
          </a:bodyPr>
          <a:lstStyle/>
          <a:p>
            <a:pPr algn="ctr"/>
            <a:r>
              <a:rPr sz="2000" b="1">
                <a:solidFill>
                  <a:srgbClr val="36383D"/>
                </a:solidFill>
                <a:latin typeface="Aptos"/>
              </a:rPr>
              <a:t>Berufliche Schule</a:t>
            </a:r>
          </a:p>
        </p:txBody>
      </p:sp>
      <p:sp>
        <p:nvSpPr>
          <p:cNvPr id="30" name="TextBox 29"/>
          <p:cNvSpPr txBox="1"/>
          <p:nvPr/>
        </p:nvSpPr>
        <p:spPr>
          <a:xfrm>
            <a:off x="10003536" y="3218688"/>
            <a:ext cx="1737360" cy="1097280"/>
          </a:xfrm>
          <a:prstGeom prst="rect">
            <a:avLst/>
          </a:prstGeom>
          <a:noFill/>
        </p:spPr>
        <p:txBody>
          <a:bodyPr wrap="none" lIns="45720" rIns="45720" anchor="t">
            <a:spAutoFit/>
          </a:bodyPr>
          <a:lstStyle/>
          <a:p>
            <a:pPr algn="ctr"/>
            <a:r>
              <a:rPr sz="1400" b="0">
                <a:solidFill>
                  <a:srgbClr val="36383D"/>
                </a:solidFill>
                <a:latin typeface="Aptos"/>
              </a:rPr>
              <a:t>duale Ausbildung
Betrieb und Schule
Übergang in Arbeit</a:t>
            </a:r>
          </a:p>
        </p:txBody>
      </p:sp>
    </p:spTree>
  </p:cSld>
  <p:clrMapOvr>
    <a:masterClrMapping/>
  </p:clrMapOvr>
  <p:transition xmlns:p159="http://schemas.microsoft.com/office/powerpoint/2015/09/main" spd="med">
    <p159:morph option="byObject"/>
  </p:transition>
  <p:timing>
    <p:tnLst>
      <p:par>
        <p:cTn id="1" dur="indefinite" restart="never" nodeType="tmRoot">
          <p:childTnLst>
            <p:seq concurrent="1" nextAc="seek">
              <p:cTn id="2" dur="indefinite" nodeType="mainSeq">
                <p:childTnLst>
                  <p:par>
                    <p:cTn id="3" fill="hold" presetID="10" presetClass="entr" presetSubtype="0" nodeType="clickEffect">
                      <p:stCondLst>
                        <p:cond delay="0"/>
                      </p:stCondLst>
                      <p:childTnLst>
                        <p:animEffect transition="in" filter="fade">
                          <p:cBhvr>
                            <p:cTn id="4" dur="450" fill="hold"/>
                            <p:tgtEl>
                              <p:spTgt spid="4"/>
                            </p:tgtEl>
                          </p:cBhvr>
                        </p:animEffect>
                      </p:childTnLst>
                    </p:cTn>
                  </p:par>
                  <p:par>
                    <p:cTn id="5" fill="hold" presetID="10" presetClass="entr" presetSubtype="0" nodeType="afterEffect">
                      <p:stCondLst>
                        <p:cond delay="250"/>
                      </p:stCondLst>
                      <p:childTnLst>
                        <p:animEffect transition="in" filter="fade">
                          <p:cBhvr>
                            <p:cTn id="6" dur="450" fill="hold"/>
                            <p:tgtEl>
                              <p:spTgt spid="5"/>
                            </p:tgtEl>
                          </p:cBhvr>
                        </p:animEffect>
                      </p:childTnLst>
                    </p:cTn>
                  </p:par>
                  <p:par>
                    <p:cTn id="7" fill="hold" presetID="10" presetClass="entr" presetSubtype="0" nodeType="afterEffect">
                      <p:stCondLst>
                        <p:cond delay="250"/>
                      </p:stCondLst>
                      <p:childTnLst>
                        <p:animEffect transition="in" filter="fade">
                          <p:cBhvr>
                            <p:cTn id="8" dur="450" fill="hold"/>
                            <p:tgtEl>
                              <p:spTgt spid="8"/>
                            </p:tgtEl>
                          </p:cBhvr>
                        </p:animEffect>
                      </p:childTnLst>
                    </p:cTn>
                  </p:par>
                  <p:par>
                    <p:cTn id="9" fill="hold" presetID="10" presetClass="entr" presetSubtype="0" nodeType="afterEffect">
                      <p:stCondLst>
                        <p:cond delay="250"/>
                      </p:stCondLst>
                      <p:childTnLst>
                        <p:animEffect transition="in" filter="fade">
                          <p:cBhvr>
                            <p:cTn id="10" dur="450" fill="hold"/>
                            <p:tgtEl>
                              <p:spTgt spid="9"/>
                            </p:tgtEl>
                          </p:cBhvr>
                        </p:animEffect>
                      </p:childTnLst>
                    </p:cTn>
                  </p:par>
                  <p:par>
                    <p:cTn id="11" fill="hold" presetID="10" presetClass="entr" presetSubtype="0" nodeType="afterEffect">
                      <p:stCondLst>
                        <p:cond delay="250"/>
                      </p:stCondLst>
                      <p:childTnLst>
                        <p:animEffect transition="in" filter="fade">
                          <p:cBhvr>
                            <p:cTn id="12" dur="450" fill="hold"/>
                            <p:tgtEl>
                              <p:spTgt spid="10"/>
                            </p:tgtEl>
                          </p:cBhvr>
                        </p:animEffect>
                      </p:childTnLst>
                    </p:cTn>
                  </p:par>
                  <p:par>
                    <p:cTn id="13" fill="hold" presetID="10" presetClass="entr" presetSubtype="0" nodeType="afterEffect">
                      <p:stCondLst>
                        <p:cond delay="250"/>
                      </p:stCondLst>
                      <p:childTnLst>
                        <p:animEffect transition="in" filter="fade">
                          <p:cBhvr>
                            <p:cTn id="14" dur="450" fill="hold"/>
                            <p:tgtEl>
                              <p:spTgt spid="13"/>
                            </p:tgtEl>
                          </p:cBhvr>
                        </p:animEffect>
                      </p:childTnLst>
                    </p:cTn>
                  </p:par>
                  <p:par>
                    <p:cTn id="15" fill="hold" presetID="10" presetClass="entr" presetSubtype="0" nodeType="afterEffect">
                      <p:stCondLst>
                        <p:cond delay="250"/>
                      </p:stCondLst>
                      <p:childTnLst>
                        <p:animEffect transition="in" filter="fade">
                          <p:cBhvr>
                            <p:cTn id="16" dur="450" fill="hold"/>
                            <p:tgtEl>
                              <p:spTgt spid="14"/>
                            </p:tgtEl>
                          </p:cBhvr>
                        </p:animEffect>
                      </p:childTnLst>
                    </p:cTn>
                  </p:par>
                  <p:par>
                    <p:cTn id="17" fill="hold" presetID="10" presetClass="entr" presetSubtype="0" nodeType="afterEffect">
                      <p:stCondLst>
                        <p:cond delay="250"/>
                      </p:stCondLst>
                      <p:childTnLst>
                        <p:animEffect transition="in" filter="fade">
                          <p:cBhvr>
                            <p:cTn id="18" dur="450" fill="hold"/>
                            <p:tgtEl>
                              <p:spTgt spid="15"/>
                            </p:tgtEl>
                          </p:cBhvr>
                        </p:animEffect>
                      </p:childTnLst>
                    </p:cTn>
                  </p:par>
                  <p:par>
                    <p:cTn id="19" fill="hold" presetID="10" presetClass="entr" presetSubtype="0" nodeType="afterEffect">
                      <p:stCondLst>
                        <p:cond delay="250"/>
                      </p:stCondLst>
                      <p:childTnLst>
                        <p:animEffect transition="in" filter="fade">
                          <p:cBhvr>
                            <p:cTn id="20" dur="450" fill="hold"/>
                            <p:tgtEl>
                              <p:spTgt spid="18"/>
                            </p:tgtEl>
                          </p:cBhvr>
                        </p:animEffect>
                      </p:childTnLst>
                    </p:cTn>
                  </p:par>
                  <p:par>
                    <p:cTn id="21" fill="hold" presetID="10" presetClass="entr" presetSubtype="0" nodeType="afterEffect">
                      <p:stCondLst>
                        <p:cond delay="250"/>
                      </p:stCondLst>
                      <p:childTnLst>
                        <p:animEffect transition="in" filter="fade">
                          <p:cBhvr>
                            <p:cTn id="22" dur="450" fill="hold"/>
                            <p:tgtEl>
                              <p:spTgt spid="19"/>
                            </p:tgtEl>
                          </p:cBhvr>
                        </p:animEffect>
                      </p:childTnLst>
                    </p:cTn>
                  </p:par>
                  <p:par>
                    <p:cTn id="23" fill="hold" presetID="10" presetClass="entr" presetSubtype="0" nodeType="afterEffect">
                      <p:stCondLst>
                        <p:cond delay="250"/>
                      </p:stCondLst>
                      <p:childTnLst>
                        <p:animEffect transition="in" filter="fade">
                          <p:cBhvr>
                            <p:cTn id="24" dur="450" fill="hold"/>
                            <p:tgtEl>
                              <p:spTgt spid="20"/>
                            </p:tgtEl>
                          </p:cBhvr>
                        </p:animEffect>
                      </p:childTnLst>
                    </p:cTn>
                  </p:par>
                  <p:par>
                    <p:cTn id="25" fill="hold" presetID="10" presetClass="entr" presetSubtype="0" nodeType="afterEffect">
                      <p:stCondLst>
                        <p:cond delay="250"/>
                      </p:stCondLst>
                      <p:childTnLst>
                        <p:animEffect transition="in" filter="fade">
                          <p:cBhvr>
                            <p:cTn id="26" dur="450" fill="hold"/>
                            <p:tgtEl>
                              <p:spTgt spid="23"/>
                            </p:tgtEl>
                          </p:cBhvr>
                        </p:animEffect>
                      </p:childTnLst>
                    </p:cTn>
                  </p:par>
                  <p:par>
                    <p:cTn id="27" fill="hold" presetID="10" presetClass="entr" presetSubtype="0" nodeType="afterEffect">
                      <p:stCondLst>
                        <p:cond delay="250"/>
                      </p:stCondLst>
                      <p:childTnLst>
                        <p:animEffect transition="in" filter="fade">
                          <p:cBhvr>
                            <p:cTn id="28" dur="450" fill="hold"/>
                            <p:tgtEl>
                              <p:spTgt spid="24"/>
                            </p:tgtEl>
                          </p:cBhvr>
                        </p:animEffect>
                      </p:childTnLst>
                    </p:cTn>
                  </p:par>
                  <p:par>
                    <p:cTn id="29" fill="hold" presetID="10" presetClass="entr" presetSubtype="0" nodeType="afterEffect">
                      <p:stCondLst>
                        <p:cond delay="250"/>
                      </p:stCondLst>
                      <p:childTnLst>
                        <p:animEffect transition="in" filter="fade">
                          <p:cBhvr>
                            <p:cTn id="30" dur="450" fill="hold"/>
                            <p:tgtEl>
                              <p:spTgt spid="25"/>
                            </p:tgtEl>
                          </p:cBhvr>
                        </p:animEffect>
                      </p:childTnLst>
                    </p:cTn>
                  </p:par>
                  <p:par>
                    <p:cTn id="31" fill="hold" presetID="10" presetClass="entr" presetSubtype="0" nodeType="afterEffect">
                      <p:stCondLst>
                        <p:cond delay="250"/>
                      </p:stCondLst>
                      <p:childTnLst>
                        <p:animEffect transition="in" filter="fade">
                          <p:cBhvr>
                            <p:cTn id="32" dur="450" fill="hold"/>
                            <p:tgtEl>
                              <p:spTgt spid="28"/>
                            </p:tgtEl>
                          </p:cBhvr>
                        </p:animEffect>
                      </p:childTnLst>
                    </p:cTn>
                  </p:par>
                  <p:par>
                    <p:cTn id="33" fill="hold" presetID="10" presetClass="entr" presetSubtype="0" nodeType="afterEffect">
                      <p:stCondLst>
                        <p:cond delay="250"/>
                      </p:stCondLst>
                      <p:childTnLst>
                        <p:animEffect transition="in" filter="fade">
                          <p:cBhvr>
                            <p:cTn id="34" dur="450" fill="hold"/>
                            <p:tgtEl>
                              <p:spTgt spid="29"/>
                            </p:tgtEl>
                          </p:cBhvr>
                        </p:animEffect>
                      </p:childTnLst>
                    </p:cTn>
                  </p:par>
                  <p:par>
                    <p:cTn id="35" fill="hold" presetID="10" presetClass="entr" presetSubtype="0" nodeType="afterEffect">
                      <p:stCondLst>
                        <p:cond delay="250"/>
                      </p:stCondLst>
                      <p:childTnLst>
                        <p:animEffect transition="in" filter="fade">
                          <p:cBhvr>
                            <p:cTn id="36" dur="450" fill="hold"/>
                            <p:tgtEl>
                              <p:spTgt spid="30"/>
                            </p:tgtEl>
                          </p:cBhvr>
                        </p:animEffect>
                      </p:childTnLst>
                    </p:cTn>
                  </p:par>
                </p:childTnLst>
              </p:cTn>
            </p:seq>
          </p:childTnLst>
        </p:cTn>
      </p:par>
    </p:tnLst>
    <p:bldLst>
      <p:bldP spid="4" grpId="0" build="allAtOnce"/>
      <p:bldP spid="5" grpId="0" build="allAtOnce"/>
      <p:bldP spid="8" grpId="0" build="allAtOnce"/>
      <p:bldP spid="9" grpId="0" build="allAtOnce"/>
      <p:bldP spid="10" grpId="0" build="allAtOnce"/>
      <p:bldP spid="13" grpId="0" build="allAtOnce"/>
      <p:bldP spid="14" grpId="0" build="allAtOnce"/>
      <p:bldP spid="15" grpId="0" build="allAtOnce"/>
      <p:bldP spid="18" grpId="0" build="allAtOnce"/>
      <p:bldP spid="19" grpId="0" build="allAtOnce"/>
      <p:bldP spid="20" grpId="0" build="allAtOnce"/>
      <p:bldP spid="23" grpId="0" build="allAtOnce"/>
      <p:bldP spid="24" grpId="0" build="allAtOnce"/>
      <p:bldP spid="25" grpId="0" build="allAtOnce"/>
      <p:bldP spid="28" grpId="0" build="allAtOnce"/>
      <p:bldP spid="29" grpId="0" build="allAtOnce"/>
      <p:bldP spid="30" grpId="0" build="allAtOnce"/>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 y="-914400"/>
            <a:ext cx="3840480" cy="2743200"/>
          </a:xfrm>
          <a:prstGeom prst="ellipse">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5120640"/>
            <a:ext cx="3017520" cy="21945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132320" cy="640080"/>
          </a:xfrm>
          <a:prstGeom prst="rect">
            <a:avLst/>
          </a:prstGeom>
          <a:noFill/>
        </p:spPr>
        <p:txBody>
          <a:bodyPr wrap="none" lIns="45720" rIns="45720" anchor="t">
            <a:spAutoFit/>
          </a:bodyPr>
          <a:lstStyle/>
          <a:p>
            <a:pPr algn="l"/>
            <a:r>
              <a:rPr sz="4200" b="1">
                <a:solidFill>
                  <a:srgbClr val="36383D"/>
                </a:solidFill>
                <a:latin typeface="Aptos Display"/>
              </a:rPr>
              <a:t>Leistungsdruck und Wohlbefinden</a:t>
            </a:r>
          </a:p>
        </p:txBody>
      </p:sp>
      <p:sp>
        <p:nvSpPr>
          <p:cNvPr id="5" name="TextBox 4"/>
          <p:cNvSpPr txBox="1"/>
          <p:nvPr/>
        </p:nvSpPr>
        <p:spPr>
          <a:xfrm>
            <a:off x="640080" y="1252728"/>
            <a:ext cx="7132320" cy="320040"/>
          </a:xfrm>
          <a:prstGeom prst="rect">
            <a:avLst/>
          </a:prstGeom>
          <a:noFill/>
        </p:spPr>
        <p:txBody>
          <a:bodyPr wrap="none" lIns="45720" rIns="45720" anchor="t">
            <a:spAutoFit/>
          </a:bodyPr>
          <a:lstStyle/>
          <a:p>
            <a:pPr algn="l"/>
            <a:r>
              <a:rPr sz="1800" b="0">
                <a:solidFill>
                  <a:srgbClr val="6E7278"/>
                </a:solidFill>
                <a:latin typeface="Aptos"/>
              </a:rPr>
              <a:t>Bewertung kann antreiben und belasten</a:t>
            </a:r>
          </a:p>
        </p:txBody>
      </p:sp>
      <p:sp>
        <p:nvSpPr>
          <p:cNvPr id="6" name="Rounded Rectangle 5"/>
          <p:cNvSpPr/>
          <p:nvPr/>
        </p:nvSpPr>
        <p:spPr>
          <a:xfrm>
            <a:off x="8375904" y="1636776"/>
            <a:ext cx="2743200" cy="338328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321040" y="1572768"/>
            <a:ext cx="2743200" cy="3383280"/>
          </a:xfrm>
          <a:prstGeom prst="roundRect">
            <a:avLst/>
          </a:prstGeom>
          <a:solidFill>
            <a:srgbClr val="F7F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64040" y="1984248"/>
            <a:ext cx="537667" cy="537667"/>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425635" y="2502712"/>
            <a:ext cx="614476" cy="864108"/>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617659" y="2176272"/>
            <a:ext cx="48006" cy="48006"/>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09683" y="2176272"/>
            <a:ext cx="48006" cy="48006"/>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9636861" y="2329891"/>
            <a:ext cx="230429" cy="38405"/>
          </a:xfrm>
          <a:prstGeom prst="line">
            <a:avLst/>
          </a:prstGeom>
          <a:ln w="15240">
            <a:solidFill>
              <a:srgbClr val="36383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rot="20700000">
            <a:off x="9963302" y="1830628"/>
            <a:ext cx="345643" cy="345643"/>
          </a:xfrm>
          <a:prstGeom prst="rect">
            <a:avLst/>
          </a:prstGeom>
          <a:noFill/>
        </p:spPr>
        <p:txBody>
          <a:bodyPr wrap="none" lIns="45720" rIns="45720" anchor="t">
            <a:spAutoFit/>
          </a:bodyPr>
          <a:lstStyle/>
          <a:p>
            <a:pPr algn="l"/>
            <a:r>
              <a:rPr sz="2730" b="1">
                <a:solidFill>
                  <a:srgbClr val="FFD9E8"/>
                </a:solidFill>
                <a:latin typeface="Aptos"/>
              </a:rPr>
              <a:t>!</a:t>
            </a:r>
          </a:p>
        </p:txBody>
      </p:sp>
      <p:sp>
        <p:nvSpPr>
          <p:cNvPr id="14" name="TextBox 13"/>
          <p:cNvSpPr txBox="1"/>
          <p:nvPr/>
        </p:nvSpPr>
        <p:spPr>
          <a:xfrm>
            <a:off x="8823960" y="4224528"/>
            <a:ext cx="1737360" cy="274320"/>
          </a:xfrm>
          <a:prstGeom prst="rect">
            <a:avLst/>
          </a:prstGeom>
          <a:noFill/>
        </p:spPr>
        <p:txBody>
          <a:bodyPr wrap="none" lIns="45720" rIns="45720" anchor="t">
            <a:spAutoFit/>
          </a:bodyPr>
          <a:lstStyle/>
          <a:p>
            <a:pPr algn="ctr"/>
            <a:r>
              <a:rPr sz="1700" b="1">
                <a:solidFill>
                  <a:srgbClr val="36383D"/>
                </a:solidFill>
                <a:latin typeface="Aptos"/>
              </a:rPr>
              <a:t>Prüfung</a:t>
            </a:r>
          </a:p>
        </p:txBody>
      </p:sp>
      <p:sp>
        <p:nvSpPr>
          <p:cNvPr id="15" name="Rounded Rectangle 14"/>
          <p:cNvSpPr/>
          <p:nvPr/>
        </p:nvSpPr>
        <p:spPr>
          <a:xfrm>
            <a:off x="8604504" y="2139696"/>
            <a:ext cx="530352" cy="38404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549640" y="2075688"/>
            <a:ext cx="530352" cy="384048"/>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2148840"/>
            <a:ext cx="384047" cy="228600"/>
          </a:xfrm>
          <a:prstGeom prst="rect">
            <a:avLst/>
          </a:prstGeom>
          <a:noFill/>
        </p:spPr>
        <p:txBody>
          <a:bodyPr wrap="none" lIns="45720" rIns="45720" anchor="ctr">
            <a:spAutoFit/>
          </a:bodyPr>
          <a:lstStyle/>
          <a:p>
            <a:pPr algn="ctr"/>
            <a:r>
              <a:rPr sz="1200" b="1">
                <a:solidFill>
                  <a:srgbClr val="36383D"/>
                </a:solidFill>
                <a:latin typeface="Aptos"/>
              </a:rPr>
              <a:t>Note</a:t>
            </a:r>
          </a:p>
        </p:txBody>
      </p:sp>
      <p:sp>
        <p:nvSpPr>
          <p:cNvPr id="18" name="Rounded Rectangle 17"/>
          <p:cNvSpPr/>
          <p:nvPr/>
        </p:nvSpPr>
        <p:spPr>
          <a:xfrm>
            <a:off x="10387584" y="2322575"/>
            <a:ext cx="530352" cy="38404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332720" y="2258568"/>
            <a:ext cx="530352" cy="384048"/>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05872" y="2331720"/>
            <a:ext cx="384047" cy="228600"/>
          </a:xfrm>
          <a:prstGeom prst="rect">
            <a:avLst/>
          </a:prstGeom>
          <a:noFill/>
        </p:spPr>
        <p:txBody>
          <a:bodyPr wrap="none" lIns="45720" rIns="45720" anchor="ctr">
            <a:spAutoFit/>
          </a:bodyPr>
          <a:lstStyle/>
          <a:p>
            <a:pPr algn="ctr"/>
            <a:r>
              <a:rPr sz="1200" b="1">
                <a:solidFill>
                  <a:srgbClr val="36383D"/>
                </a:solidFill>
                <a:latin typeface="Aptos"/>
              </a:rPr>
              <a:t>!</a:t>
            </a:r>
          </a:p>
        </p:txBody>
      </p:sp>
      <p:sp>
        <p:nvSpPr>
          <p:cNvPr id="21" name="Rounded Rectangle 20"/>
          <p:cNvSpPr/>
          <p:nvPr/>
        </p:nvSpPr>
        <p:spPr>
          <a:xfrm>
            <a:off x="8787384" y="3694176"/>
            <a:ext cx="530352" cy="38404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732519" y="3630168"/>
            <a:ext cx="530352" cy="384048"/>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05672" y="3703320"/>
            <a:ext cx="384047" cy="228600"/>
          </a:xfrm>
          <a:prstGeom prst="rect">
            <a:avLst/>
          </a:prstGeom>
          <a:noFill/>
        </p:spPr>
        <p:txBody>
          <a:bodyPr wrap="none" lIns="45720" rIns="45720" anchor="ctr">
            <a:spAutoFit/>
          </a:bodyPr>
          <a:lstStyle/>
          <a:p>
            <a:pPr algn="ctr"/>
            <a:r>
              <a:rPr sz="1200" b="1">
                <a:solidFill>
                  <a:srgbClr val="36383D"/>
                </a:solidFill>
                <a:latin typeface="Aptos"/>
              </a:rPr>
              <a:t>Test</a:t>
            </a:r>
          </a:p>
        </p:txBody>
      </p:sp>
      <p:sp>
        <p:nvSpPr>
          <p:cNvPr id="24" name="Rounded Rectangle 23"/>
          <p:cNvSpPr/>
          <p:nvPr/>
        </p:nvSpPr>
        <p:spPr>
          <a:xfrm>
            <a:off x="10405872" y="3511295"/>
            <a:ext cx="530352" cy="38404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351008" y="3447287"/>
            <a:ext cx="530352" cy="384048"/>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0" y="3520439"/>
            <a:ext cx="384047" cy="228600"/>
          </a:xfrm>
          <a:prstGeom prst="rect">
            <a:avLst/>
          </a:prstGeom>
          <a:noFill/>
        </p:spPr>
        <p:txBody>
          <a:bodyPr wrap="none" lIns="45720" rIns="45720" anchor="ctr">
            <a:spAutoFit/>
          </a:bodyPr>
          <a:lstStyle/>
          <a:p>
            <a:pPr algn="ctr"/>
            <a:r>
              <a:rPr sz="1200" b="1">
                <a:solidFill>
                  <a:srgbClr val="36383D"/>
                </a:solidFill>
                <a:latin typeface="Aptos"/>
              </a:rPr>
              <a:t>?</a:t>
            </a:r>
          </a:p>
        </p:txBody>
      </p:sp>
      <p:sp>
        <p:nvSpPr>
          <p:cNvPr id="27" name="Rounded Rectangle 26"/>
          <p:cNvSpPr/>
          <p:nvPr/>
        </p:nvSpPr>
        <p:spPr>
          <a:xfrm>
            <a:off x="832103" y="1892807"/>
            <a:ext cx="3246120" cy="242316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1828800"/>
            <a:ext cx="3246120" cy="2423160"/>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2057400"/>
            <a:ext cx="2651760" cy="292608"/>
          </a:xfrm>
          <a:prstGeom prst="rect">
            <a:avLst/>
          </a:prstGeom>
          <a:noFill/>
        </p:spPr>
        <p:txBody>
          <a:bodyPr wrap="none" lIns="45720" rIns="45720" anchor="t">
            <a:spAutoFit/>
          </a:bodyPr>
          <a:lstStyle/>
          <a:p>
            <a:pPr algn="ctr"/>
            <a:r>
              <a:rPr sz="2400" b="1">
                <a:solidFill>
                  <a:srgbClr val="36383D"/>
                </a:solidFill>
                <a:latin typeface="Aptos"/>
              </a:rPr>
              <a:t>Leistungsdruck</a:t>
            </a:r>
          </a:p>
        </p:txBody>
      </p:sp>
      <p:sp>
        <p:nvSpPr>
          <p:cNvPr id="30" name="TextBox 29"/>
          <p:cNvSpPr txBox="1"/>
          <p:nvPr/>
        </p:nvSpPr>
        <p:spPr>
          <a:xfrm>
            <a:off x="1143000" y="2606040"/>
            <a:ext cx="2286000" cy="1143000"/>
          </a:xfrm>
          <a:prstGeom prst="rect">
            <a:avLst/>
          </a:prstGeom>
          <a:noFill/>
        </p:spPr>
        <p:txBody>
          <a:bodyPr wrap="none" lIns="73152" rIns="73152" tIns="18288" bIns="18288">
            <a:spAutoFit/>
          </a:bodyPr>
          <a:lstStyle/>
          <a:p>
            <a:pPr marL="228600" indent="-127000">
              <a:spcAft>
                <a:spcPts val="880"/>
              </a:spcAft>
              <a:defRPr sz="2000">
                <a:solidFill>
                  <a:srgbClr val="36383D"/>
                </a:solidFill>
                <a:latin typeface="Aptos"/>
              </a:defRPr>
              <a:buChar char="•"/>
            </a:pPr>
            <a:r>
              <a:t>Noten</a:t>
            </a:r>
          </a:p>
          <a:p>
            <a:pPr marL="228600" indent="-127000">
              <a:spcAft>
                <a:spcPts val="880"/>
              </a:spcAft>
              <a:defRPr sz="2000">
                <a:solidFill>
                  <a:srgbClr val="36383D"/>
                </a:solidFill>
                <a:latin typeface="Aptos"/>
              </a:defRPr>
              <a:buChar char="•"/>
            </a:pPr>
            <a:r>
              <a:t>Prüfungen</a:t>
            </a:r>
          </a:p>
          <a:p>
            <a:pPr marL="228600" indent="-127000">
              <a:spcAft>
                <a:spcPts val="880"/>
              </a:spcAft>
              <a:defRPr sz="2000">
                <a:solidFill>
                  <a:srgbClr val="36383D"/>
                </a:solidFill>
                <a:latin typeface="Aptos"/>
              </a:defRPr>
              <a:buChar char="•"/>
            </a:pPr>
            <a:r>
              <a:t>Konkurrenz</a:t>
            </a:r>
          </a:p>
          <a:p>
            <a:pPr marL="228600" indent="-127000">
              <a:spcAft>
                <a:spcPts val="880"/>
              </a:spcAft>
              <a:defRPr sz="2000">
                <a:solidFill>
                  <a:srgbClr val="36383D"/>
                </a:solidFill>
                <a:latin typeface="Aptos"/>
              </a:defRPr>
              <a:buChar char="•"/>
            </a:pPr>
            <a:r>
              <a:t>Erwartungen</a:t>
            </a:r>
          </a:p>
        </p:txBody>
      </p:sp>
      <p:sp>
        <p:nvSpPr>
          <p:cNvPr id="31" name="Rounded Rectangle 30"/>
          <p:cNvSpPr/>
          <p:nvPr/>
        </p:nvSpPr>
        <p:spPr>
          <a:xfrm>
            <a:off x="4581144" y="1892807"/>
            <a:ext cx="3246120" cy="242316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526280" y="1828800"/>
            <a:ext cx="3246120" cy="2423160"/>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00600" y="2057400"/>
            <a:ext cx="2651760" cy="292608"/>
          </a:xfrm>
          <a:prstGeom prst="rect">
            <a:avLst/>
          </a:prstGeom>
          <a:noFill/>
        </p:spPr>
        <p:txBody>
          <a:bodyPr wrap="none" lIns="45720" rIns="45720" anchor="t">
            <a:spAutoFit/>
          </a:bodyPr>
          <a:lstStyle/>
          <a:p>
            <a:pPr algn="ctr"/>
            <a:r>
              <a:rPr sz="2400" b="1">
                <a:solidFill>
                  <a:srgbClr val="36383D"/>
                </a:solidFill>
                <a:latin typeface="Aptos"/>
              </a:rPr>
              <a:t>Folgen</a:t>
            </a:r>
          </a:p>
        </p:txBody>
      </p:sp>
      <p:sp>
        <p:nvSpPr>
          <p:cNvPr id="34" name="TextBox 33"/>
          <p:cNvSpPr txBox="1"/>
          <p:nvPr/>
        </p:nvSpPr>
        <p:spPr>
          <a:xfrm>
            <a:off x="4892040" y="2606040"/>
            <a:ext cx="2286000" cy="1143000"/>
          </a:xfrm>
          <a:prstGeom prst="rect">
            <a:avLst/>
          </a:prstGeom>
          <a:noFill/>
        </p:spPr>
        <p:txBody>
          <a:bodyPr wrap="none" lIns="73152" rIns="73152" tIns="18288" bIns="18288">
            <a:spAutoFit/>
          </a:bodyPr>
          <a:lstStyle/>
          <a:p>
            <a:pPr marL="228600" indent="-127000">
              <a:spcAft>
                <a:spcPts val="880"/>
              </a:spcAft>
              <a:defRPr sz="2000">
                <a:solidFill>
                  <a:srgbClr val="36383D"/>
                </a:solidFill>
                <a:latin typeface="Aptos"/>
              </a:defRPr>
              <a:buChar char="•"/>
            </a:pPr>
            <a:r>
              <a:t>Stress</a:t>
            </a:r>
          </a:p>
          <a:p>
            <a:pPr marL="228600" indent="-127000">
              <a:spcAft>
                <a:spcPts val="880"/>
              </a:spcAft>
              <a:defRPr sz="2000">
                <a:solidFill>
                  <a:srgbClr val="36383D"/>
                </a:solidFill>
                <a:latin typeface="Aptos"/>
              </a:defRPr>
              <a:buChar char="•"/>
            </a:pPr>
            <a:r>
              <a:t>Schlafprobleme</a:t>
            </a:r>
          </a:p>
          <a:p>
            <a:pPr marL="228600" indent="-127000">
              <a:spcAft>
                <a:spcPts val="880"/>
              </a:spcAft>
              <a:defRPr sz="2000">
                <a:solidFill>
                  <a:srgbClr val="36383D"/>
                </a:solidFill>
                <a:latin typeface="Aptos"/>
              </a:defRPr>
              <a:buChar char="•"/>
            </a:pPr>
            <a:r>
              <a:t>Unsicherheit</a:t>
            </a:r>
          </a:p>
          <a:p>
            <a:pPr marL="228600" indent="-127000">
              <a:spcAft>
                <a:spcPts val="880"/>
              </a:spcAft>
              <a:defRPr sz="2000">
                <a:solidFill>
                  <a:srgbClr val="36383D"/>
                </a:solidFill>
                <a:latin typeface="Aptos"/>
              </a:defRPr>
              <a:buChar char="•"/>
            </a:pPr>
            <a:r>
              <a:t>geringeres Selbstwertgefühl</a:t>
            </a:r>
          </a:p>
        </p:txBody>
      </p:sp>
      <p:sp>
        <p:nvSpPr>
          <p:cNvPr id="35" name="Rounded Rectangle 34"/>
          <p:cNvSpPr/>
          <p:nvPr/>
        </p:nvSpPr>
        <p:spPr>
          <a:xfrm>
            <a:off x="1014984" y="5047488"/>
            <a:ext cx="7086600" cy="74980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0120" y="4983480"/>
            <a:ext cx="7086600" cy="749808"/>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07008" y="5184648"/>
            <a:ext cx="6583680" cy="292608"/>
          </a:xfrm>
          <a:prstGeom prst="rect">
            <a:avLst/>
          </a:prstGeom>
          <a:noFill/>
        </p:spPr>
        <p:txBody>
          <a:bodyPr wrap="none" lIns="45720" rIns="45720" anchor="t">
            <a:spAutoFit/>
          </a:bodyPr>
          <a:lstStyle/>
          <a:p>
            <a:pPr algn="ctr"/>
            <a:r>
              <a:rPr sz="1900" b="1">
                <a:solidFill>
                  <a:srgbClr val="36383D"/>
                </a:solidFill>
                <a:latin typeface="Aptos"/>
              </a:rPr>
              <a:t>Leistungsdruck kann Motivation fördern, aber auch das Wohlbefinden beeinträchtigen.</a:t>
            </a:r>
          </a:p>
        </p:txBody>
      </p:sp>
    </p:spTree>
  </p:cSld>
  <p:clrMapOvr>
    <a:masterClrMapping/>
  </p:clrMapOvr>
  <p:transition spd="med">
    <p:zoom dir="out"/>
  </p:transition>
  <p:timing>
    <p:tnLst>
      <p:par>
        <p:cTn id="1" dur="indefinite" restart="never" nodeType="tmRoot">
          <p:childTnLst>
            <p:seq concurrent="1" nextAc="seek">
              <p:cTn id="2" dur="indefinite" nodeType="mainSeq">
                <p:childTnLst>
                  <p:par>
                    <p:cTn id="3" fill="hold" presetID="10" presetClass="entr" presetSubtype="0" nodeType="clickEffect">
                      <p:stCondLst>
                        <p:cond delay="0"/>
                      </p:stCondLst>
                      <p:childTnLst>
                        <p:animEffect transition="in" filter="fade">
                          <p:cBhvr>
                            <p:cTn id="4" dur="450" fill="hold"/>
                            <p:tgtEl>
                              <p:spTgt spid="4"/>
                            </p:tgtEl>
                          </p:cBhvr>
                        </p:animEffect>
                      </p:childTnLst>
                    </p:cTn>
                  </p:par>
                  <p:par>
                    <p:cTn id="5" fill="hold" presetID="10" presetClass="entr" presetSubtype="0" nodeType="afterEffect">
                      <p:stCondLst>
                        <p:cond delay="250"/>
                      </p:stCondLst>
                      <p:childTnLst>
                        <p:animEffect transition="in" filter="fade">
                          <p:cBhvr>
                            <p:cTn id="6" dur="450" fill="hold"/>
                            <p:tgtEl>
                              <p:spTgt spid="5"/>
                            </p:tgtEl>
                          </p:cBhvr>
                        </p:animEffect>
                      </p:childTnLst>
                    </p:cTn>
                  </p:par>
                  <p:par>
                    <p:cTn id="7" fill="hold" presetID="10" presetClass="entr" presetSubtype="0" nodeType="afterEffect">
                      <p:stCondLst>
                        <p:cond delay="250"/>
                      </p:stCondLst>
                      <p:childTnLst>
                        <p:animEffect transition="in" filter="fade">
                          <p:cBhvr>
                            <p:cTn id="8" dur="450" fill="hold"/>
                            <p:tgtEl>
                              <p:spTgt spid="29"/>
                            </p:tgtEl>
                          </p:cBhvr>
                        </p:animEffect>
                      </p:childTnLst>
                    </p:cTn>
                  </p:par>
                  <p:par>
                    <p:cTn id="9" fill="hold" presetID="10" presetClass="entr" presetSubtype="0" nodeType="afterEffect">
                      <p:stCondLst>
                        <p:cond delay="250"/>
                      </p:stCondLst>
                      <p:childTnLst>
                        <p:animEffect transition="in" filter="fade">
                          <p:cBhvr>
                            <p:cTn id="10" dur="450" fill="hold"/>
                            <p:tgtEl>
                              <p:spTgt spid="30"/>
                            </p:tgtEl>
                          </p:cBhvr>
                        </p:animEffect>
                      </p:childTnLst>
                    </p:cTn>
                  </p:par>
                  <p:par>
                    <p:cTn id="11" fill="hold" presetID="10" presetClass="entr" presetSubtype="0" nodeType="afterEffect">
                      <p:stCondLst>
                        <p:cond delay="250"/>
                      </p:stCondLst>
                      <p:childTnLst>
                        <p:animEffect transition="in" filter="fade">
                          <p:cBhvr>
                            <p:cTn id="12" dur="450" fill="hold"/>
                            <p:tgtEl>
                              <p:spTgt spid="33"/>
                            </p:tgtEl>
                          </p:cBhvr>
                        </p:animEffect>
                      </p:childTnLst>
                    </p:cTn>
                  </p:par>
                  <p:par>
                    <p:cTn id="13" fill="hold" presetID="10" presetClass="entr" presetSubtype="0" nodeType="afterEffect">
                      <p:stCondLst>
                        <p:cond delay="250"/>
                      </p:stCondLst>
                      <p:childTnLst>
                        <p:animEffect transition="in" filter="fade">
                          <p:cBhvr>
                            <p:cTn id="14" dur="450" fill="hold"/>
                            <p:tgtEl>
                              <p:spTgt spid="34"/>
                            </p:tgtEl>
                          </p:cBhvr>
                        </p:animEffect>
                      </p:childTnLst>
                    </p:cTn>
                  </p:par>
                  <p:par>
                    <p:cTn id="15" fill="hold" presetID="10" presetClass="entr" presetSubtype="0" nodeType="afterEffect">
                      <p:stCondLst>
                        <p:cond delay="250"/>
                      </p:stCondLst>
                      <p:childTnLst>
                        <p:animEffect transition="in" filter="fade">
                          <p:cBhvr>
                            <p:cTn id="16" dur="450" fill="hold"/>
                            <p:tgtEl>
                              <p:spTgt spid="37"/>
                            </p:tgtEl>
                          </p:cBhvr>
                        </p:animEffect>
                      </p:childTnLst>
                    </p:cTn>
                  </p:par>
                </p:childTnLst>
              </p:cTn>
            </p:seq>
          </p:childTnLst>
        </p:cTn>
      </p:par>
    </p:tnLst>
    <p:bldLst>
      <p:bldP spid="4" grpId="0" build="allAtOnce"/>
      <p:bldP spid="5" grpId="0" build="allAtOnce"/>
      <p:bldP spid="29" grpId="0" build="allAtOnce"/>
      <p:bldP spid="30" grpId="0" build="allAtOnce"/>
      <p:bldP spid="33" grpId="0" build="allAtOnce"/>
      <p:bldP spid="34" grpId="0" build="allAtOnce"/>
      <p:bldP spid="37" grpId="0" build="allAtOnce"/>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 y="-914400"/>
            <a:ext cx="3840480" cy="274320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5120640"/>
            <a:ext cx="3017520" cy="21945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132320" cy="640080"/>
          </a:xfrm>
          <a:prstGeom prst="rect">
            <a:avLst/>
          </a:prstGeom>
          <a:noFill/>
        </p:spPr>
        <p:txBody>
          <a:bodyPr wrap="none" lIns="45720" rIns="45720" anchor="t">
            <a:spAutoFit/>
          </a:bodyPr>
          <a:lstStyle/>
          <a:p>
            <a:pPr algn="l"/>
            <a:r>
              <a:rPr sz="4200" b="1">
                <a:solidFill>
                  <a:srgbClr val="36383D"/>
                </a:solidFill>
                <a:latin typeface="Aptos Display"/>
              </a:rPr>
              <a:t>Schulklima</a:t>
            </a:r>
          </a:p>
        </p:txBody>
      </p:sp>
      <p:sp>
        <p:nvSpPr>
          <p:cNvPr id="5" name="TextBox 4"/>
          <p:cNvSpPr txBox="1"/>
          <p:nvPr/>
        </p:nvSpPr>
        <p:spPr>
          <a:xfrm>
            <a:off x="640080" y="1252728"/>
            <a:ext cx="7132320" cy="320040"/>
          </a:xfrm>
          <a:prstGeom prst="rect">
            <a:avLst/>
          </a:prstGeom>
          <a:noFill/>
        </p:spPr>
        <p:txBody>
          <a:bodyPr wrap="none" lIns="45720" rIns="45720" anchor="t">
            <a:spAutoFit/>
          </a:bodyPr>
          <a:lstStyle/>
          <a:p>
            <a:pPr algn="l"/>
            <a:r>
              <a:rPr sz="1800" b="0">
                <a:solidFill>
                  <a:srgbClr val="6E7278"/>
                </a:solidFill>
                <a:latin typeface="Aptos"/>
              </a:rPr>
              <a:t>Beziehungen entscheiden mit über Wohlbefinden</a:t>
            </a:r>
          </a:p>
        </p:txBody>
      </p:sp>
      <p:sp>
        <p:nvSpPr>
          <p:cNvPr id="6" name="Rounded Rectangle 5"/>
          <p:cNvSpPr/>
          <p:nvPr/>
        </p:nvSpPr>
        <p:spPr>
          <a:xfrm>
            <a:off x="8604504" y="1088136"/>
            <a:ext cx="3017520" cy="233172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49640" y="1024128"/>
            <a:ext cx="301752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88552" y="1527048"/>
            <a:ext cx="396849" cy="396849"/>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960205" y="1909724"/>
            <a:ext cx="453542" cy="637794"/>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01937" y="1668780"/>
            <a:ext cx="35433" cy="35433"/>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243669" y="1668780"/>
            <a:ext cx="35433" cy="35433"/>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9116110" y="1782165"/>
            <a:ext cx="170079" cy="0"/>
          </a:xfrm>
          <a:prstGeom prst="line">
            <a:avLst/>
          </a:prstGeom>
          <a:ln w="15240">
            <a:solidFill>
              <a:srgbClr val="36383D"/>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61320" y="1554480"/>
            <a:ext cx="345643" cy="345643"/>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536631" y="1887778"/>
            <a:ext cx="395020" cy="555498"/>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660075" y="1677924"/>
            <a:ext cx="30861" cy="30861"/>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783519" y="1677924"/>
            <a:ext cx="30861" cy="30861"/>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0672419" y="1776679"/>
            <a:ext cx="148133" cy="0"/>
          </a:xfrm>
          <a:prstGeom prst="line">
            <a:avLst/>
          </a:prstGeom>
          <a:ln w="15240">
            <a:solidFill>
              <a:srgbClr val="36383D"/>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628632" y="1335024"/>
            <a:ext cx="841248" cy="384048"/>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030967" y="1984248"/>
            <a:ext cx="713232" cy="347472"/>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8096" y="3218688"/>
            <a:ext cx="3154680" cy="196596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13232" y="3154680"/>
            <a:ext cx="3154680" cy="1965960"/>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419856"/>
            <a:ext cx="2743200" cy="411480"/>
          </a:xfrm>
          <a:prstGeom prst="rect">
            <a:avLst/>
          </a:prstGeom>
          <a:noFill/>
        </p:spPr>
        <p:txBody>
          <a:bodyPr wrap="none" lIns="45720" rIns="45720" anchor="t">
            <a:spAutoFit/>
          </a:bodyPr>
          <a:lstStyle/>
          <a:p>
            <a:pPr algn="ctr"/>
            <a:r>
              <a:rPr sz="2100" b="1">
                <a:solidFill>
                  <a:srgbClr val="36383D"/>
                </a:solidFill>
                <a:latin typeface="Aptos"/>
              </a:rPr>
              <a:t>Lehrer-Schüler-Verhältnis</a:t>
            </a:r>
          </a:p>
        </p:txBody>
      </p:sp>
      <p:sp>
        <p:nvSpPr>
          <p:cNvPr id="23" name="Rounded Rectangle 22"/>
          <p:cNvSpPr/>
          <p:nvPr/>
        </p:nvSpPr>
        <p:spPr>
          <a:xfrm>
            <a:off x="1161288" y="4105656"/>
            <a:ext cx="2331720" cy="38404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106424" y="4041648"/>
            <a:ext cx="23317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79576" y="4114800"/>
            <a:ext cx="2185415" cy="228600"/>
          </a:xfrm>
          <a:prstGeom prst="rect">
            <a:avLst/>
          </a:prstGeom>
          <a:noFill/>
        </p:spPr>
        <p:txBody>
          <a:bodyPr wrap="none" lIns="45720" rIns="45720" anchor="ctr">
            <a:spAutoFit/>
          </a:bodyPr>
          <a:lstStyle/>
          <a:p>
            <a:pPr algn="ctr"/>
            <a:r>
              <a:rPr sz="1400" b="1">
                <a:solidFill>
                  <a:srgbClr val="36383D"/>
                </a:solidFill>
                <a:latin typeface="Aptos"/>
              </a:rPr>
              <a:t>ernst genommen werden</a:t>
            </a:r>
          </a:p>
        </p:txBody>
      </p:sp>
      <p:sp>
        <p:nvSpPr>
          <p:cNvPr id="26" name="Rounded Rectangle 25"/>
          <p:cNvSpPr/>
          <p:nvPr/>
        </p:nvSpPr>
        <p:spPr>
          <a:xfrm>
            <a:off x="1161288" y="4562856"/>
            <a:ext cx="2331720" cy="38404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06424" y="4498848"/>
            <a:ext cx="23317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79576" y="4572000"/>
            <a:ext cx="2185415" cy="228600"/>
          </a:xfrm>
          <a:prstGeom prst="rect">
            <a:avLst/>
          </a:prstGeom>
          <a:noFill/>
        </p:spPr>
        <p:txBody>
          <a:bodyPr wrap="none" lIns="45720" rIns="45720" anchor="ctr">
            <a:spAutoFit/>
          </a:bodyPr>
          <a:lstStyle/>
          <a:p>
            <a:pPr algn="ctr"/>
            <a:r>
              <a:rPr sz="1400" b="1">
                <a:solidFill>
                  <a:srgbClr val="36383D"/>
                </a:solidFill>
                <a:latin typeface="Aptos"/>
              </a:rPr>
              <a:t>Unterstützung erhalten</a:t>
            </a:r>
          </a:p>
        </p:txBody>
      </p:sp>
      <p:sp>
        <p:nvSpPr>
          <p:cNvPr id="29" name="Rounded Rectangle 28"/>
          <p:cNvSpPr/>
          <p:nvPr/>
        </p:nvSpPr>
        <p:spPr>
          <a:xfrm>
            <a:off x="4425696" y="3218688"/>
            <a:ext cx="3154680" cy="196596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70832" y="3154680"/>
            <a:ext cx="3154680" cy="1965960"/>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0288" y="3419856"/>
            <a:ext cx="2743200" cy="411480"/>
          </a:xfrm>
          <a:prstGeom prst="rect">
            <a:avLst/>
          </a:prstGeom>
          <a:noFill/>
        </p:spPr>
        <p:txBody>
          <a:bodyPr wrap="none" lIns="45720" rIns="45720" anchor="t">
            <a:spAutoFit/>
          </a:bodyPr>
          <a:lstStyle/>
          <a:p>
            <a:pPr algn="ctr"/>
            <a:r>
              <a:rPr sz="2100" b="1">
                <a:solidFill>
                  <a:srgbClr val="36383D"/>
                </a:solidFill>
                <a:latin typeface="Aptos"/>
              </a:rPr>
              <a:t>Mitbestimmung</a:t>
            </a:r>
          </a:p>
        </p:txBody>
      </p:sp>
      <p:sp>
        <p:nvSpPr>
          <p:cNvPr id="32" name="Rounded Rectangle 31"/>
          <p:cNvSpPr/>
          <p:nvPr/>
        </p:nvSpPr>
        <p:spPr>
          <a:xfrm>
            <a:off x="4818888" y="4105656"/>
            <a:ext cx="2331720" cy="38404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764024" y="4041648"/>
            <a:ext cx="23317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37176" y="4114800"/>
            <a:ext cx="2185415" cy="228600"/>
          </a:xfrm>
          <a:prstGeom prst="rect">
            <a:avLst/>
          </a:prstGeom>
          <a:noFill/>
        </p:spPr>
        <p:txBody>
          <a:bodyPr wrap="none" lIns="45720" rIns="45720" anchor="ctr">
            <a:spAutoFit/>
          </a:bodyPr>
          <a:lstStyle/>
          <a:p>
            <a:pPr algn="ctr"/>
            <a:r>
              <a:rPr sz="1400" b="1">
                <a:solidFill>
                  <a:srgbClr val="36383D"/>
                </a:solidFill>
                <a:latin typeface="Aptos"/>
              </a:rPr>
              <a:t>Meinung zählt</a:t>
            </a:r>
          </a:p>
        </p:txBody>
      </p:sp>
      <p:sp>
        <p:nvSpPr>
          <p:cNvPr id="35" name="Rounded Rectangle 34"/>
          <p:cNvSpPr/>
          <p:nvPr/>
        </p:nvSpPr>
        <p:spPr>
          <a:xfrm>
            <a:off x="4818888" y="4562856"/>
            <a:ext cx="2331720" cy="38404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764024" y="4498848"/>
            <a:ext cx="23317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37176" y="4572000"/>
            <a:ext cx="2185415" cy="228600"/>
          </a:xfrm>
          <a:prstGeom prst="rect">
            <a:avLst/>
          </a:prstGeom>
          <a:noFill/>
        </p:spPr>
        <p:txBody>
          <a:bodyPr wrap="none" lIns="45720" rIns="45720" anchor="ctr">
            <a:spAutoFit/>
          </a:bodyPr>
          <a:lstStyle/>
          <a:p>
            <a:pPr algn="ctr"/>
            <a:r>
              <a:rPr sz="1400" b="1">
                <a:solidFill>
                  <a:srgbClr val="36383D"/>
                </a:solidFill>
                <a:latin typeface="Aptos"/>
              </a:rPr>
              <a:t>Selbstwirksamkeit stärken</a:t>
            </a:r>
          </a:p>
        </p:txBody>
      </p:sp>
      <p:sp>
        <p:nvSpPr>
          <p:cNvPr id="38" name="Rounded Rectangle 37"/>
          <p:cNvSpPr/>
          <p:nvPr/>
        </p:nvSpPr>
        <p:spPr>
          <a:xfrm>
            <a:off x="8083296" y="3218688"/>
            <a:ext cx="3154680" cy="196596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28431" y="3154680"/>
            <a:ext cx="3154680" cy="1965960"/>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47888" y="3419856"/>
            <a:ext cx="2743200" cy="411480"/>
          </a:xfrm>
          <a:prstGeom prst="rect">
            <a:avLst/>
          </a:prstGeom>
          <a:noFill/>
        </p:spPr>
        <p:txBody>
          <a:bodyPr wrap="none" lIns="45720" rIns="45720" anchor="t">
            <a:spAutoFit/>
          </a:bodyPr>
          <a:lstStyle/>
          <a:p>
            <a:pPr algn="ctr"/>
            <a:r>
              <a:rPr sz="2100" b="1">
                <a:solidFill>
                  <a:srgbClr val="36383D"/>
                </a:solidFill>
                <a:latin typeface="Aptos"/>
              </a:rPr>
              <a:t>Feedbackkultur</a:t>
            </a:r>
          </a:p>
        </p:txBody>
      </p:sp>
      <p:sp>
        <p:nvSpPr>
          <p:cNvPr id="41" name="Rounded Rectangle 40"/>
          <p:cNvSpPr/>
          <p:nvPr/>
        </p:nvSpPr>
        <p:spPr>
          <a:xfrm>
            <a:off x="8476488" y="4105656"/>
            <a:ext cx="2331720" cy="38404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421624" y="4041648"/>
            <a:ext cx="23317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114800"/>
            <a:ext cx="2185415" cy="228600"/>
          </a:xfrm>
          <a:prstGeom prst="rect">
            <a:avLst/>
          </a:prstGeom>
          <a:noFill/>
        </p:spPr>
        <p:txBody>
          <a:bodyPr wrap="none" lIns="45720" rIns="45720" anchor="ctr">
            <a:spAutoFit/>
          </a:bodyPr>
          <a:lstStyle/>
          <a:p>
            <a:pPr algn="ctr"/>
            <a:r>
              <a:rPr sz="1400" b="1">
                <a:solidFill>
                  <a:srgbClr val="36383D"/>
                </a:solidFill>
                <a:latin typeface="Aptos"/>
              </a:rPr>
              <a:t>Lernfortschritte sehen</a:t>
            </a:r>
          </a:p>
        </p:txBody>
      </p:sp>
      <p:sp>
        <p:nvSpPr>
          <p:cNvPr id="44" name="Rounded Rectangle 43"/>
          <p:cNvSpPr/>
          <p:nvPr/>
        </p:nvSpPr>
        <p:spPr>
          <a:xfrm>
            <a:off x="8476488" y="4562856"/>
            <a:ext cx="2331720" cy="38404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421624" y="4498848"/>
            <a:ext cx="23317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4776" y="4572000"/>
            <a:ext cx="2185415" cy="228600"/>
          </a:xfrm>
          <a:prstGeom prst="rect">
            <a:avLst/>
          </a:prstGeom>
          <a:noFill/>
        </p:spPr>
        <p:txBody>
          <a:bodyPr wrap="none" lIns="45720" rIns="45720" anchor="ctr">
            <a:spAutoFit/>
          </a:bodyPr>
          <a:lstStyle/>
          <a:p>
            <a:pPr algn="ctr"/>
            <a:r>
              <a:rPr sz="1400" b="1">
                <a:solidFill>
                  <a:srgbClr val="36383D"/>
                </a:solidFill>
                <a:latin typeface="Aptos"/>
              </a:rPr>
              <a:t>Stärken entwickeln</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resetID="10" presetClass="entr" presetSubtype="0" nodeType="clickEffect">
                      <p:stCondLst>
                        <p:cond delay="0"/>
                      </p:stCondLst>
                      <p:childTnLst>
                        <p:animEffect transition="in" filter="fade">
                          <p:cBhvr>
                            <p:cTn id="4" dur="450" fill="hold"/>
                            <p:tgtEl>
                              <p:spTgt spid="4"/>
                            </p:tgtEl>
                          </p:cBhvr>
                        </p:animEffect>
                      </p:childTnLst>
                    </p:cTn>
                  </p:par>
                  <p:par>
                    <p:cTn id="5" fill="hold" presetID="10" presetClass="entr" presetSubtype="0" nodeType="afterEffect">
                      <p:stCondLst>
                        <p:cond delay="250"/>
                      </p:stCondLst>
                      <p:childTnLst>
                        <p:animEffect transition="in" filter="fade">
                          <p:cBhvr>
                            <p:cTn id="6" dur="450" fill="hold"/>
                            <p:tgtEl>
                              <p:spTgt spid="5"/>
                            </p:tgtEl>
                          </p:cBhvr>
                        </p:animEffect>
                      </p:childTnLst>
                    </p:cTn>
                  </p:par>
                  <p:par>
                    <p:cTn id="7" fill="hold" presetID="10" presetClass="entr" presetSubtype="0" nodeType="afterEffect">
                      <p:stCondLst>
                        <p:cond delay="250"/>
                      </p:stCondLst>
                      <p:childTnLst>
                        <p:animEffect transition="in" filter="fade">
                          <p:cBhvr>
                            <p:cTn id="8" dur="450" fill="hold"/>
                            <p:tgtEl>
                              <p:spTgt spid="22"/>
                            </p:tgtEl>
                          </p:cBhvr>
                        </p:animEffect>
                      </p:childTnLst>
                    </p:cTn>
                  </p:par>
                  <p:par>
                    <p:cTn id="9" fill="hold" presetID="10" presetClass="entr" presetSubtype="0" nodeType="afterEffect">
                      <p:stCondLst>
                        <p:cond delay="250"/>
                      </p:stCondLst>
                      <p:childTnLst>
                        <p:animEffect transition="in" filter="fade">
                          <p:cBhvr>
                            <p:cTn id="10" dur="450" fill="hold"/>
                            <p:tgtEl>
                              <p:spTgt spid="31"/>
                            </p:tgtEl>
                          </p:cBhvr>
                        </p:animEffect>
                      </p:childTnLst>
                    </p:cTn>
                  </p:par>
                  <p:par>
                    <p:cTn id="11" fill="hold" presetID="10" presetClass="entr" presetSubtype="0" nodeType="afterEffect">
                      <p:stCondLst>
                        <p:cond delay="250"/>
                      </p:stCondLst>
                      <p:childTnLst>
                        <p:animEffect transition="in" filter="fade">
                          <p:cBhvr>
                            <p:cTn id="12" dur="450" fill="hold"/>
                            <p:tgtEl>
                              <p:spTgt spid="40"/>
                            </p:tgtEl>
                          </p:cBhvr>
                        </p:animEffect>
                      </p:childTnLst>
                    </p:cTn>
                  </p:par>
                </p:childTnLst>
              </p:cTn>
            </p:seq>
          </p:childTnLst>
        </p:cTn>
      </p:par>
    </p:tnLst>
    <p:bldLst>
      <p:bldP spid="4" grpId="0" build="allAtOnce"/>
      <p:bldP spid="5" grpId="0" build="allAtOnce"/>
      <p:bldP spid="22" grpId="0" build="allAtOnce"/>
      <p:bldP spid="31" grpId="0" build="allAtOnce"/>
      <p:bldP spid="40" grpId="0" build="allAtOnce"/>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 y="-914400"/>
            <a:ext cx="3840480" cy="274320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5120640"/>
            <a:ext cx="3017520" cy="21945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132320" cy="640080"/>
          </a:xfrm>
          <a:prstGeom prst="rect">
            <a:avLst/>
          </a:prstGeom>
          <a:noFill/>
        </p:spPr>
        <p:txBody>
          <a:bodyPr wrap="none" lIns="45720" rIns="45720" anchor="t">
            <a:spAutoFit/>
          </a:bodyPr>
          <a:lstStyle/>
          <a:p>
            <a:pPr algn="l"/>
            <a:r>
              <a:rPr sz="4200" b="1">
                <a:solidFill>
                  <a:srgbClr val="36383D"/>
                </a:solidFill>
                <a:latin typeface="Aptos Display"/>
              </a:rPr>
              <a:t>Kurze Umfrage</a:t>
            </a:r>
          </a:p>
        </p:txBody>
      </p:sp>
      <p:sp>
        <p:nvSpPr>
          <p:cNvPr id="5" name="TextBox 4"/>
          <p:cNvSpPr txBox="1"/>
          <p:nvPr/>
        </p:nvSpPr>
        <p:spPr>
          <a:xfrm>
            <a:off x="640080" y="1252728"/>
            <a:ext cx="7132320" cy="320040"/>
          </a:xfrm>
          <a:prstGeom prst="rect">
            <a:avLst/>
          </a:prstGeom>
          <a:noFill/>
        </p:spPr>
        <p:txBody>
          <a:bodyPr wrap="none" lIns="45720" rIns="45720" anchor="t">
            <a:spAutoFit/>
          </a:bodyPr>
          <a:lstStyle/>
          <a:p>
            <a:pPr algn="l"/>
            <a:r>
              <a:rPr sz="1800" b="0">
                <a:solidFill>
                  <a:srgbClr val="6E7278"/>
                </a:solidFill>
                <a:latin typeface="Aptos"/>
              </a:rPr>
              <a:t>Publikum einbinden</a:t>
            </a:r>
          </a:p>
        </p:txBody>
      </p:sp>
      <p:sp>
        <p:nvSpPr>
          <p:cNvPr id="6" name="Rounded Rectangle 5"/>
          <p:cNvSpPr/>
          <p:nvPr/>
        </p:nvSpPr>
        <p:spPr>
          <a:xfrm>
            <a:off x="2020824" y="1819656"/>
            <a:ext cx="8275320" cy="91440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965960" y="1755648"/>
            <a:ext cx="82753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40280" y="1993392"/>
            <a:ext cx="7726679" cy="384048"/>
          </a:xfrm>
          <a:prstGeom prst="rect">
            <a:avLst/>
          </a:prstGeom>
          <a:noFill/>
        </p:spPr>
        <p:txBody>
          <a:bodyPr wrap="none" lIns="45720" rIns="45720" anchor="t">
            <a:spAutoFit/>
          </a:bodyPr>
          <a:lstStyle/>
          <a:p>
            <a:pPr algn="ctr"/>
            <a:r>
              <a:rPr sz="2500" b="1">
                <a:solidFill>
                  <a:srgbClr val="36383D"/>
                </a:solidFill>
                <a:latin typeface="Aptos"/>
              </a:rPr>
              <a:t>Was beeinflusst euer Wohlbefinden in der Schule am stärksten?</a:t>
            </a:r>
          </a:p>
        </p:txBody>
      </p:sp>
      <p:sp>
        <p:nvSpPr>
          <p:cNvPr id="9" name="Rounded Rectangle 8"/>
          <p:cNvSpPr/>
          <p:nvPr/>
        </p:nvSpPr>
        <p:spPr>
          <a:xfrm>
            <a:off x="1289304" y="3310127"/>
            <a:ext cx="4434840" cy="56692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234440" y="3246120"/>
            <a:ext cx="4434840" cy="566928"/>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99032" y="3392424"/>
            <a:ext cx="4114800" cy="228600"/>
          </a:xfrm>
          <a:prstGeom prst="rect">
            <a:avLst/>
          </a:prstGeom>
          <a:noFill/>
        </p:spPr>
        <p:txBody>
          <a:bodyPr wrap="none" lIns="45720" rIns="45720" anchor="t">
            <a:spAutoFit/>
          </a:bodyPr>
          <a:lstStyle/>
          <a:p>
            <a:pPr algn="ctr"/>
            <a:r>
              <a:rPr sz="1900" b="1">
                <a:solidFill>
                  <a:srgbClr val="36383D"/>
                </a:solidFill>
                <a:latin typeface="Aptos"/>
              </a:rPr>
              <a:t>📚 Notendruck</a:t>
            </a:r>
          </a:p>
        </p:txBody>
      </p:sp>
      <p:sp>
        <p:nvSpPr>
          <p:cNvPr id="12" name="Rounded Rectangle 11"/>
          <p:cNvSpPr/>
          <p:nvPr/>
        </p:nvSpPr>
        <p:spPr>
          <a:xfrm>
            <a:off x="6364224" y="3310127"/>
            <a:ext cx="4434840" cy="56692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9360" y="3246120"/>
            <a:ext cx="4434840" cy="566928"/>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3392424"/>
            <a:ext cx="4114800" cy="228600"/>
          </a:xfrm>
          <a:prstGeom prst="rect">
            <a:avLst/>
          </a:prstGeom>
          <a:noFill/>
        </p:spPr>
        <p:txBody>
          <a:bodyPr wrap="none" lIns="45720" rIns="45720" anchor="t">
            <a:spAutoFit/>
          </a:bodyPr>
          <a:lstStyle/>
          <a:p>
            <a:pPr algn="ctr"/>
            <a:r>
              <a:rPr sz="1900" b="1">
                <a:solidFill>
                  <a:srgbClr val="36383D"/>
                </a:solidFill>
                <a:latin typeface="Aptos"/>
              </a:rPr>
              <a:t>👩‍🏫 Lehrkräfte</a:t>
            </a:r>
          </a:p>
        </p:txBody>
      </p:sp>
      <p:sp>
        <p:nvSpPr>
          <p:cNvPr id="15" name="Rounded Rectangle 14"/>
          <p:cNvSpPr/>
          <p:nvPr/>
        </p:nvSpPr>
        <p:spPr>
          <a:xfrm>
            <a:off x="1289304" y="4151376"/>
            <a:ext cx="4434840" cy="56692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234440" y="4087368"/>
            <a:ext cx="4434840" cy="566928"/>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99032" y="4233672"/>
            <a:ext cx="4114800" cy="228600"/>
          </a:xfrm>
          <a:prstGeom prst="rect">
            <a:avLst/>
          </a:prstGeom>
          <a:noFill/>
        </p:spPr>
        <p:txBody>
          <a:bodyPr wrap="none" lIns="45720" rIns="45720" anchor="t">
            <a:spAutoFit/>
          </a:bodyPr>
          <a:lstStyle/>
          <a:p>
            <a:pPr algn="ctr"/>
            <a:r>
              <a:rPr sz="1900" b="1">
                <a:solidFill>
                  <a:srgbClr val="36383D"/>
                </a:solidFill>
                <a:latin typeface="Aptos"/>
              </a:rPr>
              <a:t>👥 Mitschüler</a:t>
            </a:r>
          </a:p>
        </p:txBody>
      </p:sp>
      <p:sp>
        <p:nvSpPr>
          <p:cNvPr id="18" name="Rounded Rectangle 17"/>
          <p:cNvSpPr/>
          <p:nvPr/>
        </p:nvSpPr>
        <p:spPr>
          <a:xfrm>
            <a:off x="6364224" y="4151376"/>
            <a:ext cx="4434840" cy="566928"/>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09360" y="4087368"/>
            <a:ext cx="4434840" cy="566928"/>
          </a:xfrm>
          <a:prstGeom prst="roundRect">
            <a:avLst/>
          </a:prstGeom>
          <a:solidFill>
            <a:srgbClr val="EA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4233672"/>
            <a:ext cx="4114800" cy="228600"/>
          </a:xfrm>
          <a:prstGeom prst="rect">
            <a:avLst/>
          </a:prstGeom>
          <a:noFill/>
        </p:spPr>
        <p:txBody>
          <a:bodyPr wrap="none" lIns="45720" rIns="45720" anchor="t">
            <a:spAutoFit/>
          </a:bodyPr>
          <a:lstStyle/>
          <a:p>
            <a:pPr algn="ctr"/>
            <a:r>
              <a:rPr sz="1900" b="1">
                <a:solidFill>
                  <a:srgbClr val="36383D"/>
                </a:solidFill>
                <a:latin typeface="Aptos"/>
              </a:rPr>
              <a:t>🕒 Zeitstress</a:t>
            </a:r>
          </a:p>
        </p:txBody>
      </p:sp>
      <p:sp>
        <p:nvSpPr>
          <p:cNvPr id="21" name="TextBox 20"/>
          <p:cNvSpPr txBox="1"/>
          <p:nvPr/>
        </p:nvSpPr>
        <p:spPr>
          <a:xfrm>
            <a:off x="4892040" y="5102352"/>
            <a:ext cx="2377440" cy="310896"/>
          </a:xfrm>
          <a:prstGeom prst="rect">
            <a:avLst/>
          </a:prstGeom>
          <a:noFill/>
        </p:spPr>
        <p:txBody>
          <a:bodyPr wrap="none" lIns="45720" rIns="45720" anchor="t">
            <a:spAutoFit/>
          </a:bodyPr>
          <a:lstStyle/>
          <a:p>
            <a:pPr algn="ctr"/>
            <a:r>
              <a:rPr sz="1800" b="1">
                <a:solidFill>
                  <a:srgbClr val="6E7278"/>
                </a:solidFill>
                <a:latin typeface="Aptos"/>
              </a:rPr>
              <a:t>Kurzes Handzeichen</a:t>
            </a:r>
          </a:p>
        </p:txBody>
      </p:sp>
      <p:sp>
        <p:nvSpPr>
          <p:cNvPr id="22" name="Rounded Rectangle 21"/>
          <p:cNvSpPr/>
          <p:nvPr/>
        </p:nvSpPr>
        <p:spPr>
          <a:xfrm>
            <a:off x="2596896" y="5715000"/>
            <a:ext cx="7086600" cy="493776"/>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542032" y="5650992"/>
            <a:ext cx="7086600" cy="493776"/>
          </a:xfrm>
          <a:prstGeom prst="roundRect">
            <a:avLst/>
          </a:prstGeom>
          <a:solidFill>
            <a:srgbClr val="D8F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88920" y="5788152"/>
            <a:ext cx="6583680" cy="210312"/>
          </a:xfrm>
          <a:prstGeom prst="rect">
            <a:avLst/>
          </a:prstGeom>
          <a:noFill/>
        </p:spPr>
        <p:txBody>
          <a:bodyPr wrap="none" lIns="45720" rIns="45720" anchor="t">
            <a:spAutoFit/>
          </a:bodyPr>
          <a:lstStyle/>
          <a:p>
            <a:pPr algn="ctr"/>
            <a:r>
              <a:rPr sz="1700" b="1">
                <a:solidFill>
                  <a:srgbClr val="36383D"/>
                </a:solidFill>
                <a:latin typeface="Aptos"/>
              </a:rPr>
              <a:t>Alle Faktoren spielen laut Facharbeit eine wichtige Rolle.</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presetID="10" presetClass="entr" presetSubtype="0" nodeType="clickEffect">
                      <p:stCondLst>
                        <p:cond delay="0"/>
                      </p:stCondLst>
                      <p:childTnLst>
                        <p:animEffect transition="in" filter="fade">
                          <p:cBhvr>
                            <p:cTn id="4" dur="450" fill="hold"/>
                            <p:tgtEl>
                              <p:spTgt spid="4"/>
                            </p:tgtEl>
                          </p:cBhvr>
                        </p:animEffect>
                      </p:childTnLst>
                    </p:cTn>
                  </p:par>
                  <p:par>
                    <p:cTn id="5" fill="hold" presetID="10" presetClass="entr" presetSubtype="0" nodeType="afterEffect">
                      <p:stCondLst>
                        <p:cond delay="250"/>
                      </p:stCondLst>
                      <p:childTnLst>
                        <p:animEffect transition="in" filter="fade">
                          <p:cBhvr>
                            <p:cTn id="6" dur="450" fill="hold"/>
                            <p:tgtEl>
                              <p:spTgt spid="5"/>
                            </p:tgtEl>
                          </p:cBhvr>
                        </p:animEffect>
                      </p:childTnLst>
                    </p:cTn>
                  </p:par>
                  <p:par>
                    <p:cTn id="7" fill="hold" presetID="10" presetClass="entr" presetSubtype="0" nodeType="afterEffect">
                      <p:stCondLst>
                        <p:cond delay="250"/>
                      </p:stCondLst>
                      <p:childTnLst>
                        <p:animEffect transition="in" filter="fade">
                          <p:cBhvr>
                            <p:cTn id="8" dur="450" fill="hold"/>
                            <p:tgtEl>
                              <p:spTgt spid="8"/>
                            </p:tgtEl>
                          </p:cBhvr>
                        </p:animEffect>
                      </p:childTnLst>
                    </p:cTn>
                  </p:par>
                  <p:par>
                    <p:cTn id="9" fill="hold" presetID="10" presetClass="entr" presetSubtype="0" nodeType="afterEffect">
                      <p:stCondLst>
                        <p:cond delay="250"/>
                      </p:stCondLst>
                      <p:childTnLst>
                        <p:animEffect transition="in" filter="fade">
                          <p:cBhvr>
                            <p:cTn id="10" dur="450" fill="hold"/>
                            <p:tgtEl>
                              <p:spTgt spid="11"/>
                            </p:tgtEl>
                          </p:cBhvr>
                        </p:animEffect>
                      </p:childTnLst>
                    </p:cTn>
                  </p:par>
                  <p:par>
                    <p:cTn id="11" fill="hold" presetID="10" presetClass="entr" presetSubtype="0" nodeType="afterEffect">
                      <p:stCondLst>
                        <p:cond delay="250"/>
                      </p:stCondLst>
                      <p:childTnLst>
                        <p:animEffect transition="in" filter="fade">
                          <p:cBhvr>
                            <p:cTn id="12" dur="450" fill="hold"/>
                            <p:tgtEl>
                              <p:spTgt spid="14"/>
                            </p:tgtEl>
                          </p:cBhvr>
                        </p:animEffect>
                      </p:childTnLst>
                    </p:cTn>
                  </p:par>
                  <p:par>
                    <p:cTn id="13" fill="hold" presetID="10" presetClass="entr" presetSubtype="0" nodeType="afterEffect">
                      <p:stCondLst>
                        <p:cond delay="250"/>
                      </p:stCondLst>
                      <p:childTnLst>
                        <p:animEffect transition="in" filter="fade">
                          <p:cBhvr>
                            <p:cTn id="14" dur="450" fill="hold"/>
                            <p:tgtEl>
                              <p:spTgt spid="17"/>
                            </p:tgtEl>
                          </p:cBhvr>
                        </p:animEffect>
                      </p:childTnLst>
                    </p:cTn>
                  </p:par>
                  <p:par>
                    <p:cTn id="15" fill="hold" presetID="10" presetClass="entr" presetSubtype="0" nodeType="afterEffect">
                      <p:stCondLst>
                        <p:cond delay="250"/>
                      </p:stCondLst>
                      <p:childTnLst>
                        <p:animEffect transition="in" filter="fade">
                          <p:cBhvr>
                            <p:cTn id="16" dur="450" fill="hold"/>
                            <p:tgtEl>
                              <p:spTgt spid="20"/>
                            </p:tgtEl>
                          </p:cBhvr>
                        </p:animEffect>
                      </p:childTnLst>
                    </p:cTn>
                  </p:par>
                  <p:par>
                    <p:cTn id="17" fill="hold" presetID="10" presetClass="entr" presetSubtype="0" nodeType="afterEffect">
                      <p:stCondLst>
                        <p:cond delay="250"/>
                      </p:stCondLst>
                      <p:childTnLst>
                        <p:animEffect transition="in" filter="fade">
                          <p:cBhvr>
                            <p:cTn id="18" dur="450" fill="hold"/>
                            <p:tgtEl>
                              <p:spTgt spid="21"/>
                            </p:tgtEl>
                          </p:cBhvr>
                        </p:animEffect>
                      </p:childTnLst>
                    </p:cTn>
                  </p:par>
                  <p:par>
                    <p:cTn id="19" fill="hold" presetID="10" presetClass="entr" presetSubtype="0" nodeType="afterEffect">
                      <p:stCondLst>
                        <p:cond delay="250"/>
                      </p:stCondLst>
                      <p:childTnLst>
                        <p:animEffect transition="in" filter="fade">
                          <p:cBhvr>
                            <p:cTn id="20" dur="450" fill="hold"/>
                            <p:tgtEl>
                              <p:spTgt spid="24"/>
                            </p:tgtEl>
                          </p:cBhvr>
                        </p:animEffect>
                      </p:childTnLst>
                    </p:cTn>
                  </p:par>
                </p:childTnLst>
              </p:cTn>
            </p:seq>
          </p:childTnLst>
        </p:cTn>
      </p:par>
    </p:tnLst>
    <p:bldLst>
      <p:bldP spid="4" grpId="0" build="allAtOnce"/>
      <p:bldP spid="5" grpId="0" build="allAtOnce"/>
      <p:bldP spid="8" grpId="0" build="allAtOnce"/>
      <p:bldP spid="11" grpId="0" build="allAtOnce"/>
      <p:bldP spid="14" grpId="0" build="allAtOnce"/>
      <p:bldP spid="17" grpId="0" build="allAtOnce"/>
      <p:bldP spid="20" grpId="0" build="allAtOnce"/>
      <p:bldP spid="21" grpId="0" build="allAtOnce"/>
      <p:bldP spid="24" grpId="0" build="allAtOnce"/>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 y="-914400"/>
            <a:ext cx="3840480" cy="2743200"/>
          </a:xfrm>
          <a:prstGeom prst="ellipse">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5120640"/>
            <a:ext cx="3017520" cy="21945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132320" cy="640080"/>
          </a:xfrm>
          <a:prstGeom prst="rect">
            <a:avLst/>
          </a:prstGeom>
          <a:noFill/>
        </p:spPr>
        <p:txBody>
          <a:bodyPr wrap="none" lIns="45720" rIns="45720" anchor="t">
            <a:spAutoFit/>
          </a:bodyPr>
          <a:lstStyle/>
          <a:p>
            <a:pPr algn="l"/>
            <a:r>
              <a:rPr sz="4200" b="1">
                <a:solidFill>
                  <a:srgbClr val="36383D"/>
                </a:solidFill>
                <a:latin typeface="Aptos Display"/>
              </a:rPr>
              <a:t>Internationaler Vergleich</a:t>
            </a:r>
          </a:p>
        </p:txBody>
      </p:sp>
      <p:sp>
        <p:nvSpPr>
          <p:cNvPr id="5" name="TextBox 4"/>
          <p:cNvSpPr txBox="1"/>
          <p:nvPr/>
        </p:nvSpPr>
        <p:spPr>
          <a:xfrm>
            <a:off x="640080" y="1252728"/>
            <a:ext cx="7132320" cy="320040"/>
          </a:xfrm>
          <a:prstGeom prst="rect">
            <a:avLst/>
          </a:prstGeom>
          <a:noFill/>
        </p:spPr>
        <p:txBody>
          <a:bodyPr wrap="none" lIns="45720" rIns="45720" anchor="t">
            <a:spAutoFit/>
          </a:bodyPr>
          <a:lstStyle/>
          <a:p>
            <a:pPr algn="l"/>
            <a:r>
              <a:rPr sz="1800" b="0">
                <a:solidFill>
                  <a:srgbClr val="6E7278"/>
                </a:solidFill>
                <a:latin typeface="Aptos"/>
              </a:rPr>
              <a:t>Andere Strukturen, andere Schwerpunkte</a:t>
            </a:r>
          </a:p>
        </p:txBody>
      </p:sp>
      <p:sp>
        <p:nvSpPr>
          <p:cNvPr id="6" name="Rounded Rectangle 5"/>
          <p:cNvSpPr/>
          <p:nvPr/>
        </p:nvSpPr>
        <p:spPr>
          <a:xfrm>
            <a:off x="877824" y="1984248"/>
            <a:ext cx="3246120" cy="306324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920240"/>
            <a:ext cx="3246120" cy="3063240"/>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212848"/>
            <a:ext cx="2788920" cy="310896"/>
          </a:xfrm>
          <a:prstGeom prst="rect">
            <a:avLst/>
          </a:prstGeom>
          <a:noFill/>
        </p:spPr>
        <p:txBody>
          <a:bodyPr wrap="none" lIns="45720" rIns="45720" anchor="t">
            <a:spAutoFit/>
          </a:bodyPr>
          <a:lstStyle/>
          <a:p>
            <a:pPr algn="ctr"/>
            <a:r>
              <a:rPr sz="2300" b="1">
                <a:solidFill>
                  <a:srgbClr val="36383D"/>
                </a:solidFill>
                <a:latin typeface="Aptos"/>
              </a:rPr>
              <a:t>DE</a:t>
            </a:r>
          </a:p>
        </p:txBody>
      </p:sp>
      <p:sp>
        <p:nvSpPr>
          <p:cNvPr id="9" name="TextBox 8"/>
          <p:cNvSpPr txBox="1"/>
          <p:nvPr/>
        </p:nvSpPr>
        <p:spPr>
          <a:xfrm>
            <a:off x="1051560" y="2697480"/>
            <a:ext cx="2788920" cy="320040"/>
          </a:xfrm>
          <a:prstGeom prst="rect">
            <a:avLst/>
          </a:prstGeom>
          <a:noFill/>
        </p:spPr>
        <p:txBody>
          <a:bodyPr wrap="none" lIns="45720" rIns="45720" anchor="t">
            <a:spAutoFit/>
          </a:bodyPr>
          <a:lstStyle/>
          <a:p>
            <a:pPr algn="ctr"/>
            <a:r>
              <a:rPr sz="2100" b="1">
                <a:solidFill>
                  <a:srgbClr val="36383D"/>
                </a:solidFill>
                <a:latin typeface="Aptos"/>
              </a:rPr>
              <a:t>Deutschland</a:t>
            </a:r>
          </a:p>
        </p:txBody>
      </p:sp>
      <p:sp>
        <p:nvSpPr>
          <p:cNvPr id="10" name="TextBox 9"/>
          <p:cNvSpPr txBox="1"/>
          <p:nvPr/>
        </p:nvSpPr>
        <p:spPr>
          <a:xfrm>
            <a:off x="1325880" y="3337560"/>
            <a:ext cx="2148840" cy="868680"/>
          </a:xfrm>
          <a:prstGeom prst="rect">
            <a:avLst/>
          </a:prstGeom>
          <a:noFill/>
        </p:spPr>
        <p:txBody>
          <a:bodyPr wrap="none" lIns="73152" rIns="73152" tIns="18288" bIns="18288">
            <a:spAutoFit/>
          </a:bodyPr>
          <a:lstStyle/>
          <a:p>
            <a:pPr marL="228600" indent="-127000">
              <a:spcAft>
                <a:spcPts val="880"/>
              </a:spcAft>
              <a:defRPr sz="1800">
                <a:solidFill>
                  <a:srgbClr val="36383D"/>
                </a:solidFill>
                <a:latin typeface="Aptos"/>
              </a:defRPr>
              <a:buChar char="•"/>
            </a:pPr>
            <a:r>
              <a:t>frühe Aufteilung</a:t>
            </a:r>
          </a:p>
          <a:p>
            <a:pPr marL="228600" indent="-127000">
              <a:spcAft>
                <a:spcPts val="880"/>
              </a:spcAft>
              <a:defRPr sz="1800">
                <a:solidFill>
                  <a:srgbClr val="36383D"/>
                </a:solidFill>
                <a:latin typeface="Aptos"/>
              </a:defRPr>
              <a:buChar char="•"/>
            </a:pPr>
            <a:r>
              <a:t>viele Noten</a:t>
            </a:r>
          </a:p>
        </p:txBody>
      </p:sp>
      <p:sp>
        <p:nvSpPr>
          <p:cNvPr id="11" name="Rounded Rectangle 10"/>
          <p:cNvSpPr/>
          <p:nvPr/>
        </p:nvSpPr>
        <p:spPr>
          <a:xfrm>
            <a:off x="4626864" y="1984248"/>
            <a:ext cx="3246120" cy="306324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0" y="1920240"/>
            <a:ext cx="3246120" cy="3063240"/>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212848"/>
            <a:ext cx="2788920" cy="310896"/>
          </a:xfrm>
          <a:prstGeom prst="rect">
            <a:avLst/>
          </a:prstGeom>
          <a:noFill/>
        </p:spPr>
        <p:txBody>
          <a:bodyPr wrap="none" lIns="45720" rIns="45720" anchor="t">
            <a:spAutoFit/>
          </a:bodyPr>
          <a:lstStyle/>
          <a:p>
            <a:pPr algn="ctr"/>
            <a:r>
              <a:rPr sz="2300" b="1">
                <a:solidFill>
                  <a:srgbClr val="36383D"/>
                </a:solidFill>
                <a:latin typeface="Aptos"/>
              </a:rPr>
              <a:t>FI</a:t>
            </a:r>
          </a:p>
        </p:txBody>
      </p:sp>
      <p:sp>
        <p:nvSpPr>
          <p:cNvPr id="14" name="TextBox 13"/>
          <p:cNvSpPr txBox="1"/>
          <p:nvPr/>
        </p:nvSpPr>
        <p:spPr>
          <a:xfrm>
            <a:off x="4800600" y="2697480"/>
            <a:ext cx="2788920" cy="320040"/>
          </a:xfrm>
          <a:prstGeom prst="rect">
            <a:avLst/>
          </a:prstGeom>
          <a:noFill/>
        </p:spPr>
        <p:txBody>
          <a:bodyPr wrap="none" lIns="45720" rIns="45720" anchor="t">
            <a:spAutoFit/>
          </a:bodyPr>
          <a:lstStyle/>
          <a:p>
            <a:pPr algn="ctr"/>
            <a:r>
              <a:rPr sz="2100" b="1">
                <a:solidFill>
                  <a:srgbClr val="36383D"/>
                </a:solidFill>
                <a:latin typeface="Aptos"/>
              </a:rPr>
              <a:t>Finnland</a:t>
            </a:r>
          </a:p>
        </p:txBody>
      </p:sp>
      <p:sp>
        <p:nvSpPr>
          <p:cNvPr id="15" name="TextBox 14"/>
          <p:cNvSpPr txBox="1"/>
          <p:nvPr/>
        </p:nvSpPr>
        <p:spPr>
          <a:xfrm>
            <a:off x="5074920" y="3337560"/>
            <a:ext cx="2148840" cy="868680"/>
          </a:xfrm>
          <a:prstGeom prst="rect">
            <a:avLst/>
          </a:prstGeom>
          <a:noFill/>
        </p:spPr>
        <p:txBody>
          <a:bodyPr wrap="none" lIns="73152" rIns="73152" tIns="18288" bIns="18288">
            <a:spAutoFit/>
          </a:bodyPr>
          <a:lstStyle/>
          <a:p>
            <a:pPr marL="228600" indent="-127000">
              <a:spcAft>
                <a:spcPts val="880"/>
              </a:spcAft>
              <a:defRPr sz="1800">
                <a:solidFill>
                  <a:srgbClr val="36383D"/>
                </a:solidFill>
                <a:latin typeface="Aptos"/>
              </a:defRPr>
              <a:buChar char="•"/>
            </a:pPr>
            <a:r>
              <a:t>längeres gemeinsames Lernen</a:t>
            </a:r>
          </a:p>
          <a:p>
            <a:pPr marL="228600" indent="-127000">
              <a:spcAft>
                <a:spcPts val="880"/>
              </a:spcAft>
              <a:defRPr sz="1800">
                <a:solidFill>
                  <a:srgbClr val="36383D"/>
                </a:solidFill>
                <a:latin typeface="Aptos"/>
              </a:defRPr>
              <a:buChar char="•"/>
            </a:pPr>
            <a:r>
              <a:t>spätere Leistungsdifferenzierung</a:t>
            </a:r>
          </a:p>
        </p:txBody>
      </p:sp>
      <p:sp>
        <p:nvSpPr>
          <p:cNvPr id="16" name="Rounded Rectangle 15"/>
          <p:cNvSpPr/>
          <p:nvPr/>
        </p:nvSpPr>
        <p:spPr>
          <a:xfrm>
            <a:off x="8375904" y="1984248"/>
            <a:ext cx="3246120" cy="306324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21040" y="1920240"/>
            <a:ext cx="3246120" cy="3063240"/>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2212848"/>
            <a:ext cx="2788920" cy="310896"/>
          </a:xfrm>
          <a:prstGeom prst="rect">
            <a:avLst/>
          </a:prstGeom>
          <a:noFill/>
        </p:spPr>
        <p:txBody>
          <a:bodyPr wrap="none" lIns="45720" rIns="45720" anchor="t">
            <a:spAutoFit/>
          </a:bodyPr>
          <a:lstStyle/>
          <a:p>
            <a:pPr algn="ctr"/>
            <a:r>
              <a:rPr sz="2300" b="1">
                <a:solidFill>
                  <a:srgbClr val="36383D"/>
                </a:solidFill>
                <a:latin typeface="Aptos"/>
              </a:rPr>
              <a:t>UK/US</a:t>
            </a:r>
          </a:p>
        </p:txBody>
      </p:sp>
      <p:sp>
        <p:nvSpPr>
          <p:cNvPr id="19" name="TextBox 18"/>
          <p:cNvSpPr txBox="1"/>
          <p:nvPr/>
        </p:nvSpPr>
        <p:spPr>
          <a:xfrm>
            <a:off x="8549640" y="2697480"/>
            <a:ext cx="2788920" cy="320040"/>
          </a:xfrm>
          <a:prstGeom prst="rect">
            <a:avLst/>
          </a:prstGeom>
          <a:noFill/>
        </p:spPr>
        <p:txBody>
          <a:bodyPr wrap="none" lIns="45720" rIns="45720" anchor="t">
            <a:spAutoFit/>
          </a:bodyPr>
          <a:lstStyle/>
          <a:p>
            <a:pPr algn="ctr"/>
            <a:r>
              <a:rPr sz="2100" b="1">
                <a:solidFill>
                  <a:srgbClr val="36383D"/>
                </a:solidFill>
                <a:latin typeface="Aptos"/>
              </a:rPr>
              <a:t>Angelsächsische Systeme</a:t>
            </a:r>
          </a:p>
        </p:txBody>
      </p:sp>
      <p:sp>
        <p:nvSpPr>
          <p:cNvPr id="20" name="TextBox 19"/>
          <p:cNvSpPr txBox="1"/>
          <p:nvPr/>
        </p:nvSpPr>
        <p:spPr>
          <a:xfrm>
            <a:off x="8823960" y="3337560"/>
            <a:ext cx="2148840" cy="868680"/>
          </a:xfrm>
          <a:prstGeom prst="rect">
            <a:avLst/>
          </a:prstGeom>
          <a:noFill/>
        </p:spPr>
        <p:txBody>
          <a:bodyPr wrap="none" lIns="73152" rIns="73152" tIns="18288" bIns="18288">
            <a:spAutoFit/>
          </a:bodyPr>
          <a:lstStyle/>
          <a:p>
            <a:pPr marL="228600" indent="-127000">
              <a:spcAft>
                <a:spcPts val="880"/>
              </a:spcAft>
              <a:defRPr sz="1800">
                <a:solidFill>
                  <a:srgbClr val="36383D"/>
                </a:solidFill>
                <a:latin typeface="Aptos"/>
              </a:defRPr>
              <a:buChar char="•"/>
            </a:pPr>
            <a:r>
              <a:t>mehr Praxis</a:t>
            </a:r>
          </a:p>
          <a:p>
            <a:pPr marL="228600" indent="-127000">
              <a:spcAft>
                <a:spcPts val="880"/>
              </a:spcAft>
              <a:defRPr sz="1800">
                <a:solidFill>
                  <a:srgbClr val="36383D"/>
                </a:solidFill>
                <a:latin typeface="Aptos"/>
              </a:defRPr>
              <a:buChar char="•"/>
            </a:pPr>
            <a:r>
              <a:t>mehr Wahlmöglichkeiten</a:t>
            </a:r>
          </a:p>
        </p:txBody>
      </p:sp>
      <p:sp>
        <p:nvSpPr>
          <p:cNvPr id="21" name="TextBox 20"/>
          <p:cNvSpPr txBox="1"/>
          <p:nvPr/>
        </p:nvSpPr>
        <p:spPr>
          <a:xfrm>
            <a:off x="4572000" y="5532120"/>
            <a:ext cx="3017520" cy="329184"/>
          </a:xfrm>
          <a:prstGeom prst="rect">
            <a:avLst/>
          </a:prstGeom>
          <a:noFill/>
        </p:spPr>
        <p:txBody>
          <a:bodyPr wrap="none" lIns="45720" rIns="45720" anchor="t">
            <a:spAutoFit/>
          </a:bodyPr>
          <a:lstStyle/>
          <a:p>
            <a:pPr algn="ctr"/>
            <a:r>
              <a:rPr sz="1800" b="1">
                <a:solidFill>
                  <a:srgbClr val="6E7278"/>
                </a:solidFill>
                <a:latin typeface="Aptos"/>
              </a:rPr>
              <a:t>kein System ist perfekt</a:t>
            </a:r>
          </a:p>
        </p:txBody>
      </p:sp>
    </p:spTree>
  </p:cSld>
  <p:clrMapOvr>
    <a:masterClrMapping/>
  </p:clrMapOvr>
  <p:transition spd="fast">
    <p:plus/>
  </p:transition>
  <p:timing>
    <p:tnLst>
      <p:par>
        <p:cTn id="1" dur="indefinite" restart="never" nodeType="tmRoot">
          <p:childTnLst>
            <p:seq concurrent="1" nextAc="seek">
              <p:cTn id="2" dur="indefinite" nodeType="mainSeq">
                <p:childTnLst>
                  <p:par>
                    <p:cTn id="3" fill="hold" presetID="10" presetClass="entr" presetSubtype="0" nodeType="clickEffect">
                      <p:stCondLst>
                        <p:cond delay="0"/>
                      </p:stCondLst>
                      <p:childTnLst>
                        <p:animEffect transition="in" filter="fade">
                          <p:cBhvr>
                            <p:cTn id="4" dur="450" fill="hold"/>
                            <p:tgtEl>
                              <p:spTgt spid="4"/>
                            </p:tgtEl>
                          </p:cBhvr>
                        </p:animEffect>
                      </p:childTnLst>
                    </p:cTn>
                  </p:par>
                  <p:par>
                    <p:cTn id="5" fill="hold" presetID="10" presetClass="entr" presetSubtype="0" nodeType="afterEffect">
                      <p:stCondLst>
                        <p:cond delay="250"/>
                      </p:stCondLst>
                      <p:childTnLst>
                        <p:animEffect transition="in" filter="fade">
                          <p:cBhvr>
                            <p:cTn id="6" dur="450" fill="hold"/>
                            <p:tgtEl>
                              <p:spTgt spid="5"/>
                            </p:tgtEl>
                          </p:cBhvr>
                        </p:animEffect>
                      </p:childTnLst>
                    </p:cTn>
                  </p:par>
                  <p:par>
                    <p:cTn id="7" fill="hold" presetID="10" presetClass="entr" presetSubtype="0" nodeType="afterEffect">
                      <p:stCondLst>
                        <p:cond delay="250"/>
                      </p:stCondLst>
                      <p:childTnLst>
                        <p:animEffect transition="in" filter="fade">
                          <p:cBhvr>
                            <p:cTn id="8" dur="450" fill="hold"/>
                            <p:tgtEl>
                              <p:spTgt spid="8"/>
                            </p:tgtEl>
                          </p:cBhvr>
                        </p:animEffect>
                      </p:childTnLst>
                    </p:cTn>
                  </p:par>
                  <p:par>
                    <p:cTn id="9" fill="hold" presetID="10" presetClass="entr" presetSubtype="0" nodeType="afterEffect">
                      <p:stCondLst>
                        <p:cond delay="250"/>
                      </p:stCondLst>
                      <p:childTnLst>
                        <p:animEffect transition="in" filter="fade">
                          <p:cBhvr>
                            <p:cTn id="10" dur="450" fill="hold"/>
                            <p:tgtEl>
                              <p:spTgt spid="9"/>
                            </p:tgtEl>
                          </p:cBhvr>
                        </p:animEffect>
                      </p:childTnLst>
                    </p:cTn>
                  </p:par>
                  <p:par>
                    <p:cTn id="11" fill="hold" presetID="10" presetClass="entr" presetSubtype="0" nodeType="afterEffect">
                      <p:stCondLst>
                        <p:cond delay="250"/>
                      </p:stCondLst>
                      <p:childTnLst>
                        <p:animEffect transition="in" filter="fade">
                          <p:cBhvr>
                            <p:cTn id="12" dur="450" fill="hold"/>
                            <p:tgtEl>
                              <p:spTgt spid="10"/>
                            </p:tgtEl>
                          </p:cBhvr>
                        </p:animEffect>
                      </p:childTnLst>
                    </p:cTn>
                  </p:par>
                  <p:par>
                    <p:cTn id="13" fill="hold" presetID="10" presetClass="entr" presetSubtype="0" nodeType="afterEffect">
                      <p:stCondLst>
                        <p:cond delay="250"/>
                      </p:stCondLst>
                      <p:childTnLst>
                        <p:animEffect transition="in" filter="fade">
                          <p:cBhvr>
                            <p:cTn id="14" dur="450" fill="hold"/>
                            <p:tgtEl>
                              <p:spTgt spid="13"/>
                            </p:tgtEl>
                          </p:cBhvr>
                        </p:animEffect>
                      </p:childTnLst>
                    </p:cTn>
                  </p:par>
                  <p:par>
                    <p:cTn id="15" fill="hold" presetID="10" presetClass="entr" presetSubtype="0" nodeType="afterEffect">
                      <p:stCondLst>
                        <p:cond delay="250"/>
                      </p:stCondLst>
                      <p:childTnLst>
                        <p:animEffect transition="in" filter="fade">
                          <p:cBhvr>
                            <p:cTn id="16" dur="450" fill="hold"/>
                            <p:tgtEl>
                              <p:spTgt spid="14"/>
                            </p:tgtEl>
                          </p:cBhvr>
                        </p:animEffect>
                      </p:childTnLst>
                    </p:cTn>
                  </p:par>
                  <p:par>
                    <p:cTn id="17" fill="hold" presetID="10" presetClass="entr" presetSubtype="0" nodeType="afterEffect">
                      <p:stCondLst>
                        <p:cond delay="250"/>
                      </p:stCondLst>
                      <p:childTnLst>
                        <p:animEffect transition="in" filter="fade">
                          <p:cBhvr>
                            <p:cTn id="18" dur="450" fill="hold"/>
                            <p:tgtEl>
                              <p:spTgt spid="15"/>
                            </p:tgtEl>
                          </p:cBhvr>
                        </p:animEffect>
                      </p:childTnLst>
                    </p:cTn>
                  </p:par>
                  <p:par>
                    <p:cTn id="19" fill="hold" presetID="10" presetClass="entr" presetSubtype="0" nodeType="afterEffect">
                      <p:stCondLst>
                        <p:cond delay="250"/>
                      </p:stCondLst>
                      <p:childTnLst>
                        <p:animEffect transition="in" filter="fade">
                          <p:cBhvr>
                            <p:cTn id="20" dur="450" fill="hold"/>
                            <p:tgtEl>
                              <p:spTgt spid="18"/>
                            </p:tgtEl>
                          </p:cBhvr>
                        </p:animEffect>
                      </p:childTnLst>
                    </p:cTn>
                  </p:par>
                  <p:par>
                    <p:cTn id="21" fill="hold" presetID="10" presetClass="entr" presetSubtype="0" nodeType="afterEffect">
                      <p:stCondLst>
                        <p:cond delay="250"/>
                      </p:stCondLst>
                      <p:childTnLst>
                        <p:animEffect transition="in" filter="fade">
                          <p:cBhvr>
                            <p:cTn id="22" dur="450" fill="hold"/>
                            <p:tgtEl>
                              <p:spTgt spid="19"/>
                            </p:tgtEl>
                          </p:cBhvr>
                        </p:animEffect>
                      </p:childTnLst>
                    </p:cTn>
                  </p:par>
                  <p:par>
                    <p:cTn id="23" fill="hold" presetID="10" presetClass="entr" presetSubtype="0" nodeType="afterEffect">
                      <p:stCondLst>
                        <p:cond delay="250"/>
                      </p:stCondLst>
                      <p:childTnLst>
                        <p:animEffect transition="in" filter="fade">
                          <p:cBhvr>
                            <p:cTn id="24" dur="450" fill="hold"/>
                            <p:tgtEl>
                              <p:spTgt spid="20"/>
                            </p:tgtEl>
                          </p:cBhvr>
                        </p:animEffect>
                      </p:childTnLst>
                    </p:cTn>
                  </p:par>
                  <p:par>
                    <p:cTn id="25" fill="hold" presetID="10" presetClass="entr" presetSubtype="0" nodeType="afterEffect">
                      <p:stCondLst>
                        <p:cond delay="250"/>
                      </p:stCondLst>
                      <p:childTnLst>
                        <p:animEffect transition="in" filter="fade">
                          <p:cBhvr>
                            <p:cTn id="26" dur="450" fill="hold"/>
                            <p:tgtEl>
                              <p:spTgt spid="21"/>
                            </p:tgtEl>
                          </p:cBhvr>
                        </p:animEffect>
                      </p:childTnLst>
                    </p:cTn>
                  </p:par>
                </p:childTnLst>
              </p:cTn>
            </p:seq>
          </p:childTnLst>
        </p:cTn>
      </p:par>
    </p:tnLst>
    <p:bldLst>
      <p:bldP spid="4" grpId="0" build="allAtOnce"/>
      <p:bldP spid="5" grpId="0" build="allAtOnce"/>
      <p:bldP spid="8" grpId="0" build="allAtOnce"/>
      <p:bldP spid="9" grpId="0" build="allAtOnce"/>
      <p:bldP spid="10" grpId="0" build="allAtOnce"/>
      <p:bldP spid="13" grpId="0" build="allAtOnce"/>
      <p:bldP spid="14" grpId="0" build="allAtOnce"/>
      <p:bldP spid="15" grpId="0" build="allAtOnce"/>
      <p:bldP spid="18" grpId="0" build="allAtOnce"/>
      <p:bldP spid="19" grpId="0" build="allAtOnce"/>
      <p:bldP spid="20" grpId="0" build="allAtOnce"/>
      <p:bldP spid="21" grpId="0" build="allAtOnce"/>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 y="-914400"/>
            <a:ext cx="3840480" cy="274320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5120640"/>
            <a:ext cx="3017520" cy="21945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132320" cy="640080"/>
          </a:xfrm>
          <a:prstGeom prst="rect">
            <a:avLst/>
          </a:prstGeom>
          <a:noFill/>
        </p:spPr>
        <p:txBody>
          <a:bodyPr wrap="none" lIns="45720" rIns="45720" anchor="t">
            <a:spAutoFit/>
          </a:bodyPr>
          <a:lstStyle/>
          <a:p>
            <a:pPr algn="l"/>
            <a:r>
              <a:rPr sz="4200" b="1">
                <a:solidFill>
                  <a:srgbClr val="36383D"/>
                </a:solidFill>
                <a:latin typeface="Aptos Display"/>
              </a:rPr>
              <a:t>Stärken und Schwächen</a:t>
            </a:r>
          </a:p>
        </p:txBody>
      </p:sp>
      <p:sp>
        <p:nvSpPr>
          <p:cNvPr id="5" name="TextBox 4"/>
          <p:cNvSpPr txBox="1"/>
          <p:nvPr/>
        </p:nvSpPr>
        <p:spPr>
          <a:xfrm>
            <a:off x="640080" y="1252728"/>
            <a:ext cx="7132320" cy="320040"/>
          </a:xfrm>
          <a:prstGeom prst="rect">
            <a:avLst/>
          </a:prstGeom>
          <a:noFill/>
        </p:spPr>
        <p:txBody>
          <a:bodyPr wrap="none" lIns="45720" rIns="45720" anchor="t">
            <a:spAutoFit/>
          </a:bodyPr>
          <a:lstStyle/>
          <a:p>
            <a:pPr algn="l"/>
            <a:r>
              <a:rPr sz="1800" b="0">
                <a:solidFill>
                  <a:srgbClr val="6E7278"/>
                </a:solidFill>
                <a:latin typeface="Aptos"/>
              </a:rPr>
              <a:t>Eine kritische Bewertung</a:t>
            </a:r>
          </a:p>
        </p:txBody>
      </p:sp>
      <p:sp>
        <p:nvSpPr>
          <p:cNvPr id="6" name="Rounded Rectangle 5"/>
          <p:cNvSpPr/>
          <p:nvPr/>
        </p:nvSpPr>
        <p:spPr>
          <a:xfrm>
            <a:off x="923544" y="1892807"/>
            <a:ext cx="4800600" cy="356616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28800"/>
            <a:ext cx="4800600" cy="3566160"/>
          </a:xfrm>
          <a:prstGeom prst="roundRect">
            <a:avLst/>
          </a:prstGeom>
          <a:solidFill>
            <a:srgbClr val="D8F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0432" y="2176272"/>
            <a:ext cx="4114800" cy="310896"/>
          </a:xfrm>
          <a:prstGeom prst="rect">
            <a:avLst/>
          </a:prstGeom>
          <a:noFill/>
        </p:spPr>
        <p:txBody>
          <a:bodyPr wrap="none" lIns="45720" rIns="45720" anchor="t">
            <a:spAutoFit/>
          </a:bodyPr>
          <a:lstStyle/>
          <a:p>
            <a:pPr algn="ctr"/>
            <a:r>
              <a:rPr sz="2900" b="1">
                <a:solidFill>
                  <a:srgbClr val="36383D"/>
                </a:solidFill>
                <a:latin typeface="Aptos"/>
              </a:rPr>
              <a:t>Stärken</a:t>
            </a:r>
          </a:p>
        </p:txBody>
      </p:sp>
      <p:sp>
        <p:nvSpPr>
          <p:cNvPr id="9" name="TextBox 8"/>
          <p:cNvSpPr txBox="1"/>
          <p:nvPr/>
        </p:nvSpPr>
        <p:spPr>
          <a:xfrm>
            <a:off x="1389888" y="2852928"/>
            <a:ext cx="3566160" cy="1417320"/>
          </a:xfrm>
          <a:prstGeom prst="rect">
            <a:avLst/>
          </a:prstGeom>
          <a:noFill/>
        </p:spPr>
        <p:txBody>
          <a:bodyPr wrap="none" lIns="73152" rIns="73152" tIns="18288" bIns="18288">
            <a:spAutoFit/>
          </a:bodyPr>
          <a:lstStyle/>
          <a:p>
            <a:pPr marL="228600" indent="-127000">
              <a:spcAft>
                <a:spcPts val="880"/>
              </a:spcAft>
              <a:defRPr sz="2200">
                <a:solidFill>
                  <a:srgbClr val="36383D"/>
                </a:solidFill>
                <a:latin typeface="Aptos"/>
              </a:defRPr>
              <a:buChar char="•"/>
            </a:pPr>
            <a:r>
              <a:t>verschiedene Bildungswege</a:t>
            </a:r>
          </a:p>
          <a:p>
            <a:pPr marL="228600" indent="-127000">
              <a:spcAft>
                <a:spcPts val="880"/>
              </a:spcAft>
              <a:defRPr sz="2200">
                <a:solidFill>
                  <a:srgbClr val="36383D"/>
                </a:solidFill>
                <a:latin typeface="Aptos"/>
              </a:defRPr>
              <a:buChar char="•"/>
            </a:pPr>
            <a:r>
              <a:t>duales Ausbildungssystem</a:t>
            </a:r>
          </a:p>
          <a:p>
            <a:pPr marL="228600" indent="-127000">
              <a:spcAft>
                <a:spcPts val="880"/>
              </a:spcAft>
              <a:defRPr sz="2200">
                <a:solidFill>
                  <a:srgbClr val="36383D"/>
                </a:solidFill>
                <a:latin typeface="Aptos"/>
              </a:defRPr>
              <a:buChar char="•"/>
            </a:pPr>
            <a:r>
              <a:t>hohe akademische Standards</a:t>
            </a:r>
          </a:p>
        </p:txBody>
      </p:sp>
      <p:sp>
        <p:nvSpPr>
          <p:cNvPr id="10" name="Rounded Rectangle 9"/>
          <p:cNvSpPr/>
          <p:nvPr/>
        </p:nvSpPr>
        <p:spPr>
          <a:xfrm>
            <a:off x="6547103" y="1892807"/>
            <a:ext cx="4800600" cy="356616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92240" y="1828800"/>
            <a:ext cx="4800600" cy="3566160"/>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84848" y="2176272"/>
            <a:ext cx="4114800" cy="310896"/>
          </a:xfrm>
          <a:prstGeom prst="rect">
            <a:avLst/>
          </a:prstGeom>
          <a:noFill/>
        </p:spPr>
        <p:txBody>
          <a:bodyPr wrap="none" lIns="45720" rIns="45720" anchor="t">
            <a:spAutoFit/>
          </a:bodyPr>
          <a:lstStyle/>
          <a:p>
            <a:pPr algn="ctr"/>
            <a:r>
              <a:rPr sz="2900" b="1">
                <a:solidFill>
                  <a:srgbClr val="36383D"/>
                </a:solidFill>
                <a:latin typeface="Aptos"/>
              </a:rPr>
              <a:t>Schwächen</a:t>
            </a:r>
          </a:p>
        </p:txBody>
      </p:sp>
      <p:sp>
        <p:nvSpPr>
          <p:cNvPr id="13" name="TextBox 12"/>
          <p:cNvSpPr txBox="1"/>
          <p:nvPr/>
        </p:nvSpPr>
        <p:spPr>
          <a:xfrm>
            <a:off x="6995160" y="2852928"/>
            <a:ext cx="3566160" cy="1417320"/>
          </a:xfrm>
          <a:prstGeom prst="rect">
            <a:avLst/>
          </a:prstGeom>
          <a:noFill/>
        </p:spPr>
        <p:txBody>
          <a:bodyPr wrap="none" lIns="73152" rIns="73152" tIns="18288" bIns="18288">
            <a:spAutoFit/>
          </a:bodyPr>
          <a:lstStyle/>
          <a:p>
            <a:pPr marL="228600" indent="-127000">
              <a:spcAft>
                <a:spcPts val="880"/>
              </a:spcAft>
              <a:defRPr sz="2200">
                <a:solidFill>
                  <a:srgbClr val="36383D"/>
                </a:solidFill>
                <a:latin typeface="Aptos"/>
              </a:defRPr>
              <a:buChar char="•"/>
            </a:pPr>
            <a:r>
              <a:t>frühe Selektion</a:t>
            </a:r>
          </a:p>
          <a:p>
            <a:pPr marL="228600" indent="-127000">
              <a:spcAft>
                <a:spcPts val="880"/>
              </a:spcAft>
              <a:defRPr sz="2200">
                <a:solidFill>
                  <a:srgbClr val="36383D"/>
                </a:solidFill>
                <a:latin typeface="Aptos"/>
              </a:defRPr>
              <a:buChar char="•"/>
            </a:pPr>
            <a:r>
              <a:t>Leistungsdruck</a:t>
            </a:r>
          </a:p>
          <a:p>
            <a:pPr marL="228600" indent="-127000">
              <a:spcAft>
                <a:spcPts val="880"/>
              </a:spcAft>
              <a:defRPr sz="2200">
                <a:solidFill>
                  <a:srgbClr val="36383D"/>
                </a:solidFill>
                <a:latin typeface="Aptos"/>
              </a:defRPr>
              <a:buChar char="•"/>
            </a:pPr>
            <a:r>
              <a:t>soziale Ungleichheiten</a:t>
            </a:r>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3" fill="hold" presetID="10" presetClass="entr" presetSubtype="0" nodeType="clickEffect">
                      <p:stCondLst>
                        <p:cond delay="0"/>
                      </p:stCondLst>
                      <p:childTnLst>
                        <p:animEffect transition="in" filter="fade">
                          <p:cBhvr>
                            <p:cTn id="4" dur="450" fill="hold"/>
                            <p:tgtEl>
                              <p:spTgt spid="4"/>
                            </p:tgtEl>
                          </p:cBhvr>
                        </p:animEffect>
                      </p:childTnLst>
                    </p:cTn>
                  </p:par>
                  <p:par>
                    <p:cTn id="5" fill="hold" presetID="10" presetClass="entr" presetSubtype="0" nodeType="afterEffect">
                      <p:stCondLst>
                        <p:cond delay="250"/>
                      </p:stCondLst>
                      <p:childTnLst>
                        <p:animEffect transition="in" filter="fade">
                          <p:cBhvr>
                            <p:cTn id="6" dur="450" fill="hold"/>
                            <p:tgtEl>
                              <p:spTgt spid="5"/>
                            </p:tgtEl>
                          </p:cBhvr>
                        </p:animEffect>
                      </p:childTnLst>
                    </p:cTn>
                  </p:par>
                  <p:par>
                    <p:cTn id="7" fill="hold" presetID="10" presetClass="entr" presetSubtype="0" nodeType="afterEffect">
                      <p:stCondLst>
                        <p:cond delay="250"/>
                      </p:stCondLst>
                      <p:childTnLst>
                        <p:animEffect transition="in" filter="fade">
                          <p:cBhvr>
                            <p:cTn id="8" dur="450" fill="hold"/>
                            <p:tgtEl>
                              <p:spTgt spid="8"/>
                            </p:tgtEl>
                          </p:cBhvr>
                        </p:animEffect>
                      </p:childTnLst>
                    </p:cTn>
                  </p:par>
                  <p:par>
                    <p:cTn id="9" fill="hold" presetID="10" presetClass="entr" presetSubtype="0" nodeType="afterEffect">
                      <p:stCondLst>
                        <p:cond delay="250"/>
                      </p:stCondLst>
                      <p:childTnLst>
                        <p:animEffect transition="in" filter="fade">
                          <p:cBhvr>
                            <p:cTn id="10" dur="450" fill="hold"/>
                            <p:tgtEl>
                              <p:spTgt spid="9"/>
                            </p:tgtEl>
                          </p:cBhvr>
                        </p:animEffect>
                      </p:childTnLst>
                    </p:cTn>
                  </p:par>
                  <p:par>
                    <p:cTn id="11" fill="hold" presetID="10" presetClass="entr" presetSubtype="0" nodeType="afterEffect">
                      <p:stCondLst>
                        <p:cond delay="250"/>
                      </p:stCondLst>
                      <p:childTnLst>
                        <p:animEffect transition="in" filter="fade">
                          <p:cBhvr>
                            <p:cTn id="12" dur="450" fill="hold"/>
                            <p:tgtEl>
                              <p:spTgt spid="12"/>
                            </p:tgtEl>
                          </p:cBhvr>
                        </p:animEffect>
                      </p:childTnLst>
                    </p:cTn>
                  </p:par>
                  <p:par>
                    <p:cTn id="13" fill="hold" presetID="10" presetClass="entr" presetSubtype="0" nodeType="afterEffect">
                      <p:stCondLst>
                        <p:cond delay="250"/>
                      </p:stCondLst>
                      <p:childTnLst>
                        <p:animEffect transition="in" filter="fade">
                          <p:cBhvr>
                            <p:cTn id="14" dur="450" fill="hold"/>
                            <p:tgtEl>
                              <p:spTgt spid="13"/>
                            </p:tgtEl>
                          </p:cBhvr>
                        </p:animEffect>
                      </p:childTnLst>
                    </p:cTn>
                  </p:par>
                </p:childTnLst>
              </p:cTn>
            </p:seq>
          </p:childTnLst>
        </p:cTn>
      </p:par>
    </p:tnLst>
    <p:bldLst>
      <p:bldP spid="4" grpId="0" build="allAtOnce"/>
      <p:bldP spid="5" grpId="0" build="allAtOnce"/>
      <p:bldP spid="8" grpId="0" build="allAtOnce"/>
      <p:bldP spid="9" grpId="0" build="allAtOnce"/>
      <p:bldP spid="12" grpId="0" build="allAtOnce"/>
      <p:bldP spid="13" grpId="0" build="allAtOnce"/>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 y="-914400"/>
            <a:ext cx="3840480" cy="274320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5120640"/>
            <a:ext cx="3017520" cy="21945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132320" cy="640080"/>
          </a:xfrm>
          <a:prstGeom prst="rect">
            <a:avLst/>
          </a:prstGeom>
          <a:noFill/>
        </p:spPr>
        <p:txBody>
          <a:bodyPr wrap="none" lIns="45720" rIns="45720" anchor="t">
            <a:spAutoFit/>
          </a:bodyPr>
          <a:lstStyle/>
          <a:p>
            <a:pPr algn="l"/>
            <a:r>
              <a:rPr sz="4200" b="1">
                <a:solidFill>
                  <a:srgbClr val="36383D"/>
                </a:solidFill>
                <a:latin typeface="Aptos Display"/>
              </a:rPr>
              <a:t>Reformansätze</a:t>
            </a:r>
          </a:p>
        </p:txBody>
      </p:sp>
      <p:sp>
        <p:nvSpPr>
          <p:cNvPr id="5" name="TextBox 4"/>
          <p:cNvSpPr txBox="1"/>
          <p:nvPr/>
        </p:nvSpPr>
        <p:spPr>
          <a:xfrm>
            <a:off x="640080" y="1252728"/>
            <a:ext cx="7132320" cy="320040"/>
          </a:xfrm>
          <a:prstGeom prst="rect">
            <a:avLst/>
          </a:prstGeom>
          <a:noFill/>
        </p:spPr>
        <p:txBody>
          <a:bodyPr wrap="none" lIns="45720" rIns="45720" anchor="t">
            <a:spAutoFit/>
          </a:bodyPr>
          <a:lstStyle/>
          <a:p>
            <a:pPr algn="l"/>
            <a:r>
              <a:rPr sz="1800" b="0">
                <a:solidFill>
                  <a:srgbClr val="6E7278"/>
                </a:solidFill>
                <a:latin typeface="Aptos"/>
              </a:rPr>
              <a:t>Wie Bildung und Wohlbefinden stärker zusammenfinden könnten</a:t>
            </a:r>
          </a:p>
        </p:txBody>
      </p:sp>
      <p:sp>
        <p:nvSpPr>
          <p:cNvPr id="6" name="Right Arrow 5"/>
          <p:cNvSpPr/>
          <p:nvPr/>
        </p:nvSpPr>
        <p:spPr>
          <a:xfrm>
            <a:off x="4160520" y="1508760"/>
            <a:ext cx="4114800" cy="914400"/>
          </a:xfrm>
          <a:prstGeom prst="rightArrow">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0" y="1755648"/>
            <a:ext cx="1828800" cy="274320"/>
          </a:xfrm>
          <a:prstGeom prst="rect">
            <a:avLst/>
          </a:prstGeom>
          <a:noFill/>
        </p:spPr>
        <p:txBody>
          <a:bodyPr wrap="none" lIns="45720" rIns="45720" anchor="t">
            <a:spAutoFit/>
          </a:bodyPr>
          <a:lstStyle/>
          <a:p>
            <a:pPr algn="ctr"/>
            <a:r>
              <a:rPr sz="2200" b="1">
                <a:solidFill>
                  <a:srgbClr val="36383D"/>
                </a:solidFill>
                <a:latin typeface="Aptos"/>
              </a:rPr>
              <a:t>Zukunft</a:t>
            </a:r>
          </a:p>
        </p:txBody>
      </p:sp>
      <p:sp>
        <p:nvSpPr>
          <p:cNvPr id="8" name="Oval 7"/>
          <p:cNvSpPr/>
          <p:nvPr/>
        </p:nvSpPr>
        <p:spPr>
          <a:xfrm>
            <a:off x="1014984" y="3218688"/>
            <a:ext cx="2423160" cy="2423160"/>
          </a:xfrm>
          <a:prstGeom prst="ellipse">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154680"/>
            <a:ext cx="2423160" cy="24231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3593592"/>
            <a:ext cx="2011680" cy="566928"/>
          </a:xfrm>
          <a:prstGeom prst="rect">
            <a:avLst/>
          </a:prstGeom>
          <a:noFill/>
        </p:spPr>
        <p:txBody>
          <a:bodyPr wrap="none" lIns="45720" rIns="45720" anchor="t">
            <a:spAutoFit/>
          </a:bodyPr>
          <a:lstStyle/>
          <a:p>
            <a:pPr algn="ctr"/>
            <a:r>
              <a:rPr sz="1800" b="1">
                <a:solidFill>
                  <a:srgbClr val="36383D"/>
                </a:solidFill>
                <a:latin typeface="Aptos"/>
              </a:rPr>
              <a:t>Mehr
Lebenskompetenzen</a:t>
            </a:r>
          </a:p>
        </p:txBody>
      </p:sp>
      <p:sp>
        <p:nvSpPr>
          <p:cNvPr id="11" name="TextBox 10"/>
          <p:cNvSpPr txBox="1"/>
          <p:nvPr/>
        </p:nvSpPr>
        <p:spPr>
          <a:xfrm>
            <a:off x="1188720" y="4379976"/>
            <a:ext cx="1965960" cy="658368"/>
          </a:xfrm>
          <a:prstGeom prst="rect">
            <a:avLst/>
          </a:prstGeom>
          <a:noFill/>
        </p:spPr>
        <p:txBody>
          <a:bodyPr wrap="none" lIns="45720" rIns="45720" anchor="t">
            <a:spAutoFit/>
          </a:bodyPr>
          <a:lstStyle/>
          <a:p>
            <a:pPr algn="ctr"/>
            <a:r>
              <a:rPr sz="1400" b="0">
                <a:solidFill>
                  <a:srgbClr val="36383D"/>
                </a:solidFill>
                <a:latin typeface="Aptos"/>
              </a:rPr>
              <a:t>Finanzbildung,
Medienkompetenz,
Alltagsfähigkeiten</a:t>
            </a:r>
          </a:p>
        </p:txBody>
      </p:sp>
      <p:sp>
        <p:nvSpPr>
          <p:cNvPr id="12" name="Oval 11"/>
          <p:cNvSpPr/>
          <p:nvPr/>
        </p:nvSpPr>
        <p:spPr>
          <a:xfrm>
            <a:off x="4672583" y="3218688"/>
            <a:ext cx="2423160" cy="2423160"/>
          </a:xfrm>
          <a:prstGeom prst="ellipse">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17720" y="3154680"/>
            <a:ext cx="2423160" cy="2423160"/>
          </a:xfrm>
          <a:prstGeom prst="ellipse">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18888" y="3593592"/>
            <a:ext cx="2011680" cy="566928"/>
          </a:xfrm>
          <a:prstGeom prst="rect">
            <a:avLst/>
          </a:prstGeom>
          <a:noFill/>
        </p:spPr>
        <p:txBody>
          <a:bodyPr wrap="none" lIns="45720" rIns="45720" anchor="t">
            <a:spAutoFit/>
          </a:bodyPr>
          <a:lstStyle/>
          <a:p>
            <a:pPr algn="ctr"/>
            <a:r>
              <a:rPr sz="1800" b="1">
                <a:solidFill>
                  <a:srgbClr val="36383D"/>
                </a:solidFill>
                <a:latin typeface="Aptos"/>
              </a:rPr>
              <a:t>Spätere
Leistungsdifferenzierung</a:t>
            </a:r>
          </a:p>
        </p:txBody>
      </p:sp>
      <p:sp>
        <p:nvSpPr>
          <p:cNvPr id="15" name="TextBox 14"/>
          <p:cNvSpPr txBox="1"/>
          <p:nvPr/>
        </p:nvSpPr>
        <p:spPr>
          <a:xfrm>
            <a:off x="4846320" y="4379976"/>
            <a:ext cx="1965960" cy="658368"/>
          </a:xfrm>
          <a:prstGeom prst="rect">
            <a:avLst/>
          </a:prstGeom>
          <a:noFill/>
        </p:spPr>
        <p:txBody>
          <a:bodyPr wrap="none" lIns="45720" rIns="45720" anchor="t">
            <a:spAutoFit/>
          </a:bodyPr>
          <a:lstStyle/>
          <a:p>
            <a:pPr algn="ctr"/>
            <a:r>
              <a:rPr sz="1400" b="0">
                <a:solidFill>
                  <a:srgbClr val="36383D"/>
                </a:solidFill>
                <a:latin typeface="Aptos"/>
              </a:rPr>
              <a:t>mehr Zeit für
Entwicklung und
Entscheidungen</a:t>
            </a:r>
          </a:p>
        </p:txBody>
      </p:sp>
      <p:sp>
        <p:nvSpPr>
          <p:cNvPr id="16" name="Oval 15"/>
          <p:cNvSpPr/>
          <p:nvPr/>
        </p:nvSpPr>
        <p:spPr>
          <a:xfrm>
            <a:off x="8330184" y="3218688"/>
            <a:ext cx="2423160" cy="2423160"/>
          </a:xfrm>
          <a:prstGeom prst="ellipse">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75320" y="3154680"/>
            <a:ext cx="2423160" cy="242316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3593592"/>
            <a:ext cx="2011680" cy="566928"/>
          </a:xfrm>
          <a:prstGeom prst="rect">
            <a:avLst/>
          </a:prstGeom>
          <a:noFill/>
        </p:spPr>
        <p:txBody>
          <a:bodyPr wrap="none" lIns="45720" rIns="45720" anchor="t">
            <a:spAutoFit/>
          </a:bodyPr>
          <a:lstStyle/>
          <a:p>
            <a:pPr algn="ctr"/>
            <a:r>
              <a:rPr sz="1800" b="1">
                <a:solidFill>
                  <a:srgbClr val="36383D"/>
                </a:solidFill>
                <a:latin typeface="Aptos"/>
              </a:rPr>
              <a:t>Alternative
Bewertung</a:t>
            </a:r>
          </a:p>
        </p:txBody>
      </p:sp>
      <p:sp>
        <p:nvSpPr>
          <p:cNvPr id="19" name="TextBox 18"/>
          <p:cNvSpPr txBox="1"/>
          <p:nvPr/>
        </p:nvSpPr>
        <p:spPr>
          <a:xfrm>
            <a:off x="8503920" y="4379976"/>
            <a:ext cx="1965960" cy="658368"/>
          </a:xfrm>
          <a:prstGeom prst="rect">
            <a:avLst/>
          </a:prstGeom>
          <a:noFill/>
        </p:spPr>
        <p:txBody>
          <a:bodyPr wrap="none" lIns="45720" rIns="45720" anchor="t">
            <a:spAutoFit/>
          </a:bodyPr>
          <a:lstStyle/>
          <a:p>
            <a:pPr algn="ctr"/>
            <a:r>
              <a:rPr sz="1400" b="0">
                <a:solidFill>
                  <a:srgbClr val="36383D"/>
                </a:solidFill>
                <a:latin typeface="Aptos"/>
              </a:rPr>
              <a:t>Feedback,
Portfolio,
Projekte</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3" fill="hold" presetID="10" presetClass="entr" presetSubtype="0" nodeType="clickEffect">
                      <p:stCondLst>
                        <p:cond delay="0"/>
                      </p:stCondLst>
                      <p:childTnLst>
                        <p:animEffect transition="in" filter="fade">
                          <p:cBhvr>
                            <p:cTn id="4" dur="450" fill="hold"/>
                            <p:tgtEl>
                              <p:spTgt spid="4"/>
                            </p:tgtEl>
                          </p:cBhvr>
                        </p:animEffect>
                      </p:childTnLst>
                    </p:cTn>
                  </p:par>
                  <p:par>
                    <p:cTn id="5" fill="hold" presetID="10" presetClass="entr" presetSubtype="0" nodeType="afterEffect">
                      <p:stCondLst>
                        <p:cond delay="250"/>
                      </p:stCondLst>
                      <p:childTnLst>
                        <p:animEffect transition="in" filter="fade">
                          <p:cBhvr>
                            <p:cTn id="6" dur="450" fill="hold"/>
                            <p:tgtEl>
                              <p:spTgt spid="5"/>
                            </p:tgtEl>
                          </p:cBhvr>
                        </p:animEffect>
                      </p:childTnLst>
                    </p:cTn>
                  </p:par>
                  <p:par>
                    <p:cTn id="7" fill="hold" presetID="10" presetClass="entr" presetSubtype="0" nodeType="afterEffect">
                      <p:stCondLst>
                        <p:cond delay="250"/>
                      </p:stCondLst>
                      <p:childTnLst>
                        <p:animEffect transition="in" filter="fade">
                          <p:cBhvr>
                            <p:cTn id="8" dur="450" fill="hold"/>
                            <p:tgtEl>
                              <p:spTgt spid="10"/>
                            </p:tgtEl>
                          </p:cBhvr>
                        </p:animEffect>
                      </p:childTnLst>
                    </p:cTn>
                  </p:par>
                  <p:par>
                    <p:cTn id="9" fill="hold" presetID="10" presetClass="entr" presetSubtype="0" nodeType="afterEffect">
                      <p:stCondLst>
                        <p:cond delay="250"/>
                      </p:stCondLst>
                      <p:childTnLst>
                        <p:animEffect transition="in" filter="fade">
                          <p:cBhvr>
                            <p:cTn id="10" dur="450" fill="hold"/>
                            <p:tgtEl>
                              <p:spTgt spid="11"/>
                            </p:tgtEl>
                          </p:cBhvr>
                        </p:animEffect>
                      </p:childTnLst>
                    </p:cTn>
                  </p:par>
                  <p:par>
                    <p:cTn id="11" fill="hold" presetID="10" presetClass="entr" presetSubtype="0" nodeType="afterEffect">
                      <p:stCondLst>
                        <p:cond delay="250"/>
                      </p:stCondLst>
                      <p:childTnLst>
                        <p:animEffect transition="in" filter="fade">
                          <p:cBhvr>
                            <p:cTn id="12" dur="450" fill="hold"/>
                            <p:tgtEl>
                              <p:spTgt spid="14"/>
                            </p:tgtEl>
                          </p:cBhvr>
                        </p:animEffect>
                      </p:childTnLst>
                    </p:cTn>
                  </p:par>
                  <p:par>
                    <p:cTn id="13" fill="hold" presetID="10" presetClass="entr" presetSubtype="0" nodeType="afterEffect">
                      <p:stCondLst>
                        <p:cond delay="250"/>
                      </p:stCondLst>
                      <p:childTnLst>
                        <p:animEffect transition="in" filter="fade">
                          <p:cBhvr>
                            <p:cTn id="14" dur="450" fill="hold"/>
                            <p:tgtEl>
                              <p:spTgt spid="15"/>
                            </p:tgtEl>
                          </p:cBhvr>
                        </p:animEffect>
                      </p:childTnLst>
                    </p:cTn>
                  </p:par>
                  <p:par>
                    <p:cTn id="15" fill="hold" presetID="10" presetClass="entr" presetSubtype="0" nodeType="afterEffect">
                      <p:stCondLst>
                        <p:cond delay="250"/>
                      </p:stCondLst>
                      <p:childTnLst>
                        <p:animEffect transition="in" filter="fade">
                          <p:cBhvr>
                            <p:cTn id="16" dur="450" fill="hold"/>
                            <p:tgtEl>
                              <p:spTgt spid="18"/>
                            </p:tgtEl>
                          </p:cBhvr>
                        </p:animEffect>
                      </p:childTnLst>
                    </p:cTn>
                  </p:par>
                  <p:par>
                    <p:cTn id="17" fill="hold" presetID="10" presetClass="entr" presetSubtype="0" nodeType="afterEffect">
                      <p:stCondLst>
                        <p:cond delay="250"/>
                      </p:stCondLst>
                      <p:childTnLst>
                        <p:animEffect transition="in" filter="fade">
                          <p:cBhvr>
                            <p:cTn id="18" dur="450" fill="hold"/>
                            <p:tgtEl>
                              <p:spTgt spid="19"/>
                            </p:tgtEl>
                          </p:cBhvr>
                        </p:animEffect>
                      </p:childTnLst>
                    </p:cTn>
                  </p:par>
                </p:childTnLst>
              </p:cTn>
            </p:seq>
          </p:childTnLst>
        </p:cTn>
      </p:par>
    </p:tnLst>
    <p:bldLst>
      <p:bldP spid="4" grpId="0" build="allAtOnce"/>
      <p:bldP spid="5" grpId="0" build="allAtOnce"/>
      <p:bldP spid="10" grpId="0" build="allAtOnce"/>
      <p:bldP spid="11" grpId="0" build="allAtOnce"/>
      <p:bldP spid="14" grpId="0" build="allAtOnce"/>
      <p:bldP spid="15" grpId="0" build="allAtOnce"/>
      <p:bldP spid="18" grpId="0" build="allAtOnce"/>
      <p:bldP spid="19" grpId="0" build="allAtOnce"/>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 y="-914400"/>
            <a:ext cx="3840480" cy="2743200"/>
          </a:xfrm>
          <a:prstGeom prst="ellipse">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5120640"/>
            <a:ext cx="3017520" cy="21945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04672"/>
            <a:ext cx="7909560" cy="640080"/>
          </a:xfrm>
          <a:prstGeom prst="rect">
            <a:avLst/>
          </a:prstGeom>
          <a:noFill/>
        </p:spPr>
        <p:txBody>
          <a:bodyPr wrap="none" lIns="45720" rIns="45720" anchor="t">
            <a:spAutoFit/>
          </a:bodyPr>
          <a:lstStyle/>
          <a:p>
            <a:pPr algn="l"/>
            <a:r>
              <a:rPr sz="4200" b="1">
                <a:solidFill>
                  <a:srgbClr val="36383D"/>
                </a:solidFill>
                <a:latin typeface="Aptos Display"/>
              </a:rPr>
              <a:t>Schule beeinflusst mehr als nur Noten.</a:t>
            </a:r>
          </a:p>
        </p:txBody>
      </p:sp>
      <p:sp>
        <p:nvSpPr>
          <p:cNvPr id="5" name="Rounded Rectangle 4"/>
          <p:cNvSpPr/>
          <p:nvPr/>
        </p:nvSpPr>
        <p:spPr>
          <a:xfrm>
            <a:off x="923544" y="2002536"/>
            <a:ext cx="6812280" cy="2834640"/>
          </a:xfrm>
          <a:prstGeom prst="roundRect">
            <a:avLst/>
          </a:prstGeom>
          <a:solidFill>
            <a:srgbClr val="E7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938528"/>
            <a:ext cx="6812280" cy="2834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395728"/>
            <a:ext cx="6080760" cy="329184"/>
          </a:xfrm>
          <a:prstGeom prst="rect">
            <a:avLst/>
          </a:prstGeom>
          <a:noFill/>
        </p:spPr>
        <p:txBody>
          <a:bodyPr wrap="none" lIns="45720" rIns="45720" anchor="t">
            <a:spAutoFit/>
          </a:bodyPr>
          <a:lstStyle/>
          <a:p>
            <a:pPr algn="l"/>
            <a:r>
              <a:rPr sz="2200" b="1">
                <a:solidFill>
                  <a:srgbClr val="36383D"/>
                </a:solidFill>
                <a:latin typeface="Aptos"/>
              </a:rPr>
              <a:t>✓ Strukturen wirken auf das Wohlbefinden.</a:t>
            </a:r>
          </a:p>
        </p:txBody>
      </p:sp>
      <p:sp>
        <p:nvSpPr>
          <p:cNvPr id="8" name="TextBox 7"/>
          <p:cNvSpPr txBox="1"/>
          <p:nvPr/>
        </p:nvSpPr>
        <p:spPr>
          <a:xfrm>
            <a:off x="1207008" y="3108960"/>
            <a:ext cx="6080760" cy="329184"/>
          </a:xfrm>
          <a:prstGeom prst="rect">
            <a:avLst/>
          </a:prstGeom>
          <a:noFill/>
        </p:spPr>
        <p:txBody>
          <a:bodyPr wrap="none" lIns="45720" rIns="45720" anchor="t">
            <a:spAutoFit/>
          </a:bodyPr>
          <a:lstStyle/>
          <a:p>
            <a:pPr algn="l"/>
            <a:r>
              <a:rPr sz="2200" b="1">
                <a:solidFill>
                  <a:srgbClr val="36383D"/>
                </a:solidFill>
                <a:latin typeface="Aptos"/>
              </a:rPr>
              <a:t>✓ Leistungsdruck und Schulklima spielen eine zentrale Rolle.</a:t>
            </a:r>
          </a:p>
        </p:txBody>
      </p:sp>
      <p:sp>
        <p:nvSpPr>
          <p:cNvPr id="9" name="TextBox 8"/>
          <p:cNvSpPr txBox="1"/>
          <p:nvPr/>
        </p:nvSpPr>
        <p:spPr>
          <a:xfrm>
            <a:off x="1207008" y="3822191"/>
            <a:ext cx="6080760" cy="329184"/>
          </a:xfrm>
          <a:prstGeom prst="rect">
            <a:avLst/>
          </a:prstGeom>
          <a:noFill/>
        </p:spPr>
        <p:txBody>
          <a:bodyPr wrap="none" lIns="45720" rIns="45720" anchor="t">
            <a:spAutoFit/>
          </a:bodyPr>
          <a:lstStyle/>
          <a:p>
            <a:pPr algn="l"/>
            <a:r>
              <a:rPr sz="2200" b="1">
                <a:solidFill>
                  <a:srgbClr val="36383D"/>
                </a:solidFill>
                <a:latin typeface="Aptos"/>
              </a:rPr>
              <a:t>✓ Reformen könnten Bildung und Glück stärker miteinander verbinden.</a:t>
            </a:r>
          </a:p>
        </p:txBody>
      </p:sp>
      <p:sp>
        <p:nvSpPr>
          <p:cNvPr id="10" name="Oval 9"/>
          <p:cNvSpPr/>
          <p:nvPr/>
        </p:nvSpPr>
        <p:spPr>
          <a:xfrm>
            <a:off x="9555480" y="960120"/>
            <a:ext cx="1051560" cy="105156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8183879" y="4800600"/>
            <a:ext cx="3200401" cy="0"/>
          </a:xfrm>
          <a:prstGeom prst="line">
            <a:avLst/>
          </a:prstGeom>
          <a:ln w="27940">
            <a:solidFill>
              <a:srgbClr val="6E727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458200" y="3291840"/>
            <a:ext cx="294436" cy="294436"/>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437168" y="3575761"/>
            <a:ext cx="336499" cy="473201"/>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42324" y="3396996"/>
            <a:ext cx="26288" cy="26288"/>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47480" y="3396996"/>
            <a:ext cx="26288" cy="26288"/>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8552840" y="3481120"/>
            <a:ext cx="126187" cy="0"/>
          </a:xfrm>
          <a:prstGeom prst="line">
            <a:avLst/>
          </a:prstGeom>
          <a:ln w="15240">
            <a:solidFill>
              <a:srgbClr val="36383D"/>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9646920" y="3291840"/>
            <a:ext cx="294436" cy="294436"/>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25888" y="3575761"/>
            <a:ext cx="336499" cy="473201"/>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31044" y="3396996"/>
            <a:ext cx="26288" cy="26288"/>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836200" y="3396996"/>
            <a:ext cx="26288" cy="26288"/>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9741560" y="3481120"/>
            <a:ext cx="126187" cy="0"/>
          </a:xfrm>
          <a:prstGeom prst="line">
            <a:avLst/>
          </a:prstGeom>
          <a:ln w="15240">
            <a:solidFill>
              <a:srgbClr val="36383D"/>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0835640" y="3291840"/>
            <a:ext cx="294436" cy="294436"/>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814608" y="3575761"/>
            <a:ext cx="336499" cy="473201"/>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919764" y="3396996"/>
            <a:ext cx="26288" cy="26288"/>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024920" y="3396996"/>
            <a:ext cx="26288" cy="26288"/>
          </a:xfrm>
          <a:prstGeom prst="ellipse">
            <a:avLst/>
          </a:prstGeom>
          <a:solidFill>
            <a:srgbClr val="363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10930280" y="3481120"/>
            <a:ext cx="126187" cy="0"/>
          </a:xfrm>
          <a:prstGeom prst="line">
            <a:avLst/>
          </a:prstGeom>
          <a:ln w="15240">
            <a:solidFill>
              <a:srgbClr val="36383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96112" y="5852160"/>
            <a:ext cx="4937760" cy="347472"/>
          </a:xfrm>
          <a:prstGeom prst="rect">
            <a:avLst/>
          </a:prstGeom>
          <a:noFill/>
        </p:spPr>
        <p:txBody>
          <a:bodyPr wrap="none" lIns="45720" rIns="45720" anchor="t">
            <a:spAutoFit/>
          </a:bodyPr>
          <a:lstStyle/>
          <a:p>
            <a:pPr algn="l"/>
            <a:r>
              <a:rPr sz="2500" b="1">
                <a:solidFill>
                  <a:srgbClr val="6E7278"/>
                </a:solidFill>
                <a:latin typeface="Aptos"/>
              </a:rPr>
              <a:t>Danke für eure Aufmerksamkeit!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resetID="10" presetClass="entr" presetSubtype="0" nodeType="clickEffect">
                      <p:stCondLst>
                        <p:cond delay="0"/>
                      </p:stCondLst>
                      <p:childTnLst>
                        <p:animEffect transition="in" filter="fade">
                          <p:cBhvr>
                            <p:cTn id="4" dur="450" fill="hold"/>
                            <p:tgtEl>
                              <p:spTgt spid="4"/>
                            </p:tgtEl>
                          </p:cBhvr>
                        </p:animEffect>
                      </p:childTnLst>
                    </p:cTn>
                  </p:par>
                  <p:par>
                    <p:cTn id="5" fill="hold" presetID="10" presetClass="entr" presetSubtype="0" nodeType="afterEffect">
                      <p:stCondLst>
                        <p:cond delay="250"/>
                      </p:stCondLst>
                      <p:childTnLst>
                        <p:animEffect transition="in" filter="fade">
                          <p:cBhvr>
                            <p:cTn id="6" dur="450" fill="hold"/>
                            <p:tgtEl>
                              <p:spTgt spid="7"/>
                            </p:tgtEl>
                          </p:cBhvr>
                        </p:animEffect>
                      </p:childTnLst>
                    </p:cTn>
                  </p:par>
                  <p:par>
                    <p:cTn id="7" fill="hold" presetID="10" presetClass="entr" presetSubtype="0" nodeType="afterEffect">
                      <p:stCondLst>
                        <p:cond delay="250"/>
                      </p:stCondLst>
                      <p:childTnLst>
                        <p:animEffect transition="in" filter="fade">
                          <p:cBhvr>
                            <p:cTn id="8" dur="450" fill="hold"/>
                            <p:tgtEl>
                              <p:spTgt spid="8"/>
                            </p:tgtEl>
                          </p:cBhvr>
                        </p:animEffect>
                      </p:childTnLst>
                    </p:cTn>
                  </p:par>
                  <p:par>
                    <p:cTn id="9" fill="hold" presetID="10" presetClass="entr" presetSubtype="0" nodeType="afterEffect">
                      <p:stCondLst>
                        <p:cond delay="250"/>
                      </p:stCondLst>
                      <p:childTnLst>
                        <p:animEffect transition="in" filter="fade">
                          <p:cBhvr>
                            <p:cTn id="10" dur="450" fill="hold"/>
                            <p:tgtEl>
                              <p:spTgt spid="9"/>
                            </p:tgtEl>
                          </p:cBhvr>
                        </p:animEffect>
                      </p:childTnLst>
                    </p:cTn>
                  </p:par>
                  <p:par>
                    <p:cTn id="11" fill="hold" presetID="10" presetClass="entr" presetSubtype="0" nodeType="afterEffect">
                      <p:stCondLst>
                        <p:cond delay="250"/>
                      </p:stCondLst>
                      <p:childTnLst>
                        <p:animEffect transition="in" filter="fade">
                          <p:cBhvr>
                            <p:cTn id="12" dur="450" fill="hold"/>
                            <p:tgtEl>
                              <p:spTgt spid="27"/>
                            </p:tgtEl>
                          </p:cBhvr>
                        </p:animEffect>
                      </p:childTnLst>
                    </p:cTn>
                  </p:par>
                </p:childTnLst>
              </p:cTn>
            </p:seq>
          </p:childTnLst>
        </p:cTn>
      </p:par>
    </p:tnLst>
    <p:bldLst>
      <p:bldP spid="4" grpId="0" build="allAtOnce"/>
      <p:bldP spid="7" grpId="0" build="allAtOnce"/>
      <p:bldP spid="8" grpId="0" build="allAtOnce"/>
      <p:bldP spid="9" grpId="0" build="allAtOnce"/>
      <p:bldP spid="27" grpId="0" build="allAtOnce"/>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