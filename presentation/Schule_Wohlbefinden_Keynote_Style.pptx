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starte mit dem Titel meiner Facharbeit: Wie Schule wirkt. Im Mittelpunkt steht die Frage, dass Schule nicht nur ein Ort ist, an dem man Wissen lernt oder Noten bekommt. Schule ist auch ein Lebensraum, in dem junge Menschen viel Zeit verbringen. Genau deshalb können schulische Strukturen, zum Beispiel Schulformen, Noten oder Versetzungen, auch Einfluss auf Motivation, Selbstwertgefühl und Wohlbefinden haben. Die Illustration zeigt diese Spannung: Schule kann Sicherheit und Perspektiven geben, sie kann aber auch Stress auslösen. Von hier aus gehe ich zuerst darauf ein, warum dieses Thema für den Seminarfachkurs Glück besonders relevant ist.
Technik-Hinweis: Gewünschter Folienübergang: Fade. Die Textelemente sind als einzelne Objekte angelegt, damit sie nacheinander mit Build-In eingeblendet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Facharbeit begründet das Thema damit, dass Schule eine zentrale Funktion in modernen Gesellschaften hat: Sie vermittelt Wissen, bereitet auf Beruf und Studium vor und fördert soziale Integration. Gleichzeitig ist Schule aber auch mit Leistungsbewertung, Vergleich und Selektion verbunden. Gerade im deutschen Schulsystem kommt hinzu, dass viele Schülerinnen und Schüler schon nach der Grundschule auf verschiedene Schulformen aufgeteilt werden. Die Arbeit nennt ausserdem die Diskussion über Leistungsdruck, psychische Belastungen und mangelnde Praxisnähe. Deshalb lautet die Leitfrage: Inwiefern beeinflussen strukturelle Unterschiede im deutschen Schulsystem das Wohlbefinden von Schülerinnen und Schülern? Als Nächstes kläre ich die wichtigsten Grundlagen.
Technik-Hinweis: Gewünschter Folienübergang: Zoom. Die Textelemente sind als einzelne Objekte angelegt, damit sie nacheinander mit Build-In eingeblendet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man die Leitfrage verstehen kann, klärt die Facharbeit zuerst drei Begriffe. Strukturmerkmale sind die institutionellen und organisatorischen Rahmenbedingungen von Schule. Dazu gehören Schulformen, Notensystem, Versetzungen und Abschlüsse. Wohlbefinden meint nicht nur, ob jemand gerade gute Laune hat, sondern umfasst psychische Gesundheit, soziale Beziehungen, Lebenszufriedenheit, emotionale Sicherheit und Selbstwirksamkeit. Der dritte Begriff ist Bildungsgerechtigkeit. Gemeint sind faire Chancen, unabhängig von sozialer Herkunft, Geschlecht oder Migrationshintergrund. Wichtig ist hier: Die Arbeit betrachtet Wohlbefinden nicht nur als individuelle Eigenschaft, sondern als etwas, das durch schulische Rahmenbedingungen beeinflusst wird. Darauf aufbauend schaue ich jetzt auf das deutsche Schulsystem.
Technik-Hinweis: Gewünschter Folienübergang: Move In. Die Textelemente sind als einzelne Objekte angelegt, damit sie nacheinander mit Build-In eingeblendet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zentrales Merkmal des deutschen Schulsystems ist seine Mehrgliedrigkeit. Die Facharbeit beschreibt, dass Schülerinnen und Schüler in vielen Bundesländern nach der Grundschule auf unterschiedliche Schulformen aufgeteilt werden. Das Gymnasium ist stark akademisch ausgerichtet und führt zum Abitur. Die Realschule verbindet allgemeinbildende Inhalte mit mehr Praxisorientierung. Die Hauptschule war traditionell besonders auf praktische und berufliche Wege ausgerichtet, wird aber auch mit Stigmatisierung und geringeren Chancen verbunden. Die Gesamtschule versucht, länger gemeinsames Lernen zu ermöglichen und verschiedene Abschlüsse zu verbinden. Berufliche Schulen sind wichtig für das duale Ausbildungssystem. Diese Struktur schafft unterschiedliche Wege, aber auch unterschiedliche Erwartungen und Belastungen. Genau darum geht es auf der nächsten Folie.
Technik-Hinweis: Gewünschter Folienübergang: Magic Move. Die Textelemente sind als einzelne Objekte angelegt, damit sie nacheinander mit Build-In eingeblendet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Facharbeit beschreibt Leistungsdruck als einen der wichtigsten Faktoren für das schulische Wohlbefinden. Auf der linken Seite stehen typische Auslöser: Noten, Prüfungen, Konkurrenz und Erwartungen von Eltern, Lehrkräften oder der Gesellschaft. Diese Faktoren sind im deutschen System besonders bedeutsam, weil Noten und Abschlüsse häufig über weitere Bildungswege entscheiden. Auf der rechten Seite stehen mögliche Folgen, die in der Arbeit genannt werden: Stress, Schlafprobleme, Unsicherheit und ein geringeres Selbstwertgefühl. Wichtig ist aber die Differenzierung: Leistungsanforderungen sind nicht grundsätzlich schlecht. Sie können auch motivieren. Problematisch wird es, wenn der Druck als zu stark erlebt wird. Deshalb geht es jetzt um einen Bereich, der Belastungen abfedern kann: das Schulklima.
Technik-Hinweis: Gewünschter Folienübergang: Scale. Die Textelemente sind als einzelne Objekte angelegt, damit sie nacheinander mit Build-In eingeblendet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Neben Leistungsdruck betont die Facharbeit das Schulklima. Damit ist die Atmosphäre in der Schule gemeint, also Beziehungen, Sicherheit und Zugehörigkeit. Besonders wichtig ist das Verhältnis zwischen Lehrkräften und Lernenden. Wenn Schülerinnen und Schüler ernst genommen werden und Unterstützung erhalten, kann das Stress reduzieren und Motivation fördern. Zweitens spielt Mitbestimmung eine Rolle. Durch Schülervertretungen, Klassenräte oder Schulprojekte erleben Jugendliche, dass ihre Meinung zählt. Drittens ist Feedback wichtig. Neben Noten können qualitative Rückmeldungen helfen, Lernfortschritte und Stärken wahrzunehmen. Damit leite ich zu einer kurzen Aktivierung über, weil diese Faktoren auch direkt im Publikum erfahrbar sind.
Technik-Hinweis: Gewünschter Folienübergang: Push. Die Textelemente sind als einzelne Objekte angelegt, damit sie nacheinander mit Build-In eingeblendet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dieser Stelle möchte ich das Publikum kurz einbinden. Die Frage lautet: Was beeinflusst euer Wohlbefinden in der Schule am stärksten? Zur Auswahl stehen Notendruck, Lehrkräfte, Mitschülerinnen und Mitschüler sowie Zeitstress. Das passt zur Facharbeit, weil sie zeigt, dass Wohlbefinden nicht nur von einem Faktor abhängt. Noten und Prüfungen erzeugen Druck, soziale Beziehungen prägen das Schulklima, und die Anforderungen des Schulalltags können Stress auslösen. Nach dem Handzeichen kann ich kurz betonen: Auch wenn jeder vielleicht etwas anderes nennt, sind alle diese Bereiche in der Arbeit als wichtig beschrieben. Danach weite ich den Blick und vergleiche Deutschland mit anderen Schulsystemen.
Technik-Hinweis: Gewünschter Folienübergang: Dissolve. Die Textelemente sind als einzelne Objekte angelegt, damit sie nacheinander mit Build-In eingeblendet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Facharbeit nutzt einen internationalen Vergleich, um das deutsche System besser einzuordnen. Deutschland ist durch frühe Aufteilung und eine starke Rolle von Noten und Prüfungen geprägt. Als skandinavisches Beispiel wird Finnland genannt. Dort lernen Kinder länger gemeinsam, und Leistungsdifferenzierung findet später statt. Die Arbeit beschreibt, dass solche Modelle soziale Ungleichheiten reduzieren und mehr Zeit für individuelle Entwicklung geben können. Angelsächsische Systeme werden als stärker praxisorientiert beschrieben. Sie bieten häufig mehr Wahlmöglichkeiten, projektorientiertes Lernen und praktische Anwendungen. Gleichzeitig betont die Facharbeit, dass es kein perfektes System gibt. Jedes Bildungssystem muss unterschiedliche Aufgaben erfüllen. Daraus ergeben sich Stärken und Schwächen des deutschen Systems.
Technik-Hinweis: Gewünschter Folienübergang: Pop. Die Textelemente sind als einzelne Objekte angelegt, damit sie nacheinander mit Build-In eingeblendet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Facharbeit bewertet das deutsche Schulsystem nicht einseitig. Zu den Stärken gehören verschiedene Bildungswege. Die Differenzierung kann gezielte Förderung ermöglichen und unterschiedliche Interessen berücksichtigen. Ein weiterer Pluspunkt ist das duale Ausbildungssystem, weil es schulische Bildung und praktische Ausbildung in Betrieben verbindet. Auch hohe akademische Standards, besonders am Gymnasium, werden genannt. Gleichzeitig gibt es Schwächen. Die frühe Selektion nach der Grundschule kann Bildungsentscheidungen sehr früh festlegen. Leistungsdruck durch Noten, Prüfungen und Versetzungen kann Stress erzeugen. Ausserdem beschreibt die Arbeit soziale Ungleichheiten, weil Bildungserfolg in Deutschland vergleichsweise stark mit sozialer Herkunft verbunden ist. Deshalb diskutiert die Arbeit Reformansätze.
Technik-Hinweis: Gewünschter Folienübergang: Slide. Die Textelemente sind als einzelne Objekte angelegt, damit sie nacheinander mit Build-In eingeblendet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 den beschriebenen Problemen ergeben sich mehrere Reformansätze. Erstens nennt die Facharbeit mehr Lebenskompetenzen im Curriculum. Dazu gehören finanzielle Grundbildung, Medienkompetenz und praktische Alltagsfähigkeiten, also Dinge, die Jugendliche auf ein selbstständiges Leben vorbereiten. Zweitens wird eine spätere Leistungsdifferenzierung diskutiert. Wenn Bildungswege später getrennt werden, hätten Schülerinnen und Schüler mehr Zeit, ihre Fähigkeiten zu entwickeln. Drittens geht es um alternative Bewertungsformen. Neben klassischen Noten könnten Lernfeedbacks, Portfolioarbeit oder projektbasierte Bewertungen Lernprozesse stärker in den Mittelpunkt stellen. Diese Ansätze sollen Bildungsqualität und Wohlbefinden besser verbinden. Damit komme ich zum Fazit.
Technik-Hinweis: Gewünschter Folienübergang: Rotate. Die Textelemente sind als einzelne Objekte angelegt, damit sie nacheinander mit Build-In eingeblendet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Fazit beantwortet die Facharbeit die Leitfrage klar: Strukturelle Unterschiede im deutschen Schulsystem können das Wohlbefinden von Schülerinnen und Schülern beeinflussen. Es geht also nicht nur um individuelle Belastbarkeit, sondern auch um Rahmenbedingungen. Besonders wichtig sind die frühe Differenzierung, Leistungsbewertungen, Prüfungen und Übergangsentscheidungen. Gleichzeitig zeigt die Arbeit, dass ein positives Schulklima, gute Beziehungen zu Lehrkräften und Mitbestimmung das Wohlbefinden fördern können. Die zentrale Botschaft lautet deshalb: Schule beeinflusst mehr als nur Noten. Wenn Bildung und Glück stärker zusammen gedacht werden, könnten Reformen helfen, Bildungsqualität und Wohlbefinden besser miteinander zu verbinden. Vielen Dank für eure Aufmerksamkeit.
Technik-Hinweis: Gewünschter Folienübergang: Fade. Die Textelemente sind als einzelne Objekte angelegt, damit sie nacheinander mit Build-In eingeblendet werden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3383280" cy="1920240"/>
          </a:xfrm>
          <a:prstGeom prst="ellipse">
            <a:avLst/>
          </a:prstGeom>
          <a:solidFill>
            <a:srgbClr val="CFEFFF">
              <a:alpha val="56000"/>
            </a:srgbClr>
          </a:solidFill>
          <a:ln w="12700">
            <a:solidFill>
              <a:srgbClr val="CFEFFF">
                <a:alpha val="0"/>
              </a:srgbClr>
            </a:solidFill>
            <a:prstDash val="solid"/>
          </a:ln>
        </p:spPr>
      </p:sp>
      <p:sp>
        <p:nvSpPr>
          <p:cNvPr id="3" name="Shape 1"/>
          <p:cNvSpPr/>
          <p:nvPr/>
        </p:nvSpPr>
        <p:spPr>
          <a:xfrm>
            <a:off x="9692640" y="5303520"/>
            <a:ext cx="2926080" cy="2011680"/>
          </a:xfrm>
          <a:prstGeom prst="ellipse">
            <a:avLst/>
          </a:prstGeom>
          <a:solidFill>
            <a:srgbClr val="FFD9E8">
              <a:alpha val="52000"/>
            </a:srgbClr>
          </a:solidFill>
          <a:ln w="12700">
            <a:solidFill>
              <a:srgbClr val="FFD9E8">
                <a:alpha val="0"/>
              </a:srgbClr>
            </a:solidFill>
            <a:prstDash val="solid"/>
          </a:ln>
        </p:spPr>
      </p:sp>
      <p:sp>
        <p:nvSpPr>
          <p:cNvPr id="4" name="Shape 2"/>
          <p:cNvSpPr/>
          <p:nvPr/>
        </p:nvSpPr>
        <p:spPr>
          <a:xfrm>
            <a:off x="7040880" y="-320040"/>
            <a:ext cx="1920240" cy="1280160"/>
          </a:xfrm>
          <a:prstGeom prst="ellipse">
            <a:avLst/>
          </a:prstGeom>
          <a:solidFill>
            <a:srgbClr val="FFF7C7">
              <a:alpha val="42000"/>
            </a:srgbClr>
          </a:solidFill>
          <a:ln w="12700">
            <a:solidFill>
              <a:srgbClr val="FFF7C7">
                <a:alpha val="0"/>
              </a:srgbClr>
            </a:solidFill>
            <a:prstDash val="solid"/>
          </a:ln>
        </p:spPr>
      </p:sp>
      <p:sp>
        <p:nvSpPr>
          <p:cNvPr id="5" name="Text 3"/>
          <p:cNvSpPr/>
          <p:nvPr/>
        </p:nvSpPr>
        <p:spPr>
          <a:xfrm>
            <a:off x="685800" y="566928"/>
            <a:ext cx="2743200" cy="274320"/>
          </a:xfrm>
          <a:prstGeom prst="rect">
            <a:avLst/>
          </a:prstGeom>
          <a:noFill/>
          <a:ln/>
        </p:spPr>
        <p:txBody>
          <a:bodyPr wrap="square" lIns="0" tIns="0" rIns="0" bIns="0" rtlCol="0" anchor="ctr"/>
          <a:lstStyle/>
          <a:p>
            <a:pPr indent="0" marL="0">
              <a:buNone/>
            </a:pPr>
            <a:r>
              <a:rPr lang="en-US" sz="1000" b="1" dirty="0">
                <a:solidFill>
                  <a:srgbClr val="6B7280"/>
                </a:solidFill>
                <a:latin typeface="Aptos" pitchFamily="34" charset="0"/>
                <a:ea typeface="Aptos" pitchFamily="34" charset="-122"/>
                <a:cs typeface="Aptos" pitchFamily="34" charset="-120"/>
              </a:rPr>
              <a:t>SEMINARFACHKURS GLÜCK</a:t>
            </a:r>
            <a:endParaRPr lang="en-US" sz="1000" dirty="0"/>
          </a:p>
        </p:txBody>
      </p:sp>
      <p:sp>
        <p:nvSpPr>
          <p:cNvPr id="6" name="anim-title-1"/>
          <p:cNvSpPr/>
          <p:nvPr/>
        </p:nvSpPr>
        <p:spPr>
          <a:xfrm>
            <a:off x="685800" y="987552"/>
            <a:ext cx="5120640" cy="585216"/>
          </a:xfrm>
          <a:prstGeom prst="rect">
            <a:avLst/>
          </a:prstGeom>
          <a:noFill/>
          <a:ln/>
        </p:spPr>
        <p:txBody>
          <a:bodyPr wrap="square" lIns="0" tIns="0" rIns="0" bIns="0" rtlCol="0" anchor="ctr"/>
          <a:lstStyle/>
          <a:p>
            <a:pPr indent="0" marL="0">
              <a:buNone/>
            </a:pPr>
            <a:r>
              <a:rPr lang="en-US" sz="3800" b="1" dirty="0">
                <a:solidFill>
                  <a:srgbClr val="2F3437"/>
                </a:solidFill>
              </a:rPr>
              <a:t>Wie Schule wirkt:</a:t>
            </a:r>
            <a:endParaRPr lang="en-US" sz="3800" dirty="0"/>
          </a:p>
        </p:txBody>
      </p:sp>
      <p:sp>
        <p:nvSpPr>
          <p:cNvPr id="7" name="anim-subtitle-2"/>
          <p:cNvSpPr/>
          <p:nvPr/>
        </p:nvSpPr>
        <p:spPr>
          <a:xfrm>
            <a:off x="685800" y="1627632"/>
            <a:ext cx="5989320" cy="1234440"/>
          </a:xfrm>
          <a:prstGeom prst="rect">
            <a:avLst/>
          </a:prstGeom>
          <a:noFill/>
          <a:ln/>
        </p:spPr>
        <p:txBody>
          <a:bodyPr wrap="square" lIns="0" tIns="0" rIns="0" bIns="0" rtlCol="0" anchor="ctr">
            <a:normAutofit/>
          </a:bodyPr>
          <a:lstStyle/>
          <a:p>
            <a:pPr indent="0" marL="0">
              <a:buNone/>
            </a:pPr>
            <a:r>
              <a:rPr lang="en-US" sz="2500" b="1" dirty="0">
                <a:solidFill>
                  <a:srgbClr val="2F3437"/>
                </a:solidFill>
              </a:rPr>
              <a:t>Strukturelle Unterschiede und ihr Effekt auf das Wohlbefinden von Schülerinnen und Schülern</a:t>
            </a:r>
            <a:endParaRPr lang="en-US" sz="2500" dirty="0"/>
          </a:p>
        </p:txBody>
      </p:sp>
      <p:sp>
        <p:nvSpPr>
          <p:cNvPr id="8" name="Shape 6"/>
          <p:cNvSpPr/>
          <p:nvPr/>
        </p:nvSpPr>
        <p:spPr>
          <a:xfrm>
            <a:off x="685800" y="3182112"/>
            <a:ext cx="2423160" cy="438912"/>
          </a:xfrm>
          <a:prstGeom prst="roundRect">
            <a:avLst>
              <a:gd name="adj" fmla="val 31250"/>
            </a:avLst>
          </a:prstGeom>
          <a:solidFill>
            <a:srgbClr val="FFF7C7"/>
          </a:solidFill>
          <a:ln w="12700">
            <a:solidFill>
              <a:srgbClr val="FFF7C7"/>
            </a:solidFill>
            <a:prstDash val="solid"/>
          </a:ln>
        </p:spPr>
      </p:sp>
      <p:sp>
        <p:nvSpPr>
          <p:cNvPr id="9" name="anim-chip-3"/>
          <p:cNvSpPr/>
          <p:nvPr/>
        </p:nvSpPr>
        <p:spPr>
          <a:xfrm>
            <a:off x="877824" y="3300984"/>
            <a:ext cx="2066544" cy="164592"/>
          </a:xfrm>
          <a:prstGeom prst="rect">
            <a:avLst/>
          </a:prstGeom>
          <a:noFill/>
          <a:ln/>
        </p:spPr>
        <p:txBody>
          <a:bodyPr wrap="square" lIns="0" tIns="0" rIns="0" bIns="0" rtlCol="0" anchor="ctr"/>
          <a:lstStyle/>
          <a:p>
            <a:pPr algn="ctr" indent="0" marL="0">
              <a:buNone/>
            </a:pPr>
            <a:r>
              <a:rPr lang="en-US" sz="1300" b="1" dirty="0">
                <a:solidFill>
                  <a:srgbClr val="2F3437"/>
                </a:solidFill>
              </a:rPr>
              <a:t>Seminarfachkurs Glück</a:t>
            </a:r>
            <a:endParaRPr lang="en-US" sz="1300" dirty="0"/>
          </a:p>
        </p:txBody>
      </p:sp>
      <p:sp>
        <p:nvSpPr>
          <p:cNvPr id="10" name="Shape 8"/>
          <p:cNvSpPr/>
          <p:nvPr/>
        </p:nvSpPr>
        <p:spPr>
          <a:xfrm>
            <a:off x="7452360" y="1662745"/>
            <a:ext cx="2655418" cy="1629461"/>
          </a:xfrm>
          <a:prstGeom prst="roundRect">
            <a:avLst/>
          </a:prstGeom>
          <a:solidFill>
            <a:srgbClr val="FFFFFF"/>
          </a:solidFill>
          <a:ln w="12700">
            <a:solidFill>
              <a:srgbClr val="D8E0E8"/>
            </a:solidFill>
            <a:prstDash val="solid"/>
          </a:ln>
          <a:effectLst>
            <a:outerShdw sx="100000" sy="100000" kx="0" ky="0" algn="bl" rotWithShape="0" blurRad="25400" dist="50800" dir="2700000">
              <a:srgbClr val="C9D2DA">
                <a:alpha val="22000"/>
              </a:srgbClr>
            </a:outerShdw>
          </a:effectLst>
        </p:spPr>
      </p:sp>
      <p:sp>
        <p:nvSpPr>
          <p:cNvPr id="11" name="Shape 9"/>
          <p:cNvSpPr/>
          <p:nvPr/>
        </p:nvSpPr>
        <p:spPr>
          <a:xfrm>
            <a:off x="7355799" y="1179942"/>
            <a:ext cx="2848539" cy="869046"/>
          </a:xfrm>
          <a:prstGeom prst="triangle">
            <a:avLst/>
          </a:prstGeom>
          <a:solidFill>
            <a:srgbClr val="FFD9E8"/>
          </a:solidFill>
          <a:ln w="12700">
            <a:solidFill>
              <a:srgbClr val="FFD9E8"/>
            </a:solidFill>
            <a:prstDash val="solid"/>
          </a:ln>
        </p:spPr>
      </p:sp>
      <p:sp>
        <p:nvSpPr>
          <p:cNvPr id="12" name="Shape 10"/>
          <p:cNvSpPr/>
          <p:nvPr/>
        </p:nvSpPr>
        <p:spPr>
          <a:xfrm>
            <a:off x="8538667" y="2423160"/>
            <a:ext cx="482803" cy="869046"/>
          </a:xfrm>
          <a:prstGeom prst="roundRect">
            <a:avLst>
              <a:gd name="adj" fmla="val 5682"/>
            </a:avLst>
          </a:prstGeom>
          <a:solidFill>
            <a:srgbClr val="CFEFFF"/>
          </a:solidFill>
          <a:ln w="12700">
            <a:solidFill>
              <a:srgbClr val="CFEFFF"/>
            </a:solidFill>
            <a:prstDash val="solid"/>
          </a:ln>
        </p:spPr>
      </p:sp>
      <p:sp>
        <p:nvSpPr>
          <p:cNvPr id="13" name="Shape 11"/>
          <p:cNvSpPr/>
          <p:nvPr/>
        </p:nvSpPr>
        <p:spPr>
          <a:xfrm>
            <a:off x="7754112" y="1940357"/>
            <a:ext cx="422453" cy="289682"/>
          </a:xfrm>
          <a:prstGeom prst="roundRect">
            <a:avLst>
              <a:gd name="adj" fmla="val 6313"/>
            </a:avLst>
          </a:prstGeom>
          <a:solidFill>
            <a:srgbClr val="FFF7C7"/>
          </a:solidFill>
          <a:ln w="12700">
            <a:solidFill>
              <a:srgbClr val="F2E6A9"/>
            </a:solidFill>
            <a:prstDash val="solid"/>
          </a:ln>
        </p:spPr>
      </p:sp>
      <p:sp>
        <p:nvSpPr>
          <p:cNvPr id="14" name="Shape 12"/>
          <p:cNvSpPr/>
          <p:nvPr/>
        </p:nvSpPr>
        <p:spPr>
          <a:xfrm>
            <a:off x="9274942" y="1940357"/>
            <a:ext cx="422453" cy="289682"/>
          </a:xfrm>
          <a:prstGeom prst="roundRect">
            <a:avLst>
              <a:gd name="adj" fmla="val 6313"/>
            </a:avLst>
          </a:prstGeom>
          <a:solidFill>
            <a:srgbClr val="FFF7C7"/>
          </a:solidFill>
          <a:ln w="12700">
            <a:solidFill>
              <a:srgbClr val="F2E6A9"/>
            </a:solidFill>
            <a:prstDash val="solid"/>
          </a:ln>
        </p:spPr>
      </p:sp>
      <p:sp>
        <p:nvSpPr>
          <p:cNvPr id="15" name="Shape 13"/>
          <p:cNvSpPr/>
          <p:nvPr/>
        </p:nvSpPr>
        <p:spPr>
          <a:xfrm>
            <a:off x="7754112" y="2519721"/>
            <a:ext cx="422453" cy="289682"/>
          </a:xfrm>
          <a:prstGeom prst="roundRect">
            <a:avLst>
              <a:gd name="adj" fmla="val 6313"/>
            </a:avLst>
          </a:prstGeom>
          <a:solidFill>
            <a:srgbClr val="FFF7C7"/>
          </a:solidFill>
          <a:ln w="12700">
            <a:solidFill>
              <a:srgbClr val="F2E6A9"/>
            </a:solidFill>
            <a:prstDash val="solid"/>
          </a:ln>
        </p:spPr>
      </p:sp>
      <p:sp>
        <p:nvSpPr>
          <p:cNvPr id="16" name="Shape 14"/>
          <p:cNvSpPr/>
          <p:nvPr/>
        </p:nvSpPr>
        <p:spPr>
          <a:xfrm>
            <a:off x="9274942" y="2519721"/>
            <a:ext cx="422453" cy="289682"/>
          </a:xfrm>
          <a:prstGeom prst="roundRect">
            <a:avLst>
              <a:gd name="adj" fmla="val 6313"/>
            </a:avLst>
          </a:prstGeom>
          <a:solidFill>
            <a:srgbClr val="FFF7C7"/>
          </a:solidFill>
          <a:ln w="12700">
            <a:solidFill>
              <a:srgbClr val="F2E6A9"/>
            </a:solidFill>
            <a:prstDash val="solid"/>
          </a:ln>
        </p:spPr>
      </p:sp>
      <p:sp>
        <p:nvSpPr>
          <p:cNvPr id="17" name="Text 15"/>
          <p:cNvSpPr/>
          <p:nvPr/>
        </p:nvSpPr>
        <p:spPr>
          <a:xfrm>
            <a:off x="8200705" y="1590324"/>
            <a:ext cx="1207008" cy="265542"/>
          </a:xfrm>
          <a:prstGeom prst="rect">
            <a:avLst/>
          </a:prstGeom>
          <a:noFill/>
          <a:ln/>
        </p:spPr>
        <p:txBody>
          <a:bodyPr wrap="square" lIns="0" tIns="0" rIns="0" bIns="0" rtlCol="0" anchor="ctr"/>
          <a:lstStyle/>
          <a:p>
            <a:pPr algn="ctr" indent="0" marL="0">
              <a:buNone/>
            </a:pPr>
            <a:r>
              <a:rPr lang="en-US" sz="1056" b="1" dirty="0">
                <a:solidFill>
                  <a:srgbClr val="6B7280"/>
                </a:solidFill>
                <a:latin typeface="Aptos" pitchFamily="34" charset="0"/>
                <a:ea typeface="Aptos" pitchFamily="34" charset="-122"/>
                <a:cs typeface="Aptos" pitchFamily="34" charset="-120"/>
              </a:rPr>
              <a:t>SCHULE</a:t>
            </a:r>
            <a:endParaRPr lang="en-US" sz="1056" dirty="0"/>
          </a:p>
        </p:txBody>
      </p:sp>
      <p:sp>
        <p:nvSpPr>
          <p:cNvPr id="18" name="Shape 16"/>
          <p:cNvSpPr/>
          <p:nvPr/>
        </p:nvSpPr>
        <p:spPr>
          <a:xfrm>
            <a:off x="7587691" y="3730752"/>
            <a:ext cx="279806" cy="279806"/>
          </a:xfrm>
          <a:prstGeom prst="ellipse">
            <a:avLst/>
          </a:prstGeom>
          <a:solidFill>
            <a:srgbClr val="F3C7A8"/>
          </a:solidFill>
          <a:ln w="12700">
            <a:solidFill>
              <a:srgbClr val="F3C7A8"/>
            </a:solidFill>
            <a:prstDash val="solid"/>
          </a:ln>
        </p:spPr>
      </p:sp>
      <p:sp>
        <p:nvSpPr>
          <p:cNvPr id="19" name="Shape 17"/>
          <p:cNvSpPr/>
          <p:nvPr/>
        </p:nvSpPr>
        <p:spPr>
          <a:xfrm>
            <a:off x="7645298" y="3878885"/>
            <a:ext cx="131674" cy="74066"/>
          </a:xfrm>
          <a:prstGeom prst="arc">
            <a:avLst/>
          </a:prstGeom>
          <a:noFill/>
          <a:ln w="12700">
            <a:solidFill>
              <a:srgbClr val="2F3437"/>
            </a:solidFill>
            <a:prstDash val="solid"/>
          </a:ln>
        </p:spPr>
      </p:sp>
      <p:sp>
        <p:nvSpPr>
          <p:cNvPr id="20" name="Shape 18"/>
          <p:cNvSpPr/>
          <p:nvPr/>
        </p:nvSpPr>
        <p:spPr>
          <a:xfrm>
            <a:off x="7521854" y="4018788"/>
            <a:ext cx="411480" cy="477317"/>
          </a:xfrm>
          <a:prstGeom prst="roundRect">
            <a:avLst>
              <a:gd name="adj" fmla="val 11111"/>
            </a:avLst>
          </a:prstGeom>
          <a:solidFill>
            <a:srgbClr val="CFEFFF"/>
          </a:solidFill>
          <a:ln w="12700">
            <a:solidFill>
              <a:srgbClr val="CFEFFF"/>
            </a:solidFill>
            <a:prstDash val="solid"/>
          </a:ln>
        </p:spPr>
      </p:sp>
      <p:sp>
        <p:nvSpPr>
          <p:cNvPr id="21" name="Shape 19"/>
          <p:cNvSpPr/>
          <p:nvPr/>
        </p:nvSpPr>
        <p:spPr>
          <a:xfrm>
            <a:off x="7595921" y="4487875"/>
            <a:ext cx="-98755" cy="263347"/>
          </a:xfrm>
          <a:prstGeom prst="line">
            <a:avLst/>
          </a:prstGeom>
          <a:noFill/>
          <a:ln w="15240">
            <a:solidFill>
              <a:srgbClr val="2F3437"/>
            </a:solidFill>
            <a:prstDash val="solid"/>
          </a:ln>
        </p:spPr>
      </p:sp>
      <p:sp>
        <p:nvSpPr>
          <p:cNvPr id="22" name="Shape 20"/>
          <p:cNvSpPr/>
          <p:nvPr/>
        </p:nvSpPr>
        <p:spPr>
          <a:xfrm>
            <a:off x="7851038" y="4487875"/>
            <a:ext cx="98755" cy="263347"/>
          </a:xfrm>
          <a:prstGeom prst="line">
            <a:avLst/>
          </a:prstGeom>
          <a:noFill/>
          <a:ln w="15240">
            <a:solidFill>
              <a:srgbClr val="2F3437"/>
            </a:solidFill>
            <a:prstDash val="solid"/>
          </a:ln>
        </p:spPr>
      </p:sp>
      <p:sp>
        <p:nvSpPr>
          <p:cNvPr id="23" name="Shape 21"/>
          <p:cNvSpPr/>
          <p:nvPr/>
        </p:nvSpPr>
        <p:spPr>
          <a:xfrm>
            <a:off x="8523671" y="3858768"/>
            <a:ext cx="242499" cy="242499"/>
          </a:xfrm>
          <a:prstGeom prst="ellipse">
            <a:avLst/>
          </a:prstGeom>
          <a:solidFill>
            <a:srgbClr val="F3C7A8"/>
          </a:solidFill>
          <a:ln w="12700">
            <a:solidFill>
              <a:srgbClr val="F3C7A8"/>
            </a:solidFill>
            <a:prstDash val="solid"/>
          </a:ln>
        </p:spPr>
      </p:sp>
      <p:sp>
        <p:nvSpPr>
          <p:cNvPr id="24" name="Shape 22"/>
          <p:cNvSpPr/>
          <p:nvPr/>
        </p:nvSpPr>
        <p:spPr>
          <a:xfrm>
            <a:off x="8573597" y="3987150"/>
            <a:ext cx="114117" cy="64191"/>
          </a:xfrm>
          <a:prstGeom prst="arc">
            <a:avLst/>
          </a:prstGeom>
          <a:noFill/>
          <a:ln w="12700">
            <a:solidFill>
              <a:srgbClr val="2F3437"/>
            </a:solidFill>
            <a:prstDash val="solid"/>
          </a:ln>
        </p:spPr>
      </p:sp>
      <p:sp>
        <p:nvSpPr>
          <p:cNvPr id="25" name="Shape 23"/>
          <p:cNvSpPr/>
          <p:nvPr/>
        </p:nvSpPr>
        <p:spPr>
          <a:xfrm>
            <a:off x="8466612" y="4108399"/>
            <a:ext cx="356616" cy="413675"/>
          </a:xfrm>
          <a:prstGeom prst="roundRect">
            <a:avLst>
              <a:gd name="adj" fmla="val 12821"/>
            </a:avLst>
          </a:prstGeom>
          <a:solidFill>
            <a:srgbClr val="FFD9E8"/>
          </a:solidFill>
          <a:ln w="12700">
            <a:solidFill>
              <a:srgbClr val="FFD9E8"/>
            </a:solidFill>
            <a:prstDash val="solid"/>
          </a:ln>
        </p:spPr>
      </p:sp>
      <p:sp>
        <p:nvSpPr>
          <p:cNvPr id="26" name="Shape 24"/>
          <p:cNvSpPr/>
          <p:nvPr/>
        </p:nvSpPr>
        <p:spPr>
          <a:xfrm>
            <a:off x="8530803" y="4514941"/>
            <a:ext cx="-85588" cy="228234"/>
          </a:xfrm>
          <a:prstGeom prst="line">
            <a:avLst/>
          </a:prstGeom>
          <a:noFill/>
          <a:ln w="15240">
            <a:solidFill>
              <a:srgbClr val="2F3437"/>
            </a:solidFill>
            <a:prstDash val="solid"/>
          </a:ln>
        </p:spPr>
      </p:sp>
      <p:sp>
        <p:nvSpPr>
          <p:cNvPr id="27" name="Shape 25"/>
          <p:cNvSpPr/>
          <p:nvPr/>
        </p:nvSpPr>
        <p:spPr>
          <a:xfrm>
            <a:off x="8751905" y="4514941"/>
            <a:ext cx="85588" cy="228234"/>
          </a:xfrm>
          <a:prstGeom prst="line">
            <a:avLst/>
          </a:prstGeom>
          <a:noFill/>
          <a:ln w="15240">
            <a:solidFill>
              <a:srgbClr val="2F3437"/>
            </a:solidFill>
            <a:prstDash val="solid"/>
          </a:ln>
        </p:spPr>
      </p:sp>
      <p:sp>
        <p:nvSpPr>
          <p:cNvPr id="28" name="Shape 26"/>
          <p:cNvSpPr/>
          <p:nvPr/>
        </p:nvSpPr>
        <p:spPr>
          <a:xfrm>
            <a:off x="8759038" y="3801709"/>
            <a:ext cx="156911" cy="199705"/>
          </a:xfrm>
          <a:prstGeom prst="lightningBolt">
            <a:avLst/>
          </a:prstGeom>
          <a:solidFill>
            <a:srgbClr val="FFF7C7"/>
          </a:solidFill>
          <a:ln w="12700">
            <a:solidFill>
              <a:srgbClr val="FFF7C7"/>
            </a:solidFill>
            <a:prstDash val="solid"/>
          </a:ln>
        </p:spPr>
      </p:sp>
      <p:sp>
        <p:nvSpPr>
          <p:cNvPr id="29" name="Shape 27"/>
          <p:cNvSpPr/>
          <p:nvPr/>
        </p:nvSpPr>
        <p:spPr>
          <a:xfrm rot="10800000">
            <a:off x="8566465" y="4022811"/>
            <a:ext cx="128382" cy="71323"/>
          </a:xfrm>
          <a:prstGeom prst="arc">
            <a:avLst/>
          </a:prstGeom>
          <a:noFill/>
          <a:ln w="13970">
            <a:solidFill>
              <a:srgbClr val="2F3437"/>
            </a:solidFill>
            <a:prstDash val="solid"/>
          </a:ln>
        </p:spPr>
      </p:sp>
      <p:sp>
        <p:nvSpPr>
          <p:cNvPr id="30" name="Shape 28"/>
          <p:cNvSpPr/>
          <p:nvPr/>
        </p:nvSpPr>
        <p:spPr>
          <a:xfrm>
            <a:off x="9370771" y="3703320"/>
            <a:ext cx="279806" cy="279806"/>
          </a:xfrm>
          <a:prstGeom prst="ellipse">
            <a:avLst/>
          </a:prstGeom>
          <a:solidFill>
            <a:srgbClr val="F3C7A8"/>
          </a:solidFill>
          <a:ln w="12700">
            <a:solidFill>
              <a:srgbClr val="F3C7A8"/>
            </a:solidFill>
            <a:prstDash val="solid"/>
          </a:ln>
        </p:spPr>
      </p:sp>
      <p:sp>
        <p:nvSpPr>
          <p:cNvPr id="31" name="Shape 29"/>
          <p:cNvSpPr/>
          <p:nvPr/>
        </p:nvSpPr>
        <p:spPr>
          <a:xfrm>
            <a:off x="9428378" y="3851453"/>
            <a:ext cx="131674" cy="74066"/>
          </a:xfrm>
          <a:prstGeom prst="arc">
            <a:avLst/>
          </a:prstGeom>
          <a:noFill/>
          <a:ln w="12700">
            <a:solidFill>
              <a:srgbClr val="2F3437"/>
            </a:solidFill>
            <a:prstDash val="solid"/>
          </a:ln>
        </p:spPr>
      </p:sp>
      <p:sp>
        <p:nvSpPr>
          <p:cNvPr id="32" name="Shape 30"/>
          <p:cNvSpPr/>
          <p:nvPr/>
        </p:nvSpPr>
        <p:spPr>
          <a:xfrm>
            <a:off x="9304934" y="3991356"/>
            <a:ext cx="411480" cy="477317"/>
          </a:xfrm>
          <a:prstGeom prst="roundRect">
            <a:avLst>
              <a:gd name="adj" fmla="val 11111"/>
            </a:avLst>
          </a:prstGeom>
          <a:solidFill>
            <a:srgbClr val="FFF7C7"/>
          </a:solidFill>
          <a:ln w="12700">
            <a:solidFill>
              <a:srgbClr val="FFF7C7"/>
            </a:solidFill>
            <a:prstDash val="solid"/>
          </a:ln>
        </p:spPr>
      </p:sp>
      <p:sp>
        <p:nvSpPr>
          <p:cNvPr id="33" name="Shape 31"/>
          <p:cNvSpPr/>
          <p:nvPr/>
        </p:nvSpPr>
        <p:spPr>
          <a:xfrm>
            <a:off x="9379001" y="4460443"/>
            <a:ext cx="-98755" cy="263347"/>
          </a:xfrm>
          <a:prstGeom prst="line">
            <a:avLst/>
          </a:prstGeom>
          <a:noFill/>
          <a:ln w="15240">
            <a:solidFill>
              <a:srgbClr val="2F3437"/>
            </a:solidFill>
            <a:prstDash val="solid"/>
          </a:ln>
        </p:spPr>
      </p:sp>
      <p:sp>
        <p:nvSpPr>
          <p:cNvPr id="34" name="Shape 32"/>
          <p:cNvSpPr/>
          <p:nvPr/>
        </p:nvSpPr>
        <p:spPr>
          <a:xfrm>
            <a:off x="9634118" y="4460443"/>
            <a:ext cx="98755" cy="263347"/>
          </a:xfrm>
          <a:prstGeom prst="line">
            <a:avLst/>
          </a:prstGeom>
          <a:noFill/>
          <a:ln w="15240">
            <a:solidFill>
              <a:srgbClr val="2F3437"/>
            </a:solidFill>
            <a:prstDash val="solid"/>
          </a:ln>
        </p:spPr>
      </p:sp>
      <p:sp>
        <p:nvSpPr>
          <p:cNvPr id="35" name="Shape 33"/>
          <p:cNvSpPr/>
          <p:nvPr/>
        </p:nvSpPr>
        <p:spPr>
          <a:xfrm>
            <a:off x="6995160" y="5285232"/>
            <a:ext cx="3749040" cy="640080"/>
          </a:xfrm>
          <a:prstGeom prst="roundRect">
            <a:avLst>
              <a:gd name="adj" fmla="val 22857"/>
            </a:avLst>
          </a:prstGeom>
          <a:solidFill>
            <a:srgbClr val="F7F8FA"/>
          </a:solidFill>
          <a:ln w="12700">
            <a:solidFill>
              <a:srgbClr val="F7F8FA"/>
            </a:solidFill>
            <a:prstDash val="solid"/>
          </a:ln>
          <a:effectLst>
            <a:outerShdw sx="100000" sy="100000" kx="0" ky="0" algn="bl" rotWithShape="0" blurRad="322580000" dist="645160000" dir="162000000000">
              <a:srgbClr val="C9D2DA">
                <a:alpha val="2200000000"/>
              </a:srgbClr>
            </a:outerShdw>
          </a:effectLst>
        </p:spPr>
      </p:sp>
      <p:sp>
        <p:nvSpPr>
          <p:cNvPr id="36" name="anim-caption-4"/>
          <p:cNvSpPr/>
          <p:nvPr/>
        </p:nvSpPr>
        <p:spPr>
          <a:xfrm>
            <a:off x="7351776" y="5495544"/>
            <a:ext cx="3017520" cy="201168"/>
          </a:xfrm>
          <a:prstGeom prst="rect">
            <a:avLst/>
          </a:prstGeom>
          <a:noFill/>
          <a:ln/>
        </p:spPr>
        <p:txBody>
          <a:bodyPr wrap="square" lIns="0" tIns="0" rIns="0" bIns="0" rtlCol="0" anchor="ctr"/>
          <a:lstStyle/>
          <a:p>
            <a:pPr algn="ctr" indent="0" marL="0">
              <a:buNone/>
            </a:pPr>
            <a:r>
              <a:rPr lang="en-US" sz="1400" dirty="0">
                <a:solidFill>
                  <a:srgbClr val="2F3437"/>
                </a:solidFill>
              </a:rPr>
              <a:t>Schule als Bildungsort und Lebensraum</a:t>
            </a:r>
            <a:endParaRPr lang="en-US" sz="1400" dirty="0"/>
          </a:p>
        </p:txBody>
      </p:sp>
      <p:sp>
        <p:nvSpPr>
          <p:cNvPr id="37" name="Text 35"/>
          <p:cNvSpPr/>
          <p:nvPr/>
        </p:nvSpPr>
        <p:spPr>
          <a:xfrm>
            <a:off x="658368" y="6473952"/>
            <a:ext cx="1097280" cy="164592"/>
          </a:xfrm>
          <a:prstGeom prst="rect">
            <a:avLst/>
          </a:prstGeom>
          <a:noFill/>
          <a:ln/>
        </p:spPr>
        <p:txBody>
          <a:bodyPr wrap="square" lIns="0" tIns="0" rIns="0" bIns="0" rtlCol="0" anchor="ctr"/>
          <a:lstStyle/>
          <a:p>
            <a:pPr indent="0" marL="0">
              <a:buNone/>
            </a:pPr>
            <a:r>
              <a:rPr lang="en-US" sz="700" dirty="0">
                <a:solidFill>
                  <a:srgbClr val="A7ADB3"/>
                </a:solidFill>
                <a:latin typeface="Aptos" pitchFamily="34" charset="0"/>
                <a:ea typeface="Aptos" pitchFamily="34" charset="-122"/>
                <a:cs typeface="Aptos" pitchFamily="34" charset="-120"/>
              </a:rPr>
              <a:t>Folie 1 / 11</a:t>
            </a:r>
            <a:endParaRPr lang="en-US" sz="700" dirty="0"/>
          </a:p>
        </p:txBody>
      </p:sp>
      <p:sp>
        <p:nvSpPr>
          <p:cNvPr id="38" name="Text 36"/>
          <p:cNvSpPr/>
          <p:nvPr/>
        </p:nvSpPr>
        <p:spPr>
          <a:xfrm>
            <a:off x="9802368" y="6473952"/>
            <a:ext cx="1627632" cy="164592"/>
          </a:xfrm>
          <a:prstGeom prst="rect">
            <a:avLst/>
          </a:prstGeom>
          <a:noFill/>
          <a:ln/>
        </p:spPr>
        <p:txBody>
          <a:bodyPr wrap="square" lIns="0" tIns="0" rIns="0" bIns="0" rtlCol="0" anchor="ctr"/>
          <a:lstStyle/>
          <a:p>
            <a:pPr algn="r" indent="0" marL="0">
              <a:buNone/>
            </a:pPr>
            <a:r>
              <a:rPr lang="en-US" sz="700" dirty="0">
                <a:solidFill>
                  <a:srgbClr val="BDC4CB"/>
                </a:solidFill>
                <a:latin typeface="Aptos" pitchFamily="34" charset="0"/>
                <a:ea typeface="Aptos" pitchFamily="34" charset="-122"/>
                <a:cs typeface="Aptos" pitchFamily="34" charset="-120"/>
              </a:rPr>
              <a:t>Übergang: Fade</a:t>
            </a:r>
            <a:endParaRPr lang="en-US" sz="700" dirty="0"/>
          </a:p>
        </p:txBody>
      </p:sp>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1</a:t>
            </a:fld>
            <a:endParaRPr lang="en-US"/>
          </a:p>
        </p:txBody>
      </p:sp>
    </p:spTree>
  </p:cSld>
  <p:transition spd="med">
    <p:fade/>
  </p:transition>
  <p:clrMapOvr>
    <a:masterClrMapping/>
  </p:clrMapOvr>
  <p:timing>
    <p:tnLst>
      <p:par>
        <p:cTn id="1" dur="indefinite" restart="never" nodeType="tmRoot">
          <p:childTnLst>
            <p:seq concurrent="1" nextAc="seek">
              <p:cTn id="2" dur="indefinite" nodeType="mainSeq">
                <p:childTnLst>
                  <p:par>
                    <p:cTn id="100" fill="hold" nodeType="clickEffect" presetID="10" presetClass="entr" presetSubtype="0">
                      <p:stCondLst>
                        <p:cond delay="0"/>
                      </p:stCondLst>
                      <p:childTnLst>
                        <p:set>
                          <p:cBhvr>
                            <p:cTn id="101" dur="1" fill="hold"/>
                            <p:tgtEl>
                              <p:spTgt spid="6"/>
                            </p:tgtEl>
                            <p:attrNameLst>
                              <p:attrName>style.visibility</p:attrName>
                            </p:attrNameLst>
                          </p:cBhvr>
                          <p:to>
                            <p:strVal val="visible"/>
                          </p:to>
                        </p:set>
                        <p:animEffect transition="in" filter="fade">
                          <p:cBhvr>
                            <p:cTn id="102" dur="450" fill="hold"/>
                            <p:tgtEl>
                              <p:spTgt spid="6"/>
                            </p:tgtEl>
                          </p:cBhvr>
                        </p:animEffect>
                      </p:childTnLst>
                    </p:cTn>
                  </p:par>
                  <p:par>
                    <p:cTn id="103" fill="hold" nodeType="clickEffect" presetID="10" presetClass="entr" presetSubtype="0">
                      <p:stCondLst>
                        <p:cond delay="250"/>
                      </p:stCondLst>
                      <p:childTnLst>
                        <p:set>
                          <p:cBhvr>
                            <p:cTn id="104" dur="1" fill="hold"/>
                            <p:tgtEl>
                              <p:spTgt spid="7"/>
                            </p:tgtEl>
                            <p:attrNameLst>
                              <p:attrName>style.visibility</p:attrName>
                            </p:attrNameLst>
                          </p:cBhvr>
                          <p:to>
                            <p:strVal val="visible"/>
                          </p:to>
                        </p:set>
                        <p:animEffect transition="in" filter="fade">
                          <p:cBhvr>
                            <p:cTn id="105" dur="450" fill="hold"/>
                            <p:tgtEl>
                              <p:spTgt spid="7"/>
                            </p:tgtEl>
                          </p:cBhvr>
                        </p:animEffect>
                      </p:childTnLst>
                    </p:cTn>
                  </p:par>
                  <p:par>
                    <p:cTn id="106" fill="hold" nodeType="clickEffect" presetID="10" presetClass="entr" presetSubtype="0">
                      <p:stCondLst>
                        <p:cond delay="250"/>
                      </p:stCondLst>
                      <p:childTnLst>
                        <p:set>
                          <p:cBhvr>
                            <p:cTn id="107" dur="1" fill="hold"/>
                            <p:tgtEl>
                              <p:spTgt spid="9"/>
                            </p:tgtEl>
                            <p:attrNameLst>
                              <p:attrName>style.visibility</p:attrName>
                            </p:attrNameLst>
                          </p:cBhvr>
                          <p:to>
                            <p:strVal val="visible"/>
                          </p:to>
                        </p:set>
                        <p:animEffect transition="in" filter="fade">
                          <p:cBhvr>
                            <p:cTn id="108" dur="450" fill="hold"/>
                            <p:tgtEl>
                              <p:spTgt spid="9"/>
                            </p:tgtEl>
                          </p:cBhvr>
                        </p:animEffect>
                      </p:childTnLst>
                    </p:cTn>
                  </p:par>
                  <p:par>
                    <p:cTn id="109" fill="hold" nodeType="clickEffect" presetID="10" presetClass="entr" presetSubtype="0">
                      <p:stCondLst>
                        <p:cond delay="250"/>
                      </p:stCondLst>
                      <p:childTnLst>
                        <p:set>
                          <p:cBhvr>
                            <p:cTn id="110" dur="1" fill="hold"/>
                            <p:tgtEl>
                              <p:spTgt spid="36"/>
                            </p:tgtEl>
                            <p:attrNameLst>
                              <p:attrName>style.visibility</p:attrName>
                            </p:attrNameLst>
                          </p:cBhvr>
                          <p:to>
                            <p:strVal val="visible"/>
                          </p:to>
                        </p:set>
                        <p:animEffect transition="in" filter="fade">
                          <p:cBhvr>
                            <p:cTn id="111" dur="450" fill="hold"/>
                            <p:tgtEl>
                              <p:spTgt spid="36"/>
                            </p:tgtEl>
                          </p:cBhvr>
                        </p:animEffect>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36"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35440" y="-457200"/>
            <a:ext cx="3383280" cy="1920240"/>
          </a:xfrm>
          <a:prstGeom prst="ellipse">
            <a:avLst/>
          </a:prstGeom>
          <a:solidFill>
            <a:srgbClr val="FFF7C7">
              <a:alpha val="50000"/>
            </a:srgbClr>
          </a:solidFill>
          <a:ln w="12700">
            <a:solidFill>
              <a:srgbClr val="FFF7C7">
                <a:alpha val="0"/>
              </a:srgbClr>
            </a:solidFill>
            <a:prstDash val="solid"/>
          </a:ln>
        </p:spPr>
      </p:sp>
      <p:sp>
        <p:nvSpPr>
          <p:cNvPr id="3" name="Shape 1"/>
          <p:cNvSpPr/>
          <p:nvPr/>
        </p:nvSpPr>
        <p:spPr>
          <a:xfrm>
            <a:off x="-731520" y="5212080"/>
            <a:ext cx="3108960" cy="2011680"/>
          </a:xfrm>
          <a:prstGeom prst="ellipse">
            <a:avLst/>
          </a:prstGeom>
          <a:solidFill>
            <a:srgbClr val="CFEFFF">
              <a:alpha val="50000"/>
            </a:srgbClr>
          </a:solidFill>
          <a:ln w="12700">
            <a:solidFill>
              <a:srgbClr val="CFEFFF">
                <a:alpha val="0"/>
              </a:srgbClr>
            </a:solidFill>
            <a:prstDash val="solid"/>
          </a:ln>
        </p:spPr>
      </p:sp>
      <p:sp>
        <p:nvSpPr>
          <p:cNvPr id="4" name="Shape 2"/>
          <p:cNvSpPr/>
          <p:nvPr/>
        </p:nvSpPr>
        <p:spPr>
          <a:xfrm>
            <a:off x="5029200" y="6080760"/>
            <a:ext cx="2286000" cy="685800"/>
          </a:xfrm>
          <a:prstGeom prst="ellipse">
            <a:avLst/>
          </a:prstGeom>
          <a:solidFill>
            <a:srgbClr val="FFD9E8">
              <a:alpha val="38000"/>
            </a:srgbClr>
          </a:solidFill>
          <a:ln w="12700">
            <a:solidFill>
              <a:srgbClr val="FFD9E8">
                <a:alpha val="0"/>
              </a:srgbClr>
            </a:solidFill>
            <a:prstDash val="solid"/>
          </a:ln>
        </p:spPr>
      </p:sp>
      <p:sp>
        <p:nvSpPr>
          <p:cNvPr id="5" name="anim-title-5"/>
          <p:cNvSpPr/>
          <p:nvPr/>
        </p:nvSpPr>
        <p:spPr>
          <a:xfrm>
            <a:off x="658368" y="566928"/>
            <a:ext cx="6766560" cy="841248"/>
          </a:xfrm>
          <a:prstGeom prst="rect">
            <a:avLst/>
          </a:prstGeom>
          <a:noFill/>
          <a:ln/>
        </p:spPr>
        <p:txBody>
          <a:bodyPr wrap="square" lIns="0" tIns="0" rIns="0" bIns="0" rtlCol="0" anchor="ctr">
            <a:normAutofit/>
          </a:bodyPr>
          <a:lstStyle/>
          <a:p>
            <a:pPr indent="0" marL="0">
              <a:buNone/>
            </a:pPr>
            <a:r>
              <a:rPr lang="en-US" sz="3300" b="1" dirty="0">
                <a:solidFill>
                  <a:srgbClr val="2F3437"/>
                </a:solidFill>
                <a:latin typeface="Aptos Display" pitchFamily="34" charset="0"/>
                <a:ea typeface="Aptos Display" pitchFamily="34" charset="-122"/>
                <a:cs typeface="Aptos Display" pitchFamily="34" charset="-120"/>
              </a:rPr>
              <a:t>Warum ist das Thema wichtig?</a:t>
            </a:r>
            <a:endParaRPr lang="en-US" sz="3300" dirty="0"/>
          </a:p>
        </p:txBody>
      </p:sp>
      <p:sp>
        <p:nvSpPr>
          <p:cNvPr id="6" name="Shape 4"/>
          <p:cNvSpPr/>
          <p:nvPr/>
        </p:nvSpPr>
        <p:spPr>
          <a:xfrm>
            <a:off x="9601200" y="1289304"/>
            <a:ext cx="0" cy="1805940"/>
          </a:xfrm>
          <a:prstGeom prst="line">
            <a:avLst/>
          </a:prstGeom>
          <a:noFill/>
          <a:ln w="25400">
            <a:solidFill>
              <a:srgbClr val="2F3437"/>
            </a:solidFill>
            <a:prstDash val="solid"/>
          </a:ln>
        </p:spPr>
      </p:sp>
      <p:sp>
        <p:nvSpPr>
          <p:cNvPr id="7" name="Shape 5"/>
          <p:cNvSpPr/>
          <p:nvPr/>
        </p:nvSpPr>
        <p:spPr>
          <a:xfrm>
            <a:off x="8743950" y="1655064"/>
            <a:ext cx="1714500" cy="0"/>
          </a:xfrm>
          <a:prstGeom prst="line">
            <a:avLst/>
          </a:prstGeom>
          <a:noFill/>
          <a:ln w="25400">
            <a:solidFill>
              <a:srgbClr val="2F3437"/>
            </a:solidFill>
            <a:prstDash val="solid"/>
          </a:ln>
        </p:spPr>
      </p:sp>
      <p:sp>
        <p:nvSpPr>
          <p:cNvPr id="8" name="Shape 6"/>
          <p:cNvSpPr/>
          <p:nvPr/>
        </p:nvSpPr>
        <p:spPr>
          <a:xfrm rot="10800000">
            <a:off x="8343900" y="2203704"/>
            <a:ext cx="845820" cy="411480"/>
          </a:xfrm>
          <a:prstGeom prst="trapezoid">
            <a:avLst/>
          </a:prstGeom>
          <a:solidFill>
            <a:srgbClr val="CFEFFF"/>
          </a:solidFill>
          <a:ln w="12700">
            <a:solidFill>
              <a:srgbClr val="CFEFFF"/>
            </a:solidFill>
            <a:prstDash val="solid"/>
          </a:ln>
        </p:spPr>
      </p:sp>
      <p:sp>
        <p:nvSpPr>
          <p:cNvPr id="9" name="Shape 7"/>
          <p:cNvSpPr/>
          <p:nvPr/>
        </p:nvSpPr>
        <p:spPr>
          <a:xfrm rot="10800000">
            <a:off x="10012680" y="1997964"/>
            <a:ext cx="845820" cy="411480"/>
          </a:xfrm>
          <a:prstGeom prst="trapezoid">
            <a:avLst/>
          </a:prstGeom>
          <a:solidFill>
            <a:srgbClr val="FFD9E8"/>
          </a:solidFill>
          <a:ln w="12700">
            <a:solidFill>
              <a:srgbClr val="FFD9E8"/>
            </a:solidFill>
            <a:prstDash val="solid"/>
          </a:ln>
        </p:spPr>
      </p:sp>
      <p:sp>
        <p:nvSpPr>
          <p:cNvPr id="10" name="Shape 8"/>
          <p:cNvSpPr/>
          <p:nvPr/>
        </p:nvSpPr>
        <p:spPr>
          <a:xfrm>
            <a:off x="8766810" y="1655064"/>
            <a:ext cx="0" cy="548640"/>
          </a:xfrm>
          <a:prstGeom prst="line">
            <a:avLst/>
          </a:prstGeom>
          <a:noFill/>
          <a:ln w="12700">
            <a:solidFill>
              <a:srgbClr val="6B7280"/>
            </a:solidFill>
            <a:prstDash val="solid"/>
          </a:ln>
        </p:spPr>
      </p:sp>
      <p:sp>
        <p:nvSpPr>
          <p:cNvPr id="11" name="Shape 9"/>
          <p:cNvSpPr/>
          <p:nvPr/>
        </p:nvSpPr>
        <p:spPr>
          <a:xfrm>
            <a:off x="10435590" y="1655064"/>
            <a:ext cx="0" cy="342900"/>
          </a:xfrm>
          <a:prstGeom prst="line">
            <a:avLst/>
          </a:prstGeom>
          <a:noFill/>
          <a:ln w="12700">
            <a:solidFill>
              <a:srgbClr val="6B7280"/>
            </a:solidFill>
            <a:prstDash val="solid"/>
          </a:ln>
        </p:spPr>
      </p:sp>
      <p:sp>
        <p:nvSpPr>
          <p:cNvPr id="12" name="Shape 10"/>
          <p:cNvSpPr/>
          <p:nvPr/>
        </p:nvSpPr>
        <p:spPr>
          <a:xfrm>
            <a:off x="9212580" y="3095244"/>
            <a:ext cx="777240" cy="205740"/>
          </a:xfrm>
          <a:prstGeom prst="roundRect">
            <a:avLst>
              <a:gd name="adj" fmla="val 17778"/>
            </a:avLst>
          </a:prstGeom>
          <a:solidFill>
            <a:srgbClr val="2F3437"/>
          </a:solidFill>
          <a:ln w="12700">
            <a:solidFill>
              <a:srgbClr val="2F3437"/>
            </a:solidFill>
            <a:prstDash val="solid"/>
          </a:ln>
        </p:spPr>
      </p:sp>
      <p:sp>
        <p:nvSpPr>
          <p:cNvPr id="13" name="Text 11"/>
          <p:cNvSpPr/>
          <p:nvPr/>
        </p:nvSpPr>
        <p:spPr>
          <a:xfrm>
            <a:off x="8183880" y="2638044"/>
            <a:ext cx="1257300" cy="274320"/>
          </a:xfrm>
          <a:prstGeom prst="rect">
            <a:avLst/>
          </a:prstGeom>
          <a:noFill/>
          <a:ln/>
        </p:spPr>
        <p:txBody>
          <a:bodyPr wrap="square" lIns="0" tIns="0" rIns="0" bIns="0" rtlCol="0" anchor="ctr"/>
          <a:lstStyle/>
          <a:p>
            <a:pPr algn="ctr" indent="0" marL="0">
              <a:buNone/>
            </a:pPr>
            <a:r>
              <a:rPr lang="en-US" sz="1000" dirty="0">
                <a:solidFill>
                  <a:srgbClr val="6B7280"/>
                </a:solidFill>
              </a:rPr>
              <a:t>Bildung</a:t>
            </a:r>
            <a:endParaRPr lang="en-US" sz="1000" dirty="0"/>
          </a:p>
        </p:txBody>
      </p:sp>
      <p:sp>
        <p:nvSpPr>
          <p:cNvPr id="14" name="Text 12"/>
          <p:cNvSpPr/>
          <p:nvPr/>
        </p:nvSpPr>
        <p:spPr>
          <a:xfrm>
            <a:off x="9646920" y="2432304"/>
            <a:ext cx="1554480" cy="274320"/>
          </a:xfrm>
          <a:prstGeom prst="rect">
            <a:avLst/>
          </a:prstGeom>
          <a:noFill/>
          <a:ln/>
        </p:spPr>
        <p:txBody>
          <a:bodyPr wrap="square" lIns="0" tIns="0" rIns="0" bIns="0" rtlCol="0" anchor="ctr"/>
          <a:lstStyle/>
          <a:p>
            <a:pPr algn="ctr" indent="0" marL="0">
              <a:buNone/>
            </a:pPr>
            <a:r>
              <a:rPr lang="en-US" sz="875" dirty="0">
                <a:solidFill>
                  <a:srgbClr val="6B7280"/>
                </a:solidFill>
              </a:rPr>
              <a:t>Wohlbefinden</a:t>
            </a:r>
            <a:endParaRPr lang="en-US" sz="875" dirty="0"/>
          </a:p>
        </p:txBody>
      </p:sp>
      <p:sp>
        <p:nvSpPr>
          <p:cNvPr id="15" name="Shape 13"/>
          <p:cNvSpPr/>
          <p:nvPr/>
        </p:nvSpPr>
        <p:spPr>
          <a:xfrm>
            <a:off x="960120" y="1591056"/>
            <a:ext cx="118872" cy="118872"/>
          </a:xfrm>
          <a:prstGeom prst="ellipse">
            <a:avLst/>
          </a:prstGeom>
          <a:solidFill>
            <a:srgbClr val="CFEFFF"/>
          </a:solidFill>
          <a:ln w="12700">
            <a:solidFill>
              <a:srgbClr val="CFEFFF"/>
            </a:solidFill>
            <a:prstDash val="solid"/>
          </a:ln>
        </p:spPr>
      </p:sp>
      <p:sp>
        <p:nvSpPr>
          <p:cNvPr id="16" name="anim-bullet-6"/>
          <p:cNvSpPr/>
          <p:nvPr/>
        </p:nvSpPr>
        <p:spPr>
          <a:xfrm>
            <a:off x="1207008" y="1499616"/>
            <a:ext cx="5852160" cy="310896"/>
          </a:xfrm>
          <a:prstGeom prst="rect">
            <a:avLst/>
          </a:prstGeom>
          <a:noFill/>
          <a:ln/>
        </p:spPr>
        <p:txBody>
          <a:bodyPr wrap="square" lIns="0" tIns="0" rIns="0" bIns="0" rtlCol="0" anchor="ctr"/>
          <a:lstStyle/>
          <a:p>
            <a:pPr indent="0" marL="0">
              <a:buNone/>
            </a:pPr>
            <a:r>
              <a:rPr lang="en-US" sz="1800" dirty="0">
                <a:solidFill>
                  <a:srgbClr val="2F3437"/>
                </a:solidFill>
                <a:latin typeface="Aptos" pitchFamily="34" charset="0"/>
                <a:ea typeface="Aptos" pitchFamily="34" charset="-122"/>
                <a:cs typeface="Aptos" pitchFamily="34" charset="-120"/>
              </a:rPr>
              <a:t>Schule prägt den Alltag junger Menschen</a:t>
            </a:r>
            <a:endParaRPr lang="en-US" sz="1800" dirty="0"/>
          </a:p>
        </p:txBody>
      </p:sp>
      <p:sp>
        <p:nvSpPr>
          <p:cNvPr id="17" name="Shape 15"/>
          <p:cNvSpPr/>
          <p:nvPr/>
        </p:nvSpPr>
        <p:spPr>
          <a:xfrm>
            <a:off x="960120" y="2121408"/>
            <a:ext cx="118872" cy="118872"/>
          </a:xfrm>
          <a:prstGeom prst="ellipse">
            <a:avLst/>
          </a:prstGeom>
          <a:solidFill>
            <a:srgbClr val="FFD9E8"/>
          </a:solidFill>
          <a:ln w="12700">
            <a:solidFill>
              <a:srgbClr val="FFD9E8"/>
            </a:solidFill>
            <a:prstDash val="solid"/>
          </a:ln>
        </p:spPr>
      </p:sp>
      <p:sp>
        <p:nvSpPr>
          <p:cNvPr id="18" name="anim-bullet-7"/>
          <p:cNvSpPr/>
          <p:nvPr/>
        </p:nvSpPr>
        <p:spPr>
          <a:xfrm>
            <a:off x="1207008" y="2029968"/>
            <a:ext cx="5852160" cy="310896"/>
          </a:xfrm>
          <a:prstGeom prst="rect">
            <a:avLst/>
          </a:prstGeom>
          <a:noFill/>
          <a:ln/>
        </p:spPr>
        <p:txBody>
          <a:bodyPr wrap="square" lIns="0" tIns="0" rIns="0" bIns="0" rtlCol="0" anchor="ctr"/>
          <a:lstStyle/>
          <a:p>
            <a:pPr indent="0" marL="0">
              <a:buNone/>
            </a:pPr>
            <a:r>
              <a:rPr lang="en-US" sz="1800" dirty="0">
                <a:solidFill>
                  <a:srgbClr val="2F3437"/>
                </a:solidFill>
                <a:latin typeface="Aptos" pitchFamily="34" charset="0"/>
                <a:ea typeface="Aptos" pitchFamily="34" charset="-122"/>
                <a:cs typeface="Aptos" pitchFamily="34" charset="-120"/>
              </a:rPr>
              <a:t>Leistungsdruck wird öffentlich stark diskutiert</a:t>
            </a:r>
            <a:endParaRPr lang="en-US" sz="1800" dirty="0"/>
          </a:p>
        </p:txBody>
      </p:sp>
      <p:sp>
        <p:nvSpPr>
          <p:cNvPr id="19" name="Shape 17"/>
          <p:cNvSpPr/>
          <p:nvPr/>
        </p:nvSpPr>
        <p:spPr>
          <a:xfrm>
            <a:off x="960120" y="2651760"/>
            <a:ext cx="118872" cy="118872"/>
          </a:xfrm>
          <a:prstGeom prst="ellipse">
            <a:avLst/>
          </a:prstGeom>
          <a:solidFill>
            <a:srgbClr val="FFF7C7"/>
          </a:solidFill>
          <a:ln w="12700">
            <a:solidFill>
              <a:srgbClr val="FFF7C7"/>
            </a:solidFill>
            <a:prstDash val="solid"/>
          </a:ln>
        </p:spPr>
      </p:sp>
      <p:sp>
        <p:nvSpPr>
          <p:cNvPr id="20" name="anim-bullet-8"/>
          <p:cNvSpPr/>
          <p:nvPr/>
        </p:nvSpPr>
        <p:spPr>
          <a:xfrm>
            <a:off x="1207008" y="2560320"/>
            <a:ext cx="5852160" cy="310896"/>
          </a:xfrm>
          <a:prstGeom prst="rect">
            <a:avLst/>
          </a:prstGeom>
          <a:noFill/>
          <a:ln/>
        </p:spPr>
        <p:txBody>
          <a:bodyPr wrap="square" lIns="0" tIns="0" rIns="0" bIns="0" rtlCol="0" anchor="ctr"/>
          <a:lstStyle/>
          <a:p>
            <a:pPr indent="0" marL="0">
              <a:buNone/>
            </a:pPr>
            <a:r>
              <a:rPr lang="en-US" sz="1800" dirty="0">
                <a:solidFill>
                  <a:srgbClr val="2F3437"/>
                </a:solidFill>
                <a:latin typeface="Aptos" pitchFamily="34" charset="0"/>
                <a:ea typeface="Aptos" pitchFamily="34" charset="-122"/>
                <a:cs typeface="Aptos" pitchFamily="34" charset="-120"/>
              </a:rPr>
              <a:t>Bildung beeinflusst Zukunftschancen</a:t>
            </a:r>
            <a:endParaRPr lang="en-US" sz="1800" dirty="0"/>
          </a:p>
        </p:txBody>
      </p:sp>
      <p:sp>
        <p:nvSpPr>
          <p:cNvPr id="21" name="Shape 19"/>
          <p:cNvSpPr/>
          <p:nvPr/>
        </p:nvSpPr>
        <p:spPr>
          <a:xfrm>
            <a:off x="960120" y="3182112"/>
            <a:ext cx="118872" cy="118872"/>
          </a:xfrm>
          <a:prstGeom prst="ellipse">
            <a:avLst/>
          </a:prstGeom>
          <a:solidFill>
            <a:srgbClr val="CFEFFF"/>
          </a:solidFill>
          <a:ln w="12700">
            <a:solidFill>
              <a:srgbClr val="CFEFFF"/>
            </a:solidFill>
            <a:prstDash val="solid"/>
          </a:ln>
        </p:spPr>
      </p:sp>
      <p:sp>
        <p:nvSpPr>
          <p:cNvPr id="22" name="anim-bullet-9"/>
          <p:cNvSpPr/>
          <p:nvPr/>
        </p:nvSpPr>
        <p:spPr>
          <a:xfrm>
            <a:off x="1207008" y="3090672"/>
            <a:ext cx="5852160" cy="310896"/>
          </a:xfrm>
          <a:prstGeom prst="rect">
            <a:avLst/>
          </a:prstGeom>
          <a:noFill/>
          <a:ln/>
        </p:spPr>
        <p:txBody>
          <a:bodyPr wrap="square" lIns="0" tIns="0" rIns="0" bIns="0" rtlCol="0" anchor="ctr"/>
          <a:lstStyle/>
          <a:p>
            <a:pPr indent="0" marL="0">
              <a:buNone/>
            </a:pPr>
            <a:r>
              <a:rPr lang="en-US" sz="1800" dirty="0">
                <a:solidFill>
                  <a:srgbClr val="2F3437"/>
                </a:solidFill>
                <a:latin typeface="Aptos" pitchFamily="34" charset="0"/>
                <a:ea typeface="Aptos" pitchFamily="34" charset="-122"/>
                <a:cs typeface="Aptos" pitchFamily="34" charset="-120"/>
              </a:rPr>
              <a:t>Wohlbefinden gehört zu erfolgreicher Bildung</a:t>
            </a:r>
            <a:endParaRPr lang="en-US" sz="1800" dirty="0"/>
          </a:p>
        </p:txBody>
      </p:sp>
      <p:sp>
        <p:nvSpPr>
          <p:cNvPr id="23" name="Shape 21"/>
          <p:cNvSpPr/>
          <p:nvPr/>
        </p:nvSpPr>
        <p:spPr>
          <a:xfrm>
            <a:off x="932688" y="4590288"/>
            <a:ext cx="9738360" cy="1060704"/>
          </a:xfrm>
          <a:prstGeom prst="roundRect">
            <a:avLst>
              <a:gd name="adj" fmla="val 15517"/>
            </a:avLst>
          </a:prstGeom>
          <a:solidFill>
            <a:srgbClr val="2F3437"/>
          </a:solidFill>
          <a:ln w="12700">
            <a:solidFill>
              <a:srgbClr val="2F3437"/>
            </a:solidFill>
            <a:prstDash val="solid"/>
          </a:ln>
          <a:effectLst>
            <a:outerShdw sx="100000" sy="100000" kx="0" ky="0" algn="bl" rotWithShape="0" blurRad="4096766000000" dist="8193532000000" dir="9720000000000000">
              <a:srgbClr val="C9D2DA">
                <a:alpha val="220000000000000"/>
              </a:srgbClr>
            </a:outerShdw>
          </a:effectLst>
        </p:spPr>
      </p:sp>
      <p:sp>
        <p:nvSpPr>
          <p:cNvPr id="24" name="anim-q-label-10"/>
          <p:cNvSpPr/>
          <p:nvPr/>
        </p:nvSpPr>
        <p:spPr>
          <a:xfrm>
            <a:off x="1261872" y="4818888"/>
            <a:ext cx="1143000" cy="182880"/>
          </a:xfrm>
          <a:prstGeom prst="rect">
            <a:avLst/>
          </a:prstGeom>
          <a:noFill/>
          <a:ln/>
        </p:spPr>
        <p:txBody>
          <a:bodyPr wrap="square" lIns="0" tIns="0" rIns="0" bIns="0" rtlCol="0" anchor="ctr"/>
          <a:lstStyle/>
          <a:p>
            <a:pPr indent="0" marL="0">
              <a:buNone/>
            </a:pPr>
            <a:r>
              <a:rPr lang="en-US" sz="1100" b="1" dirty="0">
                <a:solidFill>
                  <a:srgbClr val="FFF7C7"/>
                </a:solidFill>
              </a:rPr>
              <a:t>Leitfrage</a:t>
            </a:r>
            <a:endParaRPr lang="en-US" sz="1100" dirty="0"/>
          </a:p>
        </p:txBody>
      </p:sp>
      <p:sp>
        <p:nvSpPr>
          <p:cNvPr id="25" name="anim-question-11"/>
          <p:cNvSpPr/>
          <p:nvPr/>
        </p:nvSpPr>
        <p:spPr>
          <a:xfrm>
            <a:off x="1261872" y="5074920"/>
            <a:ext cx="8942832" cy="310896"/>
          </a:xfrm>
          <a:prstGeom prst="rect">
            <a:avLst/>
          </a:prstGeom>
          <a:noFill/>
          <a:ln/>
        </p:spPr>
        <p:txBody>
          <a:bodyPr wrap="square" lIns="0" tIns="0" rIns="0" bIns="0" rtlCol="0" anchor="ctr">
            <a:normAutofit/>
          </a:bodyPr>
          <a:lstStyle/>
          <a:p>
            <a:pPr indent="0" marL="0">
              <a:buNone/>
            </a:pPr>
            <a:r>
              <a:rPr lang="en-US" sz="1700" b="1" dirty="0">
                <a:solidFill>
                  <a:srgbClr val="FFFFFF"/>
                </a:solidFill>
              </a:rPr>
              <a:t>Inwiefern beeinflussen strukturelle Unterschiede im deutschen Schulsystem das Wohlbefinden von Schülerinnen und Schülern?</a:t>
            </a:r>
            <a:endParaRPr lang="en-US" sz="1700" dirty="0"/>
          </a:p>
        </p:txBody>
      </p:sp>
      <p:sp>
        <p:nvSpPr>
          <p:cNvPr id="26" name="Text 24"/>
          <p:cNvSpPr/>
          <p:nvPr/>
        </p:nvSpPr>
        <p:spPr>
          <a:xfrm>
            <a:off x="658368" y="6473952"/>
            <a:ext cx="1097280" cy="164592"/>
          </a:xfrm>
          <a:prstGeom prst="rect">
            <a:avLst/>
          </a:prstGeom>
          <a:noFill/>
          <a:ln/>
        </p:spPr>
        <p:txBody>
          <a:bodyPr wrap="square" lIns="0" tIns="0" rIns="0" bIns="0" rtlCol="0" anchor="ctr"/>
          <a:lstStyle/>
          <a:p>
            <a:pPr indent="0" marL="0">
              <a:buNone/>
            </a:pPr>
            <a:r>
              <a:rPr lang="en-US" sz="700" dirty="0">
                <a:solidFill>
                  <a:srgbClr val="A7ADB3"/>
                </a:solidFill>
                <a:latin typeface="Aptos" pitchFamily="34" charset="0"/>
                <a:ea typeface="Aptos" pitchFamily="34" charset="-122"/>
                <a:cs typeface="Aptos" pitchFamily="34" charset="-120"/>
              </a:rPr>
              <a:t>Folie 2 / 11</a:t>
            </a:r>
            <a:endParaRPr lang="en-US" sz="700" dirty="0"/>
          </a:p>
        </p:txBody>
      </p:sp>
      <p:sp>
        <p:nvSpPr>
          <p:cNvPr id="27" name="Text 25"/>
          <p:cNvSpPr/>
          <p:nvPr/>
        </p:nvSpPr>
        <p:spPr>
          <a:xfrm>
            <a:off x="9802368" y="6473952"/>
            <a:ext cx="1627632" cy="164592"/>
          </a:xfrm>
          <a:prstGeom prst="rect">
            <a:avLst/>
          </a:prstGeom>
          <a:noFill/>
          <a:ln/>
        </p:spPr>
        <p:txBody>
          <a:bodyPr wrap="square" lIns="0" tIns="0" rIns="0" bIns="0" rtlCol="0" anchor="ctr"/>
          <a:lstStyle/>
          <a:p>
            <a:pPr algn="r" indent="0" marL="0">
              <a:buNone/>
            </a:pPr>
            <a:r>
              <a:rPr lang="en-US" sz="700" dirty="0">
                <a:solidFill>
                  <a:srgbClr val="BDC4CB"/>
                </a:solidFill>
                <a:latin typeface="Aptos" pitchFamily="34" charset="0"/>
                <a:ea typeface="Aptos" pitchFamily="34" charset="-122"/>
                <a:cs typeface="Aptos" pitchFamily="34" charset="-120"/>
              </a:rPr>
              <a:t>Übergang: Zoom</a:t>
            </a:r>
            <a:endParaRPr lang="en-US" sz="700" dirty="0"/>
          </a:p>
        </p:txBody>
      </p:sp>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2</a:t>
            </a:fld>
            <a:endParaRPr lang="en-US"/>
          </a:p>
        </p:txBody>
      </p:sp>
    </p:spTree>
  </p:cSld>
  <p:transition spd="med">
    <p:circle/>
  </p:transition>
  <p:clrMapOvr>
    <a:masterClrMapping/>
  </p:clrMapOvr>
  <p:timing>
    <p:tnLst>
      <p:par>
        <p:cTn id="1" dur="indefinite" restart="never" nodeType="tmRoot">
          <p:childTnLst>
            <p:seq concurrent="1" nextAc="seek">
              <p:cTn id="2" dur="indefinite" nodeType="mainSeq">
                <p:childTnLst>
                  <p:par>
                    <p:cTn id="100" fill="hold" nodeType="clickEffect" presetID="10" presetClass="entr" presetSubtype="0">
                      <p:stCondLst>
                        <p:cond delay="0"/>
                      </p:stCondLst>
                      <p:childTnLst>
                        <p:set>
                          <p:cBhvr>
                            <p:cTn id="101" dur="1" fill="hold"/>
                            <p:tgtEl>
                              <p:spTgt spid="5"/>
                            </p:tgtEl>
                            <p:attrNameLst>
                              <p:attrName>style.visibility</p:attrName>
                            </p:attrNameLst>
                          </p:cBhvr>
                          <p:to>
                            <p:strVal val="visible"/>
                          </p:to>
                        </p:set>
                        <p:animEffect transition="in" filter="fade">
                          <p:cBhvr>
                            <p:cTn id="102" dur="450" fill="hold"/>
                            <p:tgtEl>
                              <p:spTgt spid="5"/>
                            </p:tgtEl>
                          </p:cBhvr>
                        </p:animEffect>
                      </p:childTnLst>
                    </p:cTn>
                  </p:par>
                  <p:par>
                    <p:cTn id="103" fill="hold" nodeType="clickEffect" presetID="10" presetClass="entr" presetSubtype="0">
                      <p:stCondLst>
                        <p:cond delay="250"/>
                      </p:stCondLst>
                      <p:childTnLst>
                        <p:set>
                          <p:cBhvr>
                            <p:cTn id="104" dur="1" fill="hold"/>
                            <p:tgtEl>
                              <p:spTgt spid="16"/>
                            </p:tgtEl>
                            <p:attrNameLst>
                              <p:attrName>style.visibility</p:attrName>
                            </p:attrNameLst>
                          </p:cBhvr>
                          <p:to>
                            <p:strVal val="visible"/>
                          </p:to>
                        </p:set>
                        <p:animEffect transition="in" filter="fade">
                          <p:cBhvr>
                            <p:cTn id="105" dur="450" fill="hold"/>
                            <p:tgtEl>
                              <p:spTgt spid="16"/>
                            </p:tgtEl>
                          </p:cBhvr>
                        </p:animEffect>
                      </p:childTnLst>
                    </p:cTn>
                  </p:par>
                  <p:par>
                    <p:cTn id="106" fill="hold" nodeType="clickEffect" presetID="10" presetClass="entr" presetSubtype="0">
                      <p:stCondLst>
                        <p:cond delay="250"/>
                      </p:stCondLst>
                      <p:childTnLst>
                        <p:set>
                          <p:cBhvr>
                            <p:cTn id="107" dur="1" fill="hold"/>
                            <p:tgtEl>
                              <p:spTgt spid="18"/>
                            </p:tgtEl>
                            <p:attrNameLst>
                              <p:attrName>style.visibility</p:attrName>
                            </p:attrNameLst>
                          </p:cBhvr>
                          <p:to>
                            <p:strVal val="visible"/>
                          </p:to>
                        </p:set>
                        <p:animEffect transition="in" filter="fade">
                          <p:cBhvr>
                            <p:cTn id="108" dur="450" fill="hold"/>
                            <p:tgtEl>
                              <p:spTgt spid="18"/>
                            </p:tgtEl>
                          </p:cBhvr>
                        </p:animEffect>
                      </p:childTnLst>
                    </p:cTn>
                  </p:par>
                  <p:par>
                    <p:cTn id="109" fill="hold" nodeType="clickEffect" presetID="10" presetClass="entr" presetSubtype="0">
                      <p:stCondLst>
                        <p:cond delay="250"/>
                      </p:stCondLst>
                      <p:childTnLst>
                        <p:set>
                          <p:cBhvr>
                            <p:cTn id="110" dur="1" fill="hold"/>
                            <p:tgtEl>
                              <p:spTgt spid="20"/>
                            </p:tgtEl>
                            <p:attrNameLst>
                              <p:attrName>style.visibility</p:attrName>
                            </p:attrNameLst>
                          </p:cBhvr>
                          <p:to>
                            <p:strVal val="visible"/>
                          </p:to>
                        </p:set>
                        <p:animEffect transition="in" filter="fade">
                          <p:cBhvr>
                            <p:cTn id="111" dur="450" fill="hold"/>
                            <p:tgtEl>
                              <p:spTgt spid="20"/>
                            </p:tgtEl>
                          </p:cBhvr>
                        </p:animEffect>
                      </p:childTnLst>
                    </p:cTn>
                  </p:par>
                  <p:par>
                    <p:cTn id="112" fill="hold" nodeType="clickEffect" presetID="10" presetClass="entr" presetSubtype="0">
                      <p:stCondLst>
                        <p:cond delay="250"/>
                      </p:stCondLst>
                      <p:childTnLst>
                        <p:set>
                          <p:cBhvr>
                            <p:cTn id="113" dur="1" fill="hold"/>
                            <p:tgtEl>
                              <p:spTgt spid="22"/>
                            </p:tgtEl>
                            <p:attrNameLst>
                              <p:attrName>style.visibility</p:attrName>
                            </p:attrNameLst>
                          </p:cBhvr>
                          <p:to>
                            <p:strVal val="visible"/>
                          </p:to>
                        </p:set>
                        <p:animEffect transition="in" filter="fade">
                          <p:cBhvr>
                            <p:cTn id="114" dur="450" fill="hold"/>
                            <p:tgtEl>
                              <p:spTgt spid="22"/>
                            </p:tgtEl>
                          </p:cBhvr>
                        </p:animEffect>
                      </p:childTnLst>
                    </p:cTn>
                  </p:par>
                  <p:par>
                    <p:cTn id="115" fill="hold" nodeType="clickEffect" presetID="10" presetClass="entr" presetSubtype="0">
                      <p:stCondLst>
                        <p:cond delay="250"/>
                      </p:stCondLst>
                      <p:childTnLst>
                        <p:set>
                          <p:cBhvr>
                            <p:cTn id="116" dur="1" fill="hold"/>
                            <p:tgtEl>
                              <p:spTgt spid="24"/>
                            </p:tgtEl>
                            <p:attrNameLst>
                              <p:attrName>style.visibility</p:attrName>
                            </p:attrNameLst>
                          </p:cBhvr>
                          <p:to>
                            <p:strVal val="visible"/>
                          </p:to>
                        </p:set>
                        <p:animEffect transition="in" filter="fade">
                          <p:cBhvr>
                            <p:cTn id="117" dur="450" fill="hold"/>
                            <p:tgtEl>
                              <p:spTgt spid="24"/>
                            </p:tgtEl>
                          </p:cBhvr>
                        </p:animEffect>
                      </p:childTnLst>
                    </p:cTn>
                  </p:par>
                  <p:par>
                    <p:cTn id="118" fill="hold" nodeType="clickEffect" presetID="10" presetClass="entr" presetSubtype="0">
                      <p:stCondLst>
                        <p:cond delay="250"/>
                      </p:stCondLst>
                      <p:childTnLst>
                        <p:set>
                          <p:cBhvr>
                            <p:cTn id="119" dur="1" fill="hold"/>
                            <p:tgtEl>
                              <p:spTgt spid="25"/>
                            </p:tgtEl>
                            <p:attrNameLst>
                              <p:attrName>style.visibility</p:attrName>
                            </p:attrNameLst>
                          </p:cBhvr>
                          <p:to>
                            <p:strVal val="visible"/>
                          </p:to>
                        </p:set>
                        <p:animEffect transition="in" filter="fade">
                          <p:cBhvr>
                            <p:cTn id="120" dur="450" fill="hold"/>
                            <p:tgtEl>
                              <p:spTgt spid="25"/>
                            </p:tgtEl>
                          </p:cBhvr>
                        </p:animEffect>
                      </p:childTnLst>
                    </p:cTn>
                  </p:par>
                </p:childTnLst>
              </p:cTn>
              <p:prevCondLst>
                <p:cond evt="onPrev" delay="0">
                  <p:tgtEl>
                    <p:sldTgt/>
                  </p:tgtEl>
                </p:cond>
              </p:prevCondLst>
              <p:nextCondLst>
                <p:cond evt="onNext" delay="0">
                  <p:tgtEl>
                    <p:sldTgt/>
                  </p:tgtEl>
                </p:cond>
              </p:nextCondLst>
            </p:seq>
          </p:childTnLst>
        </p:cTn>
      </p:par>
    </p:tnLst>
    <p:bldLst>
      <p:bldP spid="5" grpId="0"/>
      <p:bldP spid="16" grpId="0"/>
      <p:bldP spid="18" grpId="0"/>
      <p:bldP spid="20" grpId="0"/>
      <p:bldP spid="22" grpId="0"/>
      <p:bldP spid="24"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05840" y="2011680"/>
            <a:ext cx="2560320" cy="2560320"/>
          </a:xfrm>
          <a:prstGeom prst="ellipse">
            <a:avLst/>
          </a:prstGeom>
          <a:solidFill>
            <a:srgbClr val="FFD9E8">
              <a:alpha val="38000"/>
            </a:srgbClr>
          </a:solidFill>
          <a:ln w="12700">
            <a:solidFill>
              <a:srgbClr val="FFD9E8">
                <a:alpha val="0"/>
              </a:srgbClr>
            </a:solidFill>
            <a:prstDash val="solid"/>
          </a:ln>
        </p:spPr>
      </p:sp>
      <p:sp>
        <p:nvSpPr>
          <p:cNvPr id="3" name="Shape 1"/>
          <p:cNvSpPr/>
          <p:nvPr/>
        </p:nvSpPr>
        <p:spPr>
          <a:xfrm>
            <a:off x="9784080" y="182880"/>
            <a:ext cx="2651760" cy="2286000"/>
          </a:xfrm>
          <a:prstGeom prst="ellipse">
            <a:avLst/>
          </a:prstGeom>
          <a:solidFill>
            <a:srgbClr val="CFEFFF">
              <a:alpha val="45000"/>
            </a:srgbClr>
          </a:solidFill>
          <a:ln w="12700">
            <a:solidFill>
              <a:srgbClr val="CFEFFF">
                <a:alpha val="0"/>
              </a:srgbClr>
            </a:solidFill>
            <a:prstDash val="solid"/>
          </a:ln>
        </p:spPr>
      </p:sp>
      <p:sp>
        <p:nvSpPr>
          <p:cNvPr id="4" name="Shape 2"/>
          <p:cNvSpPr/>
          <p:nvPr/>
        </p:nvSpPr>
        <p:spPr>
          <a:xfrm>
            <a:off x="8503920" y="5212080"/>
            <a:ext cx="3200400" cy="1554480"/>
          </a:xfrm>
          <a:prstGeom prst="ellipse">
            <a:avLst/>
          </a:prstGeom>
          <a:solidFill>
            <a:srgbClr val="FFF7C7">
              <a:alpha val="45000"/>
            </a:srgbClr>
          </a:solidFill>
          <a:ln w="12700">
            <a:solidFill>
              <a:srgbClr val="FFF7C7">
                <a:alpha val="0"/>
              </a:srgbClr>
            </a:solidFill>
            <a:prstDash val="solid"/>
          </a:ln>
        </p:spPr>
      </p:sp>
      <p:sp>
        <p:nvSpPr>
          <p:cNvPr id="5" name="anim-title-12"/>
          <p:cNvSpPr/>
          <p:nvPr/>
        </p:nvSpPr>
        <p:spPr>
          <a:xfrm>
            <a:off x="658368" y="530352"/>
            <a:ext cx="3840480" cy="841248"/>
          </a:xfrm>
          <a:prstGeom prst="rect">
            <a:avLst/>
          </a:prstGeom>
          <a:noFill/>
          <a:ln/>
        </p:spPr>
        <p:txBody>
          <a:bodyPr wrap="square" lIns="0" tIns="0" rIns="0" bIns="0" rtlCol="0" anchor="ctr">
            <a:normAutofit/>
          </a:bodyPr>
          <a:lstStyle/>
          <a:p>
            <a:pPr indent="0" marL="0">
              <a:buNone/>
            </a:pPr>
            <a:r>
              <a:rPr lang="en-US" sz="3400" b="1" dirty="0">
                <a:solidFill>
                  <a:srgbClr val="2F3437"/>
                </a:solidFill>
                <a:latin typeface="Aptos Display" pitchFamily="34" charset="0"/>
                <a:ea typeface="Aptos Display" pitchFamily="34" charset="-122"/>
                <a:cs typeface="Aptos Display" pitchFamily="34" charset="-120"/>
              </a:rPr>
              <a:t>Grundlagen</a:t>
            </a:r>
            <a:endParaRPr lang="en-US" sz="3400" dirty="0"/>
          </a:p>
        </p:txBody>
      </p:sp>
      <p:sp>
        <p:nvSpPr>
          <p:cNvPr id="6" name="Shape 4"/>
          <p:cNvSpPr/>
          <p:nvPr/>
        </p:nvSpPr>
        <p:spPr>
          <a:xfrm>
            <a:off x="4645152" y="2423160"/>
            <a:ext cx="1316736" cy="859536"/>
          </a:xfrm>
          <a:prstGeom prst="ellipse">
            <a:avLst/>
          </a:prstGeom>
          <a:solidFill>
            <a:srgbClr val="2F3437"/>
          </a:solidFill>
          <a:ln w="12700">
            <a:solidFill>
              <a:srgbClr val="2F3437"/>
            </a:solidFill>
            <a:prstDash val="solid"/>
          </a:ln>
          <a:effectLst>
            <a:outerShdw sx="100000" sy="100000" kx="0" ky="0" algn="bl" rotWithShape="0" blurRad="52028928200000000" dist="104057856400000000" dir="583200000000000000000">
              <a:srgbClr val="C9D2DA">
                <a:alpha val="22000000000000000000"/>
              </a:srgbClr>
            </a:outerShdw>
          </a:effectLst>
        </p:spPr>
      </p:sp>
      <p:sp>
        <p:nvSpPr>
          <p:cNvPr id="7" name="Text 5"/>
          <p:cNvSpPr/>
          <p:nvPr/>
        </p:nvSpPr>
        <p:spPr>
          <a:xfrm>
            <a:off x="4828032" y="2633472"/>
            <a:ext cx="950976" cy="438912"/>
          </a:xfrm>
          <a:prstGeom prst="rect">
            <a:avLst/>
          </a:prstGeom>
          <a:noFill/>
          <a:ln/>
        </p:spPr>
        <p:txBody>
          <a:bodyPr wrap="square" lIns="0" tIns="0" rIns="0" bIns="0" rtlCol="0" anchor="ctr"/>
          <a:lstStyle/>
          <a:p>
            <a:pPr algn="ctr" indent="0" marL="0">
              <a:buNone/>
            </a:pPr>
            <a:r>
              <a:rPr lang="en-US" sz="1400" b="1" dirty="0">
                <a:solidFill>
                  <a:srgbClr val="FFFFFF"/>
                </a:solidFill>
              </a:rPr>
              <a:t>Schule</a:t>
            </a:r>
            <a:endParaRPr lang="en-US" sz="1400" dirty="0"/>
          </a:p>
          <a:p>
            <a:pPr algn="ctr" indent="0" marL="0">
              <a:buNone/>
            </a:pPr>
            <a:r>
              <a:rPr lang="en-US" sz="1400" b="1" dirty="0">
                <a:solidFill>
                  <a:srgbClr val="FFFFFF"/>
                </a:solidFill>
              </a:rPr>
              <a:t>&amp; Glück</a:t>
            </a:r>
            <a:endParaRPr lang="en-US" sz="1400" dirty="0"/>
          </a:p>
        </p:txBody>
      </p:sp>
      <p:sp>
        <p:nvSpPr>
          <p:cNvPr id="8" name="Shape 6"/>
          <p:cNvSpPr/>
          <p:nvPr/>
        </p:nvSpPr>
        <p:spPr>
          <a:xfrm>
            <a:off x="5303520" y="2852928"/>
            <a:ext cx="-3337560" cy="-1069848"/>
          </a:xfrm>
          <a:prstGeom prst="line">
            <a:avLst/>
          </a:prstGeom>
          <a:noFill/>
          <a:ln w="17780">
            <a:solidFill>
              <a:srgbClr val="CBD5DE"/>
            </a:solidFill>
            <a:prstDash val="solid"/>
          </a:ln>
        </p:spPr>
      </p:sp>
      <p:sp>
        <p:nvSpPr>
          <p:cNvPr id="9" name="Shape 7"/>
          <p:cNvSpPr/>
          <p:nvPr/>
        </p:nvSpPr>
        <p:spPr>
          <a:xfrm>
            <a:off x="914400" y="1325880"/>
            <a:ext cx="2148840" cy="1554480"/>
          </a:xfrm>
          <a:prstGeom prst="roundRect">
            <a:avLst>
              <a:gd name="adj" fmla="val 8235"/>
            </a:avLst>
          </a:prstGeom>
          <a:solidFill>
            <a:srgbClr val="CFEFFF"/>
          </a:solidFill>
          <a:ln w="12700">
            <a:solidFill>
              <a:srgbClr val="CFEFFF"/>
            </a:solidFill>
            <a:prstDash val="solid"/>
          </a:ln>
          <a:effectLst>
            <a:outerShdw sx="100000" sy="100000" kx="0" ky="0" algn="bl" rotWithShape="0" blurRad="660767388140000000000" dist="1.32153477628e+21" dir="3.4992e+25">
              <a:srgbClr val="C9D2DA">
                <a:alpha val="2.2e+24"/>
              </a:srgbClr>
            </a:outerShdw>
          </a:effectLst>
        </p:spPr>
      </p:sp>
      <p:sp>
        <p:nvSpPr>
          <p:cNvPr id="10" name="anim-node-13"/>
          <p:cNvSpPr/>
          <p:nvPr/>
        </p:nvSpPr>
        <p:spPr>
          <a:xfrm>
            <a:off x="1097280" y="1490472"/>
            <a:ext cx="1810512" cy="402336"/>
          </a:xfrm>
          <a:prstGeom prst="rect">
            <a:avLst/>
          </a:prstGeom>
          <a:noFill/>
          <a:ln/>
        </p:spPr>
        <p:txBody>
          <a:bodyPr wrap="square" lIns="0" tIns="0" rIns="0" bIns="0" rtlCol="0" anchor="ctr">
            <a:normAutofit/>
          </a:bodyPr>
          <a:lstStyle/>
          <a:p>
            <a:pPr algn="ctr" indent="0" marL="0">
              <a:buNone/>
            </a:pPr>
            <a:r>
              <a:rPr lang="en-US" sz="1600" b="1" dirty="0">
                <a:solidFill>
                  <a:srgbClr val="2F3437"/>
                </a:solidFill>
              </a:rPr>
              <a:t>Struktur-</a:t>
            </a:r>
            <a:endParaRPr lang="en-US" sz="1600" dirty="0"/>
          </a:p>
          <a:p>
            <a:pPr algn="ctr" indent="0" marL="0">
              <a:buNone/>
            </a:pPr>
            <a:r>
              <a:rPr lang="en-US" sz="1600" b="1" dirty="0">
                <a:solidFill>
                  <a:srgbClr val="2F3437"/>
                </a:solidFill>
              </a:rPr>
              <a:t>merkmale</a:t>
            </a:r>
            <a:endParaRPr lang="en-US" sz="1600" dirty="0"/>
          </a:p>
        </p:txBody>
      </p:sp>
      <p:sp>
        <p:nvSpPr>
          <p:cNvPr id="11" name="anim-node-body-14"/>
          <p:cNvSpPr/>
          <p:nvPr/>
        </p:nvSpPr>
        <p:spPr>
          <a:xfrm>
            <a:off x="1170432" y="2039112"/>
            <a:ext cx="1737360" cy="182880"/>
          </a:xfrm>
          <a:prstGeom prst="rect">
            <a:avLst/>
          </a:prstGeom>
          <a:noFill/>
          <a:ln/>
        </p:spPr>
        <p:txBody>
          <a:bodyPr wrap="square" lIns="0" tIns="0" rIns="0" bIns="0" rtlCol="0" anchor="ctr">
            <a:normAutofit/>
          </a:bodyPr>
          <a:lstStyle/>
          <a:p>
            <a:pPr indent="0" marL="0">
              <a:buNone/>
            </a:pPr>
            <a:r>
              <a:rPr lang="en-US" sz="980" dirty="0">
                <a:solidFill>
                  <a:srgbClr val="2F3437"/>
                </a:solidFill>
              </a:rPr>
              <a:t>- Schulformen</a:t>
            </a:r>
            <a:endParaRPr lang="en-US" sz="980" dirty="0"/>
          </a:p>
        </p:txBody>
      </p:sp>
      <p:sp>
        <p:nvSpPr>
          <p:cNvPr id="12" name="anim-node-body-15"/>
          <p:cNvSpPr/>
          <p:nvPr/>
        </p:nvSpPr>
        <p:spPr>
          <a:xfrm>
            <a:off x="1170432" y="2258568"/>
            <a:ext cx="1737360" cy="182880"/>
          </a:xfrm>
          <a:prstGeom prst="rect">
            <a:avLst/>
          </a:prstGeom>
          <a:noFill/>
          <a:ln/>
        </p:spPr>
        <p:txBody>
          <a:bodyPr wrap="square" lIns="0" tIns="0" rIns="0" bIns="0" rtlCol="0" anchor="ctr">
            <a:normAutofit/>
          </a:bodyPr>
          <a:lstStyle/>
          <a:p>
            <a:pPr indent="0" marL="0">
              <a:buNone/>
            </a:pPr>
            <a:r>
              <a:rPr lang="en-US" sz="980" dirty="0">
                <a:solidFill>
                  <a:srgbClr val="2F3437"/>
                </a:solidFill>
              </a:rPr>
              <a:t>- Notensystem</a:t>
            </a:r>
            <a:endParaRPr lang="en-US" sz="980" dirty="0"/>
          </a:p>
        </p:txBody>
      </p:sp>
      <p:sp>
        <p:nvSpPr>
          <p:cNvPr id="13" name="anim-node-body-16"/>
          <p:cNvSpPr/>
          <p:nvPr/>
        </p:nvSpPr>
        <p:spPr>
          <a:xfrm>
            <a:off x="1170432" y="2478024"/>
            <a:ext cx="1737360" cy="182880"/>
          </a:xfrm>
          <a:prstGeom prst="rect">
            <a:avLst/>
          </a:prstGeom>
          <a:noFill/>
          <a:ln/>
        </p:spPr>
        <p:txBody>
          <a:bodyPr wrap="square" lIns="0" tIns="0" rIns="0" bIns="0" rtlCol="0" anchor="ctr">
            <a:normAutofit/>
          </a:bodyPr>
          <a:lstStyle/>
          <a:p>
            <a:pPr indent="0" marL="0">
              <a:buNone/>
            </a:pPr>
            <a:r>
              <a:rPr lang="en-US" sz="980" dirty="0">
                <a:solidFill>
                  <a:srgbClr val="2F3437"/>
                </a:solidFill>
              </a:rPr>
              <a:t>- Versetzungen</a:t>
            </a:r>
            <a:endParaRPr lang="en-US" sz="980" dirty="0"/>
          </a:p>
        </p:txBody>
      </p:sp>
      <p:sp>
        <p:nvSpPr>
          <p:cNvPr id="14" name="anim-node-body-17"/>
          <p:cNvSpPr/>
          <p:nvPr/>
        </p:nvSpPr>
        <p:spPr>
          <a:xfrm>
            <a:off x="1170432" y="2697480"/>
            <a:ext cx="1737360" cy="182880"/>
          </a:xfrm>
          <a:prstGeom prst="rect">
            <a:avLst/>
          </a:prstGeom>
          <a:noFill/>
          <a:ln/>
        </p:spPr>
        <p:txBody>
          <a:bodyPr wrap="square" lIns="0" tIns="0" rIns="0" bIns="0" rtlCol="0" anchor="ctr">
            <a:normAutofit/>
          </a:bodyPr>
          <a:lstStyle/>
          <a:p>
            <a:pPr indent="0" marL="0">
              <a:buNone/>
            </a:pPr>
            <a:r>
              <a:rPr lang="en-US" sz="980" dirty="0">
                <a:solidFill>
                  <a:srgbClr val="2F3437"/>
                </a:solidFill>
              </a:rPr>
              <a:t>- Abschlüsse</a:t>
            </a:r>
            <a:endParaRPr lang="en-US" sz="980" dirty="0"/>
          </a:p>
        </p:txBody>
      </p:sp>
      <p:sp>
        <p:nvSpPr>
          <p:cNvPr id="15" name="Shape 13"/>
          <p:cNvSpPr/>
          <p:nvPr/>
        </p:nvSpPr>
        <p:spPr>
          <a:xfrm>
            <a:off x="5303520" y="2852928"/>
            <a:ext cx="3886200" cy="-1161288"/>
          </a:xfrm>
          <a:prstGeom prst="line">
            <a:avLst/>
          </a:prstGeom>
          <a:noFill/>
          <a:ln w="17780">
            <a:solidFill>
              <a:srgbClr val="CBD5DE"/>
            </a:solidFill>
            <a:prstDash val="solid"/>
          </a:ln>
        </p:spPr>
      </p:sp>
      <p:sp>
        <p:nvSpPr>
          <p:cNvPr id="16" name="Shape 14"/>
          <p:cNvSpPr/>
          <p:nvPr/>
        </p:nvSpPr>
        <p:spPr>
          <a:xfrm>
            <a:off x="8138160" y="1234440"/>
            <a:ext cx="2148840" cy="1554480"/>
          </a:xfrm>
          <a:prstGeom prst="roundRect">
            <a:avLst>
              <a:gd name="adj" fmla="val 8235"/>
            </a:avLst>
          </a:prstGeom>
          <a:solidFill>
            <a:srgbClr val="FFD9E8"/>
          </a:solidFill>
          <a:ln w="12700">
            <a:solidFill>
              <a:srgbClr val="FFD9E8"/>
            </a:solidFill>
            <a:prstDash val="solid"/>
          </a:ln>
          <a:effectLst>
            <a:outerShdw sx="100000" sy="100000" kx="0" ky="0" algn="bl" rotWithShape="0" blurRad="8.391745829378e+24" dist="1.6783491658756e+25" dir="2.09952e+30">
              <a:srgbClr val="C9D2DA">
                <a:alpha val="2.2e+29"/>
              </a:srgbClr>
            </a:outerShdw>
          </a:effectLst>
        </p:spPr>
      </p:sp>
      <p:sp>
        <p:nvSpPr>
          <p:cNvPr id="17" name="anim-node-18"/>
          <p:cNvSpPr/>
          <p:nvPr/>
        </p:nvSpPr>
        <p:spPr>
          <a:xfrm>
            <a:off x="8321040" y="1399032"/>
            <a:ext cx="1810512" cy="402336"/>
          </a:xfrm>
          <a:prstGeom prst="rect">
            <a:avLst/>
          </a:prstGeom>
          <a:noFill/>
          <a:ln/>
        </p:spPr>
        <p:txBody>
          <a:bodyPr wrap="square" lIns="0" tIns="0" rIns="0" bIns="0" rtlCol="0" anchor="ctr">
            <a:normAutofit/>
          </a:bodyPr>
          <a:lstStyle/>
          <a:p>
            <a:pPr algn="ctr" indent="0" marL="0">
              <a:buNone/>
            </a:pPr>
            <a:r>
              <a:rPr lang="en-US" sz="1600" b="1" dirty="0">
                <a:solidFill>
                  <a:srgbClr val="2F3437"/>
                </a:solidFill>
              </a:rPr>
              <a:t>Wohl-</a:t>
            </a:r>
            <a:endParaRPr lang="en-US" sz="1600" dirty="0"/>
          </a:p>
          <a:p>
            <a:pPr algn="ctr" indent="0" marL="0">
              <a:buNone/>
            </a:pPr>
            <a:r>
              <a:rPr lang="en-US" sz="1600" b="1" dirty="0">
                <a:solidFill>
                  <a:srgbClr val="2F3437"/>
                </a:solidFill>
              </a:rPr>
              <a:t>befinden</a:t>
            </a:r>
            <a:endParaRPr lang="en-US" sz="1600" dirty="0"/>
          </a:p>
        </p:txBody>
      </p:sp>
      <p:sp>
        <p:nvSpPr>
          <p:cNvPr id="18" name="anim-node-body-19"/>
          <p:cNvSpPr/>
          <p:nvPr/>
        </p:nvSpPr>
        <p:spPr>
          <a:xfrm>
            <a:off x="8394192" y="1947672"/>
            <a:ext cx="1737360" cy="182880"/>
          </a:xfrm>
          <a:prstGeom prst="rect">
            <a:avLst/>
          </a:prstGeom>
          <a:noFill/>
          <a:ln/>
        </p:spPr>
        <p:txBody>
          <a:bodyPr wrap="square" lIns="0" tIns="0" rIns="0" bIns="0" rtlCol="0" anchor="ctr">
            <a:normAutofit/>
          </a:bodyPr>
          <a:lstStyle/>
          <a:p>
            <a:pPr indent="0" marL="0">
              <a:buNone/>
            </a:pPr>
            <a:r>
              <a:rPr lang="en-US" sz="980" dirty="0">
                <a:solidFill>
                  <a:srgbClr val="2F3437"/>
                </a:solidFill>
              </a:rPr>
              <a:t>- psychische Gesundheit</a:t>
            </a:r>
            <a:endParaRPr lang="en-US" sz="980" dirty="0"/>
          </a:p>
        </p:txBody>
      </p:sp>
      <p:sp>
        <p:nvSpPr>
          <p:cNvPr id="19" name="anim-node-body-20"/>
          <p:cNvSpPr/>
          <p:nvPr/>
        </p:nvSpPr>
        <p:spPr>
          <a:xfrm>
            <a:off x="8394192" y="2167128"/>
            <a:ext cx="1737360" cy="182880"/>
          </a:xfrm>
          <a:prstGeom prst="rect">
            <a:avLst/>
          </a:prstGeom>
          <a:noFill/>
          <a:ln/>
        </p:spPr>
        <p:txBody>
          <a:bodyPr wrap="square" lIns="0" tIns="0" rIns="0" bIns="0" rtlCol="0" anchor="ctr">
            <a:normAutofit/>
          </a:bodyPr>
          <a:lstStyle/>
          <a:p>
            <a:pPr indent="0" marL="0">
              <a:buNone/>
            </a:pPr>
            <a:r>
              <a:rPr lang="en-US" sz="980" dirty="0">
                <a:solidFill>
                  <a:srgbClr val="2F3437"/>
                </a:solidFill>
              </a:rPr>
              <a:t>- soziale Beziehungen</a:t>
            </a:r>
            <a:endParaRPr lang="en-US" sz="980" dirty="0"/>
          </a:p>
        </p:txBody>
      </p:sp>
      <p:sp>
        <p:nvSpPr>
          <p:cNvPr id="20" name="anim-node-body-21"/>
          <p:cNvSpPr/>
          <p:nvPr/>
        </p:nvSpPr>
        <p:spPr>
          <a:xfrm>
            <a:off x="8394192" y="2386584"/>
            <a:ext cx="1737360" cy="182880"/>
          </a:xfrm>
          <a:prstGeom prst="rect">
            <a:avLst/>
          </a:prstGeom>
          <a:noFill/>
          <a:ln/>
        </p:spPr>
        <p:txBody>
          <a:bodyPr wrap="square" lIns="0" tIns="0" rIns="0" bIns="0" rtlCol="0" anchor="ctr">
            <a:normAutofit/>
          </a:bodyPr>
          <a:lstStyle/>
          <a:p>
            <a:pPr indent="0" marL="0">
              <a:buNone/>
            </a:pPr>
            <a:r>
              <a:rPr lang="en-US" sz="980" dirty="0">
                <a:solidFill>
                  <a:srgbClr val="2F3437"/>
                </a:solidFill>
              </a:rPr>
              <a:t>- Lebenszufriedenheit</a:t>
            </a:r>
            <a:endParaRPr lang="en-US" sz="980" dirty="0"/>
          </a:p>
        </p:txBody>
      </p:sp>
      <p:sp>
        <p:nvSpPr>
          <p:cNvPr id="21" name="Shape 19"/>
          <p:cNvSpPr/>
          <p:nvPr/>
        </p:nvSpPr>
        <p:spPr>
          <a:xfrm>
            <a:off x="5303520" y="2852928"/>
            <a:ext cx="-1234440" cy="2221992"/>
          </a:xfrm>
          <a:prstGeom prst="line">
            <a:avLst/>
          </a:prstGeom>
          <a:noFill/>
          <a:ln w="17780">
            <a:solidFill>
              <a:srgbClr val="CBD5DE"/>
            </a:solidFill>
            <a:prstDash val="solid"/>
          </a:ln>
        </p:spPr>
      </p:sp>
      <p:sp>
        <p:nvSpPr>
          <p:cNvPr id="22" name="Shape 20"/>
          <p:cNvSpPr/>
          <p:nvPr/>
        </p:nvSpPr>
        <p:spPr>
          <a:xfrm>
            <a:off x="3017520" y="4617720"/>
            <a:ext cx="2148840" cy="1554480"/>
          </a:xfrm>
          <a:prstGeom prst="roundRect">
            <a:avLst>
              <a:gd name="adj" fmla="val 8235"/>
            </a:avLst>
          </a:prstGeom>
          <a:solidFill>
            <a:srgbClr val="FFF7C7"/>
          </a:solidFill>
          <a:ln w="12700">
            <a:solidFill>
              <a:srgbClr val="FFF7C7"/>
            </a:solidFill>
            <a:prstDash val="solid"/>
          </a:ln>
          <a:effectLst>
            <a:outerShdw sx="100000" sy="100000" kx="0" ky="0" algn="bl" rotWithShape="0" blurRad="1.0657517203310059e+29" dist="2.1315034406620118e+29" dir="1.259712e+35">
              <a:srgbClr val="C9D2DA">
                <a:alpha val="2.2e+34"/>
              </a:srgbClr>
            </a:outerShdw>
          </a:effectLst>
        </p:spPr>
      </p:sp>
      <p:sp>
        <p:nvSpPr>
          <p:cNvPr id="23" name="anim-node-22"/>
          <p:cNvSpPr/>
          <p:nvPr/>
        </p:nvSpPr>
        <p:spPr>
          <a:xfrm>
            <a:off x="3200400" y="4782312"/>
            <a:ext cx="1810512" cy="402336"/>
          </a:xfrm>
          <a:prstGeom prst="rect">
            <a:avLst/>
          </a:prstGeom>
          <a:noFill/>
          <a:ln/>
        </p:spPr>
        <p:txBody>
          <a:bodyPr wrap="square" lIns="0" tIns="0" rIns="0" bIns="0" rtlCol="0" anchor="ctr">
            <a:normAutofit/>
          </a:bodyPr>
          <a:lstStyle/>
          <a:p>
            <a:pPr algn="ctr" indent="0" marL="0">
              <a:buNone/>
            </a:pPr>
            <a:r>
              <a:rPr lang="en-US" sz="1600" b="1" dirty="0">
                <a:solidFill>
                  <a:srgbClr val="2F3437"/>
                </a:solidFill>
              </a:rPr>
              <a:t>Bildungs-</a:t>
            </a:r>
            <a:endParaRPr lang="en-US" sz="1600" dirty="0"/>
          </a:p>
          <a:p>
            <a:pPr algn="ctr" indent="0" marL="0">
              <a:buNone/>
            </a:pPr>
            <a:r>
              <a:rPr lang="en-US" sz="1600" b="1" dirty="0">
                <a:solidFill>
                  <a:srgbClr val="2F3437"/>
                </a:solidFill>
              </a:rPr>
              <a:t>gerechtigkeit</a:t>
            </a:r>
            <a:endParaRPr lang="en-US" sz="1600" dirty="0"/>
          </a:p>
        </p:txBody>
      </p:sp>
      <p:sp>
        <p:nvSpPr>
          <p:cNvPr id="24" name="anim-node-body-23"/>
          <p:cNvSpPr/>
          <p:nvPr/>
        </p:nvSpPr>
        <p:spPr>
          <a:xfrm>
            <a:off x="3273552" y="5330952"/>
            <a:ext cx="1737360" cy="182880"/>
          </a:xfrm>
          <a:prstGeom prst="rect">
            <a:avLst/>
          </a:prstGeom>
          <a:noFill/>
          <a:ln/>
        </p:spPr>
        <p:txBody>
          <a:bodyPr wrap="square" lIns="0" tIns="0" rIns="0" bIns="0" rtlCol="0" anchor="ctr">
            <a:normAutofit/>
          </a:bodyPr>
          <a:lstStyle/>
          <a:p>
            <a:pPr indent="0" marL="0">
              <a:buNone/>
            </a:pPr>
            <a:r>
              <a:rPr lang="en-US" sz="980" dirty="0">
                <a:solidFill>
                  <a:srgbClr val="2F3437"/>
                </a:solidFill>
              </a:rPr>
              <a:t>- faire Chancen</a:t>
            </a:r>
            <a:endParaRPr lang="en-US" sz="980" dirty="0"/>
          </a:p>
        </p:txBody>
      </p:sp>
      <p:sp>
        <p:nvSpPr>
          <p:cNvPr id="25" name="anim-node-body-24"/>
          <p:cNvSpPr/>
          <p:nvPr/>
        </p:nvSpPr>
        <p:spPr>
          <a:xfrm>
            <a:off x="3273552" y="5550408"/>
            <a:ext cx="1737360" cy="182880"/>
          </a:xfrm>
          <a:prstGeom prst="rect">
            <a:avLst/>
          </a:prstGeom>
          <a:noFill/>
          <a:ln/>
        </p:spPr>
        <p:txBody>
          <a:bodyPr wrap="square" lIns="0" tIns="0" rIns="0" bIns="0" rtlCol="0" anchor="ctr">
            <a:normAutofit/>
          </a:bodyPr>
          <a:lstStyle/>
          <a:p>
            <a:pPr indent="0" marL="0">
              <a:buNone/>
            </a:pPr>
            <a:r>
              <a:rPr lang="en-US" sz="980" dirty="0">
                <a:solidFill>
                  <a:srgbClr val="2F3437"/>
                </a:solidFill>
              </a:rPr>
              <a:t>- unabhängig von</a:t>
            </a:r>
            <a:endParaRPr lang="en-US" sz="980" dirty="0"/>
          </a:p>
        </p:txBody>
      </p:sp>
      <p:sp>
        <p:nvSpPr>
          <p:cNvPr id="26" name="anim-node-body-25"/>
          <p:cNvSpPr/>
          <p:nvPr/>
        </p:nvSpPr>
        <p:spPr>
          <a:xfrm>
            <a:off x="3273552" y="5769864"/>
            <a:ext cx="1737360" cy="182880"/>
          </a:xfrm>
          <a:prstGeom prst="rect">
            <a:avLst/>
          </a:prstGeom>
          <a:noFill/>
          <a:ln/>
        </p:spPr>
        <p:txBody>
          <a:bodyPr wrap="square" lIns="0" tIns="0" rIns="0" bIns="0" rtlCol="0" anchor="ctr">
            <a:normAutofit/>
          </a:bodyPr>
          <a:lstStyle/>
          <a:p>
            <a:pPr indent="0" marL="0">
              <a:buNone/>
            </a:pPr>
            <a:r>
              <a:rPr lang="en-US" sz="980" dirty="0">
                <a:solidFill>
                  <a:srgbClr val="2F3437"/>
                </a:solidFill>
              </a:rPr>
              <a:t>- sozialer Herkunft</a:t>
            </a:r>
            <a:endParaRPr lang="en-US" sz="980" dirty="0"/>
          </a:p>
        </p:txBody>
      </p:sp>
      <p:sp>
        <p:nvSpPr>
          <p:cNvPr id="27" name="Text 25"/>
          <p:cNvSpPr/>
          <p:nvPr/>
        </p:nvSpPr>
        <p:spPr>
          <a:xfrm>
            <a:off x="658368" y="6473952"/>
            <a:ext cx="1097280" cy="164592"/>
          </a:xfrm>
          <a:prstGeom prst="rect">
            <a:avLst/>
          </a:prstGeom>
          <a:noFill/>
          <a:ln/>
        </p:spPr>
        <p:txBody>
          <a:bodyPr wrap="square" lIns="0" tIns="0" rIns="0" bIns="0" rtlCol="0" anchor="ctr"/>
          <a:lstStyle/>
          <a:p>
            <a:pPr indent="0" marL="0">
              <a:buNone/>
            </a:pPr>
            <a:r>
              <a:rPr lang="en-US" sz="700" dirty="0">
                <a:solidFill>
                  <a:srgbClr val="A7ADB3"/>
                </a:solidFill>
                <a:latin typeface="Aptos" pitchFamily="34" charset="0"/>
                <a:ea typeface="Aptos" pitchFamily="34" charset="-122"/>
                <a:cs typeface="Aptos" pitchFamily="34" charset="-120"/>
              </a:rPr>
              <a:t>Folie 3 / 11</a:t>
            </a:r>
            <a:endParaRPr lang="en-US" sz="700" dirty="0"/>
          </a:p>
        </p:txBody>
      </p:sp>
      <p:sp>
        <p:nvSpPr>
          <p:cNvPr id="28" name="Text 26"/>
          <p:cNvSpPr/>
          <p:nvPr/>
        </p:nvSpPr>
        <p:spPr>
          <a:xfrm>
            <a:off x="9802368" y="6473952"/>
            <a:ext cx="1627632" cy="164592"/>
          </a:xfrm>
          <a:prstGeom prst="rect">
            <a:avLst/>
          </a:prstGeom>
          <a:noFill/>
          <a:ln/>
        </p:spPr>
        <p:txBody>
          <a:bodyPr wrap="square" lIns="0" tIns="0" rIns="0" bIns="0" rtlCol="0" anchor="ctr"/>
          <a:lstStyle/>
          <a:p>
            <a:pPr algn="r" indent="0" marL="0">
              <a:buNone/>
            </a:pPr>
            <a:r>
              <a:rPr lang="en-US" sz="700" dirty="0">
                <a:solidFill>
                  <a:srgbClr val="BDC4CB"/>
                </a:solidFill>
                <a:latin typeface="Aptos" pitchFamily="34" charset="0"/>
                <a:ea typeface="Aptos" pitchFamily="34" charset="-122"/>
                <a:cs typeface="Aptos" pitchFamily="34" charset="-120"/>
              </a:rPr>
              <a:t>Übergang: Move In</a:t>
            </a:r>
            <a:endParaRPr lang="en-US" sz="700" dirty="0"/>
          </a:p>
        </p:txBody>
      </p:sp>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3</a:t>
            </a:fld>
            <a:endParaRPr lang="en-US"/>
          </a:p>
        </p:txBody>
      </p:sp>
    </p:spTree>
  </p:cSld>
  <p:transition spd="med">
    <p:pull dir="l"/>
  </p:transition>
  <p:clrMapOvr>
    <a:masterClrMapping/>
  </p:clrMapOvr>
  <p:timing>
    <p:tnLst>
      <p:par>
        <p:cTn id="1" dur="indefinite" restart="never" nodeType="tmRoot">
          <p:childTnLst>
            <p:seq concurrent="1" nextAc="seek">
              <p:cTn id="2" dur="indefinite" nodeType="mainSeq">
                <p:childTnLst>
                  <p:par>
                    <p:cTn id="100" fill="hold" nodeType="clickEffect" presetID="10" presetClass="entr" presetSubtype="0">
                      <p:stCondLst>
                        <p:cond delay="0"/>
                      </p:stCondLst>
                      <p:childTnLst>
                        <p:set>
                          <p:cBhvr>
                            <p:cTn id="101" dur="1" fill="hold"/>
                            <p:tgtEl>
                              <p:spTgt spid="5"/>
                            </p:tgtEl>
                            <p:attrNameLst>
                              <p:attrName>style.visibility</p:attrName>
                            </p:attrNameLst>
                          </p:cBhvr>
                          <p:to>
                            <p:strVal val="visible"/>
                          </p:to>
                        </p:set>
                        <p:animEffect transition="in" filter="fade">
                          <p:cBhvr>
                            <p:cTn id="102" dur="450" fill="hold"/>
                            <p:tgtEl>
                              <p:spTgt spid="5"/>
                            </p:tgtEl>
                          </p:cBhvr>
                        </p:animEffect>
                      </p:childTnLst>
                    </p:cTn>
                  </p:par>
                  <p:par>
                    <p:cTn id="103" fill="hold" nodeType="clickEffect" presetID="10" presetClass="entr" presetSubtype="0">
                      <p:stCondLst>
                        <p:cond delay="250"/>
                      </p:stCondLst>
                      <p:childTnLst>
                        <p:set>
                          <p:cBhvr>
                            <p:cTn id="104" dur="1" fill="hold"/>
                            <p:tgtEl>
                              <p:spTgt spid="10"/>
                            </p:tgtEl>
                            <p:attrNameLst>
                              <p:attrName>style.visibility</p:attrName>
                            </p:attrNameLst>
                          </p:cBhvr>
                          <p:to>
                            <p:strVal val="visible"/>
                          </p:to>
                        </p:set>
                        <p:animEffect transition="in" filter="fade">
                          <p:cBhvr>
                            <p:cTn id="105" dur="450" fill="hold"/>
                            <p:tgtEl>
                              <p:spTgt spid="10"/>
                            </p:tgtEl>
                          </p:cBhvr>
                        </p:animEffect>
                      </p:childTnLst>
                    </p:cTn>
                  </p:par>
                  <p:par>
                    <p:cTn id="106" fill="hold" nodeType="clickEffect" presetID="10" presetClass="entr" presetSubtype="0">
                      <p:stCondLst>
                        <p:cond delay="250"/>
                      </p:stCondLst>
                      <p:childTnLst>
                        <p:set>
                          <p:cBhvr>
                            <p:cTn id="107" dur="1" fill="hold"/>
                            <p:tgtEl>
                              <p:spTgt spid="11"/>
                            </p:tgtEl>
                            <p:attrNameLst>
                              <p:attrName>style.visibility</p:attrName>
                            </p:attrNameLst>
                          </p:cBhvr>
                          <p:to>
                            <p:strVal val="visible"/>
                          </p:to>
                        </p:set>
                        <p:animEffect transition="in" filter="fade">
                          <p:cBhvr>
                            <p:cTn id="108" dur="450" fill="hold"/>
                            <p:tgtEl>
                              <p:spTgt spid="11"/>
                            </p:tgtEl>
                          </p:cBhvr>
                        </p:animEffect>
                      </p:childTnLst>
                    </p:cTn>
                  </p:par>
                  <p:par>
                    <p:cTn id="109" fill="hold" nodeType="clickEffect" presetID="10" presetClass="entr" presetSubtype="0">
                      <p:stCondLst>
                        <p:cond delay="250"/>
                      </p:stCondLst>
                      <p:childTnLst>
                        <p:set>
                          <p:cBhvr>
                            <p:cTn id="110" dur="1" fill="hold"/>
                            <p:tgtEl>
                              <p:spTgt spid="12"/>
                            </p:tgtEl>
                            <p:attrNameLst>
                              <p:attrName>style.visibility</p:attrName>
                            </p:attrNameLst>
                          </p:cBhvr>
                          <p:to>
                            <p:strVal val="visible"/>
                          </p:to>
                        </p:set>
                        <p:animEffect transition="in" filter="fade">
                          <p:cBhvr>
                            <p:cTn id="111" dur="450" fill="hold"/>
                            <p:tgtEl>
                              <p:spTgt spid="12"/>
                            </p:tgtEl>
                          </p:cBhvr>
                        </p:animEffect>
                      </p:childTnLst>
                    </p:cTn>
                  </p:par>
                  <p:par>
                    <p:cTn id="112" fill="hold" nodeType="clickEffect" presetID="10" presetClass="entr" presetSubtype="0">
                      <p:stCondLst>
                        <p:cond delay="250"/>
                      </p:stCondLst>
                      <p:childTnLst>
                        <p:set>
                          <p:cBhvr>
                            <p:cTn id="113" dur="1" fill="hold"/>
                            <p:tgtEl>
                              <p:spTgt spid="13"/>
                            </p:tgtEl>
                            <p:attrNameLst>
                              <p:attrName>style.visibility</p:attrName>
                            </p:attrNameLst>
                          </p:cBhvr>
                          <p:to>
                            <p:strVal val="visible"/>
                          </p:to>
                        </p:set>
                        <p:animEffect transition="in" filter="fade">
                          <p:cBhvr>
                            <p:cTn id="114" dur="450" fill="hold"/>
                            <p:tgtEl>
                              <p:spTgt spid="13"/>
                            </p:tgtEl>
                          </p:cBhvr>
                        </p:animEffect>
                      </p:childTnLst>
                    </p:cTn>
                  </p:par>
                  <p:par>
                    <p:cTn id="115" fill="hold" nodeType="clickEffect" presetID="10" presetClass="entr" presetSubtype="0">
                      <p:stCondLst>
                        <p:cond delay="250"/>
                      </p:stCondLst>
                      <p:childTnLst>
                        <p:set>
                          <p:cBhvr>
                            <p:cTn id="116" dur="1" fill="hold"/>
                            <p:tgtEl>
                              <p:spTgt spid="14"/>
                            </p:tgtEl>
                            <p:attrNameLst>
                              <p:attrName>style.visibility</p:attrName>
                            </p:attrNameLst>
                          </p:cBhvr>
                          <p:to>
                            <p:strVal val="visible"/>
                          </p:to>
                        </p:set>
                        <p:animEffect transition="in" filter="fade">
                          <p:cBhvr>
                            <p:cTn id="117" dur="450" fill="hold"/>
                            <p:tgtEl>
                              <p:spTgt spid="14"/>
                            </p:tgtEl>
                          </p:cBhvr>
                        </p:animEffect>
                      </p:childTnLst>
                    </p:cTn>
                  </p:par>
                  <p:par>
                    <p:cTn id="118" fill="hold" nodeType="clickEffect" presetID="10" presetClass="entr" presetSubtype="0">
                      <p:stCondLst>
                        <p:cond delay="250"/>
                      </p:stCondLst>
                      <p:childTnLst>
                        <p:set>
                          <p:cBhvr>
                            <p:cTn id="119" dur="1" fill="hold"/>
                            <p:tgtEl>
                              <p:spTgt spid="17"/>
                            </p:tgtEl>
                            <p:attrNameLst>
                              <p:attrName>style.visibility</p:attrName>
                            </p:attrNameLst>
                          </p:cBhvr>
                          <p:to>
                            <p:strVal val="visible"/>
                          </p:to>
                        </p:set>
                        <p:animEffect transition="in" filter="fade">
                          <p:cBhvr>
                            <p:cTn id="120" dur="450" fill="hold"/>
                            <p:tgtEl>
                              <p:spTgt spid="17"/>
                            </p:tgtEl>
                          </p:cBhvr>
                        </p:animEffect>
                      </p:childTnLst>
                    </p:cTn>
                  </p:par>
                  <p:par>
                    <p:cTn id="121" fill="hold" nodeType="clickEffect" presetID="10" presetClass="entr" presetSubtype="0">
                      <p:stCondLst>
                        <p:cond delay="250"/>
                      </p:stCondLst>
                      <p:childTnLst>
                        <p:set>
                          <p:cBhvr>
                            <p:cTn id="122" dur="1" fill="hold"/>
                            <p:tgtEl>
                              <p:spTgt spid="18"/>
                            </p:tgtEl>
                            <p:attrNameLst>
                              <p:attrName>style.visibility</p:attrName>
                            </p:attrNameLst>
                          </p:cBhvr>
                          <p:to>
                            <p:strVal val="visible"/>
                          </p:to>
                        </p:set>
                        <p:animEffect transition="in" filter="fade">
                          <p:cBhvr>
                            <p:cTn id="123" dur="450" fill="hold"/>
                            <p:tgtEl>
                              <p:spTgt spid="18"/>
                            </p:tgtEl>
                          </p:cBhvr>
                        </p:animEffect>
                      </p:childTnLst>
                    </p:cTn>
                  </p:par>
                  <p:par>
                    <p:cTn id="124" fill="hold" nodeType="clickEffect" presetID="10" presetClass="entr" presetSubtype="0">
                      <p:stCondLst>
                        <p:cond delay="250"/>
                      </p:stCondLst>
                      <p:childTnLst>
                        <p:set>
                          <p:cBhvr>
                            <p:cTn id="125" dur="1" fill="hold"/>
                            <p:tgtEl>
                              <p:spTgt spid="19"/>
                            </p:tgtEl>
                            <p:attrNameLst>
                              <p:attrName>style.visibility</p:attrName>
                            </p:attrNameLst>
                          </p:cBhvr>
                          <p:to>
                            <p:strVal val="visible"/>
                          </p:to>
                        </p:set>
                        <p:animEffect transition="in" filter="fade">
                          <p:cBhvr>
                            <p:cTn id="126" dur="450" fill="hold"/>
                            <p:tgtEl>
                              <p:spTgt spid="19"/>
                            </p:tgtEl>
                          </p:cBhvr>
                        </p:animEffect>
                      </p:childTnLst>
                    </p:cTn>
                  </p:par>
                  <p:par>
                    <p:cTn id="127" fill="hold" nodeType="clickEffect" presetID="10" presetClass="entr" presetSubtype="0">
                      <p:stCondLst>
                        <p:cond delay="250"/>
                      </p:stCondLst>
                      <p:childTnLst>
                        <p:set>
                          <p:cBhvr>
                            <p:cTn id="128" dur="1" fill="hold"/>
                            <p:tgtEl>
                              <p:spTgt spid="20"/>
                            </p:tgtEl>
                            <p:attrNameLst>
                              <p:attrName>style.visibility</p:attrName>
                            </p:attrNameLst>
                          </p:cBhvr>
                          <p:to>
                            <p:strVal val="visible"/>
                          </p:to>
                        </p:set>
                        <p:animEffect transition="in" filter="fade">
                          <p:cBhvr>
                            <p:cTn id="129" dur="450" fill="hold"/>
                            <p:tgtEl>
                              <p:spTgt spid="20"/>
                            </p:tgtEl>
                          </p:cBhvr>
                        </p:animEffect>
                      </p:childTnLst>
                    </p:cTn>
                  </p:par>
                  <p:par>
                    <p:cTn id="130" fill="hold" nodeType="clickEffect" presetID="10" presetClass="entr" presetSubtype="0">
                      <p:stCondLst>
                        <p:cond delay="250"/>
                      </p:stCondLst>
                      <p:childTnLst>
                        <p:set>
                          <p:cBhvr>
                            <p:cTn id="131" dur="1" fill="hold"/>
                            <p:tgtEl>
                              <p:spTgt spid="23"/>
                            </p:tgtEl>
                            <p:attrNameLst>
                              <p:attrName>style.visibility</p:attrName>
                            </p:attrNameLst>
                          </p:cBhvr>
                          <p:to>
                            <p:strVal val="visible"/>
                          </p:to>
                        </p:set>
                        <p:animEffect transition="in" filter="fade">
                          <p:cBhvr>
                            <p:cTn id="132" dur="450" fill="hold"/>
                            <p:tgtEl>
                              <p:spTgt spid="23"/>
                            </p:tgtEl>
                          </p:cBhvr>
                        </p:animEffect>
                      </p:childTnLst>
                    </p:cTn>
                  </p:par>
                  <p:par>
                    <p:cTn id="133" fill="hold" nodeType="clickEffect" presetID="10" presetClass="entr" presetSubtype="0">
                      <p:stCondLst>
                        <p:cond delay="250"/>
                      </p:stCondLst>
                      <p:childTnLst>
                        <p:set>
                          <p:cBhvr>
                            <p:cTn id="134" dur="1" fill="hold"/>
                            <p:tgtEl>
                              <p:spTgt spid="24"/>
                            </p:tgtEl>
                            <p:attrNameLst>
                              <p:attrName>style.visibility</p:attrName>
                            </p:attrNameLst>
                          </p:cBhvr>
                          <p:to>
                            <p:strVal val="visible"/>
                          </p:to>
                        </p:set>
                        <p:animEffect transition="in" filter="fade">
                          <p:cBhvr>
                            <p:cTn id="135" dur="450" fill="hold"/>
                            <p:tgtEl>
                              <p:spTgt spid="24"/>
                            </p:tgtEl>
                          </p:cBhvr>
                        </p:animEffect>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P spid="13" grpId="0"/>
      <p:bldP spid="14" grpId="0"/>
      <p:bldP spid="17" grpId="0"/>
      <p:bldP spid="18" grpId="0"/>
      <p:bldP spid="19" grpId="0"/>
      <p:bldP spid="20" grpId="0"/>
      <p:bldP spid="23"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3383280" cy="1920240"/>
          </a:xfrm>
          <a:prstGeom prst="ellipse">
            <a:avLst/>
          </a:prstGeom>
          <a:solidFill>
            <a:srgbClr val="CFEFFF">
              <a:alpha val="56000"/>
            </a:srgbClr>
          </a:solidFill>
          <a:ln w="12700">
            <a:solidFill>
              <a:srgbClr val="CFEFFF">
                <a:alpha val="0"/>
              </a:srgbClr>
            </a:solidFill>
            <a:prstDash val="solid"/>
          </a:ln>
        </p:spPr>
      </p:sp>
      <p:sp>
        <p:nvSpPr>
          <p:cNvPr id="3" name="Shape 1"/>
          <p:cNvSpPr/>
          <p:nvPr/>
        </p:nvSpPr>
        <p:spPr>
          <a:xfrm>
            <a:off x="9692640" y="5303520"/>
            <a:ext cx="2926080" cy="2011680"/>
          </a:xfrm>
          <a:prstGeom prst="ellipse">
            <a:avLst/>
          </a:prstGeom>
          <a:solidFill>
            <a:srgbClr val="FFD9E8">
              <a:alpha val="52000"/>
            </a:srgbClr>
          </a:solidFill>
          <a:ln w="12700">
            <a:solidFill>
              <a:srgbClr val="FFD9E8">
                <a:alpha val="0"/>
              </a:srgbClr>
            </a:solidFill>
            <a:prstDash val="solid"/>
          </a:ln>
        </p:spPr>
      </p:sp>
      <p:sp>
        <p:nvSpPr>
          <p:cNvPr id="4" name="Shape 2"/>
          <p:cNvSpPr/>
          <p:nvPr/>
        </p:nvSpPr>
        <p:spPr>
          <a:xfrm>
            <a:off x="7040880" y="-320040"/>
            <a:ext cx="1920240" cy="1280160"/>
          </a:xfrm>
          <a:prstGeom prst="ellipse">
            <a:avLst/>
          </a:prstGeom>
          <a:solidFill>
            <a:srgbClr val="FFF7C7">
              <a:alpha val="42000"/>
            </a:srgbClr>
          </a:solidFill>
          <a:ln w="12700">
            <a:solidFill>
              <a:srgbClr val="FFF7C7">
                <a:alpha val="0"/>
              </a:srgbClr>
            </a:solidFill>
            <a:prstDash val="solid"/>
          </a:ln>
        </p:spPr>
      </p:sp>
      <p:sp>
        <p:nvSpPr>
          <p:cNvPr id="5" name="anim-title-26"/>
          <p:cNvSpPr/>
          <p:nvPr/>
        </p:nvSpPr>
        <p:spPr>
          <a:xfrm>
            <a:off x="658368" y="530352"/>
            <a:ext cx="5577840" cy="841248"/>
          </a:xfrm>
          <a:prstGeom prst="rect">
            <a:avLst/>
          </a:prstGeom>
          <a:noFill/>
          <a:ln/>
        </p:spPr>
        <p:txBody>
          <a:bodyPr wrap="square" lIns="0" tIns="0" rIns="0" bIns="0" rtlCol="0" anchor="ctr">
            <a:normAutofit/>
          </a:bodyPr>
          <a:lstStyle/>
          <a:p>
            <a:pPr indent="0" marL="0">
              <a:buNone/>
            </a:pPr>
            <a:r>
              <a:rPr lang="en-US" sz="3400" b="1" dirty="0">
                <a:solidFill>
                  <a:srgbClr val="2F3437"/>
                </a:solidFill>
                <a:latin typeface="Aptos Display" pitchFamily="34" charset="0"/>
                <a:ea typeface="Aptos Display" pitchFamily="34" charset="-122"/>
                <a:cs typeface="Aptos Display" pitchFamily="34" charset="-120"/>
              </a:rPr>
              <a:t>Das deutsche Schulsystem</a:t>
            </a:r>
            <a:endParaRPr lang="en-US" sz="3400" dirty="0"/>
          </a:p>
        </p:txBody>
      </p:sp>
      <p:sp>
        <p:nvSpPr>
          <p:cNvPr id="6" name="anim-sub-27"/>
          <p:cNvSpPr/>
          <p:nvPr/>
        </p:nvSpPr>
        <p:spPr>
          <a:xfrm>
            <a:off x="704088" y="1188720"/>
            <a:ext cx="4114800" cy="274320"/>
          </a:xfrm>
          <a:prstGeom prst="rect">
            <a:avLst/>
          </a:prstGeom>
          <a:noFill/>
          <a:ln/>
        </p:spPr>
        <p:txBody>
          <a:bodyPr wrap="square" lIns="0" tIns="0" rIns="0" bIns="0" rtlCol="0" anchor="ctr"/>
          <a:lstStyle/>
          <a:p>
            <a:pPr indent="0" marL="0">
              <a:buNone/>
            </a:pPr>
            <a:r>
              <a:rPr lang="en-US" sz="1400" dirty="0">
                <a:solidFill>
                  <a:srgbClr val="6B7280"/>
                </a:solidFill>
              </a:rPr>
              <a:t>Mehrgliedrigkeit nach der Grundschule</a:t>
            </a:r>
            <a:endParaRPr lang="en-US" sz="1400" dirty="0"/>
          </a:p>
        </p:txBody>
      </p:sp>
      <p:sp>
        <p:nvSpPr>
          <p:cNvPr id="7" name="Shape 5"/>
          <p:cNvSpPr/>
          <p:nvPr/>
        </p:nvSpPr>
        <p:spPr>
          <a:xfrm>
            <a:off x="749808" y="1865376"/>
            <a:ext cx="3246120" cy="1298448"/>
          </a:xfrm>
          <a:prstGeom prst="roundRect">
            <a:avLst>
              <a:gd name="adj" fmla="val 8451"/>
            </a:avLst>
          </a:prstGeom>
          <a:solidFill>
            <a:srgbClr val="CFEFFF"/>
          </a:solidFill>
          <a:ln w="12700">
            <a:solidFill>
              <a:srgbClr val="CFEFFF"/>
            </a:solidFill>
            <a:prstDash val="solid"/>
          </a:ln>
          <a:effectLst>
            <a:outerShdw sx="100000" sy="100000" kx="0" ky="0" algn="bl" rotWithShape="0" blurRad="1.3535046848203775e+33" dist="2.707009369640755e+33" dir="7.558272e+39">
              <a:srgbClr val="C9D2DA">
                <a:alpha val="2.2e+39"/>
              </a:srgbClr>
            </a:outerShdw>
          </a:effectLst>
        </p:spPr>
      </p:sp>
      <p:sp>
        <p:nvSpPr>
          <p:cNvPr id="8" name="anim-card-title-28"/>
          <p:cNvSpPr/>
          <p:nvPr/>
        </p:nvSpPr>
        <p:spPr>
          <a:xfrm>
            <a:off x="1005840" y="2066544"/>
            <a:ext cx="2734056" cy="347472"/>
          </a:xfrm>
          <a:prstGeom prst="rect">
            <a:avLst/>
          </a:prstGeom>
          <a:noFill/>
          <a:ln/>
        </p:spPr>
        <p:txBody>
          <a:bodyPr wrap="square" lIns="0" tIns="0" rIns="0" bIns="0" rtlCol="0" anchor="ctr">
            <a:normAutofit/>
          </a:bodyPr>
          <a:lstStyle/>
          <a:p>
            <a:pPr indent="0" marL="0">
              <a:buNone/>
            </a:pPr>
            <a:r>
              <a:rPr lang="en-US" sz="1700" b="1" dirty="0">
                <a:solidFill>
                  <a:srgbClr val="2F3437"/>
                </a:solidFill>
                <a:latin typeface="Aptos Display" pitchFamily="34" charset="0"/>
                <a:ea typeface="Aptos Display" pitchFamily="34" charset="-122"/>
                <a:cs typeface="Aptos Display" pitchFamily="34" charset="-120"/>
              </a:rPr>
              <a:t>Gymnasium</a:t>
            </a:r>
            <a:endParaRPr lang="en-US" sz="1700" dirty="0"/>
          </a:p>
        </p:txBody>
      </p:sp>
      <p:sp>
        <p:nvSpPr>
          <p:cNvPr id="9" name="anim-card-body-29"/>
          <p:cNvSpPr/>
          <p:nvPr/>
        </p:nvSpPr>
        <p:spPr>
          <a:xfrm>
            <a:off x="1024128" y="2542032"/>
            <a:ext cx="2679192" cy="219456"/>
          </a:xfrm>
          <a:prstGeom prst="rect">
            <a:avLst/>
          </a:prstGeom>
          <a:noFill/>
          <a:ln/>
        </p:spPr>
        <p:txBody>
          <a:bodyPr wrap="square" lIns="0" tIns="0" rIns="0" bIns="0" rtlCol="0" anchor="ctr">
            <a:normAutofit/>
          </a:bodyPr>
          <a:lstStyle/>
          <a:p>
            <a:pPr indent="0" marL="0">
              <a:buNone/>
            </a:pPr>
            <a:r>
              <a:rPr lang="en-US" sz="1080" dirty="0">
                <a:solidFill>
                  <a:srgbClr val="2F3437"/>
                </a:solidFill>
                <a:latin typeface="Aptos" pitchFamily="34" charset="0"/>
                <a:ea typeface="Aptos" pitchFamily="34" charset="-122"/>
                <a:cs typeface="Aptos" pitchFamily="34" charset="-120"/>
              </a:rPr>
              <a:t>Abitur und akademische Bildungswege</a:t>
            </a:r>
            <a:endParaRPr lang="en-US" sz="1080" dirty="0"/>
          </a:p>
        </p:txBody>
      </p:sp>
      <p:sp>
        <p:nvSpPr>
          <p:cNvPr id="10" name="Text 8"/>
          <p:cNvSpPr/>
          <p:nvPr/>
        </p:nvSpPr>
        <p:spPr>
          <a:xfrm>
            <a:off x="3429000" y="2029968"/>
            <a:ext cx="310896" cy="274320"/>
          </a:xfrm>
          <a:prstGeom prst="rect">
            <a:avLst/>
          </a:prstGeom>
          <a:noFill/>
          <a:ln/>
        </p:spPr>
        <p:txBody>
          <a:bodyPr wrap="square" lIns="0" tIns="0" rIns="0" bIns="0" rtlCol="0" anchor="ctr"/>
          <a:lstStyle/>
          <a:p>
            <a:pPr indent="0" marL="0">
              <a:buNone/>
            </a:pPr>
            <a:r>
              <a:rPr lang="en-US" sz="1500" dirty="0">
                <a:solidFill>
                  <a:srgbClr val="000000"/>
                </a:solidFill>
              </a:rPr>
              <a:t>🎓</a:t>
            </a:r>
            <a:endParaRPr lang="en-US" sz="1500" dirty="0"/>
          </a:p>
        </p:txBody>
      </p:sp>
      <p:sp>
        <p:nvSpPr>
          <p:cNvPr id="11" name="Shape 9"/>
          <p:cNvSpPr/>
          <p:nvPr/>
        </p:nvSpPr>
        <p:spPr>
          <a:xfrm>
            <a:off x="4453128" y="1865376"/>
            <a:ext cx="3246120" cy="1298448"/>
          </a:xfrm>
          <a:prstGeom prst="roundRect">
            <a:avLst>
              <a:gd name="adj" fmla="val 8451"/>
            </a:avLst>
          </a:prstGeom>
          <a:solidFill>
            <a:srgbClr val="FFF7C7"/>
          </a:solidFill>
          <a:ln w="12700">
            <a:solidFill>
              <a:srgbClr val="FFF7C7"/>
            </a:solidFill>
            <a:prstDash val="solid"/>
          </a:ln>
          <a:effectLst>
            <a:outerShdw sx="100000" sy="100000" kx="0" ky="0" algn="bl" rotWithShape="0" blurRad="1.7189509497218795e+37" dist="3.437901899443759e+37" dir="4.5349632000000006e+44">
              <a:srgbClr val="C9D2DA">
                <a:alpha val="2.2e+44"/>
              </a:srgbClr>
            </a:outerShdw>
          </a:effectLst>
        </p:spPr>
      </p:sp>
      <p:sp>
        <p:nvSpPr>
          <p:cNvPr id="12" name="anim-card-title-30"/>
          <p:cNvSpPr/>
          <p:nvPr/>
        </p:nvSpPr>
        <p:spPr>
          <a:xfrm>
            <a:off x="4709160" y="2066544"/>
            <a:ext cx="2734056" cy="347472"/>
          </a:xfrm>
          <a:prstGeom prst="rect">
            <a:avLst/>
          </a:prstGeom>
          <a:noFill/>
          <a:ln/>
        </p:spPr>
        <p:txBody>
          <a:bodyPr wrap="square" lIns="0" tIns="0" rIns="0" bIns="0" rtlCol="0" anchor="ctr">
            <a:normAutofit/>
          </a:bodyPr>
          <a:lstStyle/>
          <a:p>
            <a:pPr indent="0" marL="0">
              <a:buNone/>
            </a:pPr>
            <a:r>
              <a:rPr lang="en-US" sz="1700" b="1" dirty="0">
                <a:solidFill>
                  <a:srgbClr val="2F3437"/>
                </a:solidFill>
                <a:latin typeface="Aptos Display" pitchFamily="34" charset="0"/>
                <a:ea typeface="Aptos Display" pitchFamily="34" charset="-122"/>
                <a:cs typeface="Aptos Display" pitchFamily="34" charset="-120"/>
              </a:rPr>
              <a:t>Realschule</a:t>
            </a:r>
            <a:endParaRPr lang="en-US" sz="1700" dirty="0"/>
          </a:p>
        </p:txBody>
      </p:sp>
      <p:sp>
        <p:nvSpPr>
          <p:cNvPr id="13" name="anim-card-body-31"/>
          <p:cNvSpPr/>
          <p:nvPr/>
        </p:nvSpPr>
        <p:spPr>
          <a:xfrm>
            <a:off x="4727448" y="2542032"/>
            <a:ext cx="2679192" cy="219456"/>
          </a:xfrm>
          <a:prstGeom prst="rect">
            <a:avLst/>
          </a:prstGeom>
          <a:noFill/>
          <a:ln/>
        </p:spPr>
        <p:txBody>
          <a:bodyPr wrap="square" lIns="0" tIns="0" rIns="0" bIns="0" rtlCol="0" anchor="ctr">
            <a:normAutofit/>
          </a:bodyPr>
          <a:lstStyle/>
          <a:p>
            <a:pPr indent="0" marL="0">
              <a:buNone/>
            </a:pPr>
            <a:r>
              <a:rPr lang="en-US" sz="1080" dirty="0">
                <a:solidFill>
                  <a:srgbClr val="2F3437"/>
                </a:solidFill>
                <a:latin typeface="Aptos" pitchFamily="34" charset="0"/>
                <a:ea typeface="Aptos" pitchFamily="34" charset="-122"/>
                <a:cs typeface="Aptos" pitchFamily="34" charset="-120"/>
              </a:rPr>
              <a:t>Mittlerer Abschluss, Verbindung aus Allgemeinbildung und Praxis</a:t>
            </a:r>
            <a:endParaRPr lang="en-US" sz="1080" dirty="0"/>
          </a:p>
        </p:txBody>
      </p:sp>
      <p:sp>
        <p:nvSpPr>
          <p:cNvPr id="14" name="Text 12"/>
          <p:cNvSpPr/>
          <p:nvPr/>
        </p:nvSpPr>
        <p:spPr>
          <a:xfrm>
            <a:off x="7132320" y="2029968"/>
            <a:ext cx="310896" cy="274320"/>
          </a:xfrm>
          <a:prstGeom prst="rect">
            <a:avLst/>
          </a:prstGeom>
          <a:noFill/>
          <a:ln/>
        </p:spPr>
        <p:txBody>
          <a:bodyPr wrap="square" lIns="0" tIns="0" rIns="0" bIns="0" rtlCol="0" anchor="ctr"/>
          <a:lstStyle/>
          <a:p>
            <a:pPr indent="0" marL="0">
              <a:buNone/>
            </a:pPr>
            <a:r>
              <a:rPr lang="en-US" sz="1500" dirty="0">
                <a:solidFill>
                  <a:srgbClr val="000000"/>
                </a:solidFill>
              </a:rPr>
              <a:t>🧭</a:t>
            </a:r>
            <a:endParaRPr lang="en-US" sz="1500" dirty="0"/>
          </a:p>
        </p:txBody>
      </p:sp>
      <p:sp>
        <p:nvSpPr>
          <p:cNvPr id="15" name="Shape 13"/>
          <p:cNvSpPr/>
          <p:nvPr/>
        </p:nvSpPr>
        <p:spPr>
          <a:xfrm>
            <a:off x="8156448" y="1865376"/>
            <a:ext cx="3246120" cy="1298448"/>
          </a:xfrm>
          <a:prstGeom prst="roundRect">
            <a:avLst>
              <a:gd name="adj" fmla="val 8451"/>
            </a:avLst>
          </a:prstGeom>
          <a:solidFill>
            <a:srgbClr val="FFD9E8"/>
          </a:solidFill>
          <a:ln w="12700">
            <a:solidFill>
              <a:srgbClr val="FFD9E8"/>
            </a:solidFill>
            <a:prstDash val="solid"/>
          </a:ln>
          <a:effectLst>
            <a:outerShdw sx="100000" sy="100000" kx="0" ky="0" algn="bl" rotWithShape="0" blurRad="2.183067706146787e+41" dist="4.366135412293574e+41" dir="2.72097792e+49">
              <a:srgbClr val="C9D2DA">
                <a:alpha val="2.2e+49"/>
              </a:srgbClr>
            </a:outerShdw>
          </a:effectLst>
        </p:spPr>
      </p:sp>
      <p:sp>
        <p:nvSpPr>
          <p:cNvPr id="16" name="anim-card-title-32"/>
          <p:cNvSpPr/>
          <p:nvPr/>
        </p:nvSpPr>
        <p:spPr>
          <a:xfrm>
            <a:off x="8412480" y="2066544"/>
            <a:ext cx="2734056" cy="347472"/>
          </a:xfrm>
          <a:prstGeom prst="rect">
            <a:avLst/>
          </a:prstGeom>
          <a:noFill/>
          <a:ln/>
        </p:spPr>
        <p:txBody>
          <a:bodyPr wrap="square" lIns="0" tIns="0" rIns="0" bIns="0" rtlCol="0" anchor="ctr">
            <a:normAutofit/>
          </a:bodyPr>
          <a:lstStyle/>
          <a:p>
            <a:pPr indent="0" marL="0">
              <a:buNone/>
            </a:pPr>
            <a:r>
              <a:rPr lang="en-US" sz="1700" b="1" dirty="0">
                <a:solidFill>
                  <a:srgbClr val="2F3437"/>
                </a:solidFill>
                <a:latin typeface="Aptos Display" pitchFamily="34" charset="0"/>
                <a:ea typeface="Aptos Display" pitchFamily="34" charset="-122"/>
                <a:cs typeface="Aptos Display" pitchFamily="34" charset="-120"/>
              </a:rPr>
              <a:t>Hauptschule</a:t>
            </a:r>
            <a:endParaRPr lang="en-US" sz="1700" dirty="0"/>
          </a:p>
        </p:txBody>
      </p:sp>
      <p:sp>
        <p:nvSpPr>
          <p:cNvPr id="17" name="anim-card-body-33"/>
          <p:cNvSpPr/>
          <p:nvPr/>
        </p:nvSpPr>
        <p:spPr>
          <a:xfrm>
            <a:off x="8430768" y="2542032"/>
            <a:ext cx="2679192" cy="219456"/>
          </a:xfrm>
          <a:prstGeom prst="rect">
            <a:avLst/>
          </a:prstGeom>
          <a:noFill/>
          <a:ln/>
        </p:spPr>
        <p:txBody>
          <a:bodyPr wrap="square" lIns="0" tIns="0" rIns="0" bIns="0" rtlCol="0" anchor="ctr">
            <a:normAutofit/>
          </a:bodyPr>
          <a:lstStyle/>
          <a:p>
            <a:pPr indent="0" marL="0">
              <a:buNone/>
            </a:pPr>
            <a:r>
              <a:rPr lang="en-US" sz="1080" dirty="0">
                <a:solidFill>
                  <a:srgbClr val="2F3437"/>
                </a:solidFill>
                <a:latin typeface="Aptos" pitchFamily="34" charset="0"/>
                <a:ea typeface="Aptos" pitchFamily="34" charset="-122"/>
                <a:cs typeface="Aptos" pitchFamily="34" charset="-120"/>
              </a:rPr>
              <a:t>traditionell praktisch und beruflich ausgerichtet</a:t>
            </a:r>
            <a:endParaRPr lang="en-US" sz="1080" dirty="0"/>
          </a:p>
        </p:txBody>
      </p:sp>
      <p:sp>
        <p:nvSpPr>
          <p:cNvPr id="18" name="Text 16"/>
          <p:cNvSpPr/>
          <p:nvPr/>
        </p:nvSpPr>
        <p:spPr>
          <a:xfrm>
            <a:off x="10835640" y="2029968"/>
            <a:ext cx="310896" cy="274320"/>
          </a:xfrm>
          <a:prstGeom prst="rect">
            <a:avLst/>
          </a:prstGeom>
          <a:noFill/>
          <a:ln/>
        </p:spPr>
        <p:txBody>
          <a:bodyPr wrap="square" lIns="0" tIns="0" rIns="0" bIns="0" rtlCol="0" anchor="ctr"/>
          <a:lstStyle/>
          <a:p>
            <a:pPr indent="0" marL="0">
              <a:buNone/>
            </a:pPr>
            <a:r>
              <a:rPr lang="en-US" sz="1500" dirty="0">
                <a:solidFill>
                  <a:srgbClr val="000000"/>
                </a:solidFill>
              </a:rPr>
              <a:t>🛠</a:t>
            </a:r>
            <a:endParaRPr lang="en-US" sz="1500" dirty="0"/>
          </a:p>
        </p:txBody>
      </p:sp>
      <p:sp>
        <p:nvSpPr>
          <p:cNvPr id="19" name="Shape 17"/>
          <p:cNvSpPr/>
          <p:nvPr/>
        </p:nvSpPr>
        <p:spPr>
          <a:xfrm>
            <a:off x="749808" y="3986784"/>
            <a:ext cx="4023360" cy="1298448"/>
          </a:xfrm>
          <a:prstGeom prst="roundRect">
            <a:avLst>
              <a:gd name="adj" fmla="val 8451"/>
            </a:avLst>
          </a:prstGeom>
          <a:solidFill>
            <a:srgbClr val="DDF7E8"/>
          </a:solidFill>
          <a:ln w="12700">
            <a:solidFill>
              <a:srgbClr val="DDF7E8"/>
            </a:solidFill>
            <a:prstDash val="solid"/>
          </a:ln>
          <a:effectLst>
            <a:outerShdw sx="100000" sy="100000" kx="0" ky="0" algn="bl" rotWithShape="0" blurRad="2.7724959868064195e+45" dist="5.544991973612839e+45" dir="1.6325867520000003e+54">
              <a:srgbClr val="C9D2DA">
                <a:alpha val="2.2e+54"/>
              </a:srgbClr>
            </a:outerShdw>
          </a:effectLst>
        </p:spPr>
      </p:sp>
      <p:sp>
        <p:nvSpPr>
          <p:cNvPr id="20" name="anim-card-title-34"/>
          <p:cNvSpPr/>
          <p:nvPr/>
        </p:nvSpPr>
        <p:spPr>
          <a:xfrm>
            <a:off x="1005840" y="4187952"/>
            <a:ext cx="3511296" cy="347472"/>
          </a:xfrm>
          <a:prstGeom prst="rect">
            <a:avLst/>
          </a:prstGeom>
          <a:noFill/>
          <a:ln/>
        </p:spPr>
        <p:txBody>
          <a:bodyPr wrap="square" lIns="0" tIns="0" rIns="0" bIns="0" rtlCol="0" anchor="ctr">
            <a:normAutofit/>
          </a:bodyPr>
          <a:lstStyle/>
          <a:p>
            <a:pPr indent="0" marL="0">
              <a:buNone/>
            </a:pPr>
            <a:r>
              <a:rPr lang="en-US" sz="1700" b="1" dirty="0">
                <a:solidFill>
                  <a:srgbClr val="2F3437"/>
                </a:solidFill>
                <a:latin typeface="Aptos Display" pitchFamily="34" charset="0"/>
                <a:ea typeface="Aptos Display" pitchFamily="34" charset="-122"/>
                <a:cs typeface="Aptos Display" pitchFamily="34" charset="-120"/>
              </a:rPr>
              <a:t>Gesamtschule</a:t>
            </a:r>
            <a:endParaRPr lang="en-US" sz="1700" dirty="0"/>
          </a:p>
        </p:txBody>
      </p:sp>
      <p:sp>
        <p:nvSpPr>
          <p:cNvPr id="21" name="anim-card-body-35"/>
          <p:cNvSpPr/>
          <p:nvPr/>
        </p:nvSpPr>
        <p:spPr>
          <a:xfrm>
            <a:off x="1024128" y="4663440"/>
            <a:ext cx="3456432" cy="219456"/>
          </a:xfrm>
          <a:prstGeom prst="rect">
            <a:avLst/>
          </a:prstGeom>
          <a:noFill/>
          <a:ln/>
        </p:spPr>
        <p:txBody>
          <a:bodyPr wrap="square" lIns="0" tIns="0" rIns="0" bIns="0" rtlCol="0" anchor="ctr">
            <a:normAutofit/>
          </a:bodyPr>
          <a:lstStyle/>
          <a:p>
            <a:pPr indent="0" marL="0">
              <a:buNone/>
            </a:pPr>
            <a:r>
              <a:rPr lang="en-US" sz="1080" dirty="0">
                <a:solidFill>
                  <a:srgbClr val="2F3437"/>
                </a:solidFill>
                <a:latin typeface="Aptos" pitchFamily="34" charset="0"/>
                <a:ea typeface="Aptos" pitchFamily="34" charset="-122"/>
                <a:cs typeface="Aptos" pitchFamily="34" charset="-120"/>
              </a:rPr>
              <a:t>längeres gemeinsames Lernen, verschiedene Abschlüsse</a:t>
            </a:r>
            <a:endParaRPr lang="en-US" sz="1080" dirty="0"/>
          </a:p>
        </p:txBody>
      </p:sp>
      <p:sp>
        <p:nvSpPr>
          <p:cNvPr id="22" name="Text 20"/>
          <p:cNvSpPr/>
          <p:nvPr/>
        </p:nvSpPr>
        <p:spPr>
          <a:xfrm>
            <a:off x="4206240" y="4151376"/>
            <a:ext cx="310896" cy="274320"/>
          </a:xfrm>
          <a:prstGeom prst="rect">
            <a:avLst/>
          </a:prstGeom>
          <a:noFill/>
          <a:ln/>
        </p:spPr>
        <p:txBody>
          <a:bodyPr wrap="square" lIns="0" tIns="0" rIns="0" bIns="0" rtlCol="0" anchor="ctr"/>
          <a:lstStyle/>
          <a:p>
            <a:pPr indent="0" marL="0">
              <a:buNone/>
            </a:pPr>
            <a:r>
              <a:rPr lang="en-US" sz="1500" dirty="0">
                <a:solidFill>
                  <a:srgbClr val="000000"/>
                </a:solidFill>
              </a:rPr>
              <a:t>🤝</a:t>
            </a:r>
            <a:endParaRPr lang="en-US" sz="1500" dirty="0"/>
          </a:p>
        </p:txBody>
      </p:sp>
      <p:sp>
        <p:nvSpPr>
          <p:cNvPr id="23" name="Shape 21"/>
          <p:cNvSpPr/>
          <p:nvPr/>
        </p:nvSpPr>
        <p:spPr>
          <a:xfrm>
            <a:off x="4453128" y="3986784"/>
            <a:ext cx="4023360" cy="1298448"/>
          </a:xfrm>
          <a:prstGeom prst="roundRect">
            <a:avLst>
              <a:gd name="adj" fmla="val 8451"/>
            </a:avLst>
          </a:prstGeom>
          <a:solidFill>
            <a:srgbClr val="F7F8FA"/>
          </a:solidFill>
          <a:ln w="12700">
            <a:solidFill>
              <a:srgbClr val="F7F8FA"/>
            </a:solidFill>
            <a:prstDash val="solid"/>
          </a:ln>
          <a:effectLst>
            <a:outerShdw sx="100000" sy="100000" kx="0" ky="0" algn="bl" rotWithShape="0" blurRad="3.5210699032441527e+49" dist="7.042139806488305e+49" dir="9.795520512000002e+58">
              <a:srgbClr val="C9D2DA">
                <a:alpha val="2.2e+59"/>
              </a:srgbClr>
            </a:outerShdw>
          </a:effectLst>
        </p:spPr>
      </p:sp>
      <p:sp>
        <p:nvSpPr>
          <p:cNvPr id="24" name="anim-card-title-36"/>
          <p:cNvSpPr/>
          <p:nvPr/>
        </p:nvSpPr>
        <p:spPr>
          <a:xfrm>
            <a:off x="4709160" y="4187952"/>
            <a:ext cx="3511296" cy="347472"/>
          </a:xfrm>
          <a:prstGeom prst="rect">
            <a:avLst/>
          </a:prstGeom>
          <a:noFill/>
          <a:ln/>
        </p:spPr>
        <p:txBody>
          <a:bodyPr wrap="square" lIns="0" tIns="0" rIns="0" bIns="0" rtlCol="0" anchor="ctr">
            <a:normAutofit/>
          </a:bodyPr>
          <a:lstStyle/>
          <a:p>
            <a:pPr indent="0" marL="0">
              <a:buNone/>
            </a:pPr>
            <a:r>
              <a:rPr lang="en-US" sz="1700" b="1" dirty="0">
                <a:solidFill>
                  <a:srgbClr val="2F3437"/>
                </a:solidFill>
                <a:latin typeface="Aptos Display" pitchFamily="34" charset="0"/>
                <a:ea typeface="Aptos Display" pitchFamily="34" charset="-122"/>
                <a:cs typeface="Aptos Display" pitchFamily="34" charset="-120"/>
              </a:rPr>
              <a:t>Berufliche Schule</a:t>
            </a:r>
            <a:endParaRPr lang="en-US" sz="1700" dirty="0"/>
          </a:p>
        </p:txBody>
      </p:sp>
      <p:sp>
        <p:nvSpPr>
          <p:cNvPr id="25" name="anim-card-body-37"/>
          <p:cNvSpPr/>
          <p:nvPr/>
        </p:nvSpPr>
        <p:spPr>
          <a:xfrm>
            <a:off x="4727448" y="4663440"/>
            <a:ext cx="3456432" cy="219456"/>
          </a:xfrm>
          <a:prstGeom prst="rect">
            <a:avLst/>
          </a:prstGeom>
          <a:noFill/>
          <a:ln/>
        </p:spPr>
        <p:txBody>
          <a:bodyPr wrap="square" lIns="0" tIns="0" rIns="0" bIns="0" rtlCol="0" anchor="ctr">
            <a:normAutofit/>
          </a:bodyPr>
          <a:lstStyle/>
          <a:p>
            <a:pPr indent="0" marL="0">
              <a:buNone/>
            </a:pPr>
            <a:r>
              <a:rPr lang="en-US" sz="1080" dirty="0">
                <a:solidFill>
                  <a:srgbClr val="2F3437"/>
                </a:solidFill>
                <a:latin typeface="Aptos" pitchFamily="34" charset="0"/>
                <a:ea typeface="Aptos" pitchFamily="34" charset="-122"/>
                <a:cs typeface="Aptos" pitchFamily="34" charset="-120"/>
              </a:rPr>
              <a:t>duales System: Betrieb und Schule verbunden</a:t>
            </a:r>
            <a:endParaRPr lang="en-US" sz="1080" dirty="0"/>
          </a:p>
        </p:txBody>
      </p:sp>
      <p:sp>
        <p:nvSpPr>
          <p:cNvPr id="26" name="Text 24"/>
          <p:cNvSpPr/>
          <p:nvPr/>
        </p:nvSpPr>
        <p:spPr>
          <a:xfrm>
            <a:off x="7909560" y="4151376"/>
            <a:ext cx="310896" cy="274320"/>
          </a:xfrm>
          <a:prstGeom prst="rect">
            <a:avLst/>
          </a:prstGeom>
          <a:noFill/>
          <a:ln/>
        </p:spPr>
        <p:txBody>
          <a:bodyPr wrap="square" lIns="0" tIns="0" rIns="0" bIns="0" rtlCol="0" anchor="ctr"/>
          <a:lstStyle/>
          <a:p>
            <a:pPr indent="0" marL="0">
              <a:buNone/>
            </a:pPr>
            <a:r>
              <a:rPr lang="en-US" sz="1500" dirty="0">
                <a:solidFill>
                  <a:srgbClr val="000000"/>
                </a:solidFill>
              </a:rPr>
              <a:t>🏢</a:t>
            </a:r>
            <a:endParaRPr lang="en-US" sz="1500" dirty="0"/>
          </a:p>
        </p:txBody>
      </p:sp>
      <p:sp>
        <p:nvSpPr>
          <p:cNvPr id="27" name="Text 25"/>
          <p:cNvSpPr/>
          <p:nvPr/>
        </p:nvSpPr>
        <p:spPr>
          <a:xfrm>
            <a:off x="658368" y="6473952"/>
            <a:ext cx="1097280" cy="164592"/>
          </a:xfrm>
          <a:prstGeom prst="rect">
            <a:avLst/>
          </a:prstGeom>
          <a:noFill/>
          <a:ln/>
        </p:spPr>
        <p:txBody>
          <a:bodyPr wrap="square" lIns="0" tIns="0" rIns="0" bIns="0" rtlCol="0" anchor="ctr"/>
          <a:lstStyle/>
          <a:p>
            <a:pPr indent="0" marL="0">
              <a:buNone/>
            </a:pPr>
            <a:r>
              <a:rPr lang="en-US" sz="700" dirty="0">
                <a:solidFill>
                  <a:srgbClr val="A7ADB3"/>
                </a:solidFill>
                <a:latin typeface="Aptos" pitchFamily="34" charset="0"/>
                <a:ea typeface="Aptos" pitchFamily="34" charset="-122"/>
                <a:cs typeface="Aptos" pitchFamily="34" charset="-120"/>
              </a:rPr>
              <a:t>Folie 4 / 11</a:t>
            </a:r>
            <a:endParaRPr lang="en-US" sz="700" dirty="0"/>
          </a:p>
        </p:txBody>
      </p:sp>
      <p:sp>
        <p:nvSpPr>
          <p:cNvPr id="28" name="Text 26"/>
          <p:cNvSpPr/>
          <p:nvPr/>
        </p:nvSpPr>
        <p:spPr>
          <a:xfrm>
            <a:off x="9802368" y="6473952"/>
            <a:ext cx="1627632" cy="164592"/>
          </a:xfrm>
          <a:prstGeom prst="rect">
            <a:avLst/>
          </a:prstGeom>
          <a:noFill/>
          <a:ln/>
        </p:spPr>
        <p:txBody>
          <a:bodyPr wrap="square" lIns="0" tIns="0" rIns="0" bIns="0" rtlCol="0" anchor="ctr"/>
          <a:lstStyle/>
          <a:p>
            <a:pPr algn="r" indent="0" marL="0">
              <a:buNone/>
            </a:pPr>
            <a:r>
              <a:rPr lang="en-US" sz="700" dirty="0">
                <a:solidFill>
                  <a:srgbClr val="BDC4CB"/>
                </a:solidFill>
                <a:latin typeface="Aptos" pitchFamily="34" charset="0"/>
                <a:ea typeface="Aptos" pitchFamily="34" charset="-122"/>
                <a:cs typeface="Aptos" pitchFamily="34" charset="-120"/>
              </a:rPr>
              <a:t>Übergang: Magic Move</a:t>
            </a:r>
            <a:endParaRPr lang="en-US" sz="700" dirty="0"/>
          </a:p>
        </p:txBody>
      </p:sp>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4</a:t>
            </a:fld>
            <a:endParaRPr lang="en-US"/>
          </a:p>
        </p:txBody>
      </p:sp>
    </p:spTree>
  </p:cSld>
  <p:transition spd="med">
    <p:fade/>
  </p:transition>
  <p:clrMapOvr>
    <a:masterClrMapping/>
  </p:clrMapOvr>
  <p:timing>
    <p:tnLst>
      <p:par>
        <p:cTn id="1" dur="indefinite" restart="never" nodeType="tmRoot">
          <p:childTnLst>
            <p:seq concurrent="1" nextAc="seek">
              <p:cTn id="2" dur="indefinite" nodeType="mainSeq">
                <p:childTnLst>
                  <p:par>
                    <p:cTn id="100" fill="hold" nodeType="clickEffect" presetID="10" presetClass="entr" presetSubtype="0">
                      <p:stCondLst>
                        <p:cond delay="0"/>
                      </p:stCondLst>
                      <p:childTnLst>
                        <p:set>
                          <p:cBhvr>
                            <p:cTn id="101" dur="1" fill="hold"/>
                            <p:tgtEl>
                              <p:spTgt spid="5"/>
                            </p:tgtEl>
                            <p:attrNameLst>
                              <p:attrName>style.visibility</p:attrName>
                            </p:attrNameLst>
                          </p:cBhvr>
                          <p:to>
                            <p:strVal val="visible"/>
                          </p:to>
                        </p:set>
                        <p:animEffect transition="in" filter="fade">
                          <p:cBhvr>
                            <p:cTn id="102" dur="450" fill="hold"/>
                            <p:tgtEl>
                              <p:spTgt spid="5"/>
                            </p:tgtEl>
                          </p:cBhvr>
                        </p:animEffect>
                      </p:childTnLst>
                    </p:cTn>
                  </p:par>
                  <p:par>
                    <p:cTn id="103" fill="hold" nodeType="clickEffect" presetID="10" presetClass="entr" presetSubtype="0">
                      <p:stCondLst>
                        <p:cond delay="250"/>
                      </p:stCondLst>
                      <p:childTnLst>
                        <p:set>
                          <p:cBhvr>
                            <p:cTn id="104" dur="1" fill="hold"/>
                            <p:tgtEl>
                              <p:spTgt spid="6"/>
                            </p:tgtEl>
                            <p:attrNameLst>
                              <p:attrName>style.visibility</p:attrName>
                            </p:attrNameLst>
                          </p:cBhvr>
                          <p:to>
                            <p:strVal val="visible"/>
                          </p:to>
                        </p:set>
                        <p:animEffect transition="in" filter="fade">
                          <p:cBhvr>
                            <p:cTn id="105" dur="450" fill="hold"/>
                            <p:tgtEl>
                              <p:spTgt spid="6"/>
                            </p:tgtEl>
                          </p:cBhvr>
                        </p:animEffect>
                      </p:childTnLst>
                    </p:cTn>
                  </p:par>
                  <p:par>
                    <p:cTn id="106" fill="hold" nodeType="clickEffect" presetID="10" presetClass="entr" presetSubtype="0">
                      <p:stCondLst>
                        <p:cond delay="250"/>
                      </p:stCondLst>
                      <p:childTnLst>
                        <p:set>
                          <p:cBhvr>
                            <p:cTn id="107" dur="1" fill="hold"/>
                            <p:tgtEl>
                              <p:spTgt spid="8"/>
                            </p:tgtEl>
                            <p:attrNameLst>
                              <p:attrName>style.visibility</p:attrName>
                            </p:attrNameLst>
                          </p:cBhvr>
                          <p:to>
                            <p:strVal val="visible"/>
                          </p:to>
                        </p:set>
                        <p:animEffect transition="in" filter="fade">
                          <p:cBhvr>
                            <p:cTn id="108" dur="450" fill="hold"/>
                            <p:tgtEl>
                              <p:spTgt spid="8"/>
                            </p:tgtEl>
                          </p:cBhvr>
                        </p:animEffect>
                      </p:childTnLst>
                    </p:cTn>
                  </p:par>
                  <p:par>
                    <p:cTn id="109" fill="hold" nodeType="clickEffect" presetID="10" presetClass="entr" presetSubtype="0">
                      <p:stCondLst>
                        <p:cond delay="250"/>
                      </p:stCondLst>
                      <p:childTnLst>
                        <p:set>
                          <p:cBhvr>
                            <p:cTn id="110" dur="1" fill="hold"/>
                            <p:tgtEl>
                              <p:spTgt spid="9"/>
                            </p:tgtEl>
                            <p:attrNameLst>
                              <p:attrName>style.visibility</p:attrName>
                            </p:attrNameLst>
                          </p:cBhvr>
                          <p:to>
                            <p:strVal val="visible"/>
                          </p:to>
                        </p:set>
                        <p:animEffect transition="in" filter="fade">
                          <p:cBhvr>
                            <p:cTn id="111" dur="450" fill="hold"/>
                            <p:tgtEl>
                              <p:spTgt spid="9"/>
                            </p:tgtEl>
                          </p:cBhvr>
                        </p:animEffect>
                      </p:childTnLst>
                    </p:cTn>
                  </p:par>
                  <p:par>
                    <p:cTn id="112" fill="hold" nodeType="clickEffect" presetID="10" presetClass="entr" presetSubtype="0">
                      <p:stCondLst>
                        <p:cond delay="250"/>
                      </p:stCondLst>
                      <p:childTnLst>
                        <p:set>
                          <p:cBhvr>
                            <p:cTn id="113" dur="1" fill="hold"/>
                            <p:tgtEl>
                              <p:spTgt spid="12"/>
                            </p:tgtEl>
                            <p:attrNameLst>
                              <p:attrName>style.visibility</p:attrName>
                            </p:attrNameLst>
                          </p:cBhvr>
                          <p:to>
                            <p:strVal val="visible"/>
                          </p:to>
                        </p:set>
                        <p:animEffect transition="in" filter="fade">
                          <p:cBhvr>
                            <p:cTn id="114" dur="450" fill="hold"/>
                            <p:tgtEl>
                              <p:spTgt spid="12"/>
                            </p:tgtEl>
                          </p:cBhvr>
                        </p:animEffect>
                      </p:childTnLst>
                    </p:cTn>
                  </p:par>
                  <p:par>
                    <p:cTn id="115" fill="hold" nodeType="clickEffect" presetID="10" presetClass="entr" presetSubtype="0">
                      <p:stCondLst>
                        <p:cond delay="250"/>
                      </p:stCondLst>
                      <p:childTnLst>
                        <p:set>
                          <p:cBhvr>
                            <p:cTn id="116" dur="1" fill="hold"/>
                            <p:tgtEl>
                              <p:spTgt spid="13"/>
                            </p:tgtEl>
                            <p:attrNameLst>
                              <p:attrName>style.visibility</p:attrName>
                            </p:attrNameLst>
                          </p:cBhvr>
                          <p:to>
                            <p:strVal val="visible"/>
                          </p:to>
                        </p:set>
                        <p:animEffect transition="in" filter="fade">
                          <p:cBhvr>
                            <p:cTn id="117" dur="450" fill="hold"/>
                            <p:tgtEl>
                              <p:spTgt spid="13"/>
                            </p:tgtEl>
                          </p:cBhvr>
                        </p:animEffect>
                      </p:childTnLst>
                    </p:cTn>
                  </p:par>
                  <p:par>
                    <p:cTn id="118" fill="hold" nodeType="clickEffect" presetID="10" presetClass="entr" presetSubtype="0">
                      <p:stCondLst>
                        <p:cond delay="250"/>
                      </p:stCondLst>
                      <p:childTnLst>
                        <p:set>
                          <p:cBhvr>
                            <p:cTn id="119" dur="1" fill="hold"/>
                            <p:tgtEl>
                              <p:spTgt spid="16"/>
                            </p:tgtEl>
                            <p:attrNameLst>
                              <p:attrName>style.visibility</p:attrName>
                            </p:attrNameLst>
                          </p:cBhvr>
                          <p:to>
                            <p:strVal val="visible"/>
                          </p:to>
                        </p:set>
                        <p:animEffect transition="in" filter="fade">
                          <p:cBhvr>
                            <p:cTn id="120" dur="450" fill="hold"/>
                            <p:tgtEl>
                              <p:spTgt spid="16"/>
                            </p:tgtEl>
                          </p:cBhvr>
                        </p:animEffect>
                      </p:childTnLst>
                    </p:cTn>
                  </p:par>
                  <p:par>
                    <p:cTn id="121" fill="hold" nodeType="clickEffect" presetID="10" presetClass="entr" presetSubtype="0">
                      <p:stCondLst>
                        <p:cond delay="250"/>
                      </p:stCondLst>
                      <p:childTnLst>
                        <p:set>
                          <p:cBhvr>
                            <p:cTn id="122" dur="1" fill="hold"/>
                            <p:tgtEl>
                              <p:spTgt spid="17"/>
                            </p:tgtEl>
                            <p:attrNameLst>
                              <p:attrName>style.visibility</p:attrName>
                            </p:attrNameLst>
                          </p:cBhvr>
                          <p:to>
                            <p:strVal val="visible"/>
                          </p:to>
                        </p:set>
                        <p:animEffect transition="in" filter="fade">
                          <p:cBhvr>
                            <p:cTn id="123" dur="450" fill="hold"/>
                            <p:tgtEl>
                              <p:spTgt spid="17"/>
                            </p:tgtEl>
                          </p:cBhvr>
                        </p:animEffect>
                      </p:childTnLst>
                    </p:cTn>
                  </p:par>
                  <p:par>
                    <p:cTn id="124" fill="hold" nodeType="clickEffect" presetID="10" presetClass="entr" presetSubtype="0">
                      <p:stCondLst>
                        <p:cond delay="250"/>
                      </p:stCondLst>
                      <p:childTnLst>
                        <p:set>
                          <p:cBhvr>
                            <p:cTn id="125" dur="1" fill="hold"/>
                            <p:tgtEl>
                              <p:spTgt spid="20"/>
                            </p:tgtEl>
                            <p:attrNameLst>
                              <p:attrName>style.visibility</p:attrName>
                            </p:attrNameLst>
                          </p:cBhvr>
                          <p:to>
                            <p:strVal val="visible"/>
                          </p:to>
                        </p:set>
                        <p:animEffect transition="in" filter="fade">
                          <p:cBhvr>
                            <p:cTn id="126" dur="450" fill="hold"/>
                            <p:tgtEl>
                              <p:spTgt spid="20"/>
                            </p:tgtEl>
                          </p:cBhvr>
                        </p:animEffect>
                      </p:childTnLst>
                    </p:cTn>
                  </p:par>
                  <p:par>
                    <p:cTn id="127" fill="hold" nodeType="clickEffect" presetID="10" presetClass="entr" presetSubtype="0">
                      <p:stCondLst>
                        <p:cond delay="250"/>
                      </p:stCondLst>
                      <p:childTnLst>
                        <p:set>
                          <p:cBhvr>
                            <p:cTn id="128" dur="1" fill="hold"/>
                            <p:tgtEl>
                              <p:spTgt spid="21"/>
                            </p:tgtEl>
                            <p:attrNameLst>
                              <p:attrName>style.visibility</p:attrName>
                            </p:attrNameLst>
                          </p:cBhvr>
                          <p:to>
                            <p:strVal val="visible"/>
                          </p:to>
                        </p:set>
                        <p:animEffect transition="in" filter="fade">
                          <p:cBhvr>
                            <p:cTn id="129" dur="450" fill="hold"/>
                            <p:tgtEl>
                              <p:spTgt spid="21"/>
                            </p:tgtEl>
                          </p:cBhvr>
                        </p:animEffect>
                      </p:childTnLst>
                    </p:cTn>
                  </p:par>
                  <p:par>
                    <p:cTn id="130" fill="hold" nodeType="clickEffect" presetID="10" presetClass="entr" presetSubtype="0">
                      <p:stCondLst>
                        <p:cond delay="250"/>
                      </p:stCondLst>
                      <p:childTnLst>
                        <p:set>
                          <p:cBhvr>
                            <p:cTn id="131" dur="1" fill="hold"/>
                            <p:tgtEl>
                              <p:spTgt spid="24"/>
                            </p:tgtEl>
                            <p:attrNameLst>
                              <p:attrName>style.visibility</p:attrName>
                            </p:attrNameLst>
                          </p:cBhvr>
                          <p:to>
                            <p:strVal val="visible"/>
                          </p:to>
                        </p:set>
                        <p:animEffect transition="in" filter="fade">
                          <p:cBhvr>
                            <p:cTn id="132" dur="450" fill="hold"/>
                            <p:tgtEl>
                              <p:spTgt spid="24"/>
                            </p:tgtEl>
                          </p:cBhvr>
                        </p:animEffect>
                      </p:childTnLst>
                    </p:cTn>
                  </p:par>
                  <p:par>
                    <p:cTn id="133" fill="hold" nodeType="clickEffect" presetID="10" presetClass="entr" presetSubtype="0">
                      <p:stCondLst>
                        <p:cond delay="250"/>
                      </p:stCondLst>
                      <p:childTnLst>
                        <p:set>
                          <p:cBhvr>
                            <p:cTn id="134" dur="1" fill="hold"/>
                            <p:tgtEl>
                              <p:spTgt spid="25"/>
                            </p:tgtEl>
                            <p:attrNameLst>
                              <p:attrName>style.visibility</p:attrName>
                            </p:attrNameLst>
                          </p:cBhvr>
                          <p:to>
                            <p:strVal val="visible"/>
                          </p:to>
                        </p:set>
                        <p:animEffect transition="in" filter="fade">
                          <p:cBhvr>
                            <p:cTn id="135" dur="450" fill="hold"/>
                            <p:tgtEl>
                              <p:spTgt spid="25"/>
                            </p:tgtEl>
                          </p:cBhvr>
                        </p:animEffect>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2" grpId="0"/>
      <p:bldP spid="13" grpId="0"/>
      <p:bldP spid="16" grpId="0"/>
      <p:bldP spid="17" grpId="0"/>
      <p:bldP spid="20" grpId="0"/>
      <p:bldP spid="21" grpId="0"/>
      <p:bldP spid="24"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35440" y="-457200"/>
            <a:ext cx="3383280" cy="1920240"/>
          </a:xfrm>
          <a:prstGeom prst="ellipse">
            <a:avLst/>
          </a:prstGeom>
          <a:solidFill>
            <a:srgbClr val="FFF7C7">
              <a:alpha val="50000"/>
            </a:srgbClr>
          </a:solidFill>
          <a:ln w="12700">
            <a:solidFill>
              <a:srgbClr val="FFF7C7">
                <a:alpha val="0"/>
              </a:srgbClr>
            </a:solidFill>
            <a:prstDash val="solid"/>
          </a:ln>
        </p:spPr>
      </p:sp>
      <p:sp>
        <p:nvSpPr>
          <p:cNvPr id="3" name="Shape 1"/>
          <p:cNvSpPr/>
          <p:nvPr/>
        </p:nvSpPr>
        <p:spPr>
          <a:xfrm>
            <a:off x="-731520" y="5212080"/>
            <a:ext cx="3108960" cy="2011680"/>
          </a:xfrm>
          <a:prstGeom prst="ellipse">
            <a:avLst/>
          </a:prstGeom>
          <a:solidFill>
            <a:srgbClr val="CFEFFF">
              <a:alpha val="50000"/>
            </a:srgbClr>
          </a:solidFill>
          <a:ln w="12700">
            <a:solidFill>
              <a:srgbClr val="CFEFFF">
                <a:alpha val="0"/>
              </a:srgbClr>
            </a:solidFill>
            <a:prstDash val="solid"/>
          </a:ln>
        </p:spPr>
      </p:sp>
      <p:sp>
        <p:nvSpPr>
          <p:cNvPr id="4" name="Shape 2"/>
          <p:cNvSpPr/>
          <p:nvPr/>
        </p:nvSpPr>
        <p:spPr>
          <a:xfrm>
            <a:off x="5029200" y="6080760"/>
            <a:ext cx="2286000" cy="685800"/>
          </a:xfrm>
          <a:prstGeom prst="ellipse">
            <a:avLst/>
          </a:prstGeom>
          <a:solidFill>
            <a:srgbClr val="FFD9E8">
              <a:alpha val="38000"/>
            </a:srgbClr>
          </a:solidFill>
          <a:ln w="12700">
            <a:solidFill>
              <a:srgbClr val="FFD9E8">
                <a:alpha val="0"/>
              </a:srgbClr>
            </a:solidFill>
            <a:prstDash val="solid"/>
          </a:ln>
        </p:spPr>
      </p:sp>
      <p:sp>
        <p:nvSpPr>
          <p:cNvPr id="5" name="anim-title-38"/>
          <p:cNvSpPr/>
          <p:nvPr/>
        </p:nvSpPr>
        <p:spPr>
          <a:xfrm>
            <a:off x="658368" y="530352"/>
            <a:ext cx="7132320" cy="841248"/>
          </a:xfrm>
          <a:prstGeom prst="rect">
            <a:avLst/>
          </a:prstGeom>
          <a:noFill/>
          <a:ln/>
        </p:spPr>
        <p:txBody>
          <a:bodyPr wrap="square" lIns="0" tIns="0" rIns="0" bIns="0" rtlCol="0" anchor="ctr">
            <a:normAutofit/>
          </a:bodyPr>
          <a:lstStyle/>
          <a:p>
            <a:pPr indent="0" marL="0">
              <a:buNone/>
            </a:pPr>
            <a:r>
              <a:rPr lang="en-US" sz="3200" b="1" dirty="0">
                <a:solidFill>
                  <a:srgbClr val="2F3437"/>
                </a:solidFill>
                <a:latin typeface="Aptos Display" pitchFamily="34" charset="0"/>
                <a:ea typeface="Aptos Display" pitchFamily="34" charset="-122"/>
                <a:cs typeface="Aptos Display" pitchFamily="34" charset="-120"/>
              </a:rPr>
              <a:t>Leistungsdruck und Wohlbefinden</a:t>
            </a:r>
            <a:endParaRPr lang="en-US" sz="3200" dirty="0"/>
          </a:p>
        </p:txBody>
      </p:sp>
      <p:sp>
        <p:nvSpPr>
          <p:cNvPr id="6" name="Shape 4"/>
          <p:cNvSpPr/>
          <p:nvPr/>
        </p:nvSpPr>
        <p:spPr>
          <a:xfrm>
            <a:off x="9551822" y="1097280"/>
            <a:ext cx="559613" cy="559613"/>
          </a:xfrm>
          <a:prstGeom prst="ellipse">
            <a:avLst/>
          </a:prstGeom>
          <a:solidFill>
            <a:srgbClr val="F3C7A8"/>
          </a:solidFill>
          <a:ln w="12700">
            <a:solidFill>
              <a:srgbClr val="F3C7A8"/>
            </a:solidFill>
            <a:prstDash val="solid"/>
          </a:ln>
        </p:spPr>
      </p:sp>
      <p:sp>
        <p:nvSpPr>
          <p:cNvPr id="7" name="Shape 5"/>
          <p:cNvSpPr/>
          <p:nvPr/>
        </p:nvSpPr>
        <p:spPr>
          <a:xfrm>
            <a:off x="9667037" y="1393546"/>
            <a:ext cx="263347" cy="148133"/>
          </a:xfrm>
          <a:prstGeom prst="arc">
            <a:avLst/>
          </a:prstGeom>
          <a:noFill/>
          <a:ln w="12700">
            <a:solidFill>
              <a:srgbClr val="2F3437"/>
            </a:solidFill>
            <a:prstDash val="solid"/>
          </a:ln>
        </p:spPr>
      </p:sp>
      <p:sp>
        <p:nvSpPr>
          <p:cNvPr id="8" name="Shape 6"/>
          <p:cNvSpPr/>
          <p:nvPr/>
        </p:nvSpPr>
        <p:spPr>
          <a:xfrm>
            <a:off x="9420149" y="1673352"/>
            <a:ext cx="822960" cy="954634"/>
          </a:xfrm>
          <a:prstGeom prst="roundRect">
            <a:avLst>
              <a:gd name="adj" fmla="val 5556"/>
            </a:avLst>
          </a:prstGeom>
          <a:solidFill>
            <a:srgbClr val="FFD9E8"/>
          </a:solidFill>
          <a:ln w="12700">
            <a:solidFill>
              <a:srgbClr val="FFD9E8"/>
            </a:solidFill>
            <a:prstDash val="solid"/>
          </a:ln>
        </p:spPr>
      </p:sp>
      <p:sp>
        <p:nvSpPr>
          <p:cNvPr id="9" name="Shape 7"/>
          <p:cNvSpPr/>
          <p:nvPr/>
        </p:nvSpPr>
        <p:spPr>
          <a:xfrm>
            <a:off x="9568282" y="2611526"/>
            <a:ext cx="-197510" cy="526694"/>
          </a:xfrm>
          <a:prstGeom prst="line">
            <a:avLst/>
          </a:prstGeom>
          <a:noFill/>
          <a:ln w="15240">
            <a:solidFill>
              <a:srgbClr val="2F3437"/>
            </a:solidFill>
            <a:prstDash val="solid"/>
          </a:ln>
        </p:spPr>
      </p:sp>
      <p:sp>
        <p:nvSpPr>
          <p:cNvPr id="10" name="Shape 8"/>
          <p:cNvSpPr/>
          <p:nvPr/>
        </p:nvSpPr>
        <p:spPr>
          <a:xfrm>
            <a:off x="10078517" y="2611526"/>
            <a:ext cx="197510" cy="526694"/>
          </a:xfrm>
          <a:prstGeom prst="line">
            <a:avLst/>
          </a:prstGeom>
          <a:noFill/>
          <a:ln w="15240">
            <a:solidFill>
              <a:srgbClr val="2F3437"/>
            </a:solidFill>
            <a:prstDash val="solid"/>
          </a:ln>
        </p:spPr>
      </p:sp>
      <p:sp>
        <p:nvSpPr>
          <p:cNvPr id="11" name="Shape 9"/>
          <p:cNvSpPr/>
          <p:nvPr/>
        </p:nvSpPr>
        <p:spPr>
          <a:xfrm>
            <a:off x="10094976" y="965606"/>
            <a:ext cx="362102" cy="460858"/>
          </a:xfrm>
          <a:prstGeom prst="lightningBolt">
            <a:avLst/>
          </a:prstGeom>
          <a:solidFill>
            <a:srgbClr val="FFF7C7"/>
          </a:solidFill>
          <a:ln w="12700">
            <a:solidFill>
              <a:srgbClr val="FFF7C7"/>
            </a:solidFill>
            <a:prstDash val="solid"/>
          </a:ln>
        </p:spPr>
      </p:sp>
      <p:sp>
        <p:nvSpPr>
          <p:cNvPr id="12" name="Shape 10"/>
          <p:cNvSpPr/>
          <p:nvPr/>
        </p:nvSpPr>
        <p:spPr>
          <a:xfrm rot="10800000">
            <a:off x="9650578" y="1475842"/>
            <a:ext cx="296266" cy="164592"/>
          </a:xfrm>
          <a:prstGeom prst="arc">
            <a:avLst/>
          </a:prstGeom>
          <a:noFill/>
          <a:ln w="13970">
            <a:solidFill>
              <a:srgbClr val="2F3437"/>
            </a:solidFill>
            <a:prstDash val="solid"/>
          </a:ln>
        </p:spPr>
      </p:sp>
      <p:sp>
        <p:nvSpPr>
          <p:cNvPr id="13" name="Shape 11"/>
          <p:cNvSpPr/>
          <p:nvPr/>
        </p:nvSpPr>
        <p:spPr>
          <a:xfrm>
            <a:off x="786384" y="1508760"/>
            <a:ext cx="3749040" cy="3154680"/>
          </a:xfrm>
          <a:prstGeom prst="roundRect">
            <a:avLst>
              <a:gd name="adj" fmla="val 4638"/>
            </a:avLst>
          </a:prstGeom>
          <a:solidFill>
            <a:srgbClr val="CFEFFF"/>
          </a:solidFill>
          <a:ln w="12700">
            <a:solidFill>
              <a:srgbClr val="CFEFFF"/>
            </a:solidFill>
            <a:prstDash val="solid"/>
          </a:ln>
          <a:effectLst>
            <a:outerShdw sx="100000" sy="100000" kx="0" ky="0" algn="bl" rotWithShape="0" blurRad="4.471758777120074e+53" dist="8.943517554240149e+53" dir="5.877312307200001e+63">
              <a:srgbClr val="C9D2DA">
                <a:alpha val="2.2e+64"/>
              </a:srgbClr>
            </a:outerShdw>
          </a:effectLst>
        </p:spPr>
      </p:sp>
      <p:sp>
        <p:nvSpPr>
          <p:cNvPr id="14" name="Shape 12"/>
          <p:cNvSpPr/>
          <p:nvPr/>
        </p:nvSpPr>
        <p:spPr>
          <a:xfrm>
            <a:off x="4846320" y="1508760"/>
            <a:ext cx="3749040" cy="3154680"/>
          </a:xfrm>
          <a:prstGeom prst="roundRect">
            <a:avLst>
              <a:gd name="adj" fmla="val 4638"/>
            </a:avLst>
          </a:prstGeom>
          <a:solidFill>
            <a:srgbClr val="FFD9E8"/>
          </a:solidFill>
          <a:ln w="12700">
            <a:solidFill>
              <a:srgbClr val="FFD9E8"/>
            </a:solidFill>
            <a:prstDash val="solid"/>
          </a:ln>
          <a:effectLst>
            <a:outerShdw sx="100000" sy="100000" kx="0" ky="0" algn="bl" rotWithShape="0" blurRad="5.679133646942494e+57" dist="1.1358267293884988e+58" dir="3.526387384320001e+68">
              <a:srgbClr val="C9D2DA">
                <a:alpha val="2.2e+69"/>
              </a:srgbClr>
            </a:outerShdw>
          </a:effectLst>
        </p:spPr>
      </p:sp>
      <p:sp>
        <p:nvSpPr>
          <p:cNvPr id="15" name="anim-left-title-39"/>
          <p:cNvSpPr/>
          <p:nvPr/>
        </p:nvSpPr>
        <p:spPr>
          <a:xfrm>
            <a:off x="1097280" y="1783080"/>
            <a:ext cx="3108960" cy="310896"/>
          </a:xfrm>
          <a:prstGeom prst="rect">
            <a:avLst/>
          </a:prstGeom>
          <a:noFill/>
          <a:ln/>
        </p:spPr>
        <p:txBody>
          <a:bodyPr wrap="square" lIns="0" tIns="0" rIns="0" bIns="0" rtlCol="0" anchor="ctr"/>
          <a:lstStyle/>
          <a:p>
            <a:pPr indent="0" marL="0">
              <a:buNone/>
            </a:pPr>
            <a:r>
              <a:rPr lang="en-US" sz="2000" b="1" dirty="0">
                <a:solidFill>
                  <a:srgbClr val="2F3437"/>
                </a:solidFill>
              </a:rPr>
              <a:t>Leistungsdruck</a:t>
            </a:r>
            <a:endParaRPr lang="en-US" sz="2000" dirty="0"/>
          </a:p>
        </p:txBody>
      </p:sp>
      <p:sp>
        <p:nvSpPr>
          <p:cNvPr id="16" name="Shape 14"/>
          <p:cNvSpPr/>
          <p:nvPr/>
        </p:nvSpPr>
        <p:spPr>
          <a:xfrm>
            <a:off x="1115568" y="2423160"/>
            <a:ext cx="118872" cy="118872"/>
          </a:xfrm>
          <a:prstGeom prst="ellipse">
            <a:avLst/>
          </a:prstGeom>
          <a:solidFill>
            <a:srgbClr val="FFFFFF"/>
          </a:solidFill>
          <a:ln w="12700">
            <a:solidFill>
              <a:srgbClr val="FFFFFF"/>
            </a:solidFill>
            <a:prstDash val="solid"/>
          </a:ln>
        </p:spPr>
      </p:sp>
      <p:sp>
        <p:nvSpPr>
          <p:cNvPr id="17" name="anim-bullet-40"/>
          <p:cNvSpPr/>
          <p:nvPr/>
        </p:nvSpPr>
        <p:spPr>
          <a:xfrm>
            <a:off x="1362456" y="2331720"/>
            <a:ext cx="2560320" cy="310896"/>
          </a:xfrm>
          <a:prstGeom prst="rect">
            <a:avLst/>
          </a:prstGeom>
          <a:noFill/>
          <a:ln/>
        </p:spPr>
        <p:txBody>
          <a:bodyPr wrap="square" lIns="0" tIns="0" rIns="0" bIns="0" rtlCol="0" anchor="ctr"/>
          <a:lstStyle/>
          <a:p>
            <a:pPr indent="0" marL="0">
              <a:buNone/>
            </a:pPr>
            <a:r>
              <a:rPr lang="en-US" sz="1600" dirty="0">
                <a:solidFill>
                  <a:srgbClr val="2F3437"/>
                </a:solidFill>
                <a:latin typeface="Aptos" pitchFamily="34" charset="0"/>
                <a:ea typeface="Aptos" pitchFamily="34" charset="-122"/>
                <a:cs typeface="Aptos" pitchFamily="34" charset="-120"/>
              </a:rPr>
              <a:t>Noten</a:t>
            </a:r>
            <a:endParaRPr lang="en-US" sz="1600" dirty="0"/>
          </a:p>
        </p:txBody>
      </p:sp>
      <p:sp>
        <p:nvSpPr>
          <p:cNvPr id="18" name="Shape 16"/>
          <p:cNvSpPr/>
          <p:nvPr/>
        </p:nvSpPr>
        <p:spPr>
          <a:xfrm>
            <a:off x="1115568" y="2880360"/>
            <a:ext cx="118872" cy="118872"/>
          </a:xfrm>
          <a:prstGeom prst="ellipse">
            <a:avLst/>
          </a:prstGeom>
          <a:solidFill>
            <a:srgbClr val="FFFFFF"/>
          </a:solidFill>
          <a:ln w="12700">
            <a:solidFill>
              <a:srgbClr val="FFFFFF"/>
            </a:solidFill>
            <a:prstDash val="solid"/>
          </a:ln>
        </p:spPr>
      </p:sp>
      <p:sp>
        <p:nvSpPr>
          <p:cNvPr id="19" name="anim-bullet-41"/>
          <p:cNvSpPr/>
          <p:nvPr/>
        </p:nvSpPr>
        <p:spPr>
          <a:xfrm>
            <a:off x="1362456" y="2788920"/>
            <a:ext cx="2560320" cy="310896"/>
          </a:xfrm>
          <a:prstGeom prst="rect">
            <a:avLst/>
          </a:prstGeom>
          <a:noFill/>
          <a:ln/>
        </p:spPr>
        <p:txBody>
          <a:bodyPr wrap="square" lIns="0" tIns="0" rIns="0" bIns="0" rtlCol="0" anchor="ctr"/>
          <a:lstStyle/>
          <a:p>
            <a:pPr indent="0" marL="0">
              <a:buNone/>
            </a:pPr>
            <a:r>
              <a:rPr lang="en-US" sz="1600" dirty="0">
                <a:solidFill>
                  <a:srgbClr val="2F3437"/>
                </a:solidFill>
                <a:latin typeface="Aptos" pitchFamily="34" charset="0"/>
                <a:ea typeface="Aptos" pitchFamily="34" charset="-122"/>
                <a:cs typeface="Aptos" pitchFamily="34" charset="-120"/>
              </a:rPr>
              <a:t>Prüfungen</a:t>
            </a:r>
            <a:endParaRPr lang="en-US" sz="1600" dirty="0"/>
          </a:p>
        </p:txBody>
      </p:sp>
      <p:sp>
        <p:nvSpPr>
          <p:cNvPr id="20" name="Shape 18"/>
          <p:cNvSpPr/>
          <p:nvPr/>
        </p:nvSpPr>
        <p:spPr>
          <a:xfrm>
            <a:off x="1115568" y="3337560"/>
            <a:ext cx="118872" cy="118872"/>
          </a:xfrm>
          <a:prstGeom prst="ellipse">
            <a:avLst/>
          </a:prstGeom>
          <a:solidFill>
            <a:srgbClr val="FFFFFF"/>
          </a:solidFill>
          <a:ln w="12700">
            <a:solidFill>
              <a:srgbClr val="FFFFFF"/>
            </a:solidFill>
            <a:prstDash val="solid"/>
          </a:ln>
        </p:spPr>
      </p:sp>
      <p:sp>
        <p:nvSpPr>
          <p:cNvPr id="21" name="anim-bullet-42"/>
          <p:cNvSpPr/>
          <p:nvPr/>
        </p:nvSpPr>
        <p:spPr>
          <a:xfrm>
            <a:off x="1362456" y="3246120"/>
            <a:ext cx="2560320" cy="310896"/>
          </a:xfrm>
          <a:prstGeom prst="rect">
            <a:avLst/>
          </a:prstGeom>
          <a:noFill/>
          <a:ln/>
        </p:spPr>
        <p:txBody>
          <a:bodyPr wrap="square" lIns="0" tIns="0" rIns="0" bIns="0" rtlCol="0" anchor="ctr"/>
          <a:lstStyle/>
          <a:p>
            <a:pPr indent="0" marL="0">
              <a:buNone/>
            </a:pPr>
            <a:r>
              <a:rPr lang="en-US" sz="1600" dirty="0">
                <a:solidFill>
                  <a:srgbClr val="2F3437"/>
                </a:solidFill>
                <a:latin typeface="Aptos" pitchFamily="34" charset="0"/>
                <a:ea typeface="Aptos" pitchFamily="34" charset="-122"/>
                <a:cs typeface="Aptos" pitchFamily="34" charset="-120"/>
              </a:rPr>
              <a:t>Konkurrenz</a:t>
            </a:r>
            <a:endParaRPr lang="en-US" sz="1600" dirty="0"/>
          </a:p>
        </p:txBody>
      </p:sp>
      <p:sp>
        <p:nvSpPr>
          <p:cNvPr id="22" name="Shape 20"/>
          <p:cNvSpPr/>
          <p:nvPr/>
        </p:nvSpPr>
        <p:spPr>
          <a:xfrm>
            <a:off x="1115568" y="3794760"/>
            <a:ext cx="118872" cy="118872"/>
          </a:xfrm>
          <a:prstGeom prst="ellipse">
            <a:avLst/>
          </a:prstGeom>
          <a:solidFill>
            <a:srgbClr val="FFFFFF"/>
          </a:solidFill>
          <a:ln w="12700">
            <a:solidFill>
              <a:srgbClr val="FFFFFF"/>
            </a:solidFill>
            <a:prstDash val="solid"/>
          </a:ln>
        </p:spPr>
      </p:sp>
      <p:sp>
        <p:nvSpPr>
          <p:cNvPr id="23" name="anim-bullet-43"/>
          <p:cNvSpPr/>
          <p:nvPr/>
        </p:nvSpPr>
        <p:spPr>
          <a:xfrm>
            <a:off x="1362456" y="3703320"/>
            <a:ext cx="2560320" cy="310896"/>
          </a:xfrm>
          <a:prstGeom prst="rect">
            <a:avLst/>
          </a:prstGeom>
          <a:noFill/>
          <a:ln/>
        </p:spPr>
        <p:txBody>
          <a:bodyPr wrap="square" lIns="0" tIns="0" rIns="0" bIns="0" rtlCol="0" anchor="ctr"/>
          <a:lstStyle/>
          <a:p>
            <a:pPr indent="0" marL="0">
              <a:buNone/>
            </a:pPr>
            <a:r>
              <a:rPr lang="en-US" sz="1600" dirty="0">
                <a:solidFill>
                  <a:srgbClr val="2F3437"/>
                </a:solidFill>
                <a:latin typeface="Aptos" pitchFamily="34" charset="0"/>
                <a:ea typeface="Aptos" pitchFamily="34" charset="-122"/>
                <a:cs typeface="Aptos" pitchFamily="34" charset="-120"/>
              </a:rPr>
              <a:t>Erwartungen</a:t>
            </a:r>
            <a:endParaRPr lang="en-US" sz="1600" dirty="0"/>
          </a:p>
        </p:txBody>
      </p:sp>
      <p:sp>
        <p:nvSpPr>
          <p:cNvPr id="24" name="anim-right-title-44"/>
          <p:cNvSpPr/>
          <p:nvPr/>
        </p:nvSpPr>
        <p:spPr>
          <a:xfrm>
            <a:off x="5166360" y="1783080"/>
            <a:ext cx="3108960" cy="310896"/>
          </a:xfrm>
          <a:prstGeom prst="rect">
            <a:avLst/>
          </a:prstGeom>
          <a:noFill/>
          <a:ln/>
        </p:spPr>
        <p:txBody>
          <a:bodyPr wrap="square" lIns="0" tIns="0" rIns="0" bIns="0" rtlCol="0" anchor="ctr"/>
          <a:lstStyle/>
          <a:p>
            <a:pPr indent="0" marL="0">
              <a:buNone/>
            </a:pPr>
            <a:r>
              <a:rPr lang="en-US" sz="2000" b="1" dirty="0">
                <a:solidFill>
                  <a:srgbClr val="2F3437"/>
                </a:solidFill>
              </a:rPr>
              <a:t>Folgen</a:t>
            </a:r>
            <a:endParaRPr lang="en-US" sz="2000" dirty="0"/>
          </a:p>
        </p:txBody>
      </p:sp>
      <p:sp>
        <p:nvSpPr>
          <p:cNvPr id="25" name="Shape 23"/>
          <p:cNvSpPr/>
          <p:nvPr/>
        </p:nvSpPr>
        <p:spPr>
          <a:xfrm>
            <a:off x="5193792" y="2423160"/>
            <a:ext cx="118872" cy="118872"/>
          </a:xfrm>
          <a:prstGeom prst="ellipse">
            <a:avLst/>
          </a:prstGeom>
          <a:solidFill>
            <a:srgbClr val="FFFFFF"/>
          </a:solidFill>
          <a:ln w="12700">
            <a:solidFill>
              <a:srgbClr val="FFFFFF"/>
            </a:solidFill>
            <a:prstDash val="solid"/>
          </a:ln>
        </p:spPr>
      </p:sp>
      <p:sp>
        <p:nvSpPr>
          <p:cNvPr id="26" name="anim-bullet-45"/>
          <p:cNvSpPr/>
          <p:nvPr/>
        </p:nvSpPr>
        <p:spPr>
          <a:xfrm>
            <a:off x="5440680" y="2331720"/>
            <a:ext cx="2971800" cy="310896"/>
          </a:xfrm>
          <a:prstGeom prst="rect">
            <a:avLst/>
          </a:prstGeom>
          <a:noFill/>
          <a:ln/>
        </p:spPr>
        <p:txBody>
          <a:bodyPr wrap="square" lIns="0" tIns="0" rIns="0" bIns="0" rtlCol="0" anchor="ctr"/>
          <a:lstStyle/>
          <a:p>
            <a:pPr indent="0" marL="0">
              <a:buNone/>
            </a:pPr>
            <a:r>
              <a:rPr lang="en-US" sz="1600" dirty="0">
                <a:solidFill>
                  <a:srgbClr val="2F3437"/>
                </a:solidFill>
                <a:latin typeface="Aptos" pitchFamily="34" charset="0"/>
                <a:ea typeface="Aptos" pitchFamily="34" charset="-122"/>
                <a:cs typeface="Aptos" pitchFamily="34" charset="-120"/>
              </a:rPr>
              <a:t>Stress</a:t>
            </a:r>
            <a:endParaRPr lang="en-US" sz="1600" dirty="0"/>
          </a:p>
        </p:txBody>
      </p:sp>
      <p:sp>
        <p:nvSpPr>
          <p:cNvPr id="27" name="Shape 25"/>
          <p:cNvSpPr/>
          <p:nvPr/>
        </p:nvSpPr>
        <p:spPr>
          <a:xfrm>
            <a:off x="5193792" y="2880360"/>
            <a:ext cx="118872" cy="118872"/>
          </a:xfrm>
          <a:prstGeom prst="ellipse">
            <a:avLst/>
          </a:prstGeom>
          <a:solidFill>
            <a:srgbClr val="FFFFFF"/>
          </a:solidFill>
          <a:ln w="12700">
            <a:solidFill>
              <a:srgbClr val="FFFFFF"/>
            </a:solidFill>
            <a:prstDash val="solid"/>
          </a:ln>
        </p:spPr>
      </p:sp>
      <p:sp>
        <p:nvSpPr>
          <p:cNvPr id="28" name="anim-bullet-46"/>
          <p:cNvSpPr/>
          <p:nvPr/>
        </p:nvSpPr>
        <p:spPr>
          <a:xfrm>
            <a:off x="5440680" y="2788920"/>
            <a:ext cx="2971800" cy="310896"/>
          </a:xfrm>
          <a:prstGeom prst="rect">
            <a:avLst/>
          </a:prstGeom>
          <a:noFill/>
          <a:ln/>
        </p:spPr>
        <p:txBody>
          <a:bodyPr wrap="square" lIns="0" tIns="0" rIns="0" bIns="0" rtlCol="0" anchor="ctr"/>
          <a:lstStyle/>
          <a:p>
            <a:pPr indent="0" marL="0">
              <a:buNone/>
            </a:pPr>
            <a:r>
              <a:rPr lang="en-US" sz="1600" dirty="0">
                <a:solidFill>
                  <a:srgbClr val="2F3437"/>
                </a:solidFill>
                <a:latin typeface="Aptos" pitchFamily="34" charset="0"/>
                <a:ea typeface="Aptos" pitchFamily="34" charset="-122"/>
                <a:cs typeface="Aptos" pitchFamily="34" charset="-120"/>
              </a:rPr>
              <a:t>Schlafprobleme</a:t>
            </a:r>
            <a:endParaRPr lang="en-US" sz="1600" dirty="0"/>
          </a:p>
        </p:txBody>
      </p:sp>
      <p:sp>
        <p:nvSpPr>
          <p:cNvPr id="29" name="Shape 27"/>
          <p:cNvSpPr/>
          <p:nvPr/>
        </p:nvSpPr>
        <p:spPr>
          <a:xfrm>
            <a:off x="5193792" y="3337560"/>
            <a:ext cx="118872" cy="118872"/>
          </a:xfrm>
          <a:prstGeom prst="ellipse">
            <a:avLst/>
          </a:prstGeom>
          <a:solidFill>
            <a:srgbClr val="FFFFFF"/>
          </a:solidFill>
          <a:ln w="12700">
            <a:solidFill>
              <a:srgbClr val="FFFFFF"/>
            </a:solidFill>
            <a:prstDash val="solid"/>
          </a:ln>
        </p:spPr>
      </p:sp>
      <p:sp>
        <p:nvSpPr>
          <p:cNvPr id="30" name="anim-bullet-47"/>
          <p:cNvSpPr/>
          <p:nvPr/>
        </p:nvSpPr>
        <p:spPr>
          <a:xfrm>
            <a:off x="5440680" y="3246120"/>
            <a:ext cx="2971800" cy="310896"/>
          </a:xfrm>
          <a:prstGeom prst="rect">
            <a:avLst/>
          </a:prstGeom>
          <a:noFill/>
          <a:ln/>
        </p:spPr>
        <p:txBody>
          <a:bodyPr wrap="square" lIns="0" tIns="0" rIns="0" bIns="0" rtlCol="0" anchor="ctr"/>
          <a:lstStyle/>
          <a:p>
            <a:pPr indent="0" marL="0">
              <a:buNone/>
            </a:pPr>
            <a:r>
              <a:rPr lang="en-US" sz="1600" dirty="0">
                <a:solidFill>
                  <a:srgbClr val="2F3437"/>
                </a:solidFill>
                <a:latin typeface="Aptos" pitchFamily="34" charset="0"/>
                <a:ea typeface="Aptos" pitchFamily="34" charset="-122"/>
                <a:cs typeface="Aptos" pitchFamily="34" charset="-120"/>
              </a:rPr>
              <a:t>Unsicherheit</a:t>
            </a:r>
            <a:endParaRPr lang="en-US" sz="1600" dirty="0"/>
          </a:p>
        </p:txBody>
      </p:sp>
      <p:sp>
        <p:nvSpPr>
          <p:cNvPr id="31" name="Shape 29"/>
          <p:cNvSpPr/>
          <p:nvPr/>
        </p:nvSpPr>
        <p:spPr>
          <a:xfrm>
            <a:off x="5193792" y="3794760"/>
            <a:ext cx="118872" cy="118872"/>
          </a:xfrm>
          <a:prstGeom prst="ellipse">
            <a:avLst/>
          </a:prstGeom>
          <a:solidFill>
            <a:srgbClr val="FFFFFF"/>
          </a:solidFill>
          <a:ln w="12700">
            <a:solidFill>
              <a:srgbClr val="FFFFFF"/>
            </a:solidFill>
            <a:prstDash val="solid"/>
          </a:ln>
        </p:spPr>
      </p:sp>
      <p:sp>
        <p:nvSpPr>
          <p:cNvPr id="32" name="anim-bullet-48"/>
          <p:cNvSpPr/>
          <p:nvPr/>
        </p:nvSpPr>
        <p:spPr>
          <a:xfrm>
            <a:off x="5440680" y="3703320"/>
            <a:ext cx="2971800" cy="310896"/>
          </a:xfrm>
          <a:prstGeom prst="rect">
            <a:avLst/>
          </a:prstGeom>
          <a:noFill/>
          <a:ln/>
        </p:spPr>
        <p:txBody>
          <a:bodyPr wrap="square" lIns="0" tIns="0" rIns="0" bIns="0" rtlCol="0" anchor="ctr"/>
          <a:lstStyle/>
          <a:p>
            <a:pPr indent="0" marL="0">
              <a:buNone/>
            </a:pPr>
            <a:r>
              <a:rPr lang="en-US" sz="1600" dirty="0">
                <a:solidFill>
                  <a:srgbClr val="2F3437"/>
                </a:solidFill>
                <a:latin typeface="Aptos" pitchFamily="34" charset="0"/>
                <a:ea typeface="Aptos" pitchFamily="34" charset="-122"/>
                <a:cs typeface="Aptos" pitchFamily="34" charset="-120"/>
              </a:rPr>
              <a:t>geringeres Selbstwertgefühl</a:t>
            </a:r>
            <a:endParaRPr lang="en-US" sz="1600" dirty="0"/>
          </a:p>
        </p:txBody>
      </p:sp>
      <p:sp>
        <p:nvSpPr>
          <p:cNvPr id="33" name="Shape 31"/>
          <p:cNvSpPr/>
          <p:nvPr/>
        </p:nvSpPr>
        <p:spPr>
          <a:xfrm>
            <a:off x="1143000" y="5230368"/>
            <a:ext cx="9829800" cy="694944"/>
          </a:xfrm>
          <a:prstGeom prst="roundRect">
            <a:avLst>
              <a:gd name="adj" fmla="val 23684"/>
            </a:avLst>
          </a:prstGeom>
          <a:solidFill>
            <a:srgbClr val="2F3437"/>
          </a:solidFill>
          <a:ln w="12700">
            <a:solidFill>
              <a:srgbClr val="2F3437"/>
            </a:solidFill>
            <a:prstDash val="solid"/>
          </a:ln>
          <a:effectLst>
            <a:outerShdw sx="100000" sy="100000" kx="0" ky="0" algn="bl" rotWithShape="0" blurRad="7.212499731616968e+61" dist="1.4424999463233936e+62" dir="2.1158324305920003e+73">
              <a:srgbClr val="C9D2DA">
                <a:alpha val="2.2e+74"/>
              </a:srgbClr>
            </a:outerShdw>
          </a:effectLst>
        </p:spPr>
      </p:sp>
      <p:sp>
        <p:nvSpPr>
          <p:cNvPr id="34" name="anim-merk-49"/>
          <p:cNvSpPr/>
          <p:nvPr/>
        </p:nvSpPr>
        <p:spPr>
          <a:xfrm>
            <a:off x="1517904" y="5468112"/>
            <a:ext cx="9107424" cy="219456"/>
          </a:xfrm>
          <a:prstGeom prst="rect">
            <a:avLst/>
          </a:prstGeom>
          <a:noFill/>
          <a:ln/>
        </p:spPr>
        <p:txBody>
          <a:bodyPr wrap="square" lIns="0" tIns="0" rIns="0" bIns="0" rtlCol="0" anchor="ctr"/>
          <a:lstStyle/>
          <a:p>
            <a:pPr algn="ctr" indent="0" marL="0">
              <a:buNone/>
            </a:pPr>
            <a:r>
              <a:rPr lang="en-US" sz="1550" b="1" dirty="0">
                <a:solidFill>
                  <a:srgbClr val="FFFFFF"/>
                </a:solidFill>
              </a:rPr>
              <a:t>Leistungsdruck kann Motivation fördern, aber auch das Wohlbefinden beeinträchtigen.</a:t>
            </a:r>
            <a:endParaRPr lang="en-US" sz="1550" dirty="0"/>
          </a:p>
        </p:txBody>
      </p:sp>
      <p:sp>
        <p:nvSpPr>
          <p:cNvPr id="35" name="Text 33"/>
          <p:cNvSpPr/>
          <p:nvPr/>
        </p:nvSpPr>
        <p:spPr>
          <a:xfrm>
            <a:off x="658368" y="6473952"/>
            <a:ext cx="1097280" cy="164592"/>
          </a:xfrm>
          <a:prstGeom prst="rect">
            <a:avLst/>
          </a:prstGeom>
          <a:noFill/>
          <a:ln/>
        </p:spPr>
        <p:txBody>
          <a:bodyPr wrap="square" lIns="0" tIns="0" rIns="0" bIns="0" rtlCol="0" anchor="ctr"/>
          <a:lstStyle/>
          <a:p>
            <a:pPr indent="0" marL="0">
              <a:buNone/>
            </a:pPr>
            <a:r>
              <a:rPr lang="en-US" sz="700" dirty="0">
                <a:solidFill>
                  <a:srgbClr val="A7ADB3"/>
                </a:solidFill>
                <a:latin typeface="Aptos" pitchFamily="34" charset="0"/>
                <a:ea typeface="Aptos" pitchFamily="34" charset="-122"/>
                <a:cs typeface="Aptos" pitchFamily="34" charset="-120"/>
              </a:rPr>
              <a:t>Folie 5 / 11</a:t>
            </a:r>
            <a:endParaRPr lang="en-US" sz="700" dirty="0"/>
          </a:p>
        </p:txBody>
      </p:sp>
      <p:sp>
        <p:nvSpPr>
          <p:cNvPr id="36" name="Text 34"/>
          <p:cNvSpPr/>
          <p:nvPr/>
        </p:nvSpPr>
        <p:spPr>
          <a:xfrm>
            <a:off x="9802368" y="6473952"/>
            <a:ext cx="1627632" cy="164592"/>
          </a:xfrm>
          <a:prstGeom prst="rect">
            <a:avLst/>
          </a:prstGeom>
          <a:noFill/>
          <a:ln/>
        </p:spPr>
        <p:txBody>
          <a:bodyPr wrap="square" lIns="0" tIns="0" rIns="0" bIns="0" rtlCol="0" anchor="ctr"/>
          <a:lstStyle/>
          <a:p>
            <a:pPr algn="r" indent="0" marL="0">
              <a:buNone/>
            </a:pPr>
            <a:r>
              <a:rPr lang="en-US" sz="700" dirty="0">
                <a:solidFill>
                  <a:srgbClr val="BDC4CB"/>
                </a:solidFill>
                <a:latin typeface="Aptos" pitchFamily="34" charset="0"/>
                <a:ea typeface="Aptos" pitchFamily="34" charset="-122"/>
                <a:cs typeface="Aptos" pitchFamily="34" charset="-120"/>
              </a:rPr>
              <a:t>Übergang: Scale</a:t>
            </a:r>
            <a:endParaRPr lang="en-US" sz="700" dirty="0"/>
          </a:p>
        </p:txBody>
      </p:sp>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5</a:t>
            </a:fld>
            <a:endParaRPr lang="en-US"/>
          </a:p>
        </p:txBody>
      </p:sp>
    </p:spTree>
  </p:cSld>
  <p:transition spd="med">
    <p:split orient="horz" dir="in"/>
  </p:transition>
  <p:clrMapOvr>
    <a:masterClrMapping/>
  </p:clrMapOvr>
  <p:timing>
    <p:tnLst>
      <p:par>
        <p:cTn id="1" dur="indefinite" restart="never" nodeType="tmRoot">
          <p:childTnLst>
            <p:seq concurrent="1" nextAc="seek">
              <p:cTn id="2" dur="indefinite" nodeType="mainSeq">
                <p:childTnLst>
                  <p:par>
                    <p:cTn id="100" fill="hold" nodeType="clickEffect" presetID="10" presetClass="entr" presetSubtype="0">
                      <p:stCondLst>
                        <p:cond delay="0"/>
                      </p:stCondLst>
                      <p:childTnLst>
                        <p:set>
                          <p:cBhvr>
                            <p:cTn id="101" dur="1" fill="hold"/>
                            <p:tgtEl>
                              <p:spTgt spid="5"/>
                            </p:tgtEl>
                            <p:attrNameLst>
                              <p:attrName>style.visibility</p:attrName>
                            </p:attrNameLst>
                          </p:cBhvr>
                          <p:to>
                            <p:strVal val="visible"/>
                          </p:to>
                        </p:set>
                        <p:animEffect transition="in" filter="fade">
                          <p:cBhvr>
                            <p:cTn id="102" dur="450" fill="hold"/>
                            <p:tgtEl>
                              <p:spTgt spid="5"/>
                            </p:tgtEl>
                          </p:cBhvr>
                        </p:animEffect>
                      </p:childTnLst>
                    </p:cTn>
                  </p:par>
                  <p:par>
                    <p:cTn id="103" fill="hold" nodeType="clickEffect" presetID="10" presetClass="entr" presetSubtype="0">
                      <p:stCondLst>
                        <p:cond delay="250"/>
                      </p:stCondLst>
                      <p:childTnLst>
                        <p:set>
                          <p:cBhvr>
                            <p:cTn id="104" dur="1" fill="hold"/>
                            <p:tgtEl>
                              <p:spTgt spid="15"/>
                            </p:tgtEl>
                            <p:attrNameLst>
                              <p:attrName>style.visibility</p:attrName>
                            </p:attrNameLst>
                          </p:cBhvr>
                          <p:to>
                            <p:strVal val="visible"/>
                          </p:to>
                        </p:set>
                        <p:animEffect transition="in" filter="fade">
                          <p:cBhvr>
                            <p:cTn id="105" dur="450" fill="hold"/>
                            <p:tgtEl>
                              <p:spTgt spid="15"/>
                            </p:tgtEl>
                          </p:cBhvr>
                        </p:animEffect>
                      </p:childTnLst>
                    </p:cTn>
                  </p:par>
                  <p:par>
                    <p:cTn id="106" fill="hold" nodeType="clickEffect" presetID="10" presetClass="entr" presetSubtype="0">
                      <p:stCondLst>
                        <p:cond delay="250"/>
                      </p:stCondLst>
                      <p:childTnLst>
                        <p:set>
                          <p:cBhvr>
                            <p:cTn id="107" dur="1" fill="hold"/>
                            <p:tgtEl>
                              <p:spTgt spid="17"/>
                            </p:tgtEl>
                            <p:attrNameLst>
                              <p:attrName>style.visibility</p:attrName>
                            </p:attrNameLst>
                          </p:cBhvr>
                          <p:to>
                            <p:strVal val="visible"/>
                          </p:to>
                        </p:set>
                        <p:animEffect transition="in" filter="fade">
                          <p:cBhvr>
                            <p:cTn id="108" dur="450" fill="hold"/>
                            <p:tgtEl>
                              <p:spTgt spid="17"/>
                            </p:tgtEl>
                          </p:cBhvr>
                        </p:animEffect>
                      </p:childTnLst>
                    </p:cTn>
                  </p:par>
                  <p:par>
                    <p:cTn id="109" fill="hold" nodeType="clickEffect" presetID="10" presetClass="entr" presetSubtype="0">
                      <p:stCondLst>
                        <p:cond delay="250"/>
                      </p:stCondLst>
                      <p:childTnLst>
                        <p:set>
                          <p:cBhvr>
                            <p:cTn id="110" dur="1" fill="hold"/>
                            <p:tgtEl>
                              <p:spTgt spid="19"/>
                            </p:tgtEl>
                            <p:attrNameLst>
                              <p:attrName>style.visibility</p:attrName>
                            </p:attrNameLst>
                          </p:cBhvr>
                          <p:to>
                            <p:strVal val="visible"/>
                          </p:to>
                        </p:set>
                        <p:animEffect transition="in" filter="fade">
                          <p:cBhvr>
                            <p:cTn id="111" dur="450" fill="hold"/>
                            <p:tgtEl>
                              <p:spTgt spid="19"/>
                            </p:tgtEl>
                          </p:cBhvr>
                        </p:animEffect>
                      </p:childTnLst>
                    </p:cTn>
                  </p:par>
                  <p:par>
                    <p:cTn id="112" fill="hold" nodeType="clickEffect" presetID="10" presetClass="entr" presetSubtype="0">
                      <p:stCondLst>
                        <p:cond delay="250"/>
                      </p:stCondLst>
                      <p:childTnLst>
                        <p:set>
                          <p:cBhvr>
                            <p:cTn id="113" dur="1" fill="hold"/>
                            <p:tgtEl>
                              <p:spTgt spid="21"/>
                            </p:tgtEl>
                            <p:attrNameLst>
                              <p:attrName>style.visibility</p:attrName>
                            </p:attrNameLst>
                          </p:cBhvr>
                          <p:to>
                            <p:strVal val="visible"/>
                          </p:to>
                        </p:set>
                        <p:animEffect transition="in" filter="fade">
                          <p:cBhvr>
                            <p:cTn id="114" dur="450" fill="hold"/>
                            <p:tgtEl>
                              <p:spTgt spid="21"/>
                            </p:tgtEl>
                          </p:cBhvr>
                        </p:animEffect>
                      </p:childTnLst>
                    </p:cTn>
                  </p:par>
                  <p:par>
                    <p:cTn id="115" fill="hold" nodeType="clickEffect" presetID="10" presetClass="entr" presetSubtype="0">
                      <p:stCondLst>
                        <p:cond delay="250"/>
                      </p:stCondLst>
                      <p:childTnLst>
                        <p:set>
                          <p:cBhvr>
                            <p:cTn id="116" dur="1" fill="hold"/>
                            <p:tgtEl>
                              <p:spTgt spid="23"/>
                            </p:tgtEl>
                            <p:attrNameLst>
                              <p:attrName>style.visibility</p:attrName>
                            </p:attrNameLst>
                          </p:cBhvr>
                          <p:to>
                            <p:strVal val="visible"/>
                          </p:to>
                        </p:set>
                        <p:animEffect transition="in" filter="fade">
                          <p:cBhvr>
                            <p:cTn id="117" dur="450" fill="hold"/>
                            <p:tgtEl>
                              <p:spTgt spid="23"/>
                            </p:tgtEl>
                          </p:cBhvr>
                        </p:animEffect>
                      </p:childTnLst>
                    </p:cTn>
                  </p:par>
                  <p:par>
                    <p:cTn id="118" fill="hold" nodeType="clickEffect" presetID="10" presetClass="entr" presetSubtype="0">
                      <p:stCondLst>
                        <p:cond delay="250"/>
                      </p:stCondLst>
                      <p:childTnLst>
                        <p:set>
                          <p:cBhvr>
                            <p:cTn id="119" dur="1" fill="hold"/>
                            <p:tgtEl>
                              <p:spTgt spid="24"/>
                            </p:tgtEl>
                            <p:attrNameLst>
                              <p:attrName>style.visibility</p:attrName>
                            </p:attrNameLst>
                          </p:cBhvr>
                          <p:to>
                            <p:strVal val="visible"/>
                          </p:to>
                        </p:set>
                        <p:animEffect transition="in" filter="fade">
                          <p:cBhvr>
                            <p:cTn id="120" dur="450" fill="hold"/>
                            <p:tgtEl>
                              <p:spTgt spid="24"/>
                            </p:tgtEl>
                          </p:cBhvr>
                        </p:animEffect>
                      </p:childTnLst>
                    </p:cTn>
                  </p:par>
                  <p:par>
                    <p:cTn id="121" fill="hold" nodeType="clickEffect" presetID="10" presetClass="entr" presetSubtype="0">
                      <p:stCondLst>
                        <p:cond delay="250"/>
                      </p:stCondLst>
                      <p:childTnLst>
                        <p:set>
                          <p:cBhvr>
                            <p:cTn id="122" dur="1" fill="hold"/>
                            <p:tgtEl>
                              <p:spTgt spid="26"/>
                            </p:tgtEl>
                            <p:attrNameLst>
                              <p:attrName>style.visibility</p:attrName>
                            </p:attrNameLst>
                          </p:cBhvr>
                          <p:to>
                            <p:strVal val="visible"/>
                          </p:to>
                        </p:set>
                        <p:animEffect transition="in" filter="fade">
                          <p:cBhvr>
                            <p:cTn id="123" dur="450" fill="hold"/>
                            <p:tgtEl>
                              <p:spTgt spid="26"/>
                            </p:tgtEl>
                          </p:cBhvr>
                        </p:animEffect>
                      </p:childTnLst>
                    </p:cTn>
                  </p:par>
                  <p:par>
                    <p:cTn id="124" fill="hold" nodeType="clickEffect" presetID="10" presetClass="entr" presetSubtype="0">
                      <p:stCondLst>
                        <p:cond delay="250"/>
                      </p:stCondLst>
                      <p:childTnLst>
                        <p:set>
                          <p:cBhvr>
                            <p:cTn id="125" dur="1" fill="hold"/>
                            <p:tgtEl>
                              <p:spTgt spid="28"/>
                            </p:tgtEl>
                            <p:attrNameLst>
                              <p:attrName>style.visibility</p:attrName>
                            </p:attrNameLst>
                          </p:cBhvr>
                          <p:to>
                            <p:strVal val="visible"/>
                          </p:to>
                        </p:set>
                        <p:animEffect transition="in" filter="fade">
                          <p:cBhvr>
                            <p:cTn id="126" dur="450" fill="hold"/>
                            <p:tgtEl>
                              <p:spTgt spid="28"/>
                            </p:tgtEl>
                          </p:cBhvr>
                        </p:animEffect>
                      </p:childTnLst>
                    </p:cTn>
                  </p:par>
                  <p:par>
                    <p:cTn id="127" fill="hold" nodeType="clickEffect" presetID="10" presetClass="entr" presetSubtype="0">
                      <p:stCondLst>
                        <p:cond delay="250"/>
                      </p:stCondLst>
                      <p:childTnLst>
                        <p:set>
                          <p:cBhvr>
                            <p:cTn id="128" dur="1" fill="hold"/>
                            <p:tgtEl>
                              <p:spTgt spid="30"/>
                            </p:tgtEl>
                            <p:attrNameLst>
                              <p:attrName>style.visibility</p:attrName>
                            </p:attrNameLst>
                          </p:cBhvr>
                          <p:to>
                            <p:strVal val="visible"/>
                          </p:to>
                        </p:set>
                        <p:animEffect transition="in" filter="fade">
                          <p:cBhvr>
                            <p:cTn id="129" dur="450" fill="hold"/>
                            <p:tgtEl>
                              <p:spTgt spid="30"/>
                            </p:tgtEl>
                          </p:cBhvr>
                        </p:animEffect>
                      </p:childTnLst>
                    </p:cTn>
                  </p:par>
                  <p:par>
                    <p:cTn id="130" fill="hold" nodeType="clickEffect" presetID="10" presetClass="entr" presetSubtype="0">
                      <p:stCondLst>
                        <p:cond delay="250"/>
                      </p:stCondLst>
                      <p:childTnLst>
                        <p:set>
                          <p:cBhvr>
                            <p:cTn id="131" dur="1" fill="hold"/>
                            <p:tgtEl>
                              <p:spTgt spid="32"/>
                            </p:tgtEl>
                            <p:attrNameLst>
                              <p:attrName>style.visibility</p:attrName>
                            </p:attrNameLst>
                          </p:cBhvr>
                          <p:to>
                            <p:strVal val="visible"/>
                          </p:to>
                        </p:set>
                        <p:animEffect transition="in" filter="fade">
                          <p:cBhvr>
                            <p:cTn id="132" dur="450" fill="hold"/>
                            <p:tgtEl>
                              <p:spTgt spid="32"/>
                            </p:tgtEl>
                          </p:cBhvr>
                        </p:animEffect>
                      </p:childTnLst>
                    </p:cTn>
                  </p:par>
                  <p:par>
                    <p:cTn id="133" fill="hold" nodeType="clickEffect" presetID="10" presetClass="entr" presetSubtype="0">
                      <p:stCondLst>
                        <p:cond delay="250"/>
                      </p:stCondLst>
                      <p:childTnLst>
                        <p:set>
                          <p:cBhvr>
                            <p:cTn id="134" dur="1" fill="hold"/>
                            <p:tgtEl>
                              <p:spTgt spid="34"/>
                            </p:tgtEl>
                            <p:attrNameLst>
                              <p:attrName>style.visibility</p:attrName>
                            </p:attrNameLst>
                          </p:cBhvr>
                          <p:to>
                            <p:strVal val="visible"/>
                          </p:to>
                        </p:set>
                        <p:animEffect transition="in" filter="fade">
                          <p:cBhvr>
                            <p:cTn id="135" dur="450" fill="hold"/>
                            <p:tgtEl>
                              <p:spTgt spid="34"/>
                            </p:tgtEl>
                          </p:cBhvr>
                        </p:animEffect>
                      </p:childTnLst>
                    </p:cTn>
                  </p:par>
                </p:childTnLst>
              </p:cTn>
              <p:prevCondLst>
                <p:cond evt="onPrev" delay="0">
                  <p:tgtEl>
                    <p:sldTgt/>
                  </p:tgtEl>
                </p:cond>
              </p:prevCondLst>
              <p:nextCondLst>
                <p:cond evt="onNext" delay="0">
                  <p:tgtEl>
                    <p:sldTgt/>
                  </p:tgtEl>
                </p:cond>
              </p:nextCondLst>
            </p:seq>
          </p:childTnLst>
        </p:cTn>
      </p:par>
    </p:tnLst>
    <p:bldLst>
      <p:bldP spid="5" grpId="0"/>
      <p:bldP spid="15" grpId="0"/>
      <p:bldP spid="17" grpId="0"/>
      <p:bldP spid="19" grpId="0"/>
      <p:bldP spid="21" grpId="0"/>
      <p:bldP spid="23" grpId="0"/>
      <p:bldP spid="24" grpId="0"/>
      <p:bldP spid="26" grpId="0"/>
      <p:bldP spid="28" grpId="0"/>
      <p:bldP spid="30" grpId="0"/>
      <p:bldP spid="32" grpId="0"/>
      <p:bldP spid="34"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05840" y="2011680"/>
            <a:ext cx="2560320" cy="2560320"/>
          </a:xfrm>
          <a:prstGeom prst="ellipse">
            <a:avLst/>
          </a:prstGeom>
          <a:solidFill>
            <a:srgbClr val="FFD9E8">
              <a:alpha val="38000"/>
            </a:srgbClr>
          </a:solidFill>
          <a:ln w="12700">
            <a:solidFill>
              <a:srgbClr val="FFD9E8">
                <a:alpha val="0"/>
              </a:srgbClr>
            </a:solidFill>
            <a:prstDash val="solid"/>
          </a:ln>
        </p:spPr>
      </p:sp>
      <p:sp>
        <p:nvSpPr>
          <p:cNvPr id="3" name="Shape 1"/>
          <p:cNvSpPr/>
          <p:nvPr/>
        </p:nvSpPr>
        <p:spPr>
          <a:xfrm>
            <a:off x="9784080" y="182880"/>
            <a:ext cx="2651760" cy="2286000"/>
          </a:xfrm>
          <a:prstGeom prst="ellipse">
            <a:avLst/>
          </a:prstGeom>
          <a:solidFill>
            <a:srgbClr val="CFEFFF">
              <a:alpha val="45000"/>
            </a:srgbClr>
          </a:solidFill>
          <a:ln w="12700">
            <a:solidFill>
              <a:srgbClr val="CFEFFF">
                <a:alpha val="0"/>
              </a:srgbClr>
            </a:solidFill>
            <a:prstDash val="solid"/>
          </a:ln>
        </p:spPr>
      </p:sp>
      <p:sp>
        <p:nvSpPr>
          <p:cNvPr id="4" name="Shape 2"/>
          <p:cNvSpPr/>
          <p:nvPr/>
        </p:nvSpPr>
        <p:spPr>
          <a:xfrm>
            <a:off x="8503920" y="5212080"/>
            <a:ext cx="3200400" cy="1554480"/>
          </a:xfrm>
          <a:prstGeom prst="ellipse">
            <a:avLst/>
          </a:prstGeom>
          <a:solidFill>
            <a:srgbClr val="FFF7C7">
              <a:alpha val="45000"/>
            </a:srgbClr>
          </a:solidFill>
          <a:ln w="12700">
            <a:solidFill>
              <a:srgbClr val="FFF7C7">
                <a:alpha val="0"/>
              </a:srgbClr>
            </a:solidFill>
            <a:prstDash val="solid"/>
          </a:ln>
        </p:spPr>
      </p:sp>
      <p:sp>
        <p:nvSpPr>
          <p:cNvPr id="5" name="anim-title-50"/>
          <p:cNvSpPr/>
          <p:nvPr/>
        </p:nvSpPr>
        <p:spPr>
          <a:xfrm>
            <a:off x="658368" y="530352"/>
            <a:ext cx="3840480" cy="841248"/>
          </a:xfrm>
          <a:prstGeom prst="rect">
            <a:avLst/>
          </a:prstGeom>
          <a:noFill/>
          <a:ln/>
        </p:spPr>
        <p:txBody>
          <a:bodyPr wrap="square" lIns="0" tIns="0" rIns="0" bIns="0" rtlCol="0" anchor="ctr">
            <a:normAutofit/>
          </a:bodyPr>
          <a:lstStyle/>
          <a:p>
            <a:pPr indent="0" marL="0">
              <a:buNone/>
            </a:pPr>
            <a:r>
              <a:rPr lang="en-US" sz="3400" b="1" dirty="0">
                <a:solidFill>
                  <a:srgbClr val="2F3437"/>
                </a:solidFill>
                <a:latin typeface="Aptos Display" pitchFamily="34" charset="0"/>
                <a:ea typeface="Aptos Display" pitchFamily="34" charset="-122"/>
                <a:cs typeface="Aptos Display" pitchFamily="34" charset="-120"/>
              </a:rPr>
              <a:t>Schulklima</a:t>
            </a:r>
            <a:endParaRPr lang="en-US" sz="3400" dirty="0"/>
          </a:p>
        </p:txBody>
      </p:sp>
      <p:sp>
        <p:nvSpPr>
          <p:cNvPr id="6" name="Shape 4"/>
          <p:cNvSpPr/>
          <p:nvPr/>
        </p:nvSpPr>
        <p:spPr>
          <a:xfrm>
            <a:off x="7863840" y="841248"/>
            <a:ext cx="3063240" cy="1828800"/>
          </a:xfrm>
          <a:prstGeom prst="roundRect">
            <a:avLst>
              <a:gd name="adj" fmla="val 10000"/>
            </a:avLst>
          </a:prstGeom>
          <a:solidFill>
            <a:srgbClr val="F7F8FA"/>
          </a:solidFill>
          <a:ln w="12700">
            <a:solidFill>
              <a:srgbClr val="F7F8FA"/>
            </a:solidFill>
            <a:prstDash val="solid"/>
          </a:ln>
          <a:effectLst>
            <a:outerShdw sx="100000" sy="100000" kx="0" ky="0" algn="bl" rotWithShape="0" blurRad="9.15987465915355e+65" dist="1.83197493183071e+66" dir="1.2694994583552002e+78">
              <a:srgbClr val="C9D2DA">
                <a:alpha val="2.2000000000000002e+79"/>
              </a:srgbClr>
            </a:outerShdw>
          </a:effectLst>
        </p:spPr>
      </p:sp>
      <p:sp>
        <p:nvSpPr>
          <p:cNvPr id="7" name="Shape 5"/>
          <p:cNvSpPr/>
          <p:nvPr/>
        </p:nvSpPr>
        <p:spPr>
          <a:xfrm>
            <a:off x="8343351" y="1115568"/>
            <a:ext cx="317114" cy="317114"/>
          </a:xfrm>
          <a:prstGeom prst="ellipse">
            <a:avLst/>
          </a:prstGeom>
          <a:solidFill>
            <a:srgbClr val="F3C7A8"/>
          </a:solidFill>
          <a:ln w="12700">
            <a:solidFill>
              <a:srgbClr val="F3C7A8"/>
            </a:solidFill>
            <a:prstDash val="solid"/>
          </a:ln>
        </p:spPr>
      </p:sp>
      <p:sp>
        <p:nvSpPr>
          <p:cNvPr id="8" name="Shape 6"/>
          <p:cNvSpPr/>
          <p:nvPr/>
        </p:nvSpPr>
        <p:spPr>
          <a:xfrm>
            <a:off x="8408640" y="1283452"/>
            <a:ext cx="149230" cy="83942"/>
          </a:xfrm>
          <a:prstGeom prst="arc">
            <a:avLst/>
          </a:prstGeom>
          <a:noFill/>
          <a:ln w="12700">
            <a:solidFill>
              <a:srgbClr val="2F3437"/>
            </a:solidFill>
            <a:prstDash val="solid"/>
          </a:ln>
        </p:spPr>
      </p:sp>
      <p:sp>
        <p:nvSpPr>
          <p:cNvPr id="9" name="Shape 7"/>
          <p:cNvSpPr/>
          <p:nvPr/>
        </p:nvSpPr>
        <p:spPr>
          <a:xfrm>
            <a:off x="8268736" y="1442009"/>
            <a:ext cx="466344" cy="540959"/>
          </a:xfrm>
          <a:prstGeom prst="roundRect">
            <a:avLst>
              <a:gd name="adj" fmla="val 9804"/>
            </a:avLst>
          </a:prstGeom>
          <a:solidFill>
            <a:srgbClr val="CFEFFF"/>
          </a:solidFill>
          <a:ln w="12700">
            <a:solidFill>
              <a:srgbClr val="CFEFFF"/>
            </a:solidFill>
            <a:prstDash val="solid"/>
          </a:ln>
        </p:spPr>
      </p:sp>
      <p:sp>
        <p:nvSpPr>
          <p:cNvPr id="10" name="Shape 8"/>
          <p:cNvSpPr/>
          <p:nvPr/>
        </p:nvSpPr>
        <p:spPr>
          <a:xfrm>
            <a:off x="8352678" y="1973641"/>
            <a:ext cx="-111923" cy="298460"/>
          </a:xfrm>
          <a:prstGeom prst="line">
            <a:avLst/>
          </a:prstGeom>
          <a:noFill/>
          <a:ln w="15240">
            <a:solidFill>
              <a:srgbClr val="2F3437"/>
            </a:solidFill>
            <a:prstDash val="solid"/>
          </a:ln>
        </p:spPr>
      </p:sp>
      <p:sp>
        <p:nvSpPr>
          <p:cNvPr id="11" name="Shape 9"/>
          <p:cNvSpPr/>
          <p:nvPr/>
        </p:nvSpPr>
        <p:spPr>
          <a:xfrm>
            <a:off x="8641812" y="1973641"/>
            <a:ext cx="111923" cy="298460"/>
          </a:xfrm>
          <a:prstGeom prst="line">
            <a:avLst/>
          </a:prstGeom>
          <a:noFill/>
          <a:ln w="15240">
            <a:solidFill>
              <a:srgbClr val="2F3437"/>
            </a:solidFill>
            <a:prstDash val="solid"/>
          </a:ln>
        </p:spPr>
      </p:sp>
      <p:sp>
        <p:nvSpPr>
          <p:cNvPr id="12" name="Shape 10"/>
          <p:cNvSpPr/>
          <p:nvPr/>
        </p:nvSpPr>
        <p:spPr>
          <a:xfrm>
            <a:off x="9486351" y="1097280"/>
            <a:ext cx="317114" cy="317114"/>
          </a:xfrm>
          <a:prstGeom prst="ellipse">
            <a:avLst/>
          </a:prstGeom>
          <a:solidFill>
            <a:srgbClr val="F3C7A8"/>
          </a:solidFill>
          <a:ln w="12700">
            <a:solidFill>
              <a:srgbClr val="F3C7A8"/>
            </a:solidFill>
            <a:prstDash val="solid"/>
          </a:ln>
        </p:spPr>
      </p:sp>
      <p:sp>
        <p:nvSpPr>
          <p:cNvPr id="13" name="Shape 11"/>
          <p:cNvSpPr/>
          <p:nvPr/>
        </p:nvSpPr>
        <p:spPr>
          <a:xfrm>
            <a:off x="9551640" y="1265164"/>
            <a:ext cx="149230" cy="83942"/>
          </a:xfrm>
          <a:prstGeom prst="arc">
            <a:avLst/>
          </a:prstGeom>
          <a:noFill/>
          <a:ln w="12700">
            <a:solidFill>
              <a:srgbClr val="2F3437"/>
            </a:solidFill>
            <a:prstDash val="solid"/>
          </a:ln>
        </p:spPr>
      </p:sp>
      <p:sp>
        <p:nvSpPr>
          <p:cNvPr id="14" name="Shape 12"/>
          <p:cNvSpPr/>
          <p:nvPr/>
        </p:nvSpPr>
        <p:spPr>
          <a:xfrm>
            <a:off x="9411736" y="1423721"/>
            <a:ext cx="466344" cy="540959"/>
          </a:xfrm>
          <a:prstGeom prst="roundRect">
            <a:avLst>
              <a:gd name="adj" fmla="val 9804"/>
            </a:avLst>
          </a:prstGeom>
          <a:solidFill>
            <a:srgbClr val="FFF7C7"/>
          </a:solidFill>
          <a:ln w="12700">
            <a:solidFill>
              <a:srgbClr val="FFF7C7"/>
            </a:solidFill>
            <a:prstDash val="solid"/>
          </a:ln>
        </p:spPr>
      </p:sp>
      <p:sp>
        <p:nvSpPr>
          <p:cNvPr id="15" name="Shape 13"/>
          <p:cNvSpPr/>
          <p:nvPr/>
        </p:nvSpPr>
        <p:spPr>
          <a:xfrm>
            <a:off x="9495678" y="1955353"/>
            <a:ext cx="-111923" cy="298460"/>
          </a:xfrm>
          <a:prstGeom prst="line">
            <a:avLst/>
          </a:prstGeom>
          <a:noFill/>
          <a:ln w="15240">
            <a:solidFill>
              <a:srgbClr val="2F3437"/>
            </a:solidFill>
            <a:prstDash val="solid"/>
          </a:ln>
        </p:spPr>
      </p:sp>
      <p:sp>
        <p:nvSpPr>
          <p:cNvPr id="16" name="Shape 14"/>
          <p:cNvSpPr/>
          <p:nvPr/>
        </p:nvSpPr>
        <p:spPr>
          <a:xfrm>
            <a:off x="9784812" y="1955353"/>
            <a:ext cx="111923" cy="298460"/>
          </a:xfrm>
          <a:prstGeom prst="line">
            <a:avLst/>
          </a:prstGeom>
          <a:noFill/>
          <a:ln w="15240">
            <a:solidFill>
              <a:srgbClr val="2F3437"/>
            </a:solidFill>
            <a:prstDash val="solid"/>
          </a:ln>
        </p:spPr>
      </p:sp>
      <p:sp>
        <p:nvSpPr>
          <p:cNvPr id="17" name="Shape 15"/>
          <p:cNvSpPr/>
          <p:nvPr/>
        </p:nvSpPr>
        <p:spPr>
          <a:xfrm>
            <a:off x="8823960" y="749808"/>
            <a:ext cx="1078992" cy="402336"/>
          </a:xfrm>
          <a:prstGeom prst="roundRect">
            <a:avLst>
              <a:gd name="adj" fmla="val 29545"/>
            </a:avLst>
          </a:prstGeom>
          <a:solidFill>
            <a:srgbClr val="FFD9E8"/>
          </a:solidFill>
          <a:ln w="12700">
            <a:solidFill>
              <a:srgbClr val="FFD9E8"/>
            </a:solidFill>
            <a:prstDash val="solid"/>
          </a:ln>
        </p:spPr>
      </p:sp>
      <p:sp>
        <p:nvSpPr>
          <p:cNvPr id="18" name="Text 16"/>
          <p:cNvSpPr/>
          <p:nvPr/>
        </p:nvSpPr>
        <p:spPr>
          <a:xfrm>
            <a:off x="8979408" y="886968"/>
            <a:ext cx="768096" cy="118872"/>
          </a:xfrm>
          <a:prstGeom prst="rect">
            <a:avLst/>
          </a:prstGeom>
          <a:noFill/>
          <a:ln/>
        </p:spPr>
        <p:txBody>
          <a:bodyPr wrap="square" lIns="0" tIns="0" rIns="0" bIns="0" rtlCol="0" anchor="ctr"/>
          <a:lstStyle/>
          <a:p>
            <a:pPr algn="ctr" indent="0" marL="0">
              <a:buNone/>
            </a:pPr>
            <a:r>
              <a:rPr lang="en-US" sz="730" b="1" dirty="0">
                <a:solidFill>
                  <a:srgbClr val="2F3437"/>
                </a:solidFill>
              </a:rPr>
              <a:t>Feedback</a:t>
            </a:r>
            <a:endParaRPr lang="en-US" sz="730" dirty="0"/>
          </a:p>
        </p:txBody>
      </p:sp>
      <p:sp>
        <p:nvSpPr>
          <p:cNvPr id="19" name="Shape 17"/>
          <p:cNvSpPr/>
          <p:nvPr/>
        </p:nvSpPr>
        <p:spPr>
          <a:xfrm>
            <a:off x="749808" y="3044952"/>
            <a:ext cx="3255264" cy="1965960"/>
          </a:xfrm>
          <a:prstGeom prst="roundRect">
            <a:avLst>
              <a:gd name="adj" fmla="val 5581"/>
            </a:avLst>
          </a:prstGeom>
          <a:solidFill>
            <a:srgbClr val="CFEFFF"/>
          </a:solidFill>
          <a:ln w="12700">
            <a:solidFill>
              <a:srgbClr val="CFEFFF"/>
            </a:solidFill>
            <a:prstDash val="solid"/>
          </a:ln>
          <a:effectLst>
            <a:outerShdw sx="100000" sy="100000" kx="0" ky="0" algn="bl" rotWithShape="0" blurRad="1.1633040817125008e+70" dist="2.3266081634250016e+70" dir="7.616996750131201e+82">
              <a:srgbClr val="C9D2DA">
                <a:alpha val="2.2000000000000003e+84"/>
              </a:srgbClr>
            </a:outerShdw>
          </a:effectLst>
        </p:spPr>
      </p:sp>
      <p:sp>
        <p:nvSpPr>
          <p:cNvPr id="20" name="anim-card-title-51"/>
          <p:cNvSpPr/>
          <p:nvPr/>
        </p:nvSpPr>
        <p:spPr>
          <a:xfrm>
            <a:off x="1005840" y="3246120"/>
            <a:ext cx="2743200" cy="347472"/>
          </a:xfrm>
          <a:prstGeom prst="rect">
            <a:avLst/>
          </a:prstGeom>
          <a:noFill/>
          <a:ln/>
        </p:spPr>
        <p:txBody>
          <a:bodyPr wrap="square" lIns="0" tIns="0" rIns="0" bIns="0" rtlCol="0" anchor="ctr">
            <a:normAutofit/>
          </a:bodyPr>
          <a:lstStyle/>
          <a:p>
            <a:pPr indent="0" marL="0">
              <a:buNone/>
            </a:pPr>
            <a:r>
              <a:rPr lang="en-US" sz="1500" b="1" dirty="0">
                <a:solidFill>
                  <a:srgbClr val="2F3437"/>
                </a:solidFill>
                <a:latin typeface="Aptos Display" pitchFamily="34" charset="0"/>
                <a:ea typeface="Aptos Display" pitchFamily="34" charset="-122"/>
                <a:cs typeface="Aptos Display" pitchFamily="34" charset="-120"/>
              </a:rPr>
              <a:t>Lehrer-Schüler-Verhältnis</a:t>
            </a:r>
            <a:endParaRPr lang="en-US" sz="1500" dirty="0"/>
          </a:p>
        </p:txBody>
      </p:sp>
      <p:sp>
        <p:nvSpPr>
          <p:cNvPr id="21" name="anim-card-body-52"/>
          <p:cNvSpPr/>
          <p:nvPr/>
        </p:nvSpPr>
        <p:spPr>
          <a:xfrm>
            <a:off x="1024128" y="3721608"/>
            <a:ext cx="2688336" cy="219456"/>
          </a:xfrm>
          <a:prstGeom prst="rect">
            <a:avLst/>
          </a:prstGeom>
          <a:noFill/>
          <a:ln/>
        </p:spPr>
        <p:txBody>
          <a:bodyPr wrap="square" lIns="0" tIns="0" rIns="0" bIns="0" rtlCol="0" anchor="ctr">
            <a:normAutofit/>
          </a:bodyPr>
          <a:lstStyle/>
          <a:p>
            <a:pPr indent="0" marL="0">
              <a:buNone/>
            </a:pPr>
            <a:r>
              <a:rPr lang="en-US" sz="1020" dirty="0">
                <a:solidFill>
                  <a:srgbClr val="2F3437"/>
                </a:solidFill>
                <a:latin typeface="Aptos" pitchFamily="34" charset="0"/>
                <a:ea typeface="Aptos" pitchFamily="34" charset="-122"/>
                <a:cs typeface="Aptos" pitchFamily="34" charset="-120"/>
              </a:rPr>
              <a:t>ernst genommen werden</a:t>
            </a:r>
            <a:endParaRPr lang="en-US" sz="1020" dirty="0"/>
          </a:p>
        </p:txBody>
      </p:sp>
      <p:sp>
        <p:nvSpPr>
          <p:cNvPr id="22" name="anim-card-body-53"/>
          <p:cNvSpPr/>
          <p:nvPr/>
        </p:nvSpPr>
        <p:spPr>
          <a:xfrm>
            <a:off x="1024128" y="4005072"/>
            <a:ext cx="2688336" cy="219456"/>
          </a:xfrm>
          <a:prstGeom prst="rect">
            <a:avLst/>
          </a:prstGeom>
          <a:noFill/>
          <a:ln/>
        </p:spPr>
        <p:txBody>
          <a:bodyPr wrap="square" lIns="0" tIns="0" rIns="0" bIns="0" rtlCol="0" anchor="ctr">
            <a:normAutofit/>
          </a:bodyPr>
          <a:lstStyle/>
          <a:p>
            <a:pPr indent="0" marL="0">
              <a:buNone/>
            </a:pPr>
            <a:r>
              <a:rPr lang="en-US" sz="1020" dirty="0">
                <a:solidFill>
                  <a:srgbClr val="2F3437"/>
                </a:solidFill>
                <a:latin typeface="Aptos" pitchFamily="34" charset="0"/>
                <a:ea typeface="Aptos" pitchFamily="34" charset="-122"/>
                <a:cs typeface="Aptos" pitchFamily="34" charset="-120"/>
              </a:rPr>
              <a:t>Unterstützung erhalten</a:t>
            </a:r>
            <a:endParaRPr lang="en-US" sz="1020" dirty="0"/>
          </a:p>
        </p:txBody>
      </p:sp>
      <p:sp>
        <p:nvSpPr>
          <p:cNvPr id="23" name="anim-card-body-54"/>
          <p:cNvSpPr/>
          <p:nvPr/>
        </p:nvSpPr>
        <p:spPr>
          <a:xfrm>
            <a:off x="1024128" y="4288536"/>
            <a:ext cx="2688336" cy="219456"/>
          </a:xfrm>
          <a:prstGeom prst="rect">
            <a:avLst/>
          </a:prstGeom>
          <a:noFill/>
          <a:ln/>
        </p:spPr>
        <p:txBody>
          <a:bodyPr wrap="square" lIns="0" tIns="0" rIns="0" bIns="0" rtlCol="0" anchor="ctr">
            <a:normAutofit/>
          </a:bodyPr>
          <a:lstStyle/>
          <a:p>
            <a:pPr indent="0" marL="0">
              <a:buNone/>
            </a:pPr>
            <a:r>
              <a:rPr lang="en-US" sz="1020" dirty="0">
                <a:solidFill>
                  <a:srgbClr val="2F3437"/>
                </a:solidFill>
                <a:latin typeface="Aptos" pitchFamily="34" charset="0"/>
                <a:ea typeface="Aptos" pitchFamily="34" charset="-122"/>
                <a:cs typeface="Aptos" pitchFamily="34" charset="-120"/>
              </a:rPr>
              <a:t>Stress reduzieren</a:t>
            </a:r>
            <a:endParaRPr lang="en-US" sz="1020" dirty="0"/>
          </a:p>
        </p:txBody>
      </p:sp>
      <p:sp>
        <p:nvSpPr>
          <p:cNvPr id="24" name="Shape 22"/>
          <p:cNvSpPr/>
          <p:nvPr/>
        </p:nvSpPr>
        <p:spPr>
          <a:xfrm>
            <a:off x="4517136" y="3044952"/>
            <a:ext cx="3255264" cy="1965960"/>
          </a:xfrm>
          <a:prstGeom prst="roundRect">
            <a:avLst>
              <a:gd name="adj" fmla="val 5581"/>
            </a:avLst>
          </a:prstGeom>
          <a:solidFill>
            <a:srgbClr val="FFF7C7"/>
          </a:solidFill>
          <a:ln w="12700">
            <a:solidFill>
              <a:srgbClr val="FFF7C7"/>
            </a:solidFill>
            <a:prstDash val="solid"/>
          </a:ln>
          <a:effectLst>
            <a:outerShdw sx="100000" sy="100000" kx="0" ky="0" algn="bl" rotWithShape="0" blurRad="1.477396183774876e+74" dist="2.954792367549752e+74" dir="4.57019805007872e+87">
              <a:srgbClr val="C9D2DA">
                <a:alpha val="2.2000000000000003e+89"/>
              </a:srgbClr>
            </a:outerShdw>
          </a:effectLst>
        </p:spPr>
      </p:sp>
      <p:sp>
        <p:nvSpPr>
          <p:cNvPr id="25" name="anim-card-title-55"/>
          <p:cNvSpPr/>
          <p:nvPr/>
        </p:nvSpPr>
        <p:spPr>
          <a:xfrm>
            <a:off x="4773168" y="3246120"/>
            <a:ext cx="2743200" cy="347472"/>
          </a:xfrm>
          <a:prstGeom prst="rect">
            <a:avLst/>
          </a:prstGeom>
          <a:noFill/>
          <a:ln/>
        </p:spPr>
        <p:txBody>
          <a:bodyPr wrap="square" lIns="0" tIns="0" rIns="0" bIns="0" rtlCol="0" anchor="ctr">
            <a:normAutofit/>
          </a:bodyPr>
          <a:lstStyle/>
          <a:p>
            <a:pPr indent="0" marL="0">
              <a:buNone/>
            </a:pPr>
            <a:r>
              <a:rPr lang="en-US" sz="1500" b="1" dirty="0">
                <a:solidFill>
                  <a:srgbClr val="2F3437"/>
                </a:solidFill>
                <a:latin typeface="Aptos Display" pitchFamily="34" charset="0"/>
                <a:ea typeface="Aptos Display" pitchFamily="34" charset="-122"/>
                <a:cs typeface="Aptos Display" pitchFamily="34" charset="-120"/>
              </a:rPr>
              <a:t>Mitbestimmung</a:t>
            </a:r>
            <a:endParaRPr lang="en-US" sz="1500" dirty="0"/>
          </a:p>
        </p:txBody>
      </p:sp>
      <p:sp>
        <p:nvSpPr>
          <p:cNvPr id="26" name="anim-card-body-56"/>
          <p:cNvSpPr/>
          <p:nvPr/>
        </p:nvSpPr>
        <p:spPr>
          <a:xfrm>
            <a:off x="4791456" y="3721608"/>
            <a:ext cx="2688336" cy="219456"/>
          </a:xfrm>
          <a:prstGeom prst="rect">
            <a:avLst/>
          </a:prstGeom>
          <a:noFill/>
          <a:ln/>
        </p:spPr>
        <p:txBody>
          <a:bodyPr wrap="square" lIns="0" tIns="0" rIns="0" bIns="0" rtlCol="0" anchor="ctr">
            <a:normAutofit/>
          </a:bodyPr>
          <a:lstStyle/>
          <a:p>
            <a:pPr indent="0" marL="0">
              <a:buNone/>
            </a:pPr>
            <a:r>
              <a:rPr lang="en-US" sz="1020" dirty="0">
                <a:solidFill>
                  <a:srgbClr val="2F3437"/>
                </a:solidFill>
                <a:latin typeface="Aptos" pitchFamily="34" charset="0"/>
                <a:ea typeface="Aptos" pitchFamily="34" charset="-122"/>
                <a:cs typeface="Aptos" pitchFamily="34" charset="-120"/>
              </a:rPr>
              <a:t>Schülervertretungen</a:t>
            </a:r>
            <a:endParaRPr lang="en-US" sz="1020" dirty="0"/>
          </a:p>
        </p:txBody>
      </p:sp>
      <p:sp>
        <p:nvSpPr>
          <p:cNvPr id="27" name="anim-card-body-57"/>
          <p:cNvSpPr/>
          <p:nvPr/>
        </p:nvSpPr>
        <p:spPr>
          <a:xfrm>
            <a:off x="4791456" y="4005072"/>
            <a:ext cx="2688336" cy="219456"/>
          </a:xfrm>
          <a:prstGeom prst="rect">
            <a:avLst/>
          </a:prstGeom>
          <a:noFill/>
          <a:ln/>
        </p:spPr>
        <p:txBody>
          <a:bodyPr wrap="square" lIns="0" tIns="0" rIns="0" bIns="0" rtlCol="0" anchor="ctr">
            <a:normAutofit/>
          </a:bodyPr>
          <a:lstStyle/>
          <a:p>
            <a:pPr indent="0" marL="0">
              <a:buNone/>
            </a:pPr>
            <a:r>
              <a:rPr lang="en-US" sz="1020" dirty="0">
                <a:solidFill>
                  <a:srgbClr val="2F3437"/>
                </a:solidFill>
                <a:latin typeface="Aptos" pitchFamily="34" charset="0"/>
                <a:ea typeface="Aptos" pitchFamily="34" charset="-122"/>
                <a:cs typeface="Aptos" pitchFamily="34" charset="-120"/>
              </a:rPr>
              <a:t>Klassenräte</a:t>
            </a:r>
            <a:endParaRPr lang="en-US" sz="1020" dirty="0"/>
          </a:p>
        </p:txBody>
      </p:sp>
      <p:sp>
        <p:nvSpPr>
          <p:cNvPr id="28" name="anim-card-body-58"/>
          <p:cNvSpPr/>
          <p:nvPr/>
        </p:nvSpPr>
        <p:spPr>
          <a:xfrm>
            <a:off x="4791456" y="4288536"/>
            <a:ext cx="2688336" cy="219456"/>
          </a:xfrm>
          <a:prstGeom prst="rect">
            <a:avLst/>
          </a:prstGeom>
          <a:noFill/>
          <a:ln/>
        </p:spPr>
        <p:txBody>
          <a:bodyPr wrap="square" lIns="0" tIns="0" rIns="0" bIns="0" rtlCol="0" anchor="ctr">
            <a:normAutofit/>
          </a:bodyPr>
          <a:lstStyle/>
          <a:p>
            <a:pPr indent="0" marL="0">
              <a:buNone/>
            </a:pPr>
            <a:r>
              <a:rPr lang="en-US" sz="1020" dirty="0">
                <a:solidFill>
                  <a:srgbClr val="2F3437"/>
                </a:solidFill>
                <a:latin typeface="Aptos" pitchFamily="34" charset="0"/>
                <a:ea typeface="Aptos" pitchFamily="34" charset="-122"/>
                <a:cs typeface="Aptos" pitchFamily="34" charset="-120"/>
              </a:rPr>
              <a:t>Selbstwirksamkeit</a:t>
            </a:r>
            <a:endParaRPr lang="en-US" sz="1020" dirty="0"/>
          </a:p>
        </p:txBody>
      </p:sp>
      <p:sp>
        <p:nvSpPr>
          <p:cNvPr id="29" name="Shape 27"/>
          <p:cNvSpPr/>
          <p:nvPr/>
        </p:nvSpPr>
        <p:spPr>
          <a:xfrm>
            <a:off x="8284464" y="3044952"/>
            <a:ext cx="3255264" cy="1965960"/>
          </a:xfrm>
          <a:prstGeom prst="roundRect">
            <a:avLst>
              <a:gd name="adj" fmla="val 5581"/>
            </a:avLst>
          </a:prstGeom>
          <a:solidFill>
            <a:srgbClr val="FFD9E8"/>
          </a:solidFill>
          <a:ln w="12700">
            <a:solidFill>
              <a:srgbClr val="FFD9E8"/>
            </a:solidFill>
            <a:prstDash val="solid"/>
          </a:ln>
          <a:effectLst>
            <a:outerShdw sx="100000" sy="100000" kx="0" ky="0" algn="bl" rotWithShape="0" blurRad="1.8762931533940924e+78" dist="3.752586306788185e+78" dir="2.742118830047232e+92">
              <a:srgbClr val="C9D2DA">
                <a:alpha val="2.2e+94"/>
              </a:srgbClr>
            </a:outerShdw>
          </a:effectLst>
        </p:spPr>
      </p:sp>
      <p:sp>
        <p:nvSpPr>
          <p:cNvPr id="30" name="anim-card-title-59"/>
          <p:cNvSpPr/>
          <p:nvPr/>
        </p:nvSpPr>
        <p:spPr>
          <a:xfrm>
            <a:off x="8540496" y="3246120"/>
            <a:ext cx="2743200" cy="347472"/>
          </a:xfrm>
          <a:prstGeom prst="rect">
            <a:avLst/>
          </a:prstGeom>
          <a:noFill/>
          <a:ln/>
        </p:spPr>
        <p:txBody>
          <a:bodyPr wrap="square" lIns="0" tIns="0" rIns="0" bIns="0" rtlCol="0" anchor="ctr">
            <a:normAutofit/>
          </a:bodyPr>
          <a:lstStyle/>
          <a:p>
            <a:pPr indent="0" marL="0">
              <a:buNone/>
            </a:pPr>
            <a:r>
              <a:rPr lang="en-US" sz="1500" b="1" dirty="0">
                <a:solidFill>
                  <a:srgbClr val="2F3437"/>
                </a:solidFill>
                <a:latin typeface="Aptos Display" pitchFamily="34" charset="0"/>
                <a:ea typeface="Aptos Display" pitchFamily="34" charset="-122"/>
                <a:cs typeface="Aptos Display" pitchFamily="34" charset="-120"/>
              </a:rPr>
              <a:t>Feedbackkultur</a:t>
            </a:r>
            <a:endParaRPr lang="en-US" sz="1500" dirty="0"/>
          </a:p>
        </p:txBody>
      </p:sp>
      <p:sp>
        <p:nvSpPr>
          <p:cNvPr id="31" name="anim-card-body-60"/>
          <p:cNvSpPr/>
          <p:nvPr/>
        </p:nvSpPr>
        <p:spPr>
          <a:xfrm>
            <a:off x="8558784" y="3721608"/>
            <a:ext cx="2688336" cy="219456"/>
          </a:xfrm>
          <a:prstGeom prst="rect">
            <a:avLst/>
          </a:prstGeom>
          <a:noFill/>
          <a:ln/>
        </p:spPr>
        <p:txBody>
          <a:bodyPr wrap="square" lIns="0" tIns="0" rIns="0" bIns="0" rtlCol="0" anchor="ctr">
            <a:normAutofit/>
          </a:bodyPr>
          <a:lstStyle/>
          <a:p>
            <a:pPr indent="0" marL="0">
              <a:buNone/>
            </a:pPr>
            <a:r>
              <a:rPr lang="en-US" sz="1020" dirty="0">
                <a:solidFill>
                  <a:srgbClr val="2F3437"/>
                </a:solidFill>
                <a:latin typeface="Aptos" pitchFamily="34" charset="0"/>
                <a:ea typeface="Aptos" pitchFamily="34" charset="-122"/>
                <a:cs typeface="Aptos" pitchFamily="34" charset="-120"/>
              </a:rPr>
              <a:t>qualitative Rückmeldungen</a:t>
            </a:r>
            <a:endParaRPr lang="en-US" sz="1020" dirty="0"/>
          </a:p>
        </p:txBody>
      </p:sp>
      <p:sp>
        <p:nvSpPr>
          <p:cNvPr id="32" name="anim-card-body-61"/>
          <p:cNvSpPr/>
          <p:nvPr/>
        </p:nvSpPr>
        <p:spPr>
          <a:xfrm>
            <a:off x="8558784" y="4005072"/>
            <a:ext cx="2688336" cy="219456"/>
          </a:xfrm>
          <a:prstGeom prst="rect">
            <a:avLst/>
          </a:prstGeom>
          <a:noFill/>
          <a:ln/>
        </p:spPr>
        <p:txBody>
          <a:bodyPr wrap="square" lIns="0" tIns="0" rIns="0" bIns="0" rtlCol="0" anchor="ctr">
            <a:normAutofit/>
          </a:bodyPr>
          <a:lstStyle/>
          <a:p>
            <a:pPr indent="0" marL="0">
              <a:buNone/>
            </a:pPr>
            <a:r>
              <a:rPr lang="en-US" sz="1020" dirty="0">
                <a:solidFill>
                  <a:srgbClr val="2F3437"/>
                </a:solidFill>
                <a:latin typeface="Aptos" pitchFamily="34" charset="0"/>
                <a:ea typeface="Aptos" pitchFamily="34" charset="-122"/>
                <a:cs typeface="Aptos" pitchFamily="34" charset="-120"/>
              </a:rPr>
              <a:t>Lernfortschritte sichtbar</a:t>
            </a:r>
            <a:endParaRPr lang="en-US" sz="1020" dirty="0"/>
          </a:p>
        </p:txBody>
      </p:sp>
      <p:sp>
        <p:nvSpPr>
          <p:cNvPr id="33" name="anim-card-body-62"/>
          <p:cNvSpPr/>
          <p:nvPr/>
        </p:nvSpPr>
        <p:spPr>
          <a:xfrm>
            <a:off x="8558784" y="4288536"/>
            <a:ext cx="2688336" cy="219456"/>
          </a:xfrm>
          <a:prstGeom prst="rect">
            <a:avLst/>
          </a:prstGeom>
          <a:noFill/>
          <a:ln/>
        </p:spPr>
        <p:txBody>
          <a:bodyPr wrap="square" lIns="0" tIns="0" rIns="0" bIns="0" rtlCol="0" anchor="ctr">
            <a:normAutofit/>
          </a:bodyPr>
          <a:lstStyle/>
          <a:p>
            <a:pPr indent="0" marL="0">
              <a:buNone/>
            </a:pPr>
            <a:r>
              <a:rPr lang="en-US" sz="1020" dirty="0">
                <a:solidFill>
                  <a:srgbClr val="2F3437"/>
                </a:solidFill>
                <a:latin typeface="Aptos" pitchFamily="34" charset="0"/>
                <a:ea typeface="Aptos" pitchFamily="34" charset="-122"/>
                <a:cs typeface="Aptos" pitchFamily="34" charset="-120"/>
              </a:rPr>
              <a:t>Stärken beachten</a:t>
            </a:r>
            <a:endParaRPr lang="en-US" sz="1020" dirty="0"/>
          </a:p>
        </p:txBody>
      </p:sp>
      <p:sp>
        <p:nvSpPr>
          <p:cNvPr id="34" name="Text 32"/>
          <p:cNvSpPr/>
          <p:nvPr/>
        </p:nvSpPr>
        <p:spPr>
          <a:xfrm>
            <a:off x="658368" y="6473952"/>
            <a:ext cx="1097280" cy="164592"/>
          </a:xfrm>
          <a:prstGeom prst="rect">
            <a:avLst/>
          </a:prstGeom>
          <a:noFill/>
          <a:ln/>
        </p:spPr>
        <p:txBody>
          <a:bodyPr wrap="square" lIns="0" tIns="0" rIns="0" bIns="0" rtlCol="0" anchor="ctr"/>
          <a:lstStyle/>
          <a:p>
            <a:pPr indent="0" marL="0">
              <a:buNone/>
            </a:pPr>
            <a:r>
              <a:rPr lang="en-US" sz="700" dirty="0">
                <a:solidFill>
                  <a:srgbClr val="A7ADB3"/>
                </a:solidFill>
                <a:latin typeface="Aptos" pitchFamily="34" charset="0"/>
                <a:ea typeface="Aptos" pitchFamily="34" charset="-122"/>
                <a:cs typeface="Aptos" pitchFamily="34" charset="-120"/>
              </a:rPr>
              <a:t>Folie 6 / 11</a:t>
            </a:r>
            <a:endParaRPr lang="en-US" sz="700" dirty="0"/>
          </a:p>
        </p:txBody>
      </p:sp>
      <p:sp>
        <p:nvSpPr>
          <p:cNvPr id="35" name="Text 33"/>
          <p:cNvSpPr/>
          <p:nvPr/>
        </p:nvSpPr>
        <p:spPr>
          <a:xfrm>
            <a:off x="9802368" y="6473952"/>
            <a:ext cx="1627632" cy="164592"/>
          </a:xfrm>
          <a:prstGeom prst="rect">
            <a:avLst/>
          </a:prstGeom>
          <a:noFill/>
          <a:ln/>
        </p:spPr>
        <p:txBody>
          <a:bodyPr wrap="square" lIns="0" tIns="0" rIns="0" bIns="0" rtlCol="0" anchor="ctr"/>
          <a:lstStyle/>
          <a:p>
            <a:pPr algn="r" indent="0" marL="0">
              <a:buNone/>
            </a:pPr>
            <a:r>
              <a:rPr lang="en-US" sz="700" dirty="0">
                <a:solidFill>
                  <a:srgbClr val="BDC4CB"/>
                </a:solidFill>
                <a:latin typeface="Aptos" pitchFamily="34" charset="0"/>
                <a:ea typeface="Aptos" pitchFamily="34" charset="-122"/>
                <a:cs typeface="Aptos" pitchFamily="34" charset="-120"/>
              </a:rPr>
              <a:t>Übergang: Push</a:t>
            </a:r>
            <a:endParaRPr lang="en-US" sz="700" dirty="0"/>
          </a:p>
        </p:txBody>
      </p:sp>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6</a:t>
            </a:fld>
            <a:endParaRPr lang="en-US"/>
          </a:p>
        </p:txBody>
      </p:sp>
    </p:spTree>
  </p:cSld>
  <p:transition spd="med">
    <p:push dir="l"/>
  </p:transition>
  <p:clrMapOvr>
    <a:masterClrMapping/>
  </p:clrMapOvr>
  <p:timing>
    <p:tnLst>
      <p:par>
        <p:cTn id="1" dur="indefinite" restart="never" nodeType="tmRoot">
          <p:childTnLst>
            <p:seq concurrent="1" nextAc="seek">
              <p:cTn id="2" dur="indefinite" nodeType="mainSeq">
                <p:childTnLst>
                  <p:par>
                    <p:cTn id="100" fill="hold" nodeType="clickEffect" presetID="10" presetClass="entr" presetSubtype="0">
                      <p:stCondLst>
                        <p:cond delay="0"/>
                      </p:stCondLst>
                      <p:childTnLst>
                        <p:set>
                          <p:cBhvr>
                            <p:cTn id="101" dur="1" fill="hold"/>
                            <p:tgtEl>
                              <p:spTgt spid="5"/>
                            </p:tgtEl>
                            <p:attrNameLst>
                              <p:attrName>style.visibility</p:attrName>
                            </p:attrNameLst>
                          </p:cBhvr>
                          <p:to>
                            <p:strVal val="visible"/>
                          </p:to>
                        </p:set>
                        <p:animEffect transition="in" filter="fade">
                          <p:cBhvr>
                            <p:cTn id="102" dur="450" fill="hold"/>
                            <p:tgtEl>
                              <p:spTgt spid="5"/>
                            </p:tgtEl>
                          </p:cBhvr>
                        </p:animEffect>
                      </p:childTnLst>
                    </p:cTn>
                  </p:par>
                  <p:par>
                    <p:cTn id="103" fill="hold" nodeType="clickEffect" presetID="10" presetClass="entr" presetSubtype="0">
                      <p:stCondLst>
                        <p:cond delay="250"/>
                      </p:stCondLst>
                      <p:childTnLst>
                        <p:set>
                          <p:cBhvr>
                            <p:cTn id="104" dur="1" fill="hold"/>
                            <p:tgtEl>
                              <p:spTgt spid="20"/>
                            </p:tgtEl>
                            <p:attrNameLst>
                              <p:attrName>style.visibility</p:attrName>
                            </p:attrNameLst>
                          </p:cBhvr>
                          <p:to>
                            <p:strVal val="visible"/>
                          </p:to>
                        </p:set>
                        <p:animEffect transition="in" filter="fade">
                          <p:cBhvr>
                            <p:cTn id="105" dur="450" fill="hold"/>
                            <p:tgtEl>
                              <p:spTgt spid="20"/>
                            </p:tgtEl>
                          </p:cBhvr>
                        </p:animEffect>
                      </p:childTnLst>
                    </p:cTn>
                  </p:par>
                  <p:par>
                    <p:cTn id="106" fill="hold" nodeType="clickEffect" presetID="10" presetClass="entr" presetSubtype="0">
                      <p:stCondLst>
                        <p:cond delay="250"/>
                      </p:stCondLst>
                      <p:childTnLst>
                        <p:set>
                          <p:cBhvr>
                            <p:cTn id="107" dur="1" fill="hold"/>
                            <p:tgtEl>
                              <p:spTgt spid="21"/>
                            </p:tgtEl>
                            <p:attrNameLst>
                              <p:attrName>style.visibility</p:attrName>
                            </p:attrNameLst>
                          </p:cBhvr>
                          <p:to>
                            <p:strVal val="visible"/>
                          </p:to>
                        </p:set>
                        <p:animEffect transition="in" filter="fade">
                          <p:cBhvr>
                            <p:cTn id="108" dur="450" fill="hold"/>
                            <p:tgtEl>
                              <p:spTgt spid="21"/>
                            </p:tgtEl>
                          </p:cBhvr>
                        </p:animEffect>
                      </p:childTnLst>
                    </p:cTn>
                  </p:par>
                  <p:par>
                    <p:cTn id="109" fill="hold" nodeType="clickEffect" presetID="10" presetClass="entr" presetSubtype="0">
                      <p:stCondLst>
                        <p:cond delay="250"/>
                      </p:stCondLst>
                      <p:childTnLst>
                        <p:set>
                          <p:cBhvr>
                            <p:cTn id="110" dur="1" fill="hold"/>
                            <p:tgtEl>
                              <p:spTgt spid="22"/>
                            </p:tgtEl>
                            <p:attrNameLst>
                              <p:attrName>style.visibility</p:attrName>
                            </p:attrNameLst>
                          </p:cBhvr>
                          <p:to>
                            <p:strVal val="visible"/>
                          </p:to>
                        </p:set>
                        <p:animEffect transition="in" filter="fade">
                          <p:cBhvr>
                            <p:cTn id="111" dur="450" fill="hold"/>
                            <p:tgtEl>
                              <p:spTgt spid="22"/>
                            </p:tgtEl>
                          </p:cBhvr>
                        </p:animEffect>
                      </p:childTnLst>
                    </p:cTn>
                  </p:par>
                  <p:par>
                    <p:cTn id="112" fill="hold" nodeType="clickEffect" presetID="10" presetClass="entr" presetSubtype="0">
                      <p:stCondLst>
                        <p:cond delay="250"/>
                      </p:stCondLst>
                      <p:childTnLst>
                        <p:set>
                          <p:cBhvr>
                            <p:cTn id="113" dur="1" fill="hold"/>
                            <p:tgtEl>
                              <p:spTgt spid="23"/>
                            </p:tgtEl>
                            <p:attrNameLst>
                              <p:attrName>style.visibility</p:attrName>
                            </p:attrNameLst>
                          </p:cBhvr>
                          <p:to>
                            <p:strVal val="visible"/>
                          </p:to>
                        </p:set>
                        <p:animEffect transition="in" filter="fade">
                          <p:cBhvr>
                            <p:cTn id="114" dur="450" fill="hold"/>
                            <p:tgtEl>
                              <p:spTgt spid="23"/>
                            </p:tgtEl>
                          </p:cBhvr>
                        </p:animEffect>
                      </p:childTnLst>
                    </p:cTn>
                  </p:par>
                  <p:par>
                    <p:cTn id="115" fill="hold" nodeType="clickEffect" presetID="10" presetClass="entr" presetSubtype="0">
                      <p:stCondLst>
                        <p:cond delay="250"/>
                      </p:stCondLst>
                      <p:childTnLst>
                        <p:set>
                          <p:cBhvr>
                            <p:cTn id="116" dur="1" fill="hold"/>
                            <p:tgtEl>
                              <p:spTgt spid="25"/>
                            </p:tgtEl>
                            <p:attrNameLst>
                              <p:attrName>style.visibility</p:attrName>
                            </p:attrNameLst>
                          </p:cBhvr>
                          <p:to>
                            <p:strVal val="visible"/>
                          </p:to>
                        </p:set>
                        <p:animEffect transition="in" filter="fade">
                          <p:cBhvr>
                            <p:cTn id="117" dur="450" fill="hold"/>
                            <p:tgtEl>
                              <p:spTgt spid="25"/>
                            </p:tgtEl>
                          </p:cBhvr>
                        </p:animEffect>
                      </p:childTnLst>
                    </p:cTn>
                  </p:par>
                  <p:par>
                    <p:cTn id="118" fill="hold" nodeType="clickEffect" presetID="10" presetClass="entr" presetSubtype="0">
                      <p:stCondLst>
                        <p:cond delay="250"/>
                      </p:stCondLst>
                      <p:childTnLst>
                        <p:set>
                          <p:cBhvr>
                            <p:cTn id="119" dur="1" fill="hold"/>
                            <p:tgtEl>
                              <p:spTgt spid="26"/>
                            </p:tgtEl>
                            <p:attrNameLst>
                              <p:attrName>style.visibility</p:attrName>
                            </p:attrNameLst>
                          </p:cBhvr>
                          <p:to>
                            <p:strVal val="visible"/>
                          </p:to>
                        </p:set>
                        <p:animEffect transition="in" filter="fade">
                          <p:cBhvr>
                            <p:cTn id="120" dur="450" fill="hold"/>
                            <p:tgtEl>
                              <p:spTgt spid="26"/>
                            </p:tgtEl>
                          </p:cBhvr>
                        </p:animEffect>
                      </p:childTnLst>
                    </p:cTn>
                  </p:par>
                  <p:par>
                    <p:cTn id="121" fill="hold" nodeType="clickEffect" presetID="10" presetClass="entr" presetSubtype="0">
                      <p:stCondLst>
                        <p:cond delay="250"/>
                      </p:stCondLst>
                      <p:childTnLst>
                        <p:set>
                          <p:cBhvr>
                            <p:cTn id="122" dur="1" fill="hold"/>
                            <p:tgtEl>
                              <p:spTgt spid="27"/>
                            </p:tgtEl>
                            <p:attrNameLst>
                              <p:attrName>style.visibility</p:attrName>
                            </p:attrNameLst>
                          </p:cBhvr>
                          <p:to>
                            <p:strVal val="visible"/>
                          </p:to>
                        </p:set>
                        <p:animEffect transition="in" filter="fade">
                          <p:cBhvr>
                            <p:cTn id="123" dur="450" fill="hold"/>
                            <p:tgtEl>
                              <p:spTgt spid="27"/>
                            </p:tgtEl>
                          </p:cBhvr>
                        </p:animEffect>
                      </p:childTnLst>
                    </p:cTn>
                  </p:par>
                  <p:par>
                    <p:cTn id="124" fill="hold" nodeType="clickEffect" presetID="10" presetClass="entr" presetSubtype="0">
                      <p:stCondLst>
                        <p:cond delay="250"/>
                      </p:stCondLst>
                      <p:childTnLst>
                        <p:set>
                          <p:cBhvr>
                            <p:cTn id="125" dur="1" fill="hold"/>
                            <p:tgtEl>
                              <p:spTgt spid="28"/>
                            </p:tgtEl>
                            <p:attrNameLst>
                              <p:attrName>style.visibility</p:attrName>
                            </p:attrNameLst>
                          </p:cBhvr>
                          <p:to>
                            <p:strVal val="visible"/>
                          </p:to>
                        </p:set>
                        <p:animEffect transition="in" filter="fade">
                          <p:cBhvr>
                            <p:cTn id="126" dur="450" fill="hold"/>
                            <p:tgtEl>
                              <p:spTgt spid="28"/>
                            </p:tgtEl>
                          </p:cBhvr>
                        </p:animEffect>
                      </p:childTnLst>
                    </p:cTn>
                  </p:par>
                  <p:par>
                    <p:cTn id="127" fill="hold" nodeType="clickEffect" presetID="10" presetClass="entr" presetSubtype="0">
                      <p:stCondLst>
                        <p:cond delay="250"/>
                      </p:stCondLst>
                      <p:childTnLst>
                        <p:set>
                          <p:cBhvr>
                            <p:cTn id="128" dur="1" fill="hold"/>
                            <p:tgtEl>
                              <p:spTgt spid="30"/>
                            </p:tgtEl>
                            <p:attrNameLst>
                              <p:attrName>style.visibility</p:attrName>
                            </p:attrNameLst>
                          </p:cBhvr>
                          <p:to>
                            <p:strVal val="visible"/>
                          </p:to>
                        </p:set>
                        <p:animEffect transition="in" filter="fade">
                          <p:cBhvr>
                            <p:cTn id="129" dur="450" fill="hold"/>
                            <p:tgtEl>
                              <p:spTgt spid="30"/>
                            </p:tgtEl>
                          </p:cBhvr>
                        </p:animEffect>
                      </p:childTnLst>
                    </p:cTn>
                  </p:par>
                  <p:par>
                    <p:cTn id="130" fill="hold" nodeType="clickEffect" presetID="10" presetClass="entr" presetSubtype="0">
                      <p:stCondLst>
                        <p:cond delay="250"/>
                      </p:stCondLst>
                      <p:childTnLst>
                        <p:set>
                          <p:cBhvr>
                            <p:cTn id="131" dur="1" fill="hold"/>
                            <p:tgtEl>
                              <p:spTgt spid="31"/>
                            </p:tgtEl>
                            <p:attrNameLst>
                              <p:attrName>style.visibility</p:attrName>
                            </p:attrNameLst>
                          </p:cBhvr>
                          <p:to>
                            <p:strVal val="visible"/>
                          </p:to>
                        </p:set>
                        <p:animEffect transition="in" filter="fade">
                          <p:cBhvr>
                            <p:cTn id="132" dur="450" fill="hold"/>
                            <p:tgtEl>
                              <p:spTgt spid="31"/>
                            </p:tgtEl>
                          </p:cBhvr>
                        </p:animEffect>
                      </p:childTnLst>
                    </p:cTn>
                  </p:par>
                  <p:par>
                    <p:cTn id="133" fill="hold" nodeType="clickEffect" presetID="10" presetClass="entr" presetSubtype="0">
                      <p:stCondLst>
                        <p:cond delay="250"/>
                      </p:stCondLst>
                      <p:childTnLst>
                        <p:set>
                          <p:cBhvr>
                            <p:cTn id="134" dur="1" fill="hold"/>
                            <p:tgtEl>
                              <p:spTgt spid="32"/>
                            </p:tgtEl>
                            <p:attrNameLst>
                              <p:attrName>style.visibility</p:attrName>
                            </p:attrNameLst>
                          </p:cBhvr>
                          <p:to>
                            <p:strVal val="visible"/>
                          </p:to>
                        </p:set>
                        <p:animEffect transition="in" filter="fade">
                          <p:cBhvr>
                            <p:cTn id="135" dur="450" fill="hold"/>
                            <p:tgtEl>
                              <p:spTgt spid="32"/>
                            </p:tgtEl>
                          </p:cBhvr>
                        </p:animEffect>
                      </p:childTnLst>
                    </p:cTn>
                  </p:par>
                </p:childTnLst>
              </p:cTn>
              <p:prevCondLst>
                <p:cond evt="onPrev" delay="0">
                  <p:tgtEl>
                    <p:sldTgt/>
                  </p:tgtEl>
                </p:cond>
              </p:prevCondLst>
              <p:nextCondLst>
                <p:cond evt="onNext" delay="0">
                  <p:tgtEl>
                    <p:sldTgt/>
                  </p:tgtEl>
                </p:cond>
              </p:nextCondLst>
            </p:seq>
          </p:childTnLst>
        </p:cTn>
      </p:par>
    </p:tnLst>
    <p:bldLst>
      <p:bldP spid="5" grpId="0"/>
      <p:bldP spid="20" grpId="0"/>
      <p:bldP spid="21" grpId="0"/>
      <p:bldP spid="22" grpId="0"/>
      <p:bldP spid="23" grpId="0"/>
      <p:bldP spid="25" grpId="0"/>
      <p:bldP spid="26" grpId="0"/>
      <p:bldP spid="27" grpId="0"/>
      <p:bldP spid="28" grpId="0"/>
      <p:bldP spid="30" grpId="0"/>
      <p:bldP spid="31" grpId="0"/>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3383280" cy="1920240"/>
          </a:xfrm>
          <a:prstGeom prst="ellipse">
            <a:avLst/>
          </a:prstGeom>
          <a:solidFill>
            <a:srgbClr val="CFEFFF">
              <a:alpha val="56000"/>
            </a:srgbClr>
          </a:solidFill>
          <a:ln w="12700">
            <a:solidFill>
              <a:srgbClr val="CFEFFF">
                <a:alpha val="0"/>
              </a:srgbClr>
            </a:solidFill>
            <a:prstDash val="solid"/>
          </a:ln>
        </p:spPr>
      </p:sp>
      <p:sp>
        <p:nvSpPr>
          <p:cNvPr id="3" name="Shape 1"/>
          <p:cNvSpPr/>
          <p:nvPr/>
        </p:nvSpPr>
        <p:spPr>
          <a:xfrm>
            <a:off x="9692640" y="5303520"/>
            <a:ext cx="2926080" cy="2011680"/>
          </a:xfrm>
          <a:prstGeom prst="ellipse">
            <a:avLst/>
          </a:prstGeom>
          <a:solidFill>
            <a:srgbClr val="FFD9E8">
              <a:alpha val="52000"/>
            </a:srgbClr>
          </a:solidFill>
          <a:ln w="12700">
            <a:solidFill>
              <a:srgbClr val="FFD9E8">
                <a:alpha val="0"/>
              </a:srgbClr>
            </a:solidFill>
            <a:prstDash val="solid"/>
          </a:ln>
        </p:spPr>
      </p:sp>
      <p:sp>
        <p:nvSpPr>
          <p:cNvPr id="4" name="Shape 2"/>
          <p:cNvSpPr/>
          <p:nvPr/>
        </p:nvSpPr>
        <p:spPr>
          <a:xfrm>
            <a:off x="7040880" y="-320040"/>
            <a:ext cx="1920240" cy="1280160"/>
          </a:xfrm>
          <a:prstGeom prst="ellipse">
            <a:avLst/>
          </a:prstGeom>
          <a:solidFill>
            <a:srgbClr val="FFF7C7">
              <a:alpha val="42000"/>
            </a:srgbClr>
          </a:solidFill>
          <a:ln w="12700">
            <a:solidFill>
              <a:srgbClr val="FFF7C7">
                <a:alpha val="0"/>
              </a:srgbClr>
            </a:solidFill>
            <a:prstDash val="solid"/>
          </a:ln>
        </p:spPr>
      </p:sp>
      <p:sp>
        <p:nvSpPr>
          <p:cNvPr id="5" name="anim-title-63"/>
          <p:cNvSpPr/>
          <p:nvPr/>
        </p:nvSpPr>
        <p:spPr>
          <a:xfrm>
            <a:off x="658368" y="530352"/>
            <a:ext cx="4480560" cy="841248"/>
          </a:xfrm>
          <a:prstGeom prst="rect">
            <a:avLst/>
          </a:prstGeom>
          <a:noFill/>
          <a:ln/>
        </p:spPr>
        <p:txBody>
          <a:bodyPr wrap="square" lIns="0" tIns="0" rIns="0" bIns="0" rtlCol="0" anchor="ctr">
            <a:normAutofit/>
          </a:bodyPr>
          <a:lstStyle/>
          <a:p>
            <a:pPr indent="0" marL="0">
              <a:buNone/>
            </a:pPr>
            <a:r>
              <a:rPr lang="en-US" sz="3400" b="1" dirty="0">
                <a:solidFill>
                  <a:srgbClr val="2F3437"/>
                </a:solidFill>
                <a:latin typeface="Aptos Display" pitchFamily="34" charset="0"/>
                <a:ea typeface="Aptos Display" pitchFamily="34" charset="-122"/>
                <a:cs typeface="Aptos Display" pitchFamily="34" charset="-120"/>
              </a:rPr>
              <a:t>Kurze Umfrage</a:t>
            </a:r>
            <a:endParaRPr lang="en-US" sz="3400" dirty="0"/>
          </a:p>
        </p:txBody>
      </p:sp>
      <p:sp>
        <p:nvSpPr>
          <p:cNvPr id="6" name="Shape 4"/>
          <p:cNvSpPr/>
          <p:nvPr/>
        </p:nvSpPr>
        <p:spPr>
          <a:xfrm>
            <a:off x="1389888" y="1417320"/>
            <a:ext cx="9235440" cy="960120"/>
          </a:xfrm>
          <a:prstGeom prst="roundRect">
            <a:avLst>
              <a:gd name="adj" fmla="val 20952"/>
            </a:avLst>
          </a:prstGeom>
          <a:solidFill>
            <a:srgbClr val="2F3437"/>
          </a:solidFill>
          <a:ln w="12700">
            <a:solidFill>
              <a:srgbClr val="2F3437"/>
            </a:solidFill>
            <a:prstDash val="solid"/>
          </a:ln>
          <a:effectLst>
            <a:outerShdw sx="100000" sy="100000" kx="0" ky="0" algn="bl" rotWithShape="0" blurRad="2.3828923048104974e+82" dist="4.765784609620995e+82" dir="1.6452712980283393e+97">
              <a:srgbClr val="C9D2DA">
                <a:alpha val="2.2000000000000003e+99"/>
              </a:srgbClr>
            </a:outerShdw>
          </a:effectLst>
        </p:spPr>
      </p:sp>
      <p:sp>
        <p:nvSpPr>
          <p:cNvPr id="7" name="anim-poll-q-64"/>
          <p:cNvSpPr/>
          <p:nvPr/>
        </p:nvSpPr>
        <p:spPr>
          <a:xfrm>
            <a:off x="1828800" y="1737360"/>
            <a:ext cx="8366760" cy="274320"/>
          </a:xfrm>
          <a:prstGeom prst="rect">
            <a:avLst/>
          </a:prstGeom>
          <a:noFill/>
          <a:ln/>
        </p:spPr>
        <p:txBody>
          <a:bodyPr wrap="square" lIns="0" tIns="0" rIns="0" bIns="0" rtlCol="0" anchor="ctr"/>
          <a:lstStyle/>
          <a:p>
            <a:pPr algn="ctr" indent="0" marL="0">
              <a:buNone/>
            </a:pPr>
            <a:r>
              <a:rPr lang="en-US" sz="1900" b="1" dirty="0">
                <a:solidFill>
                  <a:srgbClr val="FFFFFF"/>
                </a:solidFill>
              </a:rPr>
              <a:t>Was beeinflusst euer Wohlbefinden in der Schule am stärksten?</a:t>
            </a:r>
            <a:endParaRPr lang="en-US" sz="1900" dirty="0"/>
          </a:p>
        </p:txBody>
      </p:sp>
      <p:sp>
        <p:nvSpPr>
          <p:cNvPr id="8" name="Shape 6"/>
          <p:cNvSpPr/>
          <p:nvPr/>
        </p:nvSpPr>
        <p:spPr>
          <a:xfrm>
            <a:off x="1225296" y="2761488"/>
            <a:ext cx="4434840" cy="566928"/>
          </a:xfrm>
          <a:prstGeom prst="roundRect">
            <a:avLst>
              <a:gd name="adj" fmla="val 32258"/>
            </a:avLst>
          </a:prstGeom>
          <a:solidFill>
            <a:srgbClr val="CFEFFF"/>
          </a:solidFill>
          <a:ln w="12700">
            <a:solidFill>
              <a:srgbClr val="CFEFFF"/>
            </a:solidFill>
            <a:prstDash val="solid"/>
          </a:ln>
          <a:effectLst>
            <a:outerShdw sx="100000" sy="100000" kx="0" ky="0" algn="bl" rotWithShape="0" blurRad="3.0262732271093317e+86" dist="6.052546454218663e+86" dir="9.871627788170037e+101">
              <a:srgbClr val="C9D2DA">
                <a:alpha val="2.2000000000000003e+104"/>
              </a:srgbClr>
            </a:outerShdw>
          </a:effectLst>
        </p:spPr>
      </p:sp>
      <p:sp>
        <p:nvSpPr>
          <p:cNvPr id="9" name="anim-button-65"/>
          <p:cNvSpPr/>
          <p:nvPr/>
        </p:nvSpPr>
        <p:spPr>
          <a:xfrm>
            <a:off x="1408176" y="2935224"/>
            <a:ext cx="4069080" cy="155448"/>
          </a:xfrm>
          <a:prstGeom prst="rect">
            <a:avLst/>
          </a:prstGeom>
          <a:noFill/>
          <a:ln/>
        </p:spPr>
        <p:txBody>
          <a:bodyPr wrap="square" lIns="0" tIns="0" rIns="0" bIns="0" rtlCol="0" anchor="ctr"/>
          <a:lstStyle/>
          <a:p>
            <a:pPr algn="ctr" indent="0" marL="0">
              <a:buNone/>
            </a:pPr>
            <a:r>
              <a:rPr lang="en-US" sz="1550" b="1" dirty="0">
                <a:solidFill>
                  <a:srgbClr val="2F3437"/>
                </a:solidFill>
              </a:rPr>
              <a:t>📚 Notendruck</a:t>
            </a:r>
            <a:endParaRPr lang="en-US" sz="1550" dirty="0"/>
          </a:p>
        </p:txBody>
      </p:sp>
      <p:sp>
        <p:nvSpPr>
          <p:cNvPr id="10" name="Shape 8"/>
          <p:cNvSpPr/>
          <p:nvPr/>
        </p:nvSpPr>
        <p:spPr>
          <a:xfrm>
            <a:off x="6272784" y="2761488"/>
            <a:ext cx="4434840" cy="566928"/>
          </a:xfrm>
          <a:prstGeom prst="roundRect">
            <a:avLst>
              <a:gd name="adj" fmla="val 32258"/>
            </a:avLst>
          </a:prstGeom>
          <a:solidFill>
            <a:srgbClr val="FFD9E8"/>
          </a:solidFill>
          <a:ln w="12700">
            <a:solidFill>
              <a:srgbClr val="FFD9E8"/>
            </a:solidFill>
            <a:prstDash val="solid"/>
          </a:ln>
          <a:effectLst>
            <a:outerShdw sx="100000" sy="100000" kx="0" ky="0" algn="bl" rotWithShape="0" blurRad="3.8433669984288512e+90" dist="7.6867339968577025e+90" dir="5.9229766729020215e+106">
              <a:srgbClr val="C9D2DA">
                <a:alpha val="2.2000000000000003e+109"/>
              </a:srgbClr>
            </a:outerShdw>
          </a:effectLst>
        </p:spPr>
      </p:sp>
      <p:sp>
        <p:nvSpPr>
          <p:cNvPr id="11" name="anim-button-66"/>
          <p:cNvSpPr/>
          <p:nvPr/>
        </p:nvSpPr>
        <p:spPr>
          <a:xfrm>
            <a:off x="6455664" y="2935224"/>
            <a:ext cx="4069080" cy="155448"/>
          </a:xfrm>
          <a:prstGeom prst="rect">
            <a:avLst/>
          </a:prstGeom>
          <a:noFill/>
          <a:ln/>
        </p:spPr>
        <p:txBody>
          <a:bodyPr wrap="square" lIns="0" tIns="0" rIns="0" bIns="0" rtlCol="0" anchor="ctr"/>
          <a:lstStyle/>
          <a:p>
            <a:pPr algn="ctr" indent="0" marL="0">
              <a:buNone/>
            </a:pPr>
            <a:r>
              <a:rPr lang="en-US" sz="1550" b="1" dirty="0">
                <a:solidFill>
                  <a:srgbClr val="2F3437"/>
                </a:solidFill>
              </a:rPr>
              <a:t>👩‍🏫 Lehrkräfte</a:t>
            </a:r>
            <a:endParaRPr lang="en-US" sz="1550" dirty="0"/>
          </a:p>
        </p:txBody>
      </p:sp>
      <p:sp>
        <p:nvSpPr>
          <p:cNvPr id="12" name="Shape 10"/>
          <p:cNvSpPr/>
          <p:nvPr/>
        </p:nvSpPr>
        <p:spPr>
          <a:xfrm>
            <a:off x="1225296" y="3602736"/>
            <a:ext cx="4434840" cy="566928"/>
          </a:xfrm>
          <a:prstGeom prst="roundRect">
            <a:avLst>
              <a:gd name="adj" fmla="val 32258"/>
            </a:avLst>
          </a:prstGeom>
          <a:solidFill>
            <a:srgbClr val="FFF7C7"/>
          </a:solidFill>
          <a:ln w="12700">
            <a:solidFill>
              <a:srgbClr val="FFF7C7"/>
            </a:solidFill>
            <a:prstDash val="solid"/>
          </a:ln>
          <a:effectLst>
            <a:outerShdw sx="100000" sy="100000" kx="0" ky="0" algn="bl" rotWithShape="0" blurRad="4.8810760880046414e+94" dist="9.762152176009283e+94" dir="3.553786003741213e+111">
              <a:srgbClr val="C9D2DA">
                <a:alpha val="2.2000000000000003e+114"/>
              </a:srgbClr>
            </a:outerShdw>
          </a:effectLst>
        </p:spPr>
      </p:sp>
      <p:sp>
        <p:nvSpPr>
          <p:cNvPr id="13" name="anim-button-67"/>
          <p:cNvSpPr/>
          <p:nvPr/>
        </p:nvSpPr>
        <p:spPr>
          <a:xfrm>
            <a:off x="1408176" y="3776472"/>
            <a:ext cx="4069080" cy="155448"/>
          </a:xfrm>
          <a:prstGeom prst="rect">
            <a:avLst/>
          </a:prstGeom>
          <a:noFill/>
          <a:ln/>
        </p:spPr>
        <p:txBody>
          <a:bodyPr wrap="square" lIns="0" tIns="0" rIns="0" bIns="0" rtlCol="0" anchor="ctr"/>
          <a:lstStyle/>
          <a:p>
            <a:pPr algn="ctr" indent="0" marL="0">
              <a:buNone/>
            </a:pPr>
            <a:r>
              <a:rPr lang="en-US" sz="1550" b="1" dirty="0">
                <a:solidFill>
                  <a:srgbClr val="2F3437"/>
                </a:solidFill>
              </a:rPr>
              <a:t>👥 Mitschüler</a:t>
            </a:r>
            <a:endParaRPr lang="en-US" sz="1550" dirty="0"/>
          </a:p>
        </p:txBody>
      </p:sp>
      <p:sp>
        <p:nvSpPr>
          <p:cNvPr id="14" name="Shape 12"/>
          <p:cNvSpPr/>
          <p:nvPr/>
        </p:nvSpPr>
        <p:spPr>
          <a:xfrm>
            <a:off x="6272784" y="3602736"/>
            <a:ext cx="4434840" cy="566928"/>
          </a:xfrm>
          <a:prstGeom prst="roundRect">
            <a:avLst>
              <a:gd name="adj" fmla="val 32258"/>
            </a:avLst>
          </a:prstGeom>
          <a:solidFill>
            <a:srgbClr val="DDF7E8"/>
          </a:solidFill>
          <a:ln w="12700">
            <a:solidFill>
              <a:srgbClr val="DDF7E8"/>
            </a:solidFill>
            <a:prstDash val="solid"/>
          </a:ln>
          <a:effectLst>
            <a:outerShdw sx="100000" sy="100000" kx="0" ky="0" algn="bl" rotWithShape="0" blurRad="6.198966631765894e+98" dist="1.2397933263531789e+99" dir="2.1322716022447277e+116">
              <a:srgbClr val="C9D2DA">
                <a:alpha val="2.2000000000000005e+119"/>
              </a:srgbClr>
            </a:outerShdw>
          </a:effectLst>
        </p:spPr>
      </p:sp>
      <p:sp>
        <p:nvSpPr>
          <p:cNvPr id="15" name="anim-button-68"/>
          <p:cNvSpPr/>
          <p:nvPr/>
        </p:nvSpPr>
        <p:spPr>
          <a:xfrm>
            <a:off x="6455664" y="3776472"/>
            <a:ext cx="4069080" cy="155448"/>
          </a:xfrm>
          <a:prstGeom prst="rect">
            <a:avLst/>
          </a:prstGeom>
          <a:noFill/>
          <a:ln/>
        </p:spPr>
        <p:txBody>
          <a:bodyPr wrap="square" lIns="0" tIns="0" rIns="0" bIns="0" rtlCol="0" anchor="ctr"/>
          <a:lstStyle/>
          <a:p>
            <a:pPr algn="ctr" indent="0" marL="0">
              <a:buNone/>
            </a:pPr>
            <a:r>
              <a:rPr lang="en-US" sz="1550" b="1" dirty="0">
                <a:solidFill>
                  <a:srgbClr val="2F3437"/>
                </a:solidFill>
              </a:rPr>
              <a:t>🕒 Zeitstress</a:t>
            </a:r>
            <a:endParaRPr lang="en-US" sz="1550" dirty="0"/>
          </a:p>
        </p:txBody>
      </p:sp>
      <p:sp>
        <p:nvSpPr>
          <p:cNvPr id="16" name="anim-hand-69"/>
          <p:cNvSpPr/>
          <p:nvPr/>
        </p:nvSpPr>
        <p:spPr>
          <a:xfrm>
            <a:off x="4352544" y="4608576"/>
            <a:ext cx="3474720" cy="256032"/>
          </a:xfrm>
          <a:prstGeom prst="rect">
            <a:avLst/>
          </a:prstGeom>
          <a:noFill/>
          <a:ln/>
        </p:spPr>
        <p:txBody>
          <a:bodyPr wrap="square" lIns="0" tIns="0" rIns="0" bIns="0" rtlCol="0" anchor="ctr"/>
          <a:lstStyle/>
          <a:p>
            <a:pPr algn="ctr" indent="0" marL="0">
              <a:buNone/>
            </a:pPr>
            <a:r>
              <a:rPr lang="en-US" sz="1600" b="1" dirty="0">
                <a:solidFill>
                  <a:srgbClr val="6B7280"/>
                </a:solidFill>
              </a:rPr>
              <a:t>Kurzes Handzeichen</a:t>
            </a:r>
            <a:endParaRPr lang="en-US" sz="1600" dirty="0"/>
          </a:p>
        </p:txBody>
      </p:sp>
      <p:sp>
        <p:nvSpPr>
          <p:cNvPr id="17" name="Shape 15"/>
          <p:cNvSpPr/>
          <p:nvPr/>
        </p:nvSpPr>
        <p:spPr>
          <a:xfrm>
            <a:off x="2011680" y="5321808"/>
            <a:ext cx="8138160" cy="566928"/>
          </a:xfrm>
          <a:prstGeom prst="roundRect">
            <a:avLst>
              <a:gd name="adj" fmla="val 25806"/>
            </a:avLst>
          </a:prstGeom>
          <a:solidFill>
            <a:srgbClr val="F7F8FA"/>
          </a:solidFill>
          <a:ln w="12700">
            <a:solidFill>
              <a:srgbClr val="F7F8FA"/>
            </a:solidFill>
            <a:prstDash val="solid"/>
          </a:ln>
          <a:effectLst>
            <a:outerShdw sx="100000" sy="100000" kx="0" ky="0" algn="bl" rotWithShape="0" blurRad="7.872687622342685e+102" dist="1.574537524468537e+103" dir="1.2793629613468366e+121">
              <a:srgbClr val="C9D2DA">
                <a:alpha val="2.2000000000000006e+124"/>
              </a:srgbClr>
            </a:outerShdw>
          </a:effectLst>
        </p:spPr>
      </p:sp>
      <p:sp>
        <p:nvSpPr>
          <p:cNvPr id="18" name="anim-reveal-70"/>
          <p:cNvSpPr/>
          <p:nvPr/>
        </p:nvSpPr>
        <p:spPr>
          <a:xfrm>
            <a:off x="2331720" y="5522976"/>
            <a:ext cx="7498080" cy="164592"/>
          </a:xfrm>
          <a:prstGeom prst="rect">
            <a:avLst/>
          </a:prstGeom>
          <a:noFill/>
          <a:ln/>
        </p:spPr>
        <p:txBody>
          <a:bodyPr wrap="square" lIns="0" tIns="0" rIns="0" bIns="0" rtlCol="0" anchor="ctr"/>
          <a:lstStyle/>
          <a:p>
            <a:pPr algn="ctr" indent="0" marL="0">
              <a:buNone/>
            </a:pPr>
            <a:r>
              <a:rPr lang="en-US" sz="1400" b="1" dirty="0">
                <a:solidFill>
                  <a:srgbClr val="2F3437"/>
                </a:solidFill>
              </a:rPr>
              <a:t>Alle Faktoren spielen laut Facharbeit eine wichtige Rolle.</a:t>
            </a:r>
            <a:endParaRPr lang="en-US" sz="1400" dirty="0"/>
          </a:p>
        </p:txBody>
      </p:sp>
      <p:sp>
        <p:nvSpPr>
          <p:cNvPr id="19" name="Text 17"/>
          <p:cNvSpPr/>
          <p:nvPr/>
        </p:nvSpPr>
        <p:spPr>
          <a:xfrm>
            <a:off x="658368" y="6473952"/>
            <a:ext cx="1097280" cy="164592"/>
          </a:xfrm>
          <a:prstGeom prst="rect">
            <a:avLst/>
          </a:prstGeom>
          <a:noFill/>
          <a:ln/>
        </p:spPr>
        <p:txBody>
          <a:bodyPr wrap="square" lIns="0" tIns="0" rIns="0" bIns="0" rtlCol="0" anchor="ctr"/>
          <a:lstStyle/>
          <a:p>
            <a:pPr indent="0" marL="0">
              <a:buNone/>
            </a:pPr>
            <a:r>
              <a:rPr lang="en-US" sz="700" dirty="0">
                <a:solidFill>
                  <a:srgbClr val="A7ADB3"/>
                </a:solidFill>
                <a:latin typeface="Aptos" pitchFamily="34" charset="0"/>
                <a:ea typeface="Aptos" pitchFamily="34" charset="-122"/>
                <a:cs typeface="Aptos" pitchFamily="34" charset="-120"/>
              </a:rPr>
              <a:t>Folie 7 / 11</a:t>
            </a:r>
            <a:endParaRPr lang="en-US" sz="700" dirty="0"/>
          </a:p>
        </p:txBody>
      </p:sp>
      <p:sp>
        <p:nvSpPr>
          <p:cNvPr id="20" name="Text 18"/>
          <p:cNvSpPr/>
          <p:nvPr/>
        </p:nvSpPr>
        <p:spPr>
          <a:xfrm>
            <a:off x="9802368" y="6473952"/>
            <a:ext cx="1627632" cy="164592"/>
          </a:xfrm>
          <a:prstGeom prst="rect">
            <a:avLst/>
          </a:prstGeom>
          <a:noFill/>
          <a:ln/>
        </p:spPr>
        <p:txBody>
          <a:bodyPr wrap="square" lIns="0" tIns="0" rIns="0" bIns="0" rtlCol="0" anchor="ctr"/>
          <a:lstStyle/>
          <a:p>
            <a:pPr algn="r" indent="0" marL="0">
              <a:buNone/>
            </a:pPr>
            <a:r>
              <a:rPr lang="en-US" sz="700" dirty="0">
                <a:solidFill>
                  <a:srgbClr val="BDC4CB"/>
                </a:solidFill>
                <a:latin typeface="Aptos" pitchFamily="34" charset="0"/>
                <a:ea typeface="Aptos" pitchFamily="34" charset="-122"/>
                <a:cs typeface="Aptos" pitchFamily="34" charset="-120"/>
              </a:rPr>
              <a:t>Übergang: Dissolve</a:t>
            </a:r>
            <a:endParaRPr lang="en-US" sz="700" dirty="0"/>
          </a:p>
        </p:txBody>
      </p:sp>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7</a:t>
            </a:fld>
            <a:endParaRPr lang="en-US"/>
          </a:p>
        </p:txBody>
      </p:sp>
    </p:spTree>
  </p:cSld>
  <p:transition spd="med">
    <p:dissolve/>
  </p:transition>
  <p:clrMapOvr>
    <a:masterClrMapping/>
  </p:clrMapOvr>
  <p:timing>
    <p:tnLst>
      <p:par>
        <p:cTn id="1" dur="indefinite" restart="never" nodeType="tmRoot">
          <p:childTnLst>
            <p:seq concurrent="1" nextAc="seek">
              <p:cTn id="2" dur="indefinite" nodeType="mainSeq">
                <p:childTnLst>
                  <p:par>
                    <p:cTn id="100" fill="hold" nodeType="clickEffect" presetID="10" presetClass="entr" presetSubtype="0">
                      <p:stCondLst>
                        <p:cond delay="0"/>
                      </p:stCondLst>
                      <p:childTnLst>
                        <p:set>
                          <p:cBhvr>
                            <p:cTn id="101" dur="1" fill="hold"/>
                            <p:tgtEl>
                              <p:spTgt spid="5"/>
                            </p:tgtEl>
                            <p:attrNameLst>
                              <p:attrName>style.visibility</p:attrName>
                            </p:attrNameLst>
                          </p:cBhvr>
                          <p:to>
                            <p:strVal val="visible"/>
                          </p:to>
                        </p:set>
                        <p:animEffect transition="in" filter="fade">
                          <p:cBhvr>
                            <p:cTn id="102" dur="450" fill="hold"/>
                            <p:tgtEl>
                              <p:spTgt spid="5"/>
                            </p:tgtEl>
                          </p:cBhvr>
                        </p:animEffect>
                      </p:childTnLst>
                    </p:cTn>
                  </p:par>
                  <p:par>
                    <p:cTn id="103" fill="hold" nodeType="clickEffect" presetID="10" presetClass="entr" presetSubtype="0">
                      <p:stCondLst>
                        <p:cond delay="250"/>
                      </p:stCondLst>
                      <p:childTnLst>
                        <p:set>
                          <p:cBhvr>
                            <p:cTn id="104" dur="1" fill="hold"/>
                            <p:tgtEl>
                              <p:spTgt spid="7"/>
                            </p:tgtEl>
                            <p:attrNameLst>
                              <p:attrName>style.visibility</p:attrName>
                            </p:attrNameLst>
                          </p:cBhvr>
                          <p:to>
                            <p:strVal val="visible"/>
                          </p:to>
                        </p:set>
                        <p:animEffect transition="in" filter="fade">
                          <p:cBhvr>
                            <p:cTn id="105" dur="450" fill="hold"/>
                            <p:tgtEl>
                              <p:spTgt spid="7"/>
                            </p:tgtEl>
                          </p:cBhvr>
                        </p:animEffect>
                      </p:childTnLst>
                    </p:cTn>
                  </p:par>
                  <p:par>
                    <p:cTn id="106" fill="hold" nodeType="clickEffect" presetID="10" presetClass="entr" presetSubtype="0">
                      <p:stCondLst>
                        <p:cond delay="250"/>
                      </p:stCondLst>
                      <p:childTnLst>
                        <p:set>
                          <p:cBhvr>
                            <p:cTn id="107" dur="1" fill="hold"/>
                            <p:tgtEl>
                              <p:spTgt spid="9"/>
                            </p:tgtEl>
                            <p:attrNameLst>
                              <p:attrName>style.visibility</p:attrName>
                            </p:attrNameLst>
                          </p:cBhvr>
                          <p:to>
                            <p:strVal val="visible"/>
                          </p:to>
                        </p:set>
                        <p:animEffect transition="in" filter="fade">
                          <p:cBhvr>
                            <p:cTn id="108" dur="450" fill="hold"/>
                            <p:tgtEl>
                              <p:spTgt spid="9"/>
                            </p:tgtEl>
                          </p:cBhvr>
                        </p:animEffect>
                      </p:childTnLst>
                    </p:cTn>
                  </p:par>
                  <p:par>
                    <p:cTn id="109" fill="hold" nodeType="clickEffect" presetID="10" presetClass="entr" presetSubtype="0">
                      <p:stCondLst>
                        <p:cond delay="250"/>
                      </p:stCondLst>
                      <p:childTnLst>
                        <p:set>
                          <p:cBhvr>
                            <p:cTn id="110" dur="1" fill="hold"/>
                            <p:tgtEl>
                              <p:spTgt spid="11"/>
                            </p:tgtEl>
                            <p:attrNameLst>
                              <p:attrName>style.visibility</p:attrName>
                            </p:attrNameLst>
                          </p:cBhvr>
                          <p:to>
                            <p:strVal val="visible"/>
                          </p:to>
                        </p:set>
                        <p:animEffect transition="in" filter="fade">
                          <p:cBhvr>
                            <p:cTn id="111" dur="450" fill="hold"/>
                            <p:tgtEl>
                              <p:spTgt spid="11"/>
                            </p:tgtEl>
                          </p:cBhvr>
                        </p:animEffect>
                      </p:childTnLst>
                    </p:cTn>
                  </p:par>
                  <p:par>
                    <p:cTn id="112" fill="hold" nodeType="clickEffect" presetID="10" presetClass="entr" presetSubtype="0">
                      <p:stCondLst>
                        <p:cond delay="250"/>
                      </p:stCondLst>
                      <p:childTnLst>
                        <p:set>
                          <p:cBhvr>
                            <p:cTn id="113" dur="1" fill="hold"/>
                            <p:tgtEl>
                              <p:spTgt spid="13"/>
                            </p:tgtEl>
                            <p:attrNameLst>
                              <p:attrName>style.visibility</p:attrName>
                            </p:attrNameLst>
                          </p:cBhvr>
                          <p:to>
                            <p:strVal val="visible"/>
                          </p:to>
                        </p:set>
                        <p:animEffect transition="in" filter="fade">
                          <p:cBhvr>
                            <p:cTn id="114" dur="450" fill="hold"/>
                            <p:tgtEl>
                              <p:spTgt spid="13"/>
                            </p:tgtEl>
                          </p:cBhvr>
                        </p:animEffect>
                      </p:childTnLst>
                    </p:cTn>
                  </p:par>
                  <p:par>
                    <p:cTn id="115" fill="hold" nodeType="clickEffect" presetID="10" presetClass="entr" presetSubtype="0">
                      <p:stCondLst>
                        <p:cond delay="250"/>
                      </p:stCondLst>
                      <p:childTnLst>
                        <p:set>
                          <p:cBhvr>
                            <p:cTn id="116" dur="1" fill="hold"/>
                            <p:tgtEl>
                              <p:spTgt spid="15"/>
                            </p:tgtEl>
                            <p:attrNameLst>
                              <p:attrName>style.visibility</p:attrName>
                            </p:attrNameLst>
                          </p:cBhvr>
                          <p:to>
                            <p:strVal val="visible"/>
                          </p:to>
                        </p:set>
                        <p:animEffect transition="in" filter="fade">
                          <p:cBhvr>
                            <p:cTn id="117" dur="450" fill="hold"/>
                            <p:tgtEl>
                              <p:spTgt spid="15"/>
                            </p:tgtEl>
                          </p:cBhvr>
                        </p:animEffect>
                      </p:childTnLst>
                    </p:cTn>
                  </p:par>
                  <p:par>
                    <p:cTn id="118" fill="hold" nodeType="clickEffect" presetID="10" presetClass="entr" presetSubtype="0">
                      <p:stCondLst>
                        <p:cond delay="250"/>
                      </p:stCondLst>
                      <p:childTnLst>
                        <p:set>
                          <p:cBhvr>
                            <p:cTn id="119" dur="1" fill="hold"/>
                            <p:tgtEl>
                              <p:spTgt spid="16"/>
                            </p:tgtEl>
                            <p:attrNameLst>
                              <p:attrName>style.visibility</p:attrName>
                            </p:attrNameLst>
                          </p:cBhvr>
                          <p:to>
                            <p:strVal val="visible"/>
                          </p:to>
                        </p:set>
                        <p:animEffect transition="in" filter="fade">
                          <p:cBhvr>
                            <p:cTn id="120" dur="450" fill="hold"/>
                            <p:tgtEl>
                              <p:spTgt spid="16"/>
                            </p:tgtEl>
                          </p:cBhvr>
                        </p:animEffect>
                      </p:childTnLst>
                    </p:cTn>
                  </p:par>
                  <p:par>
                    <p:cTn id="121" fill="hold" nodeType="clickEffect" presetID="10" presetClass="entr" presetSubtype="0">
                      <p:stCondLst>
                        <p:cond delay="250"/>
                      </p:stCondLst>
                      <p:childTnLst>
                        <p:set>
                          <p:cBhvr>
                            <p:cTn id="122" dur="1" fill="hold"/>
                            <p:tgtEl>
                              <p:spTgt spid="18"/>
                            </p:tgtEl>
                            <p:attrNameLst>
                              <p:attrName>style.visibility</p:attrName>
                            </p:attrNameLst>
                          </p:cBhvr>
                          <p:to>
                            <p:strVal val="visible"/>
                          </p:to>
                        </p:set>
                        <p:animEffect transition="in" filter="fade">
                          <p:cBhvr>
                            <p:cTn id="123" dur="450" fill="hold"/>
                            <p:tgtEl>
                              <p:spTgt spid="18"/>
                            </p:tgtEl>
                          </p:cBhvr>
                        </p:animEffect>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P spid="15" grpId="0"/>
      <p:bldP spid="16"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35440" y="-457200"/>
            <a:ext cx="3383280" cy="1920240"/>
          </a:xfrm>
          <a:prstGeom prst="ellipse">
            <a:avLst/>
          </a:prstGeom>
          <a:solidFill>
            <a:srgbClr val="FFF7C7">
              <a:alpha val="50000"/>
            </a:srgbClr>
          </a:solidFill>
          <a:ln w="12700">
            <a:solidFill>
              <a:srgbClr val="FFF7C7">
                <a:alpha val="0"/>
              </a:srgbClr>
            </a:solidFill>
            <a:prstDash val="solid"/>
          </a:ln>
        </p:spPr>
      </p:sp>
      <p:sp>
        <p:nvSpPr>
          <p:cNvPr id="3" name="Shape 1"/>
          <p:cNvSpPr/>
          <p:nvPr/>
        </p:nvSpPr>
        <p:spPr>
          <a:xfrm>
            <a:off x="-731520" y="5212080"/>
            <a:ext cx="3108960" cy="2011680"/>
          </a:xfrm>
          <a:prstGeom prst="ellipse">
            <a:avLst/>
          </a:prstGeom>
          <a:solidFill>
            <a:srgbClr val="CFEFFF">
              <a:alpha val="50000"/>
            </a:srgbClr>
          </a:solidFill>
          <a:ln w="12700">
            <a:solidFill>
              <a:srgbClr val="CFEFFF">
                <a:alpha val="0"/>
              </a:srgbClr>
            </a:solidFill>
            <a:prstDash val="solid"/>
          </a:ln>
        </p:spPr>
      </p:sp>
      <p:sp>
        <p:nvSpPr>
          <p:cNvPr id="4" name="Shape 2"/>
          <p:cNvSpPr/>
          <p:nvPr/>
        </p:nvSpPr>
        <p:spPr>
          <a:xfrm>
            <a:off x="5029200" y="6080760"/>
            <a:ext cx="2286000" cy="685800"/>
          </a:xfrm>
          <a:prstGeom prst="ellipse">
            <a:avLst/>
          </a:prstGeom>
          <a:solidFill>
            <a:srgbClr val="FFD9E8">
              <a:alpha val="38000"/>
            </a:srgbClr>
          </a:solidFill>
          <a:ln w="12700">
            <a:solidFill>
              <a:srgbClr val="FFD9E8">
                <a:alpha val="0"/>
              </a:srgbClr>
            </a:solidFill>
            <a:prstDash val="solid"/>
          </a:ln>
        </p:spPr>
      </p:sp>
      <p:sp>
        <p:nvSpPr>
          <p:cNvPr id="5" name="anim-title-71"/>
          <p:cNvSpPr/>
          <p:nvPr/>
        </p:nvSpPr>
        <p:spPr>
          <a:xfrm>
            <a:off x="658368" y="530352"/>
            <a:ext cx="6217920" cy="841248"/>
          </a:xfrm>
          <a:prstGeom prst="rect">
            <a:avLst/>
          </a:prstGeom>
          <a:noFill/>
          <a:ln/>
        </p:spPr>
        <p:txBody>
          <a:bodyPr wrap="square" lIns="0" tIns="0" rIns="0" bIns="0" rtlCol="0" anchor="ctr">
            <a:normAutofit/>
          </a:bodyPr>
          <a:lstStyle/>
          <a:p>
            <a:pPr indent="0" marL="0">
              <a:buNone/>
            </a:pPr>
            <a:r>
              <a:rPr lang="en-US" sz="3400" b="1" dirty="0">
                <a:solidFill>
                  <a:srgbClr val="2F3437"/>
                </a:solidFill>
                <a:latin typeface="Aptos Display" pitchFamily="34" charset="0"/>
                <a:ea typeface="Aptos Display" pitchFamily="34" charset="-122"/>
                <a:cs typeface="Aptos Display" pitchFamily="34" charset="-120"/>
              </a:rPr>
              <a:t>Internationaler Vergleich</a:t>
            </a:r>
            <a:endParaRPr lang="en-US" sz="3400" dirty="0"/>
          </a:p>
        </p:txBody>
      </p:sp>
      <p:sp>
        <p:nvSpPr>
          <p:cNvPr id="6" name="Shape 4"/>
          <p:cNvSpPr/>
          <p:nvPr/>
        </p:nvSpPr>
        <p:spPr>
          <a:xfrm>
            <a:off x="777240" y="1572768"/>
            <a:ext cx="3310128" cy="3520440"/>
          </a:xfrm>
          <a:prstGeom prst="roundRect">
            <a:avLst>
              <a:gd name="adj" fmla="val 4972"/>
            </a:avLst>
          </a:prstGeom>
          <a:solidFill>
            <a:srgbClr val="CFEFFF"/>
          </a:solidFill>
          <a:ln w="12700">
            <a:solidFill>
              <a:srgbClr val="CFEFFF"/>
            </a:solidFill>
            <a:prstDash val="solid"/>
          </a:ln>
          <a:effectLst>
            <a:outerShdw sx="100000" sy="100000" kx="0" ky="0" algn="bl" rotWithShape="0" blurRad="9.998313280375211e+106" dist="1.9996626560750422e+107" dir="7.67617776808102e+125">
              <a:srgbClr val="C9D2DA">
                <a:alpha val="2.2000000000000006e+129"/>
              </a:srgbClr>
            </a:outerShdw>
          </a:effectLst>
        </p:spPr>
      </p:sp>
      <p:sp>
        <p:nvSpPr>
          <p:cNvPr id="7" name="Shape 5"/>
          <p:cNvSpPr/>
          <p:nvPr/>
        </p:nvSpPr>
        <p:spPr>
          <a:xfrm>
            <a:off x="1901952" y="1856232"/>
            <a:ext cx="1060704" cy="1060704"/>
          </a:xfrm>
          <a:prstGeom prst="ellipse">
            <a:avLst/>
          </a:prstGeom>
          <a:solidFill>
            <a:srgbClr val="FFFFFF"/>
          </a:solidFill>
          <a:ln w="12700">
            <a:solidFill>
              <a:srgbClr val="FFFFFF"/>
            </a:solidFill>
            <a:prstDash val="solid"/>
          </a:ln>
        </p:spPr>
      </p:sp>
      <p:sp>
        <p:nvSpPr>
          <p:cNvPr id="8" name="Text 6"/>
          <p:cNvSpPr/>
          <p:nvPr/>
        </p:nvSpPr>
        <p:spPr>
          <a:xfrm>
            <a:off x="2112264" y="2240280"/>
            <a:ext cx="658368" cy="201168"/>
          </a:xfrm>
          <a:prstGeom prst="rect">
            <a:avLst/>
          </a:prstGeom>
          <a:noFill/>
          <a:ln/>
        </p:spPr>
        <p:txBody>
          <a:bodyPr wrap="square" lIns="0" tIns="0" rIns="0" bIns="0" rtlCol="0" anchor="ctr"/>
          <a:lstStyle/>
          <a:p>
            <a:pPr algn="ctr" indent="0" marL="0">
              <a:buNone/>
            </a:pPr>
            <a:r>
              <a:rPr lang="en-US" sz="1300" b="1" dirty="0">
                <a:solidFill>
                  <a:srgbClr val="2F3437"/>
                </a:solidFill>
              </a:rPr>
              <a:t>DE</a:t>
            </a:r>
            <a:endParaRPr lang="en-US" sz="1300" dirty="0"/>
          </a:p>
        </p:txBody>
      </p:sp>
      <p:sp>
        <p:nvSpPr>
          <p:cNvPr id="9" name="anim-country-72"/>
          <p:cNvSpPr/>
          <p:nvPr/>
        </p:nvSpPr>
        <p:spPr>
          <a:xfrm>
            <a:off x="1033272" y="3127248"/>
            <a:ext cx="2798064" cy="256032"/>
          </a:xfrm>
          <a:prstGeom prst="rect">
            <a:avLst/>
          </a:prstGeom>
          <a:noFill/>
          <a:ln/>
        </p:spPr>
        <p:txBody>
          <a:bodyPr wrap="square" lIns="0" tIns="0" rIns="0" bIns="0" rtlCol="0" anchor="ctr"/>
          <a:lstStyle/>
          <a:p>
            <a:pPr algn="ctr" indent="0" marL="0">
              <a:buNone/>
            </a:pPr>
            <a:r>
              <a:rPr lang="en-US" sz="1700" b="1" dirty="0">
                <a:solidFill>
                  <a:srgbClr val="2F3437"/>
                </a:solidFill>
              </a:rPr>
              <a:t>Deutschland</a:t>
            </a:r>
            <a:endParaRPr lang="en-US" sz="1700" dirty="0"/>
          </a:p>
        </p:txBody>
      </p:sp>
      <p:sp>
        <p:nvSpPr>
          <p:cNvPr id="10" name="Shape 8"/>
          <p:cNvSpPr/>
          <p:nvPr/>
        </p:nvSpPr>
        <p:spPr>
          <a:xfrm>
            <a:off x="1216152" y="3840480"/>
            <a:ext cx="118872" cy="118872"/>
          </a:xfrm>
          <a:prstGeom prst="ellipse">
            <a:avLst/>
          </a:prstGeom>
          <a:solidFill>
            <a:srgbClr val="FFFFFF"/>
          </a:solidFill>
          <a:ln w="12700">
            <a:solidFill>
              <a:srgbClr val="FFFFFF"/>
            </a:solidFill>
            <a:prstDash val="solid"/>
          </a:ln>
        </p:spPr>
      </p:sp>
      <p:sp>
        <p:nvSpPr>
          <p:cNvPr id="11" name="anim-bullet-73"/>
          <p:cNvSpPr/>
          <p:nvPr/>
        </p:nvSpPr>
        <p:spPr>
          <a:xfrm>
            <a:off x="1463040" y="3749040"/>
            <a:ext cx="2468880" cy="310896"/>
          </a:xfrm>
          <a:prstGeom prst="rect">
            <a:avLst/>
          </a:prstGeom>
          <a:noFill/>
          <a:ln/>
        </p:spPr>
        <p:txBody>
          <a:bodyPr wrap="square" lIns="0" tIns="0" rIns="0" bIns="0" rtlCol="0" anchor="ctr"/>
          <a:lstStyle/>
          <a:p>
            <a:pPr indent="0" marL="0">
              <a:buNone/>
            </a:pPr>
            <a:r>
              <a:rPr lang="en-US" sz="1200" dirty="0">
                <a:solidFill>
                  <a:srgbClr val="2F3437"/>
                </a:solidFill>
                <a:latin typeface="Aptos" pitchFamily="34" charset="0"/>
                <a:ea typeface="Aptos" pitchFamily="34" charset="-122"/>
                <a:cs typeface="Aptos" pitchFamily="34" charset="-120"/>
              </a:rPr>
              <a:t>frühe Aufteilung</a:t>
            </a:r>
            <a:endParaRPr lang="en-US" sz="1200" dirty="0"/>
          </a:p>
        </p:txBody>
      </p:sp>
      <p:sp>
        <p:nvSpPr>
          <p:cNvPr id="12" name="Shape 10"/>
          <p:cNvSpPr/>
          <p:nvPr/>
        </p:nvSpPr>
        <p:spPr>
          <a:xfrm>
            <a:off x="1216152" y="4242816"/>
            <a:ext cx="118872" cy="118872"/>
          </a:xfrm>
          <a:prstGeom prst="ellipse">
            <a:avLst/>
          </a:prstGeom>
          <a:solidFill>
            <a:srgbClr val="FFFFFF"/>
          </a:solidFill>
          <a:ln w="12700">
            <a:solidFill>
              <a:srgbClr val="FFFFFF"/>
            </a:solidFill>
            <a:prstDash val="solid"/>
          </a:ln>
        </p:spPr>
      </p:sp>
      <p:sp>
        <p:nvSpPr>
          <p:cNvPr id="13" name="anim-bullet-74"/>
          <p:cNvSpPr/>
          <p:nvPr/>
        </p:nvSpPr>
        <p:spPr>
          <a:xfrm>
            <a:off x="1463040" y="4151376"/>
            <a:ext cx="2468880" cy="310896"/>
          </a:xfrm>
          <a:prstGeom prst="rect">
            <a:avLst/>
          </a:prstGeom>
          <a:noFill/>
          <a:ln/>
        </p:spPr>
        <p:txBody>
          <a:bodyPr wrap="square" lIns="0" tIns="0" rIns="0" bIns="0" rtlCol="0" anchor="ctr"/>
          <a:lstStyle/>
          <a:p>
            <a:pPr indent="0" marL="0">
              <a:buNone/>
            </a:pPr>
            <a:r>
              <a:rPr lang="en-US" sz="1200" dirty="0">
                <a:solidFill>
                  <a:srgbClr val="2F3437"/>
                </a:solidFill>
                <a:latin typeface="Aptos" pitchFamily="34" charset="0"/>
                <a:ea typeface="Aptos" pitchFamily="34" charset="-122"/>
                <a:cs typeface="Aptos" pitchFamily="34" charset="-120"/>
              </a:rPr>
              <a:t>viele Noten</a:t>
            </a:r>
            <a:endParaRPr lang="en-US" sz="1200" dirty="0"/>
          </a:p>
        </p:txBody>
      </p:sp>
      <p:sp>
        <p:nvSpPr>
          <p:cNvPr id="14" name="Shape 12"/>
          <p:cNvSpPr/>
          <p:nvPr/>
        </p:nvSpPr>
        <p:spPr>
          <a:xfrm>
            <a:off x="4507992" y="1572768"/>
            <a:ext cx="3310128" cy="3520440"/>
          </a:xfrm>
          <a:prstGeom prst="roundRect">
            <a:avLst>
              <a:gd name="adj" fmla="val 4972"/>
            </a:avLst>
          </a:prstGeom>
          <a:solidFill>
            <a:srgbClr val="FFF7C7"/>
          </a:solidFill>
          <a:ln w="12700">
            <a:solidFill>
              <a:srgbClr val="FFF7C7"/>
            </a:solidFill>
            <a:prstDash val="solid"/>
          </a:ln>
          <a:effectLst>
            <a:outerShdw sx="100000" sy="100000" kx="0" ky="0" algn="bl" rotWithShape="0" blurRad="1.2697857866076517e+111" dist="2.5395715732153033e+111" dir="4.605706660848612e+130">
              <a:srgbClr val="C9D2DA">
                <a:alpha val="2.2000000000000004e+134"/>
              </a:srgbClr>
            </a:outerShdw>
          </a:effectLst>
        </p:spPr>
      </p:sp>
      <p:sp>
        <p:nvSpPr>
          <p:cNvPr id="15" name="Shape 13"/>
          <p:cNvSpPr/>
          <p:nvPr/>
        </p:nvSpPr>
        <p:spPr>
          <a:xfrm>
            <a:off x="5632704" y="1856232"/>
            <a:ext cx="1060704" cy="1060704"/>
          </a:xfrm>
          <a:prstGeom prst="ellipse">
            <a:avLst/>
          </a:prstGeom>
          <a:solidFill>
            <a:srgbClr val="FFFFFF"/>
          </a:solidFill>
          <a:ln w="12700">
            <a:solidFill>
              <a:srgbClr val="FFFFFF"/>
            </a:solidFill>
            <a:prstDash val="solid"/>
          </a:ln>
        </p:spPr>
      </p:sp>
      <p:sp>
        <p:nvSpPr>
          <p:cNvPr id="16" name="Text 14"/>
          <p:cNvSpPr/>
          <p:nvPr/>
        </p:nvSpPr>
        <p:spPr>
          <a:xfrm>
            <a:off x="5843016" y="2240280"/>
            <a:ext cx="658368" cy="201168"/>
          </a:xfrm>
          <a:prstGeom prst="rect">
            <a:avLst/>
          </a:prstGeom>
          <a:noFill/>
          <a:ln/>
        </p:spPr>
        <p:txBody>
          <a:bodyPr wrap="square" lIns="0" tIns="0" rIns="0" bIns="0" rtlCol="0" anchor="ctr"/>
          <a:lstStyle/>
          <a:p>
            <a:pPr algn="ctr" indent="0" marL="0">
              <a:buNone/>
            </a:pPr>
            <a:r>
              <a:rPr lang="en-US" sz="1300" b="1" dirty="0">
                <a:solidFill>
                  <a:srgbClr val="2F3437"/>
                </a:solidFill>
              </a:rPr>
              <a:t>FI</a:t>
            </a:r>
            <a:endParaRPr lang="en-US" sz="1300" dirty="0"/>
          </a:p>
        </p:txBody>
      </p:sp>
      <p:sp>
        <p:nvSpPr>
          <p:cNvPr id="17" name="anim-country-75"/>
          <p:cNvSpPr/>
          <p:nvPr/>
        </p:nvSpPr>
        <p:spPr>
          <a:xfrm>
            <a:off x="4764024" y="3127248"/>
            <a:ext cx="2798064" cy="256032"/>
          </a:xfrm>
          <a:prstGeom prst="rect">
            <a:avLst/>
          </a:prstGeom>
          <a:noFill/>
          <a:ln/>
        </p:spPr>
        <p:txBody>
          <a:bodyPr wrap="square" lIns="0" tIns="0" rIns="0" bIns="0" rtlCol="0" anchor="ctr"/>
          <a:lstStyle/>
          <a:p>
            <a:pPr algn="ctr" indent="0" marL="0">
              <a:buNone/>
            </a:pPr>
            <a:r>
              <a:rPr lang="en-US" sz="1700" b="1" dirty="0">
                <a:solidFill>
                  <a:srgbClr val="2F3437"/>
                </a:solidFill>
              </a:rPr>
              <a:t>Finnland</a:t>
            </a:r>
            <a:endParaRPr lang="en-US" sz="1700" dirty="0"/>
          </a:p>
        </p:txBody>
      </p:sp>
      <p:sp>
        <p:nvSpPr>
          <p:cNvPr id="18" name="Shape 16"/>
          <p:cNvSpPr/>
          <p:nvPr/>
        </p:nvSpPr>
        <p:spPr>
          <a:xfrm>
            <a:off x="4946904" y="3840480"/>
            <a:ext cx="118872" cy="118872"/>
          </a:xfrm>
          <a:prstGeom prst="ellipse">
            <a:avLst/>
          </a:prstGeom>
          <a:solidFill>
            <a:srgbClr val="FFFFFF"/>
          </a:solidFill>
          <a:ln w="12700">
            <a:solidFill>
              <a:srgbClr val="FFFFFF"/>
            </a:solidFill>
            <a:prstDash val="solid"/>
          </a:ln>
        </p:spPr>
      </p:sp>
      <p:sp>
        <p:nvSpPr>
          <p:cNvPr id="19" name="anim-bullet-76"/>
          <p:cNvSpPr/>
          <p:nvPr/>
        </p:nvSpPr>
        <p:spPr>
          <a:xfrm>
            <a:off x="5193792" y="3749040"/>
            <a:ext cx="2468880" cy="310896"/>
          </a:xfrm>
          <a:prstGeom prst="rect">
            <a:avLst/>
          </a:prstGeom>
          <a:noFill/>
          <a:ln/>
        </p:spPr>
        <p:txBody>
          <a:bodyPr wrap="square" lIns="0" tIns="0" rIns="0" bIns="0" rtlCol="0" anchor="ctr"/>
          <a:lstStyle/>
          <a:p>
            <a:pPr indent="0" marL="0">
              <a:buNone/>
            </a:pPr>
            <a:r>
              <a:rPr lang="en-US" sz="1200" dirty="0">
                <a:solidFill>
                  <a:srgbClr val="2F3437"/>
                </a:solidFill>
                <a:latin typeface="Aptos" pitchFamily="34" charset="0"/>
                <a:ea typeface="Aptos" pitchFamily="34" charset="-122"/>
                <a:cs typeface="Aptos" pitchFamily="34" charset="-120"/>
              </a:rPr>
              <a:t>längeres gemeinsames Lernen</a:t>
            </a:r>
            <a:endParaRPr lang="en-US" sz="1200" dirty="0"/>
          </a:p>
        </p:txBody>
      </p:sp>
      <p:sp>
        <p:nvSpPr>
          <p:cNvPr id="20" name="Shape 18"/>
          <p:cNvSpPr/>
          <p:nvPr/>
        </p:nvSpPr>
        <p:spPr>
          <a:xfrm>
            <a:off x="4946904" y="4242816"/>
            <a:ext cx="118872" cy="118872"/>
          </a:xfrm>
          <a:prstGeom prst="ellipse">
            <a:avLst/>
          </a:prstGeom>
          <a:solidFill>
            <a:srgbClr val="FFFFFF"/>
          </a:solidFill>
          <a:ln w="12700">
            <a:solidFill>
              <a:srgbClr val="FFFFFF"/>
            </a:solidFill>
            <a:prstDash val="solid"/>
          </a:ln>
        </p:spPr>
      </p:sp>
      <p:sp>
        <p:nvSpPr>
          <p:cNvPr id="21" name="anim-bullet-77"/>
          <p:cNvSpPr/>
          <p:nvPr/>
        </p:nvSpPr>
        <p:spPr>
          <a:xfrm>
            <a:off x="5193792" y="4151376"/>
            <a:ext cx="2468880" cy="310896"/>
          </a:xfrm>
          <a:prstGeom prst="rect">
            <a:avLst/>
          </a:prstGeom>
          <a:noFill/>
          <a:ln/>
        </p:spPr>
        <p:txBody>
          <a:bodyPr wrap="square" lIns="0" tIns="0" rIns="0" bIns="0" rtlCol="0" anchor="ctr"/>
          <a:lstStyle/>
          <a:p>
            <a:pPr indent="0" marL="0">
              <a:buNone/>
            </a:pPr>
            <a:r>
              <a:rPr lang="en-US" sz="1200" dirty="0">
                <a:solidFill>
                  <a:srgbClr val="2F3437"/>
                </a:solidFill>
                <a:latin typeface="Aptos" pitchFamily="34" charset="0"/>
                <a:ea typeface="Aptos" pitchFamily="34" charset="-122"/>
                <a:cs typeface="Aptos" pitchFamily="34" charset="-120"/>
              </a:rPr>
              <a:t>spätere Leistungsdifferenzierung</a:t>
            </a:r>
            <a:endParaRPr lang="en-US" sz="1200" dirty="0"/>
          </a:p>
        </p:txBody>
      </p:sp>
      <p:sp>
        <p:nvSpPr>
          <p:cNvPr id="22" name="Shape 20"/>
          <p:cNvSpPr/>
          <p:nvPr/>
        </p:nvSpPr>
        <p:spPr>
          <a:xfrm>
            <a:off x="8238744" y="1572768"/>
            <a:ext cx="3310128" cy="3520440"/>
          </a:xfrm>
          <a:prstGeom prst="roundRect">
            <a:avLst>
              <a:gd name="adj" fmla="val 4972"/>
            </a:avLst>
          </a:prstGeom>
          <a:solidFill>
            <a:srgbClr val="FFD9E8"/>
          </a:solidFill>
          <a:ln w="12700">
            <a:solidFill>
              <a:srgbClr val="FFD9E8"/>
            </a:solidFill>
            <a:prstDash val="solid"/>
          </a:ln>
          <a:effectLst>
            <a:outerShdw sx="100000" sy="100000" kx="0" ky="0" algn="bl" rotWithShape="0" blurRad="1.6126279489917177e+115" dist="3.2252558979834354e+115" dir="2.763423996509167e+135">
              <a:srgbClr val="C9D2DA">
                <a:alpha val="2.2000000000000005e+139"/>
              </a:srgbClr>
            </a:outerShdw>
          </a:effectLst>
        </p:spPr>
      </p:sp>
      <p:sp>
        <p:nvSpPr>
          <p:cNvPr id="23" name="Shape 21"/>
          <p:cNvSpPr/>
          <p:nvPr/>
        </p:nvSpPr>
        <p:spPr>
          <a:xfrm>
            <a:off x="9363456" y="1856232"/>
            <a:ext cx="1060704" cy="1060704"/>
          </a:xfrm>
          <a:prstGeom prst="ellipse">
            <a:avLst/>
          </a:prstGeom>
          <a:solidFill>
            <a:srgbClr val="FFFFFF"/>
          </a:solidFill>
          <a:ln w="12700">
            <a:solidFill>
              <a:srgbClr val="FFFFFF"/>
            </a:solidFill>
            <a:prstDash val="solid"/>
          </a:ln>
        </p:spPr>
      </p:sp>
      <p:sp>
        <p:nvSpPr>
          <p:cNvPr id="24" name="Text 22"/>
          <p:cNvSpPr/>
          <p:nvPr/>
        </p:nvSpPr>
        <p:spPr>
          <a:xfrm>
            <a:off x="9573768" y="2240280"/>
            <a:ext cx="658368" cy="201168"/>
          </a:xfrm>
          <a:prstGeom prst="rect">
            <a:avLst/>
          </a:prstGeom>
          <a:noFill/>
          <a:ln/>
        </p:spPr>
        <p:txBody>
          <a:bodyPr wrap="square" lIns="0" tIns="0" rIns="0" bIns="0" rtlCol="0" anchor="ctr"/>
          <a:lstStyle/>
          <a:p>
            <a:pPr algn="ctr" indent="0" marL="0">
              <a:buNone/>
            </a:pPr>
            <a:r>
              <a:rPr lang="en-US" sz="1300" b="1" dirty="0">
                <a:solidFill>
                  <a:srgbClr val="2F3437"/>
                </a:solidFill>
              </a:rPr>
              <a:t>UK/US</a:t>
            </a:r>
            <a:endParaRPr lang="en-US" sz="1300" dirty="0"/>
          </a:p>
        </p:txBody>
      </p:sp>
      <p:sp>
        <p:nvSpPr>
          <p:cNvPr id="25" name="anim-country-78"/>
          <p:cNvSpPr/>
          <p:nvPr/>
        </p:nvSpPr>
        <p:spPr>
          <a:xfrm>
            <a:off x="8494776" y="3127248"/>
            <a:ext cx="2798064" cy="256032"/>
          </a:xfrm>
          <a:prstGeom prst="rect">
            <a:avLst/>
          </a:prstGeom>
          <a:noFill/>
          <a:ln/>
        </p:spPr>
        <p:txBody>
          <a:bodyPr wrap="square" lIns="0" tIns="0" rIns="0" bIns="0" rtlCol="0" anchor="ctr"/>
          <a:lstStyle/>
          <a:p>
            <a:pPr algn="ctr" indent="0" marL="0">
              <a:buNone/>
            </a:pPr>
            <a:r>
              <a:rPr lang="en-US" sz="1700" b="1" dirty="0">
                <a:solidFill>
                  <a:srgbClr val="2F3437"/>
                </a:solidFill>
              </a:rPr>
              <a:t>Angelsächsische Systeme</a:t>
            </a:r>
            <a:endParaRPr lang="en-US" sz="1700" dirty="0"/>
          </a:p>
        </p:txBody>
      </p:sp>
      <p:sp>
        <p:nvSpPr>
          <p:cNvPr id="26" name="Shape 24"/>
          <p:cNvSpPr/>
          <p:nvPr/>
        </p:nvSpPr>
        <p:spPr>
          <a:xfrm>
            <a:off x="8677656" y="3840480"/>
            <a:ext cx="118872" cy="118872"/>
          </a:xfrm>
          <a:prstGeom prst="ellipse">
            <a:avLst/>
          </a:prstGeom>
          <a:solidFill>
            <a:srgbClr val="FFFFFF"/>
          </a:solidFill>
          <a:ln w="12700">
            <a:solidFill>
              <a:srgbClr val="FFFFFF"/>
            </a:solidFill>
            <a:prstDash val="solid"/>
          </a:ln>
        </p:spPr>
      </p:sp>
      <p:sp>
        <p:nvSpPr>
          <p:cNvPr id="27" name="anim-bullet-79"/>
          <p:cNvSpPr/>
          <p:nvPr/>
        </p:nvSpPr>
        <p:spPr>
          <a:xfrm>
            <a:off x="8924544" y="3749040"/>
            <a:ext cx="2468880" cy="310896"/>
          </a:xfrm>
          <a:prstGeom prst="rect">
            <a:avLst/>
          </a:prstGeom>
          <a:noFill/>
          <a:ln/>
        </p:spPr>
        <p:txBody>
          <a:bodyPr wrap="square" lIns="0" tIns="0" rIns="0" bIns="0" rtlCol="0" anchor="ctr"/>
          <a:lstStyle/>
          <a:p>
            <a:pPr indent="0" marL="0">
              <a:buNone/>
            </a:pPr>
            <a:r>
              <a:rPr lang="en-US" sz="1200" dirty="0">
                <a:solidFill>
                  <a:srgbClr val="2F3437"/>
                </a:solidFill>
                <a:latin typeface="Aptos" pitchFamily="34" charset="0"/>
                <a:ea typeface="Aptos" pitchFamily="34" charset="-122"/>
                <a:cs typeface="Aptos" pitchFamily="34" charset="-120"/>
              </a:rPr>
              <a:t>mehr Praxis</a:t>
            </a:r>
            <a:endParaRPr lang="en-US" sz="1200" dirty="0"/>
          </a:p>
        </p:txBody>
      </p:sp>
      <p:sp>
        <p:nvSpPr>
          <p:cNvPr id="28" name="Shape 26"/>
          <p:cNvSpPr/>
          <p:nvPr/>
        </p:nvSpPr>
        <p:spPr>
          <a:xfrm>
            <a:off x="8677656" y="4242816"/>
            <a:ext cx="118872" cy="118872"/>
          </a:xfrm>
          <a:prstGeom prst="ellipse">
            <a:avLst/>
          </a:prstGeom>
          <a:solidFill>
            <a:srgbClr val="FFFFFF"/>
          </a:solidFill>
          <a:ln w="12700">
            <a:solidFill>
              <a:srgbClr val="FFFFFF"/>
            </a:solidFill>
            <a:prstDash val="solid"/>
          </a:ln>
        </p:spPr>
      </p:sp>
      <p:sp>
        <p:nvSpPr>
          <p:cNvPr id="29" name="anim-bullet-80"/>
          <p:cNvSpPr/>
          <p:nvPr/>
        </p:nvSpPr>
        <p:spPr>
          <a:xfrm>
            <a:off x="8924544" y="4151376"/>
            <a:ext cx="2468880" cy="310896"/>
          </a:xfrm>
          <a:prstGeom prst="rect">
            <a:avLst/>
          </a:prstGeom>
          <a:noFill/>
          <a:ln/>
        </p:spPr>
        <p:txBody>
          <a:bodyPr wrap="square" lIns="0" tIns="0" rIns="0" bIns="0" rtlCol="0" anchor="ctr"/>
          <a:lstStyle/>
          <a:p>
            <a:pPr indent="0" marL="0">
              <a:buNone/>
            </a:pPr>
            <a:r>
              <a:rPr lang="en-US" sz="1200" dirty="0">
                <a:solidFill>
                  <a:srgbClr val="2F3437"/>
                </a:solidFill>
                <a:latin typeface="Aptos" pitchFamily="34" charset="0"/>
                <a:ea typeface="Aptos" pitchFamily="34" charset="-122"/>
                <a:cs typeface="Aptos" pitchFamily="34" charset="-120"/>
              </a:rPr>
              <a:t>mehr Wahlmöglichkeiten</a:t>
            </a:r>
            <a:endParaRPr lang="en-US" sz="1200" dirty="0"/>
          </a:p>
        </p:txBody>
      </p:sp>
      <p:sp>
        <p:nvSpPr>
          <p:cNvPr id="30" name="anim-perfect-81"/>
          <p:cNvSpPr/>
          <p:nvPr/>
        </p:nvSpPr>
        <p:spPr>
          <a:xfrm>
            <a:off x="4343400" y="5632704"/>
            <a:ext cx="3474720" cy="274320"/>
          </a:xfrm>
          <a:prstGeom prst="rect">
            <a:avLst/>
          </a:prstGeom>
          <a:noFill/>
          <a:ln/>
        </p:spPr>
        <p:txBody>
          <a:bodyPr wrap="square" lIns="0" tIns="0" rIns="0" bIns="0" rtlCol="0" anchor="ctr"/>
          <a:lstStyle/>
          <a:p>
            <a:pPr algn="ctr" indent="0" marL="0">
              <a:buNone/>
            </a:pPr>
            <a:r>
              <a:rPr lang="en-US" sz="1700" b="1" dirty="0">
                <a:solidFill>
                  <a:srgbClr val="6B7280"/>
                </a:solidFill>
              </a:rPr>
              <a:t>kein System ist perfekt</a:t>
            </a:r>
            <a:endParaRPr lang="en-US" sz="1700" dirty="0"/>
          </a:p>
        </p:txBody>
      </p:sp>
      <p:sp>
        <p:nvSpPr>
          <p:cNvPr id="31" name="Text 29"/>
          <p:cNvSpPr/>
          <p:nvPr/>
        </p:nvSpPr>
        <p:spPr>
          <a:xfrm>
            <a:off x="658368" y="6473952"/>
            <a:ext cx="1097280" cy="164592"/>
          </a:xfrm>
          <a:prstGeom prst="rect">
            <a:avLst/>
          </a:prstGeom>
          <a:noFill/>
          <a:ln/>
        </p:spPr>
        <p:txBody>
          <a:bodyPr wrap="square" lIns="0" tIns="0" rIns="0" bIns="0" rtlCol="0" anchor="ctr"/>
          <a:lstStyle/>
          <a:p>
            <a:pPr indent="0" marL="0">
              <a:buNone/>
            </a:pPr>
            <a:r>
              <a:rPr lang="en-US" sz="700" dirty="0">
                <a:solidFill>
                  <a:srgbClr val="A7ADB3"/>
                </a:solidFill>
                <a:latin typeface="Aptos" pitchFamily="34" charset="0"/>
                <a:ea typeface="Aptos" pitchFamily="34" charset="-122"/>
                <a:cs typeface="Aptos" pitchFamily="34" charset="-120"/>
              </a:rPr>
              <a:t>Folie 8 / 11</a:t>
            </a:r>
            <a:endParaRPr lang="en-US" sz="700" dirty="0"/>
          </a:p>
        </p:txBody>
      </p:sp>
      <p:sp>
        <p:nvSpPr>
          <p:cNvPr id="32" name="Text 30"/>
          <p:cNvSpPr/>
          <p:nvPr/>
        </p:nvSpPr>
        <p:spPr>
          <a:xfrm>
            <a:off x="9802368" y="6473952"/>
            <a:ext cx="1627632" cy="164592"/>
          </a:xfrm>
          <a:prstGeom prst="rect">
            <a:avLst/>
          </a:prstGeom>
          <a:noFill/>
          <a:ln/>
        </p:spPr>
        <p:txBody>
          <a:bodyPr wrap="square" lIns="0" tIns="0" rIns="0" bIns="0" rtlCol="0" anchor="ctr"/>
          <a:lstStyle/>
          <a:p>
            <a:pPr algn="r" indent="0" marL="0">
              <a:buNone/>
            </a:pPr>
            <a:r>
              <a:rPr lang="en-US" sz="700" dirty="0">
                <a:solidFill>
                  <a:srgbClr val="BDC4CB"/>
                </a:solidFill>
                <a:latin typeface="Aptos" pitchFamily="34" charset="0"/>
                <a:ea typeface="Aptos" pitchFamily="34" charset="-122"/>
                <a:cs typeface="Aptos" pitchFamily="34" charset="-120"/>
              </a:rPr>
              <a:t>Übergang: Pop</a:t>
            </a:r>
            <a:endParaRPr lang="en-US" sz="700" dirty="0"/>
          </a:p>
        </p:txBody>
      </p:sp>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8</a:t>
            </a:fld>
            <a:endParaRPr lang="en-US"/>
          </a:p>
        </p:txBody>
      </p:sp>
    </p:spTree>
  </p:cSld>
  <p:transition spd="med">
    <p:newsflash/>
  </p:transition>
  <p:clrMapOvr>
    <a:masterClrMapping/>
  </p:clrMapOvr>
  <p:timing>
    <p:tnLst>
      <p:par>
        <p:cTn id="1" dur="indefinite" restart="never" nodeType="tmRoot">
          <p:childTnLst>
            <p:seq concurrent="1" nextAc="seek">
              <p:cTn id="2" dur="indefinite" nodeType="mainSeq">
                <p:childTnLst>
                  <p:par>
                    <p:cTn id="100" fill="hold" nodeType="clickEffect" presetID="10" presetClass="entr" presetSubtype="0">
                      <p:stCondLst>
                        <p:cond delay="0"/>
                      </p:stCondLst>
                      <p:childTnLst>
                        <p:set>
                          <p:cBhvr>
                            <p:cTn id="101" dur="1" fill="hold"/>
                            <p:tgtEl>
                              <p:spTgt spid="5"/>
                            </p:tgtEl>
                            <p:attrNameLst>
                              <p:attrName>style.visibility</p:attrName>
                            </p:attrNameLst>
                          </p:cBhvr>
                          <p:to>
                            <p:strVal val="visible"/>
                          </p:to>
                        </p:set>
                        <p:animEffect transition="in" filter="fade">
                          <p:cBhvr>
                            <p:cTn id="102" dur="450" fill="hold"/>
                            <p:tgtEl>
                              <p:spTgt spid="5"/>
                            </p:tgtEl>
                          </p:cBhvr>
                        </p:animEffect>
                      </p:childTnLst>
                    </p:cTn>
                  </p:par>
                  <p:par>
                    <p:cTn id="103" fill="hold" nodeType="clickEffect" presetID="10" presetClass="entr" presetSubtype="0">
                      <p:stCondLst>
                        <p:cond delay="250"/>
                      </p:stCondLst>
                      <p:childTnLst>
                        <p:set>
                          <p:cBhvr>
                            <p:cTn id="104" dur="1" fill="hold"/>
                            <p:tgtEl>
                              <p:spTgt spid="9"/>
                            </p:tgtEl>
                            <p:attrNameLst>
                              <p:attrName>style.visibility</p:attrName>
                            </p:attrNameLst>
                          </p:cBhvr>
                          <p:to>
                            <p:strVal val="visible"/>
                          </p:to>
                        </p:set>
                        <p:animEffect transition="in" filter="fade">
                          <p:cBhvr>
                            <p:cTn id="105" dur="450" fill="hold"/>
                            <p:tgtEl>
                              <p:spTgt spid="9"/>
                            </p:tgtEl>
                          </p:cBhvr>
                        </p:animEffect>
                      </p:childTnLst>
                    </p:cTn>
                  </p:par>
                  <p:par>
                    <p:cTn id="106" fill="hold" nodeType="clickEffect" presetID="10" presetClass="entr" presetSubtype="0">
                      <p:stCondLst>
                        <p:cond delay="250"/>
                      </p:stCondLst>
                      <p:childTnLst>
                        <p:set>
                          <p:cBhvr>
                            <p:cTn id="107" dur="1" fill="hold"/>
                            <p:tgtEl>
                              <p:spTgt spid="11"/>
                            </p:tgtEl>
                            <p:attrNameLst>
                              <p:attrName>style.visibility</p:attrName>
                            </p:attrNameLst>
                          </p:cBhvr>
                          <p:to>
                            <p:strVal val="visible"/>
                          </p:to>
                        </p:set>
                        <p:animEffect transition="in" filter="fade">
                          <p:cBhvr>
                            <p:cTn id="108" dur="450" fill="hold"/>
                            <p:tgtEl>
                              <p:spTgt spid="11"/>
                            </p:tgtEl>
                          </p:cBhvr>
                        </p:animEffect>
                      </p:childTnLst>
                    </p:cTn>
                  </p:par>
                  <p:par>
                    <p:cTn id="109" fill="hold" nodeType="clickEffect" presetID="10" presetClass="entr" presetSubtype="0">
                      <p:stCondLst>
                        <p:cond delay="250"/>
                      </p:stCondLst>
                      <p:childTnLst>
                        <p:set>
                          <p:cBhvr>
                            <p:cTn id="110" dur="1" fill="hold"/>
                            <p:tgtEl>
                              <p:spTgt spid="13"/>
                            </p:tgtEl>
                            <p:attrNameLst>
                              <p:attrName>style.visibility</p:attrName>
                            </p:attrNameLst>
                          </p:cBhvr>
                          <p:to>
                            <p:strVal val="visible"/>
                          </p:to>
                        </p:set>
                        <p:animEffect transition="in" filter="fade">
                          <p:cBhvr>
                            <p:cTn id="111" dur="450" fill="hold"/>
                            <p:tgtEl>
                              <p:spTgt spid="13"/>
                            </p:tgtEl>
                          </p:cBhvr>
                        </p:animEffect>
                      </p:childTnLst>
                    </p:cTn>
                  </p:par>
                  <p:par>
                    <p:cTn id="112" fill="hold" nodeType="clickEffect" presetID="10" presetClass="entr" presetSubtype="0">
                      <p:stCondLst>
                        <p:cond delay="250"/>
                      </p:stCondLst>
                      <p:childTnLst>
                        <p:set>
                          <p:cBhvr>
                            <p:cTn id="113" dur="1" fill="hold"/>
                            <p:tgtEl>
                              <p:spTgt spid="17"/>
                            </p:tgtEl>
                            <p:attrNameLst>
                              <p:attrName>style.visibility</p:attrName>
                            </p:attrNameLst>
                          </p:cBhvr>
                          <p:to>
                            <p:strVal val="visible"/>
                          </p:to>
                        </p:set>
                        <p:animEffect transition="in" filter="fade">
                          <p:cBhvr>
                            <p:cTn id="114" dur="450" fill="hold"/>
                            <p:tgtEl>
                              <p:spTgt spid="17"/>
                            </p:tgtEl>
                          </p:cBhvr>
                        </p:animEffect>
                      </p:childTnLst>
                    </p:cTn>
                  </p:par>
                  <p:par>
                    <p:cTn id="115" fill="hold" nodeType="clickEffect" presetID="10" presetClass="entr" presetSubtype="0">
                      <p:stCondLst>
                        <p:cond delay="250"/>
                      </p:stCondLst>
                      <p:childTnLst>
                        <p:set>
                          <p:cBhvr>
                            <p:cTn id="116" dur="1" fill="hold"/>
                            <p:tgtEl>
                              <p:spTgt spid="19"/>
                            </p:tgtEl>
                            <p:attrNameLst>
                              <p:attrName>style.visibility</p:attrName>
                            </p:attrNameLst>
                          </p:cBhvr>
                          <p:to>
                            <p:strVal val="visible"/>
                          </p:to>
                        </p:set>
                        <p:animEffect transition="in" filter="fade">
                          <p:cBhvr>
                            <p:cTn id="117" dur="450" fill="hold"/>
                            <p:tgtEl>
                              <p:spTgt spid="19"/>
                            </p:tgtEl>
                          </p:cBhvr>
                        </p:animEffect>
                      </p:childTnLst>
                    </p:cTn>
                  </p:par>
                  <p:par>
                    <p:cTn id="118" fill="hold" nodeType="clickEffect" presetID="10" presetClass="entr" presetSubtype="0">
                      <p:stCondLst>
                        <p:cond delay="250"/>
                      </p:stCondLst>
                      <p:childTnLst>
                        <p:set>
                          <p:cBhvr>
                            <p:cTn id="119" dur="1" fill="hold"/>
                            <p:tgtEl>
                              <p:spTgt spid="21"/>
                            </p:tgtEl>
                            <p:attrNameLst>
                              <p:attrName>style.visibility</p:attrName>
                            </p:attrNameLst>
                          </p:cBhvr>
                          <p:to>
                            <p:strVal val="visible"/>
                          </p:to>
                        </p:set>
                        <p:animEffect transition="in" filter="fade">
                          <p:cBhvr>
                            <p:cTn id="120" dur="450" fill="hold"/>
                            <p:tgtEl>
                              <p:spTgt spid="21"/>
                            </p:tgtEl>
                          </p:cBhvr>
                        </p:animEffect>
                      </p:childTnLst>
                    </p:cTn>
                  </p:par>
                  <p:par>
                    <p:cTn id="121" fill="hold" nodeType="clickEffect" presetID="10" presetClass="entr" presetSubtype="0">
                      <p:stCondLst>
                        <p:cond delay="250"/>
                      </p:stCondLst>
                      <p:childTnLst>
                        <p:set>
                          <p:cBhvr>
                            <p:cTn id="122" dur="1" fill="hold"/>
                            <p:tgtEl>
                              <p:spTgt spid="25"/>
                            </p:tgtEl>
                            <p:attrNameLst>
                              <p:attrName>style.visibility</p:attrName>
                            </p:attrNameLst>
                          </p:cBhvr>
                          <p:to>
                            <p:strVal val="visible"/>
                          </p:to>
                        </p:set>
                        <p:animEffect transition="in" filter="fade">
                          <p:cBhvr>
                            <p:cTn id="123" dur="450" fill="hold"/>
                            <p:tgtEl>
                              <p:spTgt spid="25"/>
                            </p:tgtEl>
                          </p:cBhvr>
                        </p:animEffect>
                      </p:childTnLst>
                    </p:cTn>
                  </p:par>
                  <p:par>
                    <p:cTn id="124" fill="hold" nodeType="clickEffect" presetID="10" presetClass="entr" presetSubtype="0">
                      <p:stCondLst>
                        <p:cond delay="250"/>
                      </p:stCondLst>
                      <p:childTnLst>
                        <p:set>
                          <p:cBhvr>
                            <p:cTn id="125" dur="1" fill="hold"/>
                            <p:tgtEl>
                              <p:spTgt spid="27"/>
                            </p:tgtEl>
                            <p:attrNameLst>
                              <p:attrName>style.visibility</p:attrName>
                            </p:attrNameLst>
                          </p:cBhvr>
                          <p:to>
                            <p:strVal val="visible"/>
                          </p:to>
                        </p:set>
                        <p:animEffect transition="in" filter="fade">
                          <p:cBhvr>
                            <p:cTn id="126" dur="450" fill="hold"/>
                            <p:tgtEl>
                              <p:spTgt spid="27"/>
                            </p:tgtEl>
                          </p:cBhvr>
                        </p:animEffect>
                      </p:childTnLst>
                    </p:cTn>
                  </p:par>
                  <p:par>
                    <p:cTn id="127" fill="hold" nodeType="clickEffect" presetID="10" presetClass="entr" presetSubtype="0">
                      <p:stCondLst>
                        <p:cond delay="250"/>
                      </p:stCondLst>
                      <p:childTnLst>
                        <p:set>
                          <p:cBhvr>
                            <p:cTn id="128" dur="1" fill="hold"/>
                            <p:tgtEl>
                              <p:spTgt spid="29"/>
                            </p:tgtEl>
                            <p:attrNameLst>
                              <p:attrName>style.visibility</p:attrName>
                            </p:attrNameLst>
                          </p:cBhvr>
                          <p:to>
                            <p:strVal val="visible"/>
                          </p:to>
                        </p:set>
                        <p:animEffect transition="in" filter="fade">
                          <p:cBhvr>
                            <p:cTn id="129" dur="450" fill="hold"/>
                            <p:tgtEl>
                              <p:spTgt spid="29"/>
                            </p:tgtEl>
                          </p:cBhvr>
                        </p:animEffect>
                      </p:childTnLst>
                    </p:cTn>
                  </p:par>
                  <p:par>
                    <p:cTn id="130" fill="hold" nodeType="clickEffect" presetID="10" presetClass="entr" presetSubtype="0">
                      <p:stCondLst>
                        <p:cond delay="250"/>
                      </p:stCondLst>
                      <p:childTnLst>
                        <p:set>
                          <p:cBhvr>
                            <p:cTn id="131" dur="1" fill="hold"/>
                            <p:tgtEl>
                              <p:spTgt spid="30"/>
                            </p:tgtEl>
                            <p:attrNameLst>
                              <p:attrName>style.visibility</p:attrName>
                            </p:attrNameLst>
                          </p:cBhvr>
                          <p:to>
                            <p:strVal val="visible"/>
                          </p:to>
                        </p:set>
                        <p:animEffect transition="in" filter="fade">
                          <p:cBhvr>
                            <p:cTn id="132" dur="450" fill="hold"/>
                            <p:tgtEl>
                              <p:spTgt spid="30"/>
                            </p:tgtEl>
                          </p:cBhvr>
                        </p:animEffect>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1" grpId="0"/>
      <p:bldP spid="13" grpId="0"/>
      <p:bldP spid="17" grpId="0"/>
      <p:bldP spid="19" grpId="0"/>
      <p:bldP spid="21" grpId="0"/>
      <p:bldP spid="25" grpId="0"/>
      <p:bldP spid="27" grpId="0"/>
      <p:bldP spid="29" grpId="0"/>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05840" y="2011680"/>
            <a:ext cx="2560320" cy="2560320"/>
          </a:xfrm>
          <a:prstGeom prst="ellipse">
            <a:avLst/>
          </a:prstGeom>
          <a:solidFill>
            <a:srgbClr val="FFD9E8">
              <a:alpha val="38000"/>
            </a:srgbClr>
          </a:solidFill>
          <a:ln w="12700">
            <a:solidFill>
              <a:srgbClr val="FFD9E8">
                <a:alpha val="0"/>
              </a:srgbClr>
            </a:solidFill>
            <a:prstDash val="solid"/>
          </a:ln>
        </p:spPr>
      </p:sp>
      <p:sp>
        <p:nvSpPr>
          <p:cNvPr id="3" name="Shape 1"/>
          <p:cNvSpPr/>
          <p:nvPr/>
        </p:nvSpPr>
        <p:spPr>
          <a:xfrm>
            <a:off x="9784080" y="182880"/>
            <a:ext cx="2651760" cy="2286000"/>
          </a:xfrm>
          <a:prstGeom prst="ellipse">
            <a:avLst/>
          </a:prstGeom>
          <a:solidFill>
            <a:srgbClr val="CFEFFF">
              <a:alpha val="45000"/>
            </a:srgbClr>
          </a:solidFill>
          <a:ln w="12700">
            <a:solidFill>
              <a:srgbClr val="CFEFFF">
                <a:alpha val="0"/>
              </a:srgbClr>
            </a:solidFill>
            <a:prstDash val="solid"/>
          </a:ln>
        </p:spPr>
      </p:sp>
      <p:sp>
        <p:nvSpPr>
          <p:cNvPr id="4" name="Shape 2"/>
          <p:cNvSpPr/>
          <p:nvPr/>
        </p:nvSpPr>
        <p:spPr>
          <a:xfrm>
            <a:off x="8503920" y="5212080"/>
            <a:ext cx="3200400" cy="1554480"/>
          </a:xfrm>
          <a:prstGeom prst="ellipse">
            <a:avLst/>
          </a:prstGeom>
          <a:solidFill>
            <a:srgbClr val="FFF7C7">
              <a:alpha val="45000"/>
            </a:srgbClr>
          </a:solidFill>
          <a:ln w="12700">
            <a:solidFill>
              <a:srgbClr val="FFF7C7">
                <a:alpha val="0"/>
              </a:srgbClr>
            </a:solidFill>
            <a:prstDash val="solid"/>
          </a:ln>
        </p:spPr>
      </p:sp>
      <p:sp>
        <p:nvSpPr>
          <p:cNvPr id="5" name="anim-title-82"/>
          <p:cNvSpPr/>
          <p:nvPr/>
        </p:nvSpPr>
        <p:spPr>
          <a:xfrm>
            <a:off x="658368" y="530352"/>
            <a:ext cx="5760720" cy="841248"/>
          </a:xfrm>
          <a:prstGeom prst="rect">
            <a:avLst/>
          </a:prstGeom>
          <a:noFill/>
          <a:ln/>
        </p:spPr>
        <p:txBody>
          <a:bodyPr wrap="square" lIns="0" tIns="0" rIns="0" bIns="0" rtlCol="0" anchor="ctr">
            <a:normAutofit/>
          </a:bodyPr>
          <a:lstStyle/>
          <a:p>
            <a:pPr indent="0" marL="0">
              <a:buNone/>
            </a:pPr>
            <a:r>
              <a:rPr lang="en-US" sz="3400" b="1" dirty="0">
                <a:solidFill>
                  <a:srgbClr val="2F3437"/>
                </a:solidFill>
                <a:latin typeface="Aptos Display" pitchFamily="34" charset="0"/>
                <a:ea typeface="Aptos Display" pitchFamily="34" charset="-122"/>
                <a:cs typeface="Aptos Display" pitchFamily="34" charset="-120"/>
              </a:rPr>
              <a:t>Stärken und Schwächen</a:t>
            </a:r>
            <a:endParaRPr lang="en-US" sz="3400" dirty="0"/>
          </a:p>
        </p:txBody>
      </p:sp>
      <p:sp>
        <p:nvSpPr>
          <p:cNvPr id="6" name="Shape 4"/>
          <p:cNvSpPr/>
          <p:nvPr/>
        </p:nvSpPr>
        <p:spPr>
          <a:xfrm>
            <a:off x="896112" y="1481328"/>
            <a:ext cx="4892040" cy="4251960"/>
          </a:xfrm>
          <a:prstGeom prst="roundRect">
            <a:avLst>
              <a:gd name="adj" fmla="val 4301"/>
            </a:avLst>
          </a:prstGeom>
          <a:solidFill>
            <a:srgbClr val="DDF7E8"/>
          </a:solidFill>
          <a:ln w="12700">
            <a:solidFill>
              <a:srgbClr val="DDF7E8"/>
            </a:solidFill>
            <a:prstDash val="solid"/>
          </a:ln>
          <a:effectLst>
            <a:outerShdw sx="100000" sy="100000" kx="0" ky="0" algn="bl" rotWithShape="0" blurRad="2.0480374952194813e+119" dist="4.0960749904389626e+119" dir="1.6580543979055002e+140">
              <a:srgbClr val="C9D2DA">
                <a:alpha val="2.2000000000000006e+144"/>
              </a:srgbClr>
            </a:outerShdw>
          </a:effectLst>
        </p:spPr>
      </p:sp>
      <p:sp>
        <p:nvSpPr>
          <p:cNvPr id="7" name="Shape 5"/>
          <p:cNvSpPr/>
          <p:nvPr/>
        </p:nvSpPr>
        <p:spPr>
          <a:xfrm>
            <a:off x="6428232" y="1481328"/>
            <a:ext cx="4892040" cy="4251960"/>
          </a:xfrm>
          <a:prstGeom prst="roundRect">
            <a:avLst>
              <a:gd name="adj" fmla="val 4301"/>
            </a:avLst>
          </a:prstGeom>
          <a:solidFill>
            <a:srgbClr val="FFD9E8"/>
          </a:solidFill>
          <a:ln w="12700">
            <a:solidFill>
              <a:srgbClr val="FFD9E8"/>
            </a:solidFill>
            <a:prstDash val="solid"/>
          </a:ln>
          <a:effectLst>
            <a:outerShdw sx="100000" sy="100000" kx="0" ky="0" algn="bl" rotWithShape="0" blurRad="2.6010076189287412e+123" dist="5.2020152378574823e+123" dir="9.948326387433002e+144">
              <a:srgbClr val="C9D2DA">
                <a:alpha val="2.2000000000000004e+149"/>
              </a:srgbClr>
            </a:outerShdw>
          </a:effectLst>
        </p:spPr>
      </p:sp>
      <p:sp>
        <p:nvSpPr>
          <p:cNvPr id="8" name="anim-strength-title-83"/>
          <p:cNvSpPr/>
          <p:nvPr/>
        </p:nvSpPr>
        <p:spPr>
          <a:xfrm>
            <a:off x="1280160" y="1828800"/>
            <a:ext cx="4069080" cy="347472"/>
          </a:xfrm>
          <a:prstGeom prst="rect">
            <a:avLst/>
          </a:prstGeom>
          <a:noFill/>
          <a:ln/>
        </p:spPr>
        <p:txBody>
          <a:bodyPr wrap="square" lIns="0" tIns="0" rIns="0" bIns="0" rtlCol="0" anchor="ctr"/>
          <a:lstStyle/>
          <a:p>
            <a:pPr indent="0" marL="0">
              <a:buNone/>
            </a:pPr>
            <a:r>
              <a:rPr lang="en-US" sz="2300" b="1" dirty="0">
                <a:solidFill>
                  <a:srgbClr val="2C6B4F"/>
                </a:solidFill>
              </a:rPr>
              <a:t>Stärken</a:t>
            </a:r>
            <a:endParaRPr lang="en-US" sz="2300" dirty="0"/>
          </a:p>
        </p:txBody>
      </p:sp>
      <p:sp>
        <p:nvSpPr>
          <p:cNvPr id="9" name="Shape 7"/>
          <p:cNvSpPr/>
          <p:nvPr/>
        </p:nvSpPr>
        <p:spPr>
          <a:xfrm>
            <a:off x="1371600" y="2651760"/>
            <a:ext cx="118872" cy="118872"/>
          </a:xfrm>
          <a:prstGeom prst="ellipse">
            <a:avLst/>
          </a:prstGeom>
          <a:solidFill>
            <a:srgbClr val="FFFFFF"/>
          </a:solidFill>
          <a:ln w="12700">
            <a:solidFill>
              <a:srgbClr val="FFFFFF"/>
            </a:solidFill>
            <a:prstDash val="solid"/>
          </a:ln>
        </p:spPr>
      </p:sp>
      <p:sp>
        <p:nvSpPr>
          <p:cNvPr id="10" name="anim-bullet-84"/>
          <p:cNvSpPr/>
          <p:nvPr/>
        </p:nvSpPr>
        <p:spPr>
          <a:xfrm>
            <a:off x="1618488" y="2560320"/>
            <a:ext cx="3931920" cy="310896"/>
          </a:xfrm>
          <a:prstGeom prst="rect">
            <a:avLst/>
          </a:prstGeom>
          <a:noFill/>
          <a:ln/>
        </p:spPr>
        <p:txBody>
          <a:bodyPr wrap="square" lIns="0" tIns="0" rIns="0" bIns="0" rtlCol="0" anchor="ctr"/>
          <a:lstStyle/>
          <a:p>
            <a:pPr indent="0" marL="0">
              <a:buNone/>
            </a:pPr>
            <a:r>
              <a:rPr lang="en-US" sz="1700" dirty="0">
                <a:solidFill>
                  <a:srgbClr val="2F3437"/>
                </a:solidFill>
                <a:latin typeface="Aptos" pitchFamily="34" charset="0"/>
                <a:ea typeface="Aptos" pitchFamily="34" charset="-122"/>
                <a:cs typeface="Aptos" pitchFamily="34" charset="-120"/>
              </a:rPr>
              <a:t>verschiedene Bildungswege</a:t>
            </a:r>
            <a:endParaRPr lang="en-US" sz="1700" dirty="0"/>
          </a:p>
        </p:txBody>
      </p:sp>
      <p:sp>
        <p:nvSpPr>
          <p:cNvPr id="11" name="Shape 9"/>
          <p:cNvSpPr/>
          <p:nvPr/>
        </p:nvSpPr>
        <p:spPr>
          <a:xfrm>
            <a:off x="1371600" y="3218688"/>
            <a:ext cx="118872" cy="118872"/>
          </a:xfrm>
          <a:prstGeom prst="ellipse">
            <a:avLst/>
          </a:prstGeom>
          <a:solidFill>
            <a:srgbClr val="FFFFFF"/>
          </a:solidFill>
          <a:ln w="12700">
            <a:solidFill>
              <a:srgbClr val="FFFFFF"/>
            </a:solidFill>
            <a:prstDash val="solid"/>
          </a:ln>
        </p:spPr>
      </p:sp>
      <p:sp>
        <p:nvSpPr>
          <p:cNvPr id="12" name="anim-bullet-85"/>
          <p:cNvSpPr/>
          <p:nvPr/>
        </p:nvSpPr>
        <p:spPr>
          <a:xfrm>
            <a:off x="1618488" y="3127248"/>
            <a:ext cx="3931920" cy="310896"/>
          </a:xfrm>
          <a:prstGeom prst="rect">
            <a:avLst/>
          </a:prstGeom>
          <a:noFill/>
          <a:ln/>
        </p:spPr>
        <p:txBody>
          <a:bodyPr wrap="square" lIns="0" tIns="0" rIns="0" bIns="0" rtlCol="0" anchor="ctr"/>
          <a:lstStyle/>
          <a:p>
            <a:pPr indent="0" marL="0">
              <a:buNone/>
            </a:pPr>
            <a:r>
              <a:rPr lang="en-US" sz="1700" dirty="0">
                <a:solidFill>
                  <a:srgbClr val="2F3437"/>
                </a:solidFill>
                <a:latin typeface="Aptos" pitchFamily="34" charset="0"/>
                <a:ea typeface="Aptos" pitchFamily="34" charset="-122"/>
                <a:cs typeface="Aptos" pitchFamily="34" charset="-120"/>
              </a:rPr>
              <a:t>duales Ausbildungssystem</a:t>
            </a:r>
            <a:endParaRPr lang="en-US" sz="1700" dirty="0"/>
          </a:p>
        </p:txBody>
      </p:sp>
      <p:sp>
        <p:nvSpPr>
          <p:cNvPr id="13" name="Shape 11"/>
          <p:cNvSpPr/>
          <p:nvPr/>
        </p:nvSpPr>
        <p:spPr>
          <a:xfrm>
            <a:off x="1371600" y="3785616"/>
            <a:ext cx="118872" cy="118872"/>
          </a:xfrm>
          <a:prstGeom prst="ellipse">
            <a:avLst/>
          </a:prstGeom>
          <a:solidFill>
            <a:srgbClr val="FFFFFF"/>
          </a:solidFill>
          <a:ln w="12700">
            <a:solidFill>
              <a:srgbClr val="FFFFFF"/>
            </a:solidFill>
            <a:prstDash val="solid"/>
          </a:ln>
        </p:spPr>
      </p:sp>
      <p:sp>
        <p:nvSpPr>
          <p:cNvPr id="14" name="anim-bullet-86"/>
          <p:cNvSpPr/>
          <p:nvPr/>
        </p:nvSpPr>
        <p:spPr>
          <a:xfrm>
            <a:off x="1618488" y="3694176"/>
            <a:ext cx="3931920" cy="310896"/>
          </a:xfrm>
          <a:prstGeom prst="rect">
            <a:avLst/>
          </a:prstGeom>
          <a:noFill/>
          <a:ln/>
        </p:spPr>
        <p:txBody>
          <a:bodyPr wrap="square" lIns="0" tIns="0" rIns="0" bIns="0" rtlCol="0" anchor="ctr"/>
          <a:lstStyle/>
          <a:p>
            <a:pPr indent="0" marL="0">
              <a:buNone/>
            </a:pPr>
            <a:r>
              <a:rPr lang="en-US" sz="1700" dirty="0">
                <a:solidFill>
                  <a:srgbClr val="2F3437"/>
                </a:solidFill>
                <a:latin typeface="Aptos" pitchFamily="34" charset="0"/>
                <a:ea typeface="Aptos" pitchFamily="34" charset="-122"/>
                <a:cs typeface="Aptos" pitchFamily="34" charset="-120"/>
              </a:rPr>
              <a:t>hohe akademische Standards</a:t>
            </a:r>
            <a:endParaRPr lang="en-US" sz="1700" dirty="0"/>
          </a:p>
        </p:txBody>
      </p:sp>
      <p:sp>
        <p:nvSpPr>
          <p:cNvPr id="15" name="anim-weak-title-87"/>
          <p:cNvSpPr/>
          <p:nvPr/>
        </p:nvSpPr>
        <p:spPr>
          <a:xfrm>
            <a:off x="6812280" y="1828800"/>
            <a:ext cx="4069080" cy="347472"/>
          </a:xfrm>
          <a:prstGeom prst="rect">
            <a:avLst/>
          </a:prstGeom>
          <a:noFill/>
          <a:ln/>
        </p:spPr>
        <p:txBody>
          <a:bodyPr wrap="square" lIns="0" tIns="0" rIns="0" bIns="0" rtlCol="0" anchor="ctr"/>
          <a:lstStyle/>
          <a:p>
            <a:pPr indent="0" marL="0">
              <a:buNone/>
            </a:pPr>
            <a:r>
              <a:rPr lang="en-US" sz="2300" b="1" dirty="0">
                <a:solidFill>
                  <a:srgbClr val="9A3F62"/>
                </a:solidFill>
              </a:rPr>
              <a:t>Schwächen</a:t>
            </a:r>
            <a:endParaRPr lang="en-US" sz="2300" dirty="0"/>
          </a:p>
        </p:txBody>
      </p:sp>
      <p:sp>
        <p:nvSpPr>
          <p:cNvPr id="16" name="Shape 14"/>
          <p:cNvSpPr/>
          <p:nvPr/>
        </p:nvSpPr>
        <p:spPr>
          <a:xfrm>
            <a:off x="6903720" y="2651760"/>
            <a:ext cx="118872" cy="118872"/>
          </a:xfrm>
          <a:prstGeom prst="ellipse">
            <a:avLst/>
          </a:prstGeom>
          <a:solidFill>
            <a:srgbClr val="FFFFFF"/>
          </a:solidFill>
          <a:ln w="12700">
            <a:solidFill>
              <a:srgbClr val="FFFFFF"/>
            </a:solidFill>
            <a:prstDash val="solid"/>
          </a:ln>
        </p:spPr>
      </p:sp>
      <p:sp>
        <p:nvSpPr>
          <p:cNvPr id="17" name="anim-bullet-88"/>
          <p:cNvSpPr/>
          <p:nvPr/>
        </p:nvSpPr>
        <p:spPr>
          <a:xfrm>
            <a:off x="7150608" y="2560320"/>
            <a:ext cx="3931920" cy="310896"/>
          </a:xfrm>
          <a:prstGeom prst="rect">
            <a:avLst/>
          </a:prstGeom>
          <a:noFill/>
          <a:ln/>
        </p:spPr>
        <p:txBody>
          <a:bodyPr wrap="square" lIns="0" tIns="0" rIns="0" bIns="0" rtlCol="0" anchor="ctr"/>
          <a:lstStyle/>
          <a:p>
            <a:pPr indent="0" marL="0">
              <a:buNone/>
            </a:pPr>
            <a:r>
              <a:rPr lang="en-US" sz="1700" dirty="0">
                <a:solidFill>
                  <a:srgbClr val="2F3437"/>
                </a:solidFill>
                <a:latin typeface="Aptos" pitchFamily="34" charset="0"/>
                <a:ea typeface="Aptos" pitchFamily="34" charset="-122"/>
                <a:cs typeface="Aptos" pitchFamily="34" charset="-120"/>
              </a:rPr>
              <a:t>frühe Selektion</a:t>
            </a:r>
            <a:endParaRPr lang="en-US" sz="1700" dirty="0"/>
          </a:p>
        </p:txBody>
      </p:sp>
      <p:sp>
        <p:nvSpPr>
          <p:cNvPr id="18" name="Shape 16"/>
          <p:cNvSpPr/>
          <p:nvPr/>
        </p:nvSpPr>
        <p:spPr>
          <a:xfrm>
            <a:off x="6903720" y="3218688"/>
            <a:ext cx="118872" cy="118872"/>
          </a:xfrm>
          <a:prstGeom prst="ellipse">
            <a:avLst/>
          </a:prstGeom>
          <a:solidFill>
            <a:srgbClr val="FFFFFF"/>
          </a:solidFill>
          <a:ln w="12700">
            <a:solidFill>
              <a:srgbClr val="FFFFFF"/>
            </a:solidFill>
            <a:prstDash val="solid"/>
          </a:ln>
        </p:spPr>
      </p:sp>
      <p:sp>
        <p:nvSpPr>
          <p:cNvPr id="19" name="anim-bullet-89"/>
          <p:cNvSpPr/>
          <p:nvPr/>
        </p:nvSpPr>
        <p:spPr>
          <a:xfrm>
            <a:off x="7150608" y="3127248"/>
            <a:ext cx="3931920" cy="310896"/>
          </a:xfrm>
          <a:prstGeom prst="rect">
            <a:avLst/>
          </a:prstGeom>
          <a:noFill/>
          <a:ln/>
        </p:spPr>
        <p:txBody>
          <a:bodyPr wrap="square" lIns="0" tIns="0" rIns="0" bIns="0" rtlCol="0" anchor="ctr"/>
          <a:lstStyle/>
          <a:p>
            <a:pPr indent="0" marL="0">
              <a:buNone/>
            </a:pPr>
            <a:r>
              <a:rPr lang="en-US" sz="1700" dirty="0">
                <a:solidFill>
                  <a:srgbClr val="2F3437"/>
                </a:solidFill>
                <a:latin typeface="Aptos" pitchFamily="34" charset="0"/>
                <a:ea typeface="Aptos" pitchFamily="34" charset="-122"/>
                <a:cs typeface="Aptos" pitchFamily="34" charset="-120"/>
              </a:rPr>
              <a:t>Leistungsdruck</a:t>
            </a:r>
            <a:endParaRPr lang="en-US" sz="1700" dirty="0"/>
          </a:p>
        </p:txBody>
      </p:sp>
      <p:sp>
        <p:nvSpPr>
          <p:cNvPr id="20" name="Shape 18"/>
          <p:cNvSpPr/>
          <p:nvPr/>
        </p:nvSpPr>
        <p:spPr>
          <a:xfrm>
            <a:off x="6903720" y="3785616"/>
            <a:ext cx="118872" cy="118872"/>
          </a:xfrm>
          <a:prstGeom prst="ellipse">
            <a:avLst/>
          </a:prstGeom>
          <a:solidFill>
            <a:srgbClr val="FFFFFF"/>
          </a:solidFill>
          <a:ln w="12700">
            <a:solidFill>
              <a:srgbClr val="FFFFFF"/>
            </a:solidFill>
            <a:prstDash val="solid"/>
          </a:ln>
        </p:spPr>
      </p:sp>
      <p:sp>
        <p:nvSpPr>
          <p:cNvPr id="21" name="anim-bullet-90"/>
          <p:cNvSpPr/>
          <p:nvPr/>
        </p:nvSpPr>
        <p:spPr>
          <a:xfrm>
            <a:off x="7150608" y="3694176"/>
            <a:ext cx="3931920" cy="310896"/>
          </a:xfrm>
          <a:prstGeom prst="rect">
            <a:avLst/>
          </a:prstGeom>
          <a:noFill/>
          <a:ln/>
        </p:spPr>
        <p:txBody>
          <a:bodyPr wrap="square" lIns="0" tIns="0" rIns="0" bIns="0" rtlCol="0" anchor="ctr"/>
          <a:lstStyle/>
          <a:p>
            <a:pPr indent="0" marL="0">
              <a:buNone/>
            </a:pPr>
            <a:r>
              <a:rPr lang="en-US" sz="1700" dirty="0">
                <a:solidFill>
                  <a:srgbClr val="2F3437"/>
                </a:solidFill>
                <a:latin typeface="Aptos" pitchFamily="34" charset="0"/>
                <a:ea typeface="Aptos" pitchFamily="34" charset="-122"/>
                <a:cs typeface="Aptos" pitchFamily="34" charset="-120"/>
              </a:rPr>
              <a:t>soziale Ungleichheiten</a:t>
            </a:r>
            <a:endParaRPr lang="en-US" sz="1700" dirty="0"/>
          </a:p>
        </p:txBody>
      </p:sp>
      <p:sp>
        <p:nvSpPr>
          <p:cNvPr id="22" name="Text 20"/>
          <p:cNvSpPr/>
          <p:nvPr/>
        </p:nvSpPr>
        <p:spPr>
          <a:xfrm>
            <a:off x="658368" y="6473952"/>
            <a:ext cx="1097280" cy="164592"/>
          </a:xfrm>
          <a:prstGeom prst="rect">
            <a:avLst/>
          </a:prstGeom>
          <a:noFill/>
          <a:ln/>
        </p:spPr>
        <p:txBody>
          <a:bodyPr wrap="square" lIns="0" tIns="0" rIns="0" bIns="0" rtlCol="0" anchor="ctr"/>
          <a:lstStyle/>
          <a:p>
            <a:pPr indent="0" marL="0">
              <a:buNone/>
            </a:pPr>
            <a:r>
              <a:rPr lang="en-US" sz="700" dirty="0">
                <a:solidFill>
                  <a:srgbClr val="A7ADB3"/>
                </a:solidFill>
                <a:latin typeface="Aptos" pitchFamily="34" charset="0"/>
                <a:ea typeface="Aptos" pitchFamily="34" charset="-122"/>
                <a:cs typeface="Aptos" pitchFamily="34" charset="-120"/>
              </a:rPr>
              <a:t>Folie 9 / 11</a:t>
            </a:r>
            <a:endParaRPr lang="en-US" sz="700" dirty="0"/>
          </a:p>
        </p:txBody>
      </p:sp>
      <p:sp>
        <p:nvSpPr>
          <p:cNvPr id="23" name="Text 21"/>
          <p:cNvSpPr/>
          <p:nvPr/>
        </p:nvSpPr>
        <p:spPr>
          <a:xfrm>
            <a:off x="9802368" y="6473952"/>
            <a:ext cx="1627632" cy="164592"/>
          </a:xfrm>
          <a:prstGeom prst="rect">
            <a:avLst/>
          </a:prstGeom>
          <a:noFill/>
          <a:ln/>
        </p:spPr>
        <p:txBody>
          <a:bodyPr wrap="square" lIns="0" tIns="0" rIns="0" bIns="0" rtlCol="0" anchor="ctr"/>
          <a:lstStyle/>
          <a:p>
            <a:pPr algn="r" indent="0" marL="0">
              <a:buNone/>
            </a:pPr>
            <a:r>
              <a:rPr lang="en-US" sz="700" dirty="0">
                <a:solidFill>
                  <a:srgbClr val="BDC4CB"/>
                </a:solidFill>
                <a:latin typeface="Aptos" pitchFamily="34" charset="0"/>
                <a:ea typeface="Aptos" pitchFamily="34" charset="-122"/>
                <a:cs typeface="Aptos" pitchFamily="34" charset="-120"/>
              </a:rPr>
              <a:t>Übergang: Slide</a:t>
            </a:r>
            <a:endParaRPr lang="en-US" sz="700" dirty="0"/>
          </a:p>
        </p:txBody>
      </p:sp>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9</a:t>
            </a:fld>
            <a:endParaRPr lang="en-US"/>
          </a:p>
        </p:txBody>
      </p:sp>
    </p:spTree>
  </p:cSld>
  <p:transition spd="med">
    <p:cover dir="l"/>
  </p:transition>
  <p:clrMapOvr>
    <a:masterClrMapping/>
  </p:clrMapOvr>
  <p:timing>
    <p:tnLst>
      <p:par>
        <p:cTn id="1" dur="indefinite" restart="never" nodeType="tmRoot">
          <p:childTnLst>
            <p:seq concurrent="1" nextAc="seek">
              <p:cTn id="2" dur="indefinite" nodeType="mainSeq">
                <p:childTnLst>
                  <p:par>
                    <p:cTn id="100" fill="hold" nodeType="clickEffect" presetID="10" presetClass="entr" presetSubtype="0">
                      <p:stCondLst>
                        <p:cond delay="0"/>
                      </p:stCondLst>
                      <p:childTnLst>
                        <p:set>
                          <p:cBhvr>
                            <p:cTn id="101" dur="1" fill="hold"/>
                            <p:tgtEl>
                              <p:spTgt spid="5"/>
                            </p:tgtEl>
                            <p:attrNameLst>
                              <p:attrName>style.visibility</p:attrName>
                            </p:attrNameLst>
                          </p:cBhvr>
                          <p:to>
                            <p:strVal val="visible"/>
                          </p:to>
                        </p:set>
                        <p:animEffect transition="in" filter="fade">
                          <p:cBhvr>
                            <p:cTn id="102" dur="450" fill="hold"/>
                            <p:tgtEl>
                              <p:spTgt spid="5"/>
                            </p:tgtEl>
                          </p:cBhvr>
                        </p:animEffect>
                      </p:childTnLst>
                    </p:cTn>
                  </p:par>
                  <p:par>
                    <p:cTn id="103" fill="hold" nodeType="clickEffect" presetID="10" presetClass="entr" presetSubtype="0">
                      <p:stCondLst>
                        <p:cond delay="250"/>
                      </p:stCondLst>
                      <p:childTnLst>
                        <p:set>
                          <p:cBhvr>
                            <p:cTn id="104" dur="1" fill="hold"/>
                            <p:tgtEl>
                              <p:spTgt spid="8"/>
                            </p:tgtEl>
                            <p:attrNameLst>
                              <p:attrName>style.visibility</p:attrName>
                            </p:attrNameLst>
                          </p:cBhvr>
                          <p:to>
                            <p:strVal val="visible"/>
                          </p:to>
                        </p:set>
                        <p:animEffect transition="in" filter="fade">
                          <p:cBhvr>
                            <p:cTn id="105" dur="450" fill="hold"/>
                            <p:tgtEl>
                              <p:spTgt spid="8"/>
                            </p:tgtEl>
                          </p:cBhvr>
                        </p:animEffect>
                      </p:childTnLst>
                    </p:cTn>
                  </p:par>
                  <p:par>
                    <p:cTn id="106" fill="hold" nodeType="clickEffect" presetID="10" presetClass="entr" presetSubtype="0">
                      <p:stCondLst>
                        <p:cond delay="250"/>
                      </p:stCondLst>
                      <p:childTnLst>
                        <p:set>
                          <p:cBhvr>
                            <p:cTn id="107" dur="1" fill="hold"/>
                            <p:tgtEl>
                              <p:spTgt spid="10"/>
                            </p:tgtEl>
                            <p:attrNameLst>
                              <p:attrName>style.visibility</p:attrName>
                            </p:attrNameLst>
                          </p:cBhvr>
                          <p:to>
                            <p:strVal val="visible"/>
                          </p:to>
                        </p:set>
                        <p:animEffect transition="in" filter="fade">
                          <p:cBhvr>
                            <p:cTn id="108" dur="450" fill="hold"/>
                            <p:tgtEl>
                              <p:spTgt spid="10"/>
                            </p:tgtEl>
                          </p:cBhvr>
                        </p:animEffect>
                      </p:childTnLst>
                    </p:cTn>
                  </p:par>
                  <p:par>
                    <p:cTn id="109" fill="hold" nodeType="clickEffect" presetID="10" presetClass="entr" presetSubtype="0">
                      <p:stCondLst>
                        <p:cond delay="250"/>
                      </p:stCondLst>
                      <p:childTnLst>
                        <p:set>
                          <p:cBhvr>
                            <p:cTn id="110" dur="1" fill="hold"/>
                            <p:tgtEl>
                              <p:spTgt spid="12"/>
                            </p:tgtEl>
                            <p:attrNameLst>
                              <p:attrName>style.visibility</p:attrName>
                            </p:attrNameLst>
                          </p:cBhvr>
                          <p:to>
                            <p:strVal val="visible"/>
                          </p:to>
                        </p:set>
                        <p:animEffect transition="in" filter="fade">
                          <p:cBhvr>
                            <p:cTn id="111" dur="450" fill="hold"/>
                            <p:tgtEl>
                              <p:spTgt spid="12"/>
                            </p:tgtEl>
                          </p:cBhvr>
                        </p:animEffect>
                      </p:childTnLst>
                    </p:cTn>
                  </p:par>
                  <p:par>
                    <p:cTn id="112" fill="hold" nodeType="clickEffect" presetID="10" presetClass="entr" presetSubtype="0">
                      <p:stCondLst>
                        <p:cond delay="250"/>
                      </p:stCondLst>
                      <p:childTnLst>
                        <p:set>
                          <p:cBhvr>
                            <p:cTn id="113" dur="1" fill="hold"/>
                            <p:tgtEl>
                              <p:spTgt spid="14"/>
                            </p:tgtEl>
                            <p:attrNameLst>
                              <p:attrName>style.visibility</p:attrName>
                            </p:attrNameLst>
                          </p:cBhvr>
                          <p:to>
                            <p:strVal val="visible"/>
                          </p:to>
                        </p:set>
                        <p:animEffect transition="in" filter="fade">
                          <p:cBhvr>
                            <p:cTn id="114" dur="450" fill="hold"/>
                            <p:tgtEl>
                              <p:spTgt spid="14"/>
                            </p:tgtEl>
                          </p:cBhvr>
                        </p:animEffect>
                      </p:childTnLst>
                    </p:cTn>
                  </p:par>
                  <p:par>
                    <p:cTn id="115" fill="hold" nodeType="clickEffect" presetID="10" presetClass="entr" presetSubtype="0">
                      <p:stCondLst>
                        <p:cond delay="250"/>
                      </p:stCondLst>
                      <p:childTnLst>
                        <p:set>
                          <p:cBhvr>
                            <p:cTn id="116" dur="1" fill="hold"/>
                            <p:tgtEl>
                              <p:spTgt spid="15"/>
                            </p:tgtEl>
                            <p:attrNameLst>
                              <p:attrName>style.visibility</p:attrName>
                            </p:attrNameLst>
                          </p:cBhvr>
                          <p:to>
                            <p:strVal val="visible"/>
                          </p:to>
                        </p:set>
                        <p:animEffect transition="in" filter="fade">
                          <p:cBhvr>
                            <p:cTn id="117" dur="450" fill="hold"/>
                            <p:tgtEl>
                              <p:spTgt spid="15"/>
                            </p:tgtEl>
                          </p:cBhvr>
                        </p:animEffect>
                      </p:childTnLst>
                    </p:cTn>
                  </p:par>
                  <p:par>
                    <p:cTn id="118" fill="hold" nodeType="clickEffect" presetID="10" presetClass="entr" presetSubtype="0">
                      <p:stCondLst>
                        <p:cond delay="250"/>
                      </p:stCondLst>
                      <p:childTnLst>
                        <p:set>
                          <p:cBhvr>
                            <p:cTn id="119" dur="1" fill="hold"/>
                            <p:tgtEl>
                              <p:spTgt spid="17"/>
                            </p:tgtEl>
                            <p:attrNameLst>
                              <p:attrName>style.visibility</p:attrName>
                            </p:attrNameLst>
                          </p:cBhvr>
                          <p:to>
                            <p:strVal val="visible"/>
                          </p:to>
                        </p:set>
                        <p:animEffect transition="in" filter="fade">
                          <p:cBhvr>
                            <p:cTn id="120" dur="450" fill="hold"/>
                            <p:tgtEl>
                              <p:spTgt spid="17"/>
                            </p:tgtEl>
                          </p:cBhvr>
                        </p:animEffect>
                      </p:childTnLst>
                    </p:cTn>
                  </p:par>
                  <p:par>
                    <p:cTn id="121" fill="hold" nodeType="clickEffect" presetID="10" presetClass="entr" presetSubtype="0">
                      <p:stCondLst>
                        <p:cond delay="250"/>
                      </p:stCondLst>
                      <p:childTnLst>
                        <p:set>
                          <p:cBhvr>
                            <p:cTn id="122" dur="1" fill="hold"/>
                            <p:tgtEl>
                              <p:spTgt spid="19"/>
                            </p:tgtEl>
                            <p:attrNameLst>
                              <p:attrName>style.visibility</p:attrName>
                            </p:attrNameLst>
                          </p:cBhvr>
                          <p:to>
                            <p:strVal val="visible"/>
                          </p:to>
                        </p:set>
                        <p:animEffect transition="in" filter="fade">
                          <p:cBhvr>
                            <p:cTn id="123" dur="450" fill="hold"/>
                            <p:tgtEl>
                              <p:spTgt spid="19"/>
                            </p:tgtEl>
                          </p:cBhvr>
                        </p:animEffect>
                      </p:childTnLst>
                    </p:cTn>
                  </p:par>
                  <p:par>
                    <p:cTn id="124" fill="hold" nodeType="clickEffect" presetID="10" presetClass="entr" presetSubtype="0">
                      <p:stCondLst>
                        <p:cond delay="250"/>
                      </p:stCondLst>
                      <p:childTnLst>
                        <p:set>
                          <p:cBhvr>
                            <p:cTn id="125" dur="1" fill="hold"/>
                            <p:tgtEl>
                              <p:spTgt spid="21"/>
                            </p:tgtEl>
                            <p:attrNameLst>
                              <p:attrName>style.visibility</p:attrName>
                            </p:attrNameLst>
                          </p:cBhvr>
                          <p:to>
                            <p:strVal val="visible"/>
                          </p:to>
                        </p:set>
                        <p:animEffect transition="in" filter="fade">
                          <p:cBhvr>
                            <p:cTn id="126" dur="450" fill="hold"/>
                            <p:tgtEl>
                              <p:spTgt spid="21"/>
                            </p:tgtEl>
                          </p:cBhvr>
                        </p:animEffect>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P spid="12" grpId="0"/>
      <p:bldP spid="14" grpId="0"/>
      <p:bldP spid="15" grpId="0"/>
      <p:bldP spid="17" grpId="0"/>
      <p:bldP spid="19"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3383280" cy="1920240"/>
          </a:xfrm>
          <a:prstGeom prst="ellipse">
            <a:avLst/>
          </a:prstGeom>
          <a:solidFill>
            <a:srgbClr val="CFEFFF">
              <a:alpha val="56000"/>
            </a:srgbClr>
          </a:solidFill>
          <a:ln w="12700">
            <a:solidFill>
              <a:srgbClr val="CFEFFF">
                <a:alpha val="0"/>
              </a:srgbClr>
            </a:solidFill>
            <a:prstDash val="solid"/>
          </a:ln>
        </p:spPr>
      </p:sp>
      <p:sp>
        <p:nvSpPr>
          <p:cNvPr id="3" name="Shape 1"/>
          <p:cNvSpPr/>
          <p:nvPr/>
        </p:nvSpPr>
        <p:spPr>
          <a:xfrm>
            <a:off x="9692640" y="5303520"/>
            <a:ext cx="2926080" cy="2011680"/>
          </a:xfrm>
          <a:prstGeom prst="ellipse">
            <a:avLst/>
          </a:prstGeom>
          <a:solidFill>
            <a:srgbClr val="FFD9E8">
              <a:alpha val="52000"/>
            </a:srgbClr>
          </a:solidFill>
          <a:ln w="12700">
            <a:solidFill>
              <a:srgbClr val="FFD9E8">
                <a:alpha val="0"/>
              </a:srgbClr>
            </a:solidFill>
            <a:prstDash val="solid"/>
          </a:ln>
        </p:spPr>
      </p:sp>
      <p:sp>
        <p:nvSpPr>
          <p:cNvPr id="4" name="Shape 2"/>
          <p:cNvSpPr/>
          <p:nvPr/>
        </p:nvSpPr>
        <p:spPr>
          <a:xfrm>
            <a:off x="7040880" y="-320040"/>
            <a:ext cx="1920240" cy="1280160"/>
          </a:xfrm>
          <a:prstGeom prst="ellipse">
            <a:avLst/>
          </a:prstGeom>
          <a:solidFill>
            <a:srgbClr val="FFF7C7">
              <a:alpha val="42000"/>
            </a:srgbClr>
          </a:solidFill>
          <a:ln w="12700">
            <a:solidFill>
              <a:srgbClr val="FFF7C7">
                <a:alpha val="0"/>
              </a:srgbClr>
            </a:solidFill>
            <a:prstDash val="solid"/>
          </a:ln>
        </p:spPr>
      </p:sp>
      <p:sp>
        <p:nvSpPr>
          <p:cNvPr id="5" name="anim-title-91"/>
          <p:cNvSpPr/>
          <p:nvPr/>
        </p:nvSpPr>
        <p:spPr>
          <a:xfrm>
            <a:off x="658368" y="530352"/>
            <a:ext cx="4480560" cy="841248"/>
          </a:xfrm>
          <a:prstGeom prst="rect">
            <a:avLst/>
          </a:prstGeom>
          <a:noFill/>
          <a:ln/>
        </p:spPr>
        <p:txBody>
          <a:bodyPr wrap="square" lIns="0" tIns="0" rIns="0" bIns="0" rtlCol="0" anchor="ctr">
            <a:normAutofit/>
          </a:bodyPr>
          <a:lstStyle/>
          <a:p>
            <a:pPr indent="0" marL="0">
              <a:buNone/>
            </a:pPr>
            <a:r>
              <a:rPr lang="en-US" sz="3400" b="1" dirty="0">
                <a:solidFill>
                  <a:srgbClr val="2F3437"/>
                </a:solidFill>
                <a:latin typeface="Aptos Display" pitchFamily="34" charset="0"/>
                <a:ea typeface="Aptos Display" pitchFamily="34" charset="-122"/>
                <a:cs typeface="Aptos Display" pitchFamily="34" charset="-120"/>
              </a:rPr>
              <a:t>Reformansätze</a:t>
            </a:r>
            <a:endParaRPr lang="en-US" sz="3400" dirty="0"/>
          </a:p>
        </p:txBody>
      </p:sp>
      <p:sp>
        <p:nvSpPr>
          <p:cNvPr id="6" name="Shape 4"/>
          <p:cNvSpPr/>
          <p:nvPr/>
        </p:nvSpPr>
        <p:spPr>
          <a:xfrm>
            <a:off x="1234440" y="2743200"/>
            <a:ext cx="9601200" cy="530352"/>
          </a:xfrm>
          <a:prstGeom prst="rightArrow">
            <a:avLst/>
          </a:prstGeom>
          <a:solidFill>
            <a:srgbClr val="F7F8FA"/>
          </a:solidFill>
          <a:ln w="12700">
            <a:solidFill>
              <a:srgbClr val="F7F8FA"/>
            </a:solidFill>
            <a:prstDash val="solid"/>
          </a:ln>
        </p:spPr>
      </p:sp>
      <p:sp>
        <p:nvSpPr>
          <p:cNvPr id="7" name="Shape 5"/>
          <p:cNvSpPr/>
          <p:nvPr/>
        </p:nvSpPr>
        <p:spPr>
          <a:xfrm>
            <a:off x="1005840" y="1719072"/>
            <a:ext cx="1965960" cy="1965960"/>
          </a:xfrm>
          <a:prstGeom prst="ellipse">
            <a:avLst/>
          </a:prstGeom>
          <a:solidFill>
            <a:srgbClr val="CFEFFF"/>
          </a:solidFill>
          <a:ln w="12700">
            <a:solidFill>
              <a:srgbClr val="CFEFFF"/>
            </a:solidFill>
            <a:prstDash val="solid"/>
          </a:ln>
          <a:effectLst>
            <a:outerShdw sx="100000" sy="100000" kx="0" ky="0" algn="bl" rotWithShape="0" blurRad="3.303279676039501e+127" dist="6.606559352079002e+127" dir="5.968995832459801e+149">
              <a:srgbClr val="C9D2DA">
                <a:alpha val="2.2000000000000004e+154"/>
              </a:srgbClr>
            </a:outerShdw>
          </a:effectLst>
        </p:spPr>
      </p:sp>
      <p:sp>
        <p:nvSpPr>
          <p:cNvPr id="8" name="anim-circle-title-92"/>
          <p:cNvSpPr/>
          <p:nvPr/>
        </p:nvSpPr>
        <p:spPr>
          <a:xfrm>
            <a:off x="1170432" y="2267712"/>
            <a:ext cx="1645920" cy="429768"/>
          </a:xfrm>
          <a:prstGeom prst="rect">
            <a:avLst/>
          </a:prstGeom>
          <a:noFill/>
          <a:ln/>
        </p:spPr>
        <p:txBody>
          <a:bodyPr wrap="square" lIns="0" tIns="0" rIns="0" bIns="0" rtlCol="0" anchor="ctr">
            <a:normAutofit/>
          </a:bodyPr>
          <a:lstStyle/>
          <a:p>
            <a:pPr algn="ctr" indent="0" marL="0">
              <a:buNone/>
            </a:pPr>
            <a:r>
              <a:rPr lang="en-US" sz="1500" b="1" dirty="0">
                <a:solidFill>
                  <a:srgbClr val="2F3437"/>
                </a:solidFill>
              </a:rPr>
              <a:t>Mehr</a:t>
            </a:r>
            <a:endParaRPr lang="en-US" sz="1500" dirty="0"/>
          </a:p>
          <a:p>
            <a:pPr algn="ctr" indent="0" marL="0">
              <a:buNone/>
            </a:pPr>
            <a:r>
              <a:rPr lang="en-US" sz="1500" b="1" dirty="0">
                <a:solidFill>
                  <a:srgbClr val="2F3437"/>
                </a:solidFill>
              </a:rPr>
              <a:t>Lebenskompetenzen</a:t>
            </a:r>
            <a:endParaRPr lang="en-US" sz="1500" dirty="0"/>
          </a:p>
        </p:txBody>
      </p:sp>
      <p:sp>
        <p:nvSpPr>
          <p:cNvPr id="9" name="anim-circle-body-93"/>
          <p:cNvSpPr/>
          <p:nvPr/>
        </p:nvSpPr>
        <p:spPr>
          <a:xfrm>
            <a:off x="658368" y="4041648"/>
            <a:ext cx="2670048" cy="621792"/>
          </a:xfrm>
          <a:prstGeom prst="rect">
            <a:avLst/>
          </a:prstGeom>
          <a:noFill/>
          <a:ln/>
        </p:spPr>
        <p:txBody>
          <a:bodyPr wrap="square" lIns="0" tIns="0" rIns="0" bIns="0" rtlCol="0" anchor="ctr">
            <a:normAutofit/>
          </a:bodyPr>
          <a:lstStyle/>
          <a:p>
            <a:pPr algn="ctr" indent="0" marL="0">
              <a:buNone/>
            </a:pPr>
            <a:r>
              <a:rPr lang="en-US" sz="1130" dirty="0">
                <a:solidFill>
                  <a:srgbClr val="2F3437"/>
                </a:solidFill>
              </a:rPr>
              <a:t>Finanzbildung, Medienkompetenz und praktische Alltagsfähigkeiten stärker integrieren.</a:t>
            </a:r>
            <a:endParaRPr lang="en-US" sz="1130" dirty="0"/>
          </a:p>
        </p:txBody>
      </p:sp>
      <p:sp>
        <p:nvSpPr>
          <p:cNvPr id="10" name="Shape 8"/>
          <p:cNvSpPr/>
          <p:nvPr/>
        </p:nvSpPr>
        <p:spPr>
          <a:xfrm>
            <a:off x="4736592" y="1719072"/>
            <a:ext cx="1965960" cy="1965960"/>
          </a:xfrm>
          <a:prstGeom prst="ellipse">
            <a:avLst/>
          </a:prstGeom>
          <a:solidFill>
            <a:srgbClr val="FFF7C7"/>
          </a:solidFill>
          <a:ln w="12700">
            <a:solidFill>
              <a:srgbClr val="FFF7C7"/>
            </a:solidFill>
            <a:prstDash val="solid"/>
          </a:ln>
          <a:effectLst>
            <a:outerShdw sx="100000" sy="100000" kx="0" ky="0" algn="bl" rotWithShape="0" blurRad="4.195165188570166e+131" dist="8.390330377140333e+131" dir="3.581397499475881e+154">
              <a:srgbClr val="C9D2DA">
                <a:alpha val="2.2000000000000003e+159"/>
              </a:srgbClr>
            </a:outerShdw>
          </a:effectLst>
        </p:spPr>
      </p:sp>
      <p:sp>
        <p:nvSpPr>
          <p:cNvPr id="11" name="anim-circle-title-94"/>
          <p:cNvSpPr/>
          <p:nvPr/>
        </p:nvSpPr>
        <p:spPr>
          <a:xfrm>
            <a:off x="4901184" y="2267712"/>
            <a:ext cx="1645920" cy="429768"/>
          </a:xfrm>
          <a:prstGeom prst="rect">
            <a:avLst/>
          </a:prstGeom>
          <a:noFill/>
          <a:ln/>
        </p:spPr>
        <p:txBody>
          <a:bodyPr wrap="square" lIns="0" tIns="0" rIns="0" bIns="0" rtlCol="0" anchor="ctr">
            <a:normAutofit/>
          </a:bodyPr>
          <a:lstStyle/>
          <a:p>
            <a:pPr algn="ctr" indent="0" marL="0">
              <a:buNone/>
            </a:pPr>
            <a:r>
              <a:rPr lang="en-US" sz="1500" b="1" dirty="0">
                <a:solidFill>
                  <a:srgbClr val="2F3437"/>
                </a:solidFill>
              </a:rPr>
              <a:t>Spätere</a:t>
            </a:r>
            <a:endParaRPr lang="en-US" sz="1500" dirty="0"/>
          </a:p>
          <a:p>
            <a:pPr algn="ctr" indent="0" marL="0">
              <a:buNone/>
            </a:pPr>
            <a:r>
              <a:rPr lang="en-US" sz="1500" b="1" dirty="0">
                <a:solidFill>
                  <a:srgbClr val="2F3437"/>
                </a:solidFill>
              </a:rPr>
              <a:t>Leistungsdifferenzierung</a:t>
            </a:r>
            <a:endParaRPr lang="en-US" sz="1500" dirty="0"/>
          </a:p>
        </p:txBody>
      </p:sp>
      <p:sp>
        <p:nvSpPr>
          <p:cNvPr id="12" name="anim-circle-body-95"/>
          <p:cNvSpPr/>
          <p:nvPr/>
        </p:nvSpPr>
        <p:spPr>
          <a:xfrm>
            <a:off x="4389120" y="4041648"/>
            <a:ext cx="2670048" cy="621792"/>
          </a:xfrm>
          <a:prstGeom prst="rect">
            <a:avLst/>
          </a:prstGeom>
          <a:noFill/>
          <a:ln/>
        </p:spPr>
        <p:txBody>
          <a:bodyPr wrap="square" lIns="0" tIns="0" rIns="0" bIns="0" rtlCol="0" anchor="ctr">
            <a:normAutofit/>
          </a:bodyPr>
          <a:lstStyle/>
          <a:p>
            <a:pPr algn="ctr" indent="0" marL="0">
              <a:buNone/>
            </a:pPr>
            <a:r>
              <a:rPr lang="en-US" sz="1130" dirty="0">
                <a:solidFill>
                  <a:srgbClr val="2F3437"/>
                </a:solidFill>
              </a:rPr>
              <a:t>Mehr Zeit für Entwicklung und fundiertere Bildungsentscheidungen schaffen.</a:t>
            </a:r>
            <a:endParaRPr lang="en-US" sz="1130" dirty="0"/>
          </a:p>
        </p:txBody>
      </p:sp>
      <p:sp>
        <p:nvSpPr>
          <p:cNvPr id="13" name="Shape 11"/>
          <p:cNvSpPr/>
          <p:nvPr/>
        </p:nvSpPr>
        <p:spPr>
          <a:xfrm>
            <a:off x="8467344" y="1719072"/>
            <a:ext cx="1965960" cy="1965960"/>
          </a:xfrm>
          <a:prstGeom prst="ellipse">
            <a:avLst/>
          </a:prstGeom>
          <a:solidFill>
            <a:srgbClr val="FFD9E8"/>
          </a:solidFill>
          <a:ln w="12700">
            <a:solidFill>
              <a:srgbClr val="FFD9E8"/>
            </a:solidFill>
            <a:prstDash val="solid"/>
          </a:ln>
          <a:effectLst>
            <a:outerShdw sx="100000" sy="100000" kx="0" ky="0" algn="bl" rotWithShape="0" blurRad="5.327859789484111e+135" dist="1.0655719578968222e+136" dir="2.1488384996855287e+159">
              <a:srgbClr val="C9D2DA">
                <a:alpha val="2.2000000000000003e+164"/>
              </a:srgbClr>
            </a:outerShdw>
          </a:effectLst>
        </p:spPr>
      </p:sp>
      <p:sp>
        <p:nvSpPr>
          <p:cNvPr id="14" name="anim-circle-title-96"/>
          <p:cNvSpPr/>
          <p:nvPr/>
        </p:nvSpPr>
        <p:spPr>
          <a:xfrm>
            <a:off x="8631936" y="2267712"/>
            <a:ext cx="1645920" cy="429768"/>
          </a:xfrm>
          <a:prstGeom prst="rect">
            <a:avLst/>
          </a:prstGeom>
          <a:noFill/>
          <a:ln/>
        </p:spPr>
        <p:txBody>
          <a:bodyPr wrap="square" lIns="0" tIns="0" rIns="0" bIns="0" rtlCol="0" anchor="ctr">
            <a:normAutofit/>
          </a:bodyPr>
          <a:lstStyle/>
          <a:p>
            <a:pPr algn="ctr" indent="0" marL="0">
              <a:buNone/>
            </a:pPr>
            <a:r>
              <a:rPr lang="en-US" sz="1500" b="1" dirty="0">
                <a:solidFill>
                  <a:srgbClr val="2F3437"/>
                </a:solidFill>
              </a:rPr>
              <a:t>Alternative</a:t>
            </a:r>
            <a:endParaRPr lang="en-US" sz="1500" dirty="0"/>
          </a:p>
          <a:p>
            <a:pPr algn="ctr" indent="0" marL="0">
              <a:buNone/>
            </a:pPr>
            <a:r>
              <a:rPr lang="en-US" sz="1500" b="1" dirty="0">
                <a:solidFill>
                  <a:srgbClr val="2F3437"/>
                </a:solidFill>
              </a:rPr>
              <a:t>Bewertungsformen</a:t>
            </a:r>
            <a:endParaRPr lang="en-US" sz="1500" dirty="0"/>
          </a:p>
        </p:txBody>
      </p:sp>
      <p:sp>
        <p:nvSpPr>
          <p:cNvPr id="15" name="anim-circle-body-97"/>
          <p:cNvSpPr/>
          <p:nvPr/>
        </p:nvSpPr>
        <p:spPr>
          <a:xfrm>
            <a:off x="8119872" y="4041648"/>
            <a:ext cx="2670048" cy="621792"/>
          </a:xfrm>
          <a:prstGeom prst="rect">
            <a:avLst/>
          </a:prstGeom>
          <a:noFill/>
          <a:ln/>
        </p:spPr>
        <p:txBody>
          <a:bodyPr wrap="square" lIns="0" tIns="0" rIns="0" bIns="0" rtlCol="0" anchor="ctr">
            <a:normAutofit/>
          </a:bodyPr>
          <a:lstStyle/>
          <a:p>
            <a:pPr algn="ctr" indent="0" marL="0">
              <a:buNone/>
            </a:pPr>
            <a:r>
              <a:rPr lang="en-US" sz="1130" dirty="0">
                <a:solidFill>
                  <a:srgbClr val="2F3437"/>
                </a:solidFill>
              </a:rPr>
              <a:t>Lernfeedback, Portfolioarbeit und projektbasierte Bewertung nutzen.</a:t>
            </a:r>
            <a:endParaRPr lang="en-US" sz="1130" dirty="0"/>
          </a:p>
        </p:txBody>
      </p:sp>
      <p:sp>
        <p:nvSpPr>
          <p:cNvPr id="16" name="anim-future-98"/>
          <p:cNvSpPr/>
          <p:nvPr/>
        </p:nvSpPr>
        <p:spPr>
          <a:xfrm>
            <a:off x="4443984" y="2907792"/>
            <a:ext cx="2011680" cy="182880"/>
          </a:xfrm>
          <a:prstGeom prst="rect">
            <a:avLst/>
          </a:prstGeom>
          <a:noFill/>
          <a:ln/>
        </p:spPr>
        <p:txBody>
          <a:bodyPr wrap="square" lIns="0" tIns="0" rIns="0" bIns="0" rtlCol="0" anchor="ctr"/>
          <a:lstStyle/>
          <a:p>
            <a:pPr algn="ctr" indent="0" marL="0">
              <a:buNone/>
            </a:pPr>
            <a:r>
              <a:rPr lang="en-US" sz="1100" b="1" dirty="0">
                <a:solidFill>
                  <a:srgbClr val="6B7280"/>
                </a:solidFill>
              </a:rPr>
              <a:t>Richtung Zukunft</a:t>
            </a:r>
            <a:endParaRPr lang="en-US" sz="1100" dirty="0"/>
          </a:p>
        </p:txBody>
      </p:sp>
      <p:sp>
        <p:nvSpPr>
          <p:cNvPr id="17" name="Text 15"/>
          <p:cNvSpPr/>
          <p:nvPr/>
        </p:nvSpPr>
        <p:spPr>
          <a:xfrm>
            <a:off x="658368" y="6473952"/>
            <a:ext cx="1097280" cy="164592"/>
          </a:xfrm>
          <a:prstGeom prst="rect">
            <a:avLst/>
          </a:prstGeom>
          <a:noFill/>
          <a:ln/>
        </p:spPr>
        <p:txBody>
          <a:bodyPr wrap="square" lIns="0" tIns="0" rIns="0" bIns="0" rtlCol="0" anchor="ctr"/>
          <a:lstStyle/>
          <a:p>
            <a:pPr indent="0" marL="0">
              <a:buNone/>
            </a:pPr>
            <a:r>
              <a:rPr lang="en-US" sz="700" dirty="0">
                <a:solidFill>
                  <a:srgbClr val="A7ADB3"/>
                </a:solidFill>
                <a:latin typeface="Aptos" pitchFamily="34" charset="0"/>
                <a:ea typeface="Aptos" pitchFamily="34" charset="-122"/>
                <a:cs typeface="Aptos" pitchFamily="34" charset="-120"/>
              </a:rPr>
              <a:t>Folie 10 / 11</a:t>
            </a:r>
            <a:endParaRPr lang="en-US" sz="700" dirty="0"/>
          </a:p>
        </p:txBody>
      </p:sp>
      <p:sp>
        <p:nvSpPr>
          <p:cNvPr id="18" name="Text 16"/>
          <p:cNvSpPr/>
          <p:nvPr/>
        </p:nvSpPr>
        <p:spPr>
          <a:xfrm>
            <a:off x="9802368" y="6473952"/>
            <a:ext cx="1627632" cy="164592"/>
          </a:xfrm>
          <a:prstGeom prst="rect">
            <a:avLst/>
          </a:prstGeom>
          <a:noFill/>
          <a:ln/>
        </p:spPr>
        <p:txBody>
          <a:bodyPr wrap="square" lIns="0" tIns="0" rIns="0" bIns="0" rtlCol="0" anchor="ctr"/>
          <a:lstStyle/>
          <a:p>
            <a:pPr algn="r" indent="0" marL="0">
              <a:buNone/>
            </a:pPr>
            <a:r>
              <a:rPr lang="en-US" sz="700" dirty="0">
                <a:solidFill>
                  <a:srgbClr val="BDC4CB"/>
                </a:solidFill>
                <a:latin typeface="Aptos" pitchFamily="34" charset="0"/>
                <a:ea typeface="Aptos" pitchFamily="34" charset="-122"/>
                <a:cs typeface="Aptos" pitchFamily="34" charset="-120"/>
              </a:rPr>
              <a:t>Übergang: Rotate</a:t>
            </a:r>
            <a:endParaRPr lang="en-US" sz="700" dirty="0"/>
          </a:p>
        </p:txBody>
      </p:sp>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10</a:t>
            </a:fld>
            <a:endParaRPr lang="en-US"/>
          </a:p>
        </p:txBody>
      </p:sp>
    </p:spTree>
  </p:cSld>
  <p:transition spd="med">
    <p:wheel spokes="1"/>
  </p:transition>
  <p:clrMapOvr>
    <a:masterClrMapping/>
  </p:clrMapOvr>
  <p:timing>
    <p:tnLst>
      <p:par>
        <p:cTn id="1" dur="indefinite" restart="never" nodeType="tmRoot">
          <p:childTnLst>
            <p:seq concurrent="1" nextAc="seek">
              <p:cTn id="2" dur="indefinite" nodeType="mainSeq">
                <p:childTnLst>
                  <p:par>
                    <p:cTn id="100" fill="hold" nodeType="clickEffect" presetID="10" presetClass="entr" presetSubtype="0">
                      <p:stCondLst>
                        <p:cond delay="0"/>
                      </p:stCondLst>
                      <p:childTnLst>
                        <p:set>
                          <p:cBhvr>
                            <p:cTn id="101" dur="1" fill="hold"/>
                            <p:tgtEl>
                              <p:spTgt spid="5"/>
                            </p:tgtEl>
                            <p:attrNameLst>
                              <p:attrName>style.visibility</p:attrName>
                            </p:attrNameLst>
                          </p:cBhvr>
                          <p:to>
                            <p:strVal val="visible"/>
                          </p:to>
                        </p:set>
                        <p:animEffect transition="in" filter="fade">
                          <p:cBhvr>
                            <p:cTn id="102" dur="450" fill="hold"/>
                            <p:tgtEl>
                              <p:spTgt spid="5"/>
                            </p:tgtEl>
                          </p:cBhvr>
                        </p:animEffect>
                      </p:childTnLst>
                    </p:cTn>
                  </p:par>
                  <p:par>
                    <p:cTn id="103" fill="hold" nodeType="clickEffect" presetID="10" presetClass="entr" presetSubtype="0">
                      <p:stCondLst>
                        <p:cond delay="250"/>
                      </p:stCondLst>
                      <p:childTnLst>
                        <p:set>
                          <p:cBhvr>
                            <p:cTn id="104" dur="1" fill="hold"/>
                            <p:tgtEl>
                              <p:spTgt spid="8"/>
                            </p:tgtEl>
                            <p:attrNameLst>
                              <p:attrName>style.visibility</p:attrName>
                            </p:attrNameLst>
                          </p:cBhvr>
                          <p:to>
                            <p:strVal val="visible"/>
                          </p:to>
                        </p:set>
                        <p:animEffect transition="in" filter="fade">
                          <p:cBhvr>
                            <p:cTn id="105" dur="450" fill="hold"/>
                            <p:tgtEl>
                              <p:spTgt spid="8"/>
                            </p:tgtEl>
                          </p:cBhvr>
                        </p:animEffect>
                      </p:childTnLst>
                    </p:cTn>
                  </p:par>
                  <p:par>
                    <p:cTn id="106" fill="hold" nodeType="clickEffect" presetID="10" presetClass="entr" presetSubtype="0">
                      <p:stCondLst>
                        <p:cond delay="250"/>
                      </p:stCondLst>
                      <p:childTnLst>
                        <p:set>
                          <p:cBhvr>
                            <p:cTn id="107" dur="1" fill="hold"/>
                            <p:tgtEl>
                              <p:spTgt spid="9"/>
                            </p:tgtEl>
                            <p:attrNameLst>
                              <p:attrName>style.visibility</p:attrName>
                            </p:attrNameLst>
                          </p:cBhvr>
                          <p:to>
                            <p:strVal val="visible"/>
                          </p:to>
                        </p:set>
                        <p:animEffect transition="in" filter="fade">
                          <p:cBhvr>
                            <p:cTn id="108" dur="450" fill="hold"/>
                            <p:tgtEl>
                              <p:spTgt spid="9"/>
                            </p:tgtEl>
                          </p:cBhvr>
                        </p:animEffect>
                      </p:childTnLst>
                    </p:cTn>
                  </p:par>
                  <p:par>
                    <p:cTn id="109" fill="hold" nodeType="clickEffect" presetID="10" presetClass="entr" presetSubtype="0">
                      <p:stCondLst>
                        <p:cond delay="250"/>
                      </p:stCondLst>
                      <p:childTnLst>
                        <p:set>
                          <p:cBhvr>
                            <p:cTn id="110" dur="1" fill="hold"/>
                            <p:tgtEl>
                              <p:spTgt spid="11"/>
                            </p:tgtEl>
                            <p:attrNameLst>
                              <p:attrName>style.visibility</p:attrName>
                            </p:attrNameLst>
                          </p:cBhvr>
                          <p:to>
                            <p:strVal val="visible"/>
                          </p:to>
                        </p:set>
                        <p:animEffect transition="in" filter="fade">
                          <p:cBhvr>
                            <p:cTn id="111" dur="450" fill="hold"/>
                            <p:tgtEl>
                              <p:spTgt spid="11"/>
                            </p:tgtEl>
                          </p:cBhvr>
                        </p:animEffect>
                      </p:childTnLst>
                    </p:cTn>
                  </p:par>
                  <p:par>
                    <p:cTn id="112" fill="hold" nodeType="clickEffect" presetID="10" presetClass="entr" presetSubtype="0">
                      <p:stCondLst>
                        <p:cond delay="250"/>
                      </p:stCondLst>
                      <p:childTnLst>
                        <p:set>
                          <p:cBhvr>
                            <p:cTn id="113" dur="1" fill="hold"/>
                            <p:tgtEl>
                              <p:spTgt spid="12"/>
                            </p:tgtEl>
                            <p:attrNameLst>
                              <p:attrName>style.visibility</p:attrName>
                            </p:attrNameLst>
                          </p:cBhvr>
                          <p:to>
                            <p:strVal val="visible"/>
                          </p:to>
                        </p:set>
                        <p:animEffect transition="in" filter="fade">
                          <p:cBhvr>
                            <p:cTn id="114" dur="450" fill="hold"/>
                            <p:tgtEl>
                              <p:spTgt spid="12"/>
                            </p:tgtEl>
                          </p:cBhvr>
                        </p:animEffect>
                      </p:childTnLst>
                    </p:cTn>
                  </p:par>
                  <p:par>
                    <p:cTn id="115" fill="hold" nodeType="clickEffect" presetID="10" presetClass="entr" presetSubtype="0">
                      <p:stCondLst>
                        <p:cond delay="250"/>
                      </p:stCondLst>
                      <p:childTnLst>
                        <p:set>
                          <p:cBhvr>
                            <p:cTn id="116" dur="1" fill="hold"/>
                            <p:tgtEl>
                              <p:spTgt spid="14"/>
                            </p:tgtEl>
                            <p:attrNameLst>
                              <p:attrName>style.visibility</p:attrName>
                            </p:attrNameLst>
                          </p:cBhvr>
                          <p:to>
                            <p:strVal val="visible"/>
                          </p:to>
                        </p:set>
                        <p:animEffect transition="in" filter="fade">
                          <p:cBhvr>
                            <p:cTn id="117" dur="450" fill="hold"/>
                            <p:tgtEl>
                              <p:spTgt spid="14"/>
                            </p:tgtEl>
                          </p:cBhvr>
                        </p:animEffect>
                      </p:childTnLst>
                    </p:cTn>
                  </p:par>
                  <p:par>
                    <p:cTn id="118" fill="hold" nodeType="clickEffect" presetID="10" presetClass="entr" presetSubtype="0">
                      <p:stCondLst>
                        <p:cond delay="250"/>
                      </p:stCondLst>
                      <p:childTnLst>
                        <p:set>
                          <p:cBhvr>
                            <p:cTn id="119" dur="1" fill="hold"/>
                            <p:tgtEl>
                              <p:spTgt spid="15"/>
                            </p:tgtEl>
                            <p:attrNameLst>
                              <p:attrName>style.visibility</p:attrName>
                            </p:attrNameLst>
                          </p:cBhvr>
                          <p:to>
                            <p:strVal val="visible"/>
                          </p:to>
                        </p:set>
                        <p:animEffect transition="in" filter="fade">
                          <p:cBhvr>
                            <p:cTn id="120" dur="450" fill="hold"/>
                            <p:tgtEl>
                              <p:spTgt spid="15"/>
                            </p:tgtEl>
                          </p:cBhvr>
                        </p:animEffect>
                      </p:childTnLst>
                    </p:cTn>
                  </p:par>
                  <p:par>
                    <p:cTn id="121" fill="hold" nodeType="clickEffect" presetID="10" presetClass="entr" presetSubtype="0">
                      <p:stCondLst>
                        <p:cond delay="250"/>
                      </p:stCondLst>
                      <p:childTnLst>
                        <p:set>
                          <p:cBhvr>
                            <p:cTn id="122" dur="1" fill="hold"/>
                            <p:tgtEl>
                              <p:spTgt spid="16"/>
                            </p:tgtEl>
                            <p:attrNameLst>
                              <p:attrName>style.visibility</p:attrName>
                            </p:attrNameLst>
                          </p:cBhvr>
                          <p:to>
                            <p:strVal val="visible"/>
                          </p:to>
                        </p:set>
                        <p:animEffect transition="in" filter="fade">
                          <p:cBhvr>
                            <p:cTn id="123" dur="450" fill="hold"/>
                            <p:tgtEl>
                              <p:spTgt spid="16"/>
                            </p:tgtEl>
                          </p:cBhvr>
                        </p:animEffect>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1" grpId="0"/>
      <p:bldP spid="12"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235440" y="-457200"/>
            <a:ext cx="3383280" cy="1920240"/>
          </a:xfrm>
          <a:prstGeom prst="ellipse">
            <a:avLst/>
          </a:prstGeom>
          <a:solidFill>
            <a:srgbClr val="FFF7C7">
              <a:alpha val="50000"/>
            </a:srgbClr>
          </a:solidFill>
          <a:ln w="12700">
            <a:solidFill>
              <a:srgbClr val="FFF7C7">
                <a:alpha val="0"/>
              </a:srgbClr>
            </a:solidFill>
            <a:prstDash val="solid"/>
          </a:ln>
        </p:spPr>
      </p:sp>
      <p:sp>
        <p:nvSpPr>
          <p:cNvPr id="3" name="Shape 1"/>
          <p:cNvSpPr/>
          <p:nvPr/>
        </p:nvSpPr>
        <p:spPr>
          <a:xfrm>
            <a:off x="-731520" y="5212080"/>
            <a:ext cx="3108960" cy="2011680"/>
          </a:xfrm>
          <a:prstGeom prst="ellipse">
            <a:avLst/>
          </a:prstGeom>
          <a:solidFill>
            <a:srgbClr val="CFEFFF">
              <a:alpha val="50000"/>
            </a:srgbClr>
          </a:solidFill>
          <a:ln w="12700">
            <a:solidFill>
              <a:srgbClr val="CFEFFF">
                <a:alpha val="0"/>
              </a:srgbClr>
            </a:solidFill>
            <a:prstDash val="solid"/>
          </a:ln>
        </p:spPr>
      </p:sp>
      <p:sp>
        <p:nvSpPr>
          <p:cNvPr id="4" name="Shape 2"/>
          <p:cNvSpPr/>
          <p:nvPr/>
        </p:nvSpPr>
        <p:spPr>
          <a:xfrm>
            <a:off x="5029200" y="6080760"/>
            <a:ext cx="2286000" cy="685800"/>
          </a:xfrm>
          <a:prstGeom prst="ellipse">
            <a:avLst/>
          </a:prstGeom>
          <a:solidFill>
            <a:srgbClr val="FFD9E8">
              <a:alpha val="38000"/>
            </a:srgbClr>
          </a:solidFill>
          <a:ln w="12700">
            <a:solidFill>
              <a:srgbClr val="FFD9E8">
                <a:alpha val="0"/>
              </a:srgbClr>
            </a:solidFill>
            <a:prstDash val="solid"/>
          </a:ln>
        </p:spPr>
      </p:sp>
      <p:sp>
        <p:nvSpPr>
          <p:cNvPr id="5" name="anim-final-title-99"/>
          <p:cNvSpPr/>
          <p:nvPr/>
        </p:nvSpPr>
        <p:spPr>
          <a:xfrm>
            <a:off x="841248" y="822960"/>
            <a:ext cx="7269480" cy="1005840"/>
          </a:xfrm>
          <a:prstGeom prst="rect">
            <a:avLst/>
          </a:prstGeom>
          <a:noFill/>
          <a:ln/>
        </p:spPr>
        <p:txBody>
          <a:bodyPr wrap="square" lIns="0" tIns="0" rIns="0" bIns="0" rtlCol="0" anchor="ctr">
            <a:normAutofit/>
          </a:bodyPr>
          <a:lstStyle/>
          <a:p>
            <a:pPr indent="0" marL="0">
              <a:buNone/>
            </a:pPr>
            <a:r>
              <a:rPr lang="en-US" sz="3500" b="1" dirty="0">
                <a:solidFill>
                  <a:srgbClr val="2F3437"/>
                </a:solidFill>
              </a:rPr>
              <a:t>Schule beeinflusst mehr als nur Noten.</a:t>
            </a:r>
            <a:endParaRPr lang="en-US" sz="3500" dirty="0"/>
          </a:p>
        </p:txBody>
      </p:sp>
      <p:sp>
        <p:nvSpPr>
          <p:cNvPr id="6" name="Shape 4"/>
          <p:cNvSpPr/>
          <p:nvPr/>
        </p:nvSpPr>
        <p:spPr>
          <a:xfrm>
            <a:off x="932688" y="2304288"/>
            <a:ext cx="265176" cy="265176"/>
          </a:xfrm>
          <a:prstGeom prst="ellipse">
            <a:avLst/>
          </a:prstGeom>
          <a:solidFill>
            <a:srgbClr val="CFEFFF"/>
          </a:solidFill>
          <a:ln w="12700">
            <a:solidFill>
              <a:srgbClr val="CFEFFF"/>
            </a:solidFill>
            <a:prstDash val="solid"/>
          </a:ln>
        </p:spPr>
      </p:sp>
      <p:sp>
        <p:nvSpPr>
          <p:cNvPr id="7" name="Text 5"/>
          <p:cNvSpPr/>
          <p:nvPr/>
        </p:nvSpPr>
        <p:spPr>
          <a:xfrm>
            <a:off x="987552" y="2331720"/>
            <a:ext cx="146304" cy="109728"/>
          </a:xfrm>
          <a:prstGeom prst="rect">
            <a:avLst/>
          </a:prstGeom>
          <a:noFill/>
          <a:ln/>
        </p:spPr>
        <p:txBody>
          <a:bodyPr wrap="square" lIns="0" tIns="0" rIns="0" bIns="0" rtlCol="0" anchor="ctr"/>
          <a:lstStyle/>
          <a:p>
            <a:pPr indent="0" marL="0">
              <a:buNone/>
            </a:pPr>
            <a:r>
              <a:rPr lang="en-US" sz="800" b="1" dirty="0">
                <a:solidFill>
                  <a:srgbClr val="2F3437"/>
                </a:solidFill>
              </a:rPr>
              <a:t>✓</a:t>
            </a:r>
            <a:endParaRPr lang="en-US" sz="800" dirty="0"/>
          </a:p>
        </p:txBody>
      </p:sp>
      <p:sp>
        <p:nvSpPr>
          <p:cNvPr id="8" name="anim-final-point-100"/>
          <p:cNvSpPr/>
          <p:nvPr/>
        </p:nvSpPr>
        <p:spPr>
          <a:xfrm>
            <a:off x="1353312" y="2258568"/>
            <a:ext cx="6400800" cy="310896"/>
          </a:xfrm>
          <a:prstGeom prst="rect">
            <a:avLst/>
          </a:prstGeom>
          <a:noFill/>
          <a:ln/>
        </p:spPr>
        <p:txBody>
          <a:bodyPr wrap="square" lIns="0" tIns="0" rIns="0" bIns="0" rtlCol="0" anchor="ctr">
            <a:normAutofit/>
          </a:bodyPr>
          <a:lstStyle/>
          <a:p>
            <a:pPr indent="0" marL="0">
              <a:buNone/>
            </a:pPr>
            <a:r>
              <a:rPr lang="en-US" sz="1800" dirty="0">
                <a:solidFill>
                  <a:srgbClr val="2F3437"/>
                </a:solidFill>
              </a:rPr>
              <a:t>Strukturen wirken auf das Wohlbefinden.</a:t>
            </a:r>
            <a:endParaRPr lang="en-US" sz="1800" dirty="0"/>
          </a:p>
        </p:txBody>
      </p:sp>
      <p:sp>
        <p:nvSpPr>
          <p:cNvPr id="9" name="Shape 7"/>
          <p:cNvSpPr/>
          <p:nvPr/>
        </p:nvSpPr>
        <p:spPr>
          <a:xfrm>
            <a:off x="932688" y="2926080"/>
            <a:ext cx="265176" cy="265176"/>
          </a:xfrm>
          <a:prstGeom prst="ellipse">
            <a:avLst/>
          </a:prstGeom>
          <a:solidFill>
            <a:srgbClr val="FFF7C7"/>
          </a:solidFill>
          <a:ln w="12700">
            <a:solidFill>
              <a:srgbClr val="FFF7C7"/>
            </a:solidFill>
            <a:prstDash val="solid"/>
          </a:ln>
        </p:spPr>
      </p:sp>
      <p:sp>
        <p:nvSpPr>
          <p:cNvPr id="10" name="Text 8"/>
          <p:cNvSpPr/>
          <p:nvPr/>
        </p:nvSpPr>
        <p:spPr>
          <a:xfrm>
            <a:off x="987552" y="2953512"/>
            <a:ext cx="146304" cy="109728"/>
          </a:xfrm>
          <a:prstGeom prst="rect">
            <a:avLst/>
          </a:prstGeom>
          <a:noFill/>
          <a:ln/>
        </p:spPr>
        <p:txBody>
          <a:bodyPr wrap="square" lIns="0" tIns="0" rIns="0" bIns="0" rtlCol="0" anchor="ctr"/>
          <a:lstStyle/>
          <a:p>
            <a:pPr indent="0" marL="0">
              <a:buNone/>
            </a:pPr>
            <a:r>
              <a:rPr lang="en-US" sz="800" b="1" dirty="0">
                <a:solidFill>
                  <a:srgbClr val="2F3437"/>
                </a:solidFill>
              </a:rPr>
              <a:t>✓</a:t>
            </a:r>
            <a:endParaRPr lang="en-US" sz="800" dirty="0"/>
          </a:p>
        </p:txBody>
      </p:sp>
      <p:sp>
        <p:nvSpPr>
          <p:cNvPr id="11" name="anim-final-point-101"/>
          <p:cNvSpPr/>
          <p:nvPr/>
        </p:nvSpPr>
        <p:spPr>
          <a:xfrm>
            <a:off x="1353312" y="2880360"/>
            <a:ext cx="6400800" cy="310896"/>
          </a:xfrm>
          <a:prstGeom prst="rect">
            <a:avLst/>
          </a:prstGeom>
          <a:noFill/>
          <a:ln/>
        </p:spPr>
        <p:txBody>
          <a:bodyPr wrap="square" lIns="0" tIns="0" rIns="0" bIns="0" rtlCol="0" anchor="ctr">
            <a:normAutofit/>
          </a:bodyPr>
          <a:lstStyle/>
          <a:p>
            <a:pPr indent="0" marL="0">
              <a:buNone/>
            </a:pPr>
            <a:r>
              <a:rPr lang="en-US" sz="1800" dirty="0">
                <a:solidFill>
                  <a:srgbClr val="2F3437"/>
                </a:solidFill>
              </a:rPr>
              <a:t>Leistungsdruck und Schulklima spielen eine zentrale Rolle.</a:t>
            </a:r>
            <a:endParaRPr lang="en-US" sz="1800" dirty="0"/>
          </a:p>
        </p:txBody>
      </p:sp>
      <p:sp>
        <p:nvSpPr>
          <p:cNvPr id="12" name="Shape 10"/>
          <p:cNvSpPr/>
          <p:nvPr/>
        </p:nvSpPr>
        <p:spPr>
          <a:xfrm>
            <a:off x="932688" y="3547872"/>
            <a:ext cx="265176" cy="265176"/>
          </a:xfrm>
          <a:prstGeom prst="ellipse">
            <a:avLst/>
          </a:prstGeom>
          <a:solidFill>
            <a:srgbClr val="FFD9E8"/>
          </a:solidFill>
          <a:ln w="12700">
            <a:solidFill>
              <a:srgbClr val="FFD9E8"/>
            </a:solidFill>
            <a:prstDash val="solid"/>
          </a:ln>
        </p:spPr>
      </p:sp>
      <p:sp>
        <p:nvSpPr>
          <p:cNvPr id="13" name="Text 11"/>
          <p:cNvSpPr/>
          <p:nvPr/>
        </p:nvSpPr>
        <p:spPr>
          <a:xfrm>
            <a:off x="987552" y="3575304"/>
            <a:ext cx="146304" cy="109728"/>
          </a:xfrm>
          <a:prstGeom prst="rect">
            <a:avLst/>
          </a:prstGeom>
          <a:noFill/>
          <a:ln/>
        </p:spPr>
        <p:txBody>
          <a:bodyPr wrap="square" lIns="0" tIns="0" rIns="0" bIns="0" rtlCol="0" anchor="ctr"/>
          <a:lstStyle/>
          <a:p>
            <a:pPr indent="0" marL="0">
              <a:buNone/>
            </a:pPr>
            <a:r>
              <a:rPr lang="en-US" sz="800" b="1" dirty="0">
                <a:solidFill>
                  <a:srgbClr val="2F3437"/>
                </a:solidFill>
              </a:rPr>
              <a:t>✓</a:t>
            </a:r>
            <a:endParaRPr lang="en-US" sz="800" dirty="0"/>
          </a:p>
        </p:txBody>
      </p:sp>
      <p:sp>
        <p:nvSpPr>
          <p:cNvPr id="14" name="anim-final-point-102"/>
          <p:cNvSpPr/>
          <p:nvPr/>
        </p:nvSpPr>
        <p:spPr>
          <a:xfrm>
            <a:off x="1353312" y="3502152"/>
            <a:ext cx="6400800" cy="310896"/>
          </a:xfrm>
          <a:prstGeom prst="rect">
            <a:avLst/>
          </a:prstGeom>
          <a:noFill/>
          <a:ln/>
        </p:spPr>
        <p:txBody>
          <a:bodyPr wrap="square" lIns="0" tIns="0" rIns="0" bIns="0" rtlCol="0" anchor="ctr">
            <a:normAutofit/>
          </a:bodyPr>
          <a:lstStyle/>
          <a:p>
            <a:pPr indent="0" marL="0">
              <a:buNone/>
            </a:pPr>
            <a:r>
              <a:rPr lang="en-US" sz="1800" dirty="0">
                <a:solidFill>
                  <a:srgbClr val="2F3437"/>
                </a:solidFill>
              </a:rPr>
              <a:t>Reformen könnten Bildung und Glück stärker miteinander verbinden.</a:t>
            </a:r>
            <a:endParaRPr lang="en-US" sz="1800" dirty="0"/>
          </a:p>
        </p:txBody>
      </p:sp>
      <p:sp>
        <p:nvSpPr>
          <p:cNvPr id="15" name="Shape 13"/>
          <p:cNvSpPr/>
          <p:nvPr/>
        </p:nvSpPr>
        <p:spPr>
          <a:xfrm>
            <a:off x="8138160" y="1060704"/>
            <a:ext cx="3127248" cy="3977640"/>
          </a:xfrm>
          <a:prstGeom prst="roundRect">
            <a:avLst>
              <a:gd name="adj" fmla="val 6433"/>
            </a:avLst>
          </a:prstGeom>
          <a:solidFill>
            <a:srgbClr val="F7F8FA"/>
          </a:solidFill>
          <a:ln w="12700">
            <a:solidFill>
              <a:srgbClr val="F7F8FA"/>
            </a:solidFill>
            <a:prstDash val="solid"/>
          </a:ln>
          <a:effectLst>
            <a:outerShdw sx="100000" sy="100000" kx="0" ky="0" algn="bl" rotWithShape="0" blurRad="6.766381932644821e+139" dist="1.3532763865289643e+140" dir="1.2893030998113172e+164">
              <a:srgbClr val="C9D2DA">
                <a:alpha val="2.2000000000000004e+169"/>
              </a:srgbClr>
            </a:outerShdw>
          </a:effectLst>
        </p:spPr>
      </p:sp>
      <p:sp>
        <p:nvSpPr>
          <p:cNvPr id="16" name="Shape 14"/>
          <p:cNvSpPr/>
          <p:nvPr/>
        </p:nvSpPr>
        <p:spPr>
          <a:xfrm>
            <a:off x="8641080" y="2002902"/>
            <a:ext cx="1850746" cy="1135685"/>
          </a:xfrm>
          <a:prstGeom prst="roundRect">
            <a:avLst/>
          </a:prstGeom>
          <a:solidFill>
            <a:srgbClr val="FFFFFF"/>
          </a:solidFill>
          <a:ln w="12700">
            <a:solidFill>
              <a:srgbClr val="D8E0E8"/>
            </a:solidFill>
            <a:prstDash val="solid"/>
          </a:ln>
          <a:effectLst>
            <a:outerShdw sx="100000" sy="100000" kx="0" ky="0" algn="bl" rotWithShape="0" blurRad="8.593305054458923e+143" dist="1.7186610108917847e+144" dir="7.735818598867904e+168">
              <a:srgbClr val="C9D2DA">
                <a:alpha val="2.2e+174"/>
              </a:srgbClr>
            </a:outerShdw>
          </a:effectLst>
        </p:spPr>
      </p:sp>
      <p:sp>
        <p:nvSpPr>
          <p:cNvPr id="17" name="Shape 15"/>
          <p:cNvSpPr/>
          <p:nvPr/>
        </p:nvSpPr>
        <p:spPr>
          <a:xfrm>
            <a:off x="8573780" y="1666403"/>
            <a:ext cx="1985345" cy="605699"/>
          </a:xfrm>
          <a:prstGeom prst="triangle">
            <a:avLst/>
          </a:prstGeom>
          <a:solidFill>
            <a:srgbClr val="FFD9E8"/>
          </a:solidFill>
          <a:ln w="12700">
            <a:solidFill>
              <a:srgbClr val="FFD9E8"/>
            </a:solidFill>
            <a:prstDash val="solid"/>
          </a:ln>
        </p:spPr>
      </p:sp>
      <p:sp>
        <p:nvSpPr>
          <p:cNvPr id="18" name="Shape 16"/>
          <p:cNvSpPr/>
          <p:nvPr/>
        </p:nvSpPr>
        <p:spPr>
          <a:xfrm>
            <a:off x="9398203" y="2532888"/>
            <a:ext cx="336499" cy="605699"/>
          </a:xfrm>
          <a:prstGeom prst="roundRect">
            <a:avLst>
              <a:gd name="adj" fmla="val 8152"/>
            </a:avLst>
          </a:prstGeom>
          <a:solidFill>
            <a:srgbClr val="CFEFFF"/>
          </a:solidFill>
          <a:ln w="12700">
            <a:solidFill>
              <a:srgbClr val="CFEFFF"/>
            </a:solidFill>
            <a:prstDash val="solid"/>
          </a:ln>
        </p:spPr>
      </p:sp>
      <p:sp>
        <p:nvSpPr>
          <p:cNvPr id="19" name="Shape 17"/>
          <p:cNvSpPr/>
          <p:nvPr/>
        </p:nvSpPr>
        <p:spPr>
          <a:xfrm>
            <a:off x="8851392" y="2196389"/>
            <a:ext cx="294437" cy="201900"/>
          </a:xfrm>
          <a:prstGeom prst="roundRect">
            <a:avLst>
              <a:gd name="adj" fmla="val 9058"/>
            </a:avLst>
          </a:prstGeom>
          <a:solidFill>
            <a:srgbClr val="FFF7C7"/>
          </a:solidFill>
          <a:ln w="12700">
            <a:solidFill>
              <a:srgbClr val="F2E6A9"/>
            </a:solidFill>
            <a:prstDash val="solid"/>
          </a:ln>
        </p:spPr>
      </p:sp>
      <p:sp>
        <p:nvSpPr>
          <p:cNvPr id="20" name="Shape 18"/>
          <p:cNvSpPr/>
          <p:nvPr/>
        </p:nvSpPr>
        <p:spPr>
          <a:xfrm>
            <a:off x="9911364" y="2196389"/>
            <a:ext cx="294437" cy="201900"/>
          </a:xfrm>
          <a:prstGeom prst="roundRect">
            <a:avLst>
              <a:gd name="adj" fmla="val 9058"/>
            </a:avLst>
          </a:prstGeom>
          <a:solidFill>
            <a:srgbClr val="FFF7C7"/>
          </a:solidFill>
          <a:ln w="12700">
            <a:solidFill>
              <a:srgbClr val="F2E6A9"/>
            </a:solidFill>
            <a:prstDash val="solid"/>
          </a:ln>
        </p:spPr>
      </p:sp>
      <p:sp>
        <p:nvSpPr>
          <p:cNvPr id="21" name="Shape 19"/>
          <p:cNvSpPr/>
          <p:nvPr/>
        </p:nvSpPr>
        <p:spPr>
          <a:xfrm>
            <a:off x="8851392" y="2600188"/>
            <a:ext cx="294437" cy="201900"/>
          </a:xfrm>
          <a:prstGeom prst="roundRect">
            <a:avLst>
              <a:gd name="adj" fmla="val 9058"/>
            </a:avLst>
          </a:prstGeom>
          <a:solidFill>
            <a:srgbClr val="FFF7C7"/>
          </a:solidFill>
          <a:ln w="12700">
            <a:solidFill>
              <a:srgbClr val="F2E6A9"/>
            </a:solidFill>
            <a:prstDash val="solid"/>
          </a:ln>
        </p:spPr>
      </p:sp>
      <p:sp>
        <p:nvSpPr>
          <p:cNvPr id="22" name="Shape 20"/>
          <p:cNvSpPr/>
          <p:nvPr/>
        </p:nvSpPr>
        <p:spPr>
          <a:xfrm>
            <a:off x="9911364" y="2600188"/>
            <a:ext cx="294437" cy="201900"/>
          </a:xfrm>
          <a:prstGeom prst="roundRect">
            <a:avLst>
              <a:gd name="adj" fmla="val 9058"/>
            </a:avLst>
          </a:prstGeom>
          <a:solidFill>
            <a:srgbClr val="FFF7C7"/>
          </a:solidFill>
          <a:ln w="12700">
            <a:solidFill>
              <a:srgbClr val="F2E6A9"/>
            </a:solidFill>
            <a:prstDash val="solid"/>
          </a:ln>
        </p:spPr>
      </p:sp>
      <p:sp>
        <p:nvSpPr>
          <p:cNvPr id="23" name="Text 21"/>
          <p:cNvSpPr/>
          <p:nvPr/>
        </p:nvSpPr>
        <p:spPr>
          <a:xfrm>
            <a:off x="9162654" y="1952427"/>
            <a:ext cx="841248" cy="185075"/>
          </a:xfrm>
          <a:prstGeom prst="rect">
            <a:avLst/>
          </a:prstGeom>
          <a:noFill/>
          <a:ln/>
        </p:spPr>
        <p:txBody>
          <a:bodyPr wrap="square" lIns="0" tIns="0" rIns="0" bIns="0" rtlCol="0" anchor="ctr"/>
          <a:lstStyle/>
          <a:p>
            <a:pPr algn="ctr" indent="0" marL="0">
              <a:buNone/>
            </a:pPr>
            <a:r>
              <a:rPr lang="en-US" sz="736" b="1" dirty="0">
                <a:solidFill>
                  <a:srgbClr val="6B7280"/>
                </a:solidFill>
                <a:latin typeface="Aptos" pitchFamily="34" charset="0"/>
                <a:ea typeface="Aptos" pitchFamily="34" charset="-122"/>
                <a:cs typeface="Aptos" pitchFamily="34" charset="-120"/>
              </a:rPr>
              <a:t>SCHULE</a:t>
            </a:r>
            <a:endParaRPr lang="en-US" sz="736" dirty="0"/>
          </a:p>
        </p:txBody>
      </p:sp>
      <p:sp>
        <p:nvSpPr>
          <p:cNvPr id="24" name="Shape 22"/>
          <p:cNvSpPr/>
          <p:nvPr/>
        </p:nvSpPr>
        <p:spPr>
          <a:xfrm>
            <a:off x="9056949" y="3977640"/>
            <a:ext cx="261153" cy="261153"/>
          </a:xfrm>
          <a:prstGeom prst="ellipse">
            <a:avLst/>
          </a:prstGeom>
          <a:solidFill>
            <a:srgbClr val="F3C7A8"/>
          </a:solidFill>
          <a:ln w="12700">
            <a:solidFill>
              <a:srgbClr val="F3C7A8"/>
            </a:solidFill>
            <a:prstDash val="solid"/>
          </a:ln>
        </p:spPr>
      </p:sp>
      <p:sp>
        <p:nvSpPr>
          <p:cNvPr id="25" name="Shape 23"/>
          <p:cNvSpPr/>
          <p:nvPr/>
        </p:nvSpPr>
        <p:spPr>
          <a:xfrm>
            <a:off x="9110716" y="4115897"/>
            <a:ext cx="122895" cy="69129"/>
          </a:xfrm>
          <a:prstGeom prst="arc">
            <a:avLst/>
          </a:prstGeom>
          <a:noFill/>
          <a:ln w="12700">
            <a:solidFill>
              <a:srgbClr val="2F3437"/>
            </a:solidFill>
            <a:prstDash val="solid"/>
          </a:ln>
        </p:spPr>
      </p:sp>
      <p:sp>
        <p:nvSpPr>
          <p:cNvPr id="26" name="Shape 24"/>
          <p:cNvSpPr/>
          <p:nvPr/>
        </p:nvSpPr>
        <p:spPr>
          <a:xfrm>
            <a:off x="8995501" y="4246474"/>
            <a:ext cx="384048" cy="445496"/>
          </a:xfrm>
          <a:prstGeom prst="roundRect">
            <a:avLst>
              <a:gd name="adj" fmla="val 11905"/>
            </a:avLst>
          </a:prstGeom>
          <a:solidFill>
            <a:srgbClr val="CFEFFF"/>
          </a:solidFill>
          <a:ln w="12700">
            <a:solidFill>
              <a:srgbClr val="CFEFFF"/>
            </a:solidFill>
            <a:prstDash val="solid"/>
          </a:ln>
        </p:spPr>
      </p:sp>
      <p:sp>
        <p:nvSpPr>
          <p:cNvPr id="27" name="Shape 25"/>
          <p:cNvSpPr/>
          <p:nvPr/>
        </p:nvSpPr>
        <p:spPr>
          <a:xfrm>
            <a:off x="9064630" y="4684288"/>
            <a:ext cx="-92172" cy="245791"/>
          </a:xfrm>
          <a:prstGeom prst="line">
            <a:avLst/>
          </a:prstGeom>
          <a:noFill/>
          <a:ln w="15240">
            <a:solidFill>
              <a:srgbClr val="2F3437"/>
            </a:solidFill>
            <a:prstDash val="solid"/>
          </a:ln>
        </p:spPr>
      </p:sp>
      <p:sp>
        <p:nvSpPr>
          <p:cNvPr id="28" name="Shape 26"/>
          <p:cNvSpPr/>
          <p:nvPr/>
        </p:nvSpPr>
        <p:spPr>
          <a:xfrm>
            <a:off x="9302740" y="4684288"/>
            <a:ext cx="92172" cy="245791"/>
          </a:xfrm>
          <a:prstGeom prst="line">
            <a:avLst/>
          </a:prstGeom>
          <a:noFill/>
          <a:ln w="15240">
            <a:solidFill>
              <a:srgbClr val="2F3437"/>
            </a:solidFill>
            <a:prstDash val="solid"/>
          </a:ln>
        </p:spPr>
      </p:sp>
      <p:sp>
        <p:nvSpPr>
          <p:cNvPr id="29" name="Shape 27"/>
          <p:cNvSpPr/>
          <p:nvPr/>
        </p:nvSpPr>
        <p:spPr>
          <a:xfrm>
            <a:off x="9891248" y="4078224"/>
            <a:ext cx="236281" cy="236281"/>
          </a:xfrm>
          <a:prstGeom prst="ellipse">
            <a:avLst/>
          </a:prstGeom>
          <a:solidFill>
            <a:srgbClr val="F3C7A8"/>
          </a:solidFill>
          <a:ln w="12700">
            <a:solidFill>
              <a:srgbClr val="F3C7A8"/>
            </a:solidFill>
            <a:prstDash val="solid"/>
          </a:ln>
        </p:spPr>
      </p:sp>
      <p:sp>
        <p:nvSpPr>
          <p:cNvPr id="30" name="Shape 28"/>
          <p:cNvSpPr/>
          <p:nvPr/>
        </p:nvSpPr>
        <p:spPr>
          <a:xfrm>
            <a:off x="9939894" y="4203314"/>
            <a:ext cx="111191" cy="62545"/>
          </a:xfrm>
          <a:prstGeom prst="arc">
            <a:avLst/>
          </a:prstGeom>
          <a:noFill/>
          <a:ln w="12700">
            <a:solidFill>
              <a:srgbClr val="2F3437"/>
            </a:solidFill>
            <a:prstDash val="solid"/>
          </a:ln>
        </p:spPr>
      </p:sp>
      <p:sp>
        <p:nvSpPr>
          <p:cNvPr id="31" name="Shape 29"/>
          <p:cNvSpPr/>
          <p:nvPr/>
        </p:nvSpPr>
        <p:spPr>
          <a:xfrm>
            <a:off x="9835652" y="4321454"/>
            <a:ext cx="347472" cy="403068"/>
          </a:xfrm>
          <a:prstGeom prst="roundRect">
            <a:avLst>
              <a:gd name="adj" fmla="val 13158"/>
            </a:avLst>
          </a:prstGeom>
          <a:solidFill>
            <a:srgbClr val="FFF7C7"/>
          </a:solidFill>
          <a:ln w="12700">
            <a:solidFill>
              <a:srgbClr val="FFF7C7"/>
            </a:solidFill>
            <a:prstDash val="solid"/>
          </a:ln>
        </p:spPr>
      </p:sp>
      <p:sp>
        <p:nvSpPr>
          <p:cNvPr id="32" name="Shape 30"/>
          <p:cNvSpPr/>
          <p:nvPr/>
        </p:nvSpPr>
        <p:spPr>
          <a:xfrm>
            <a:off x="9898197" y="4717572"/>
            <a:ext cx="-83393" cy="222382"/>
          </a:xfrm>
          <a:prstGeom prst="line">
            <a:avLst/>
          </a:prstGeom>
          <a:noFill/>
          <a:ln w="15240">
            <a:solidFill>
              <a:srgbClr val="2F3437"/>
            </a:solidFill>
            <a:prstDash val="solid"/>
          </a:ln>
        </p:spPr>
      </p:sp>
      <p:sp>
        <p:nvSpPr>
          <p:cNvPr id="33" name="Shape 31"/>
          <p:cNvSpPr/>
          <p:nvPr/>
        </p:nvSpPr>
        <p:spPr>
          <a:xfrm>
            <a:off x="10113630" y="4717572"/>
            <a:ext cx="83393" cy="222382"/>
          </a:xfrm>
          <a:prstGeom prst="line">
            <a:avLst/>
          </a:prstGeom>
          <a:noFill/>
          <a:ln w="15240">
            <a:solidFill>
              <a:srgbClr val="2F3437"/>
            </a:solidFill>
            <a:prstDash val="solid"/>
          </a:ln>
        </p:spPr>
      </p:sp>
      <p:sp>
        <p:nvSpPr>
          <p:cNvPr id="34" name="Shape 32"/>
          <p:cNvSpPr/>
          <p:nvPr/>
        </p:nvSpPr>
        <p:spPr>
          <a:xfrm>
            <a:off x="10442448" y="3931920"/>
            <a:ext cx="310896" cy="283464"/>
          </a:xfrm>
          <a:prstGeom prst="heart">
            <a:avLst/>
          </a:prstGeom>
          <a:solidFill>
            <a:srgbClr val="FFD9E8"/>
          </a:solidFill>
          <a:ln w="12700">
            <a:solidFill>
              <a:srgbClr val="FFD9E8"/>
            </a:solidFill>
            <a:prstDash val="solid"/>
          </a:ln>
        </p:spPr>
      </p:sp>
      <p:sp>
        <p:nvSpPr>
          <p:cNvPr id="35" name="Shape 33"/>
          <p:cNvSpPr/>
          <p:nvPr/>
        </p:nvSpPr>
        <p:spPr>
          <a:xfrm>
            <a:off x="3401568" y="5650992"/>
            <a:ext cx="4754880" cy="530352"/>
          </a:xfrm>
          <a:prstGeom prst="roundRect">
            <a:avLst>
              <a:gd name="adj" fmla="val 31034"/>
            </a:avLst>
          </a:prstGeom>
          <a:solidFill>
            <a:srgbClr val="2F3437"/>
          </a:solidFill>
          <a:ln w="12700">
            <a:solidFill>
              <a:srgbClr val="2F3437"/>
            </a:solidFill>
            <a:prstDash val="solid"/>
          </a:ln>
          <a:effectLst>
            <a:outerShdw sx="100000" sy="100000" kx="0" ky="0" algn="bl" rotWithShape="0" blurRad="1.0913497419162833e+148" dist="2.1826994838325667e+148" dir="4.6414911593207425e+173">
              <a:srgbClr val="C9D2DA">
                <a:alpha val="2.2000000000000003e+179"/>
              </a:srgbClr>
            </a:outerShdw>
          </a:effectLst>
        </p:spPr>
      </p:sp>
      <p:sp>
        <p:nvSpPr>
          <p:cNvPr id="36" name="anim-thanks-103"/>
          <p:cNvSpPr/>
          <p:nvPr/>
        </p:nvSpPr>
        <p:spPr>
          <a:xfrm>
            <a:off x="3730752" y="5833872"/>
            <a:ext cx="4096512" cy="164592"/>
          </a:xfrm>
          <a:prstGeom prst="rect">
            <a:avLst/>
          </a:prstGeom>
          <a:noFill/>
          <a:ln/>
        </p:spPr>
        <p:txBody>
          <a:bodyPr wrap="square" lIns="0" tIns="0" rIns="0" bIns="0" rtlCol="0" anchor="ctr"/>
          <a:lstStyle/>
          <a:p>
            <a:pPr algn="ctr" indent="0" marL="0">
              <a:buNone/>
            </a:pPr>
            <a:r>
              <a:rPr lang="en-US" sz="1500" b="1" dirty="0">
                <a:solidFill>
                  <a:srgbClr val="FFFFFF"/>
                </a:solidFill>
              </a:rPr>
              <a:t>Danke für eure Aufmerksamkeit!</a:t>
            </a:r>
            <a:endParaRPr lang="en-US" sz="1500" dirty="0"/>
          </a:p>
        </p:txBody>
      </p:sp>
      <p:sp>
        <p:nvSpPr>
          <p:cNvPr id="37" name="Text 35"/>
          <p:cNvSpPr/>
          <p:nvPr/>
        </p:nvSpPr>
        <p:spPr>
          <a:xfrm>
            <a:off x="658368" y="6473952"/>
            <a:ext cx="1097280" cy="164592"/>
          </a:xfrm>
          <a:prstGeom prst="rect">
            <a:avLst/>
          </a:prstGeom>
          <a:noFill/>
          <a:ln/>
        </p:spPr>
        <p:txBody>
          <a:bodyPr wrap="square" lIns="0" tIns="0" rIns="0" bIns="0" rtlCol="0" anchor="ctr"/>
          <a:lstStyle/>
          <a:p>
            <a:pPr indent="0" marL="0">
              <a:buNone/>
            </a:pPr>
            <a:r>
              <a:rPr lang="en-US" sz="700" dirty="0">
                <a:solidFill>
                  <a:srgbClr val="A7ADB3"/>
                </a:solidFill>
                <a:latin typeface="Aptos" pitchFamily="34" charset="0"/>
                <a:ea typeface="Aptos" pitchFamily="34" charset="-122"/>
                <a:cs typeface="Aptos" pitchFamily="34" charset="-120"/>
              </a:rPr>
              <a:t>Folie 11 / 11</a:t>
            </a:r>
            <a:endParaRPr lang="en-US" sz="700" dirty="0"/>
          </a:p>
        </p:txBody>
      </p:sp>
      <p:sp>
        <p:nvSpPr>
          <p:cNvPr id="38" name="Text 36"/>
          <p:cNvSpPr/>
          <p:nvPr/>
        </p:nvSpPr>
        <p:spPr>
          <a:xfrm>
            <a:off x="9802368" y="6473952"/>
            <a:ext cx="1627632" cy="164592"/>
          </a:xfrm>
          <a:prstGeom prst="rect">
            <a:avLst/>
          </a:prstGeom>
          <a:noFill/>
          <a:ln/>
        </p:spPr>
        <p:txBody>
          <a:bodyPr wrap="square" lIns="0" tIns="0" rIns="0" bIns="0" rtlCol="0" anchor="ctr"/>
          <a:lstStyle/>
          <a:p>
            <a:pPr algn="r" indent="0" marL="0">
              <a:buNone/>
            </a:pPr>
            <a:r>
              <a:rPr lang="en-US" sz="700" dirty="0">
                <a:solidFill>
                  <a:srgbClr val="BDC4CB"/>
                </a:solidFill>
                <a:latin typeface="Aptos" pitchFamily="34" charset="0"/>
                <a:ea typeface="Aptos" pitchFamily="34" charset="-122"/>
                <a:cs typeface="Aptos" pitchFamily="34" charset="-120"/>
              </a:rPr>
              <a:t>Übergang: Fade</a:t>
            </a:r>
            <a:endParaRPr lang="en-US" sz="700" dirty="0"/>
          </a:p>
        </p:txBody>
      </p:sp>
      <p:sp>
        <p:nvSpPr>
          <p:cNvPr id="25" name="Slide Number Placeholder 0"/>
          <p:cNvSpPr>
            <a:spLocks noGrp="1"/>
          </p:cNvSpPr>
          <p:nvPr>
            <p:ph type="sldNum" sz="quarter" idx="4294967295"/>
          </p:nvPr>
        </p:nvSpPr>
        <p:spPr>
          <a:xfrm>
            <a:off x="11567160" y="651052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9AA0A6"/>
                </a:solidFill>
                <a:latin typeface="Aptos"/>
                <a:ea typeface="Aptos"/>
                <a:cs typeface="Aptos"/>
              </a:defRPr>
            </a:lvl1pPr>
          </a:lstStyle>
          <a:p>
            <a:pPr algn="l"/>
            <a:fld id="{F7021451-1387-4CA6-816F-3879F97B5CBC}" type="slidenum">
              <a:rPr b="0" lang="en-US"/>
              <a:t>11</a:t>
            </a:fld>
            <a:endParaRPr lang="en-US"/>
          </a:p>
        </p:txBody>
      </p:sp>
    </p:spTree>
  </p:cSld>
  <p:transition spd="med">
    <p:fade/>
  </p:transition>
  <p:clrMapOvr>
    <a:masterClrMapping/>
  </p:clrMapOvr>
  <p:timing>
    <p:tnLst>
      <p:par>
        <p:cTn id="1" dur="indefinite" restart="never" nodeType="tmRoot">
          <p:childTnLst>
            <p:seq concurrent="1" nextAc="seek">
              <p:cTn id="2" dur="indefinite" nodeType="mainSeq">
                <p:childTnLst>
                  <p:par>
                    <p:cTn id="100" fill="hold" nodeType="clickEffect" presetID="10" presetClass="entr" presetSubtype="0">
                      <p:stCondLst>
                        <p:cond delay="0"/>
                      </p:stCondLst>
                      <p:childTnLst>
                        <p:set>
                          <p:cBhvr>
                            <p:cTn id="101" dur="1" fill="hold"/>
                            <p:tgtEl>
                              <p:spTgt spid="5"/>
                            </p:tgtEl>
                            <p:attrNameLst>
                              <p:attrName>style.visibility</p:attrName>
                            </p:attrNameLst>
                          </p:cBhvr>
                          <p:to>
                            <p:strVal val="visible"/>
                          </p:to>
                        </p:set>
                        <p:animEffect transition="in" filter="fade">
                          <p:cBhvr>
                            <p:cTn id="102" dur="450" fill="hold"/>
                            <p:tgtEl>
                              <p:spTgt spid="5"/>
                            </p:tgtEl>
                          </p:cBhvr>
                        </p:animEffect>
                      </p:childTnLst>
                    </p:cTn>
                  </p:par>
                  <p:par>
                    <p:cTn id="103" fill="hold" nodeType="clickEffect" presetID="10" presetClass="entr" presetSubtype="0">
                      <p:stCondLst>
                        <p:cond delay="250"/>
                      </p:stCondLst>
                      <p:childTnLst>
                        <p:set>
                          <p:cBhvr>
                            <p:cTn id="104" dur="1" fill="hold"/>
                            <p:tgtEl>
                              <p:spTgt spid="8"/>
                            </p:tgtEl>
                            <p:attrNameLst>
                              <p:attrName>style.visibility</p:attrName>
                            </p:attrNameLst>
                          </p:cBhvr>
                          <p:to>
                            <p:strVal val="visible"/>
                          </p:to>
                        </p:set>
                        <p:animEffect transition="in" filter="fade">
                          <p:cBhvr>
                            <p:cTn id="105" dur="450" fill="hold"/>
                            <p:tgtEl>
                              <p:spTgt spid="8"/>
                            </p:tgtEl>
                          </p:cBhvr>
                        </p:animEffect>
                      </p:childTnLst>
                    </p:cTn>
                  </p:par>
                  <p:par>
                    <p:cTn id="106" fill="hold" nodeType="clickEffect" presetID="10" presetClass="entr" presetSubtype="0">
                      <p:stCondLst>
                        <p:cond delay="250"/>
                      </p:stCondLst>
                      <p:childTnLst>
                        <p:set>
                          <p:cBhvr>
                            <p:cTn id="107" dur="1" fill="hold"/>
                            <p:tgtEl>
                              <p:spTgt spid="11"/>
                            </p:tgtEl>
                            <p:attrNameLst>
                              <p:attrName>style.visibility</p:attrName>
                            </p:attrNameLst>
                          </p:cBhvr>
                          <p:to>
                            <p:strVal val="visible"/>
                          </p:to>
                        </p:set>
                        <p:animEffect transition="in" filter="fade">
                          <p:cBhvr>
                            <p:cTn id="108" dur="450" fill="hold"/>
                            <p:tgtEl>
                              <p:spTgt spid="11"/>
                            </p:tgtEl>
                          </p:cBhvr>
                        </p:animEffect>
                      </p:childTnLst>
                    </p:cTn>
                  </p:par>
                  <p:par>
                    <p:cTn id="109" fill="hold" nodeType="clickEffect" presetID="10" presetClass="entr" presetSubtype="0">
                      <p:stCondLst>
                        <p:cond delay="250"/>
                      </p:stCondLst>
                      <p:childTnLst>
                        <p:set>
                          <p:cBhvr>
                            <p:cTn id="110" dur="1" fill="hold"/>
                            <p:tgtEl>
                              <p:spTgt spid="14"/>
                            </p:tgtEl>
                            <p:attrNameLst>
                              <p:attrName>style.visibility</p:attrName>
                            </p:attrNameLst>
                          </p:cBhvr>
                          <p:to>
                            <p:strVal val="visible"/>
                          </p:to>
                        </p:set>
                        <p:animEffect transition="in" filter="fade">
                          <p:cBhvr>
                            <p:cTn id="111" dur="450" fill="hold"/>
                            <p:tgtEl>
                              <p:spTgt spid="14"/>
                            </p:tgtEl>
                          </p:cBhvr>
                        </p:animEffect>
                      </p:childTnLst>
                    </p:cTn>
                  </p:par>
                  <p:par>
                    <p:cTn id="112" fill="hold" nodeType="clickEffect" presetID="10" presetClass="entr" presetSubtype="0">
                      <p:stCondLst>
                        <p:cond delay="250"/>
                      </p:stCondLst>
                      <p:childTnLst>
                        <p:set>
                          <p:cBhvr>
                            <p:cTn id="113" dur="1" fill="hold"/>
                            <p:tgtEl>
                              <p:spTgt spid="36"/>
                            </p:tgtEl>
                            <p:attrNameLst>
                              <p:attrName>style.visibility</p:attrName>
                            </p:attrNameLst>
                          </p:cBhvr>
                          <p:to>
                            <p:strVal val="visible"/>
                          </p:to>
                        </p:set>
                        <p:animEffect transition="in" filter="fade">
                          <p:cBhvr>
                            <p:cTn id="114" dur="450" fill="hold"/>
                            <p:tgtEl>
                              <p:spTgt spid="36"/>
                            </p:tgtEl>
                          </p:cBhvr>
                        </p:animEffect>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1" grpId="0"/>
      <p:bldP spid="14" grpId="0"/>
      <p:bldP spid="3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Gymnasium Damme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Wie Schule wirkt</dc:title>
  <dc:subject>Seminarfachkurs Glück</dc:subject>
  <dc:creator>Svea Timphus</dc:creator>
  <cp:lastModifiedBy>Svea Timphus</cp:lastModifiedBy>
  <cp:revision>1</cp:revision>
  <dcterms:created xsi:type="dcterms:W3CDTF">2026-06-14T14:44:27Z</dcterms:created>
  <dcterms:modified xsi:type="dcterms:W3CDTF">2026-06-14T14:44:27Z</dcterms:modified>
</cp:coreProperties>
</file>