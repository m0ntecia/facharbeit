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Herzlich willkommen. Mein Thema lautet „Wie Schule wirkt“ – es geht um die strukturellen Unterschiede im deutschen Schulsystem und ihren Effekt auf das Wohlbefinden von Schülerinnen und Schülern. Schule ist weit mehr als ein Ort der Wissensvermittlung: Sie ist ein prägender Lebensraum, in dem wir einen Großteil unseres Alltags verbringen. Genau deshalb passt dieses Thema so gut in unseren Seminarfachkurs Glück. Auf dem Bild seht ihr schon den Kern: dieselbe Schule, aber sehr unterschiedliche Gefühle – ein Schüler geht gut gelaunt hin, eine Schülerin fühlt sich gestresst. Woran das liegen kann, schauen wir uns jetzt gemeinsam 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Warum lohnt sich der Blick auf dieses Thema? Schule prägt unseren Alltag wie kaum eine andere Institution – wir verbringen einen Großteil unserer Zeit dort. Gleichzeitig nimmt der Leistungsdruck spürbar zu, und Bildung entscheidet maßgeblich über Zukunftschancen und gesellschaftliche Teilhabe. Wichtig ist: Wohlbefinden ist kein netter Zusatz, sondern ein Bestandteil erfolgreicher Bildung. Die Waage im Bild bringt es auf den Punkt – Bildung und Wohlbefinden gehören ins Gleichgewicht. Daraus ergibt sich meine Leitfrage, die die ganze Arbeit trägt: Inwiefern beeinflussen strukturelle Unterschiede im deutschen Schulsystem das Wohlbefinden der Schülerinnen und Schüler? Um das zu beantworten, klären wir zunächst die wichtigsten Grundbegriffe.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analysieren, drei zentrale Begriffe. Erstens die Strukturmerkmale von Schule: Damit sind die organisatorischen Rahmenbedingungen gemeint – also die verschiedenen Schulformen, das Notensystem, Versetzungsregeln und Abschlüsse. Zweitens das Wohlbefinden: Es umfasst die psychische Gesundheit, soziale Beziehungen und die allgemeine Lebenszufriedenheit. Die WHO definiert Gesundheit nämlich nicht nur als Abwesenheit von Krankheit, sondern als körperliches, geistiges und soziales Wohlbefinden. Und drittens die Bildungsgerechtigkeit: also faire Bildungschancen, unabhängig von der sozialen Herkunft. Diese drei Begriffe sind das Werkzeug, mit dem wir jetzt das deutsche Schulsystem genauer betrachten.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deutsche System ist mehrgliedrig – nach der Grundschule werden die Kinder auf verschiedene Schulformen aufgeteilt. Das Gymnasium hat die höchsten akademischen Anforderungen und führt zum Abitur. Die Realschule liegt in der Mitte, verbindet Allgemeinbildung mit mehr Praxis und endet mit dem Mittleren Abschluss. Die Hauptschule ist stark praktisch ausgerichtet und führt meist direkt in eine Ausbildung. Die Gesamtschule geht einen anderen Weg: längeres gemeinsames Lernen und mehrere Abschlüsse unter einem Dach. Und schließlich die beruflichen Schulen mit dem dualen System, das Betrieb und Schule verbindet – international gilt das als Vorzeigemodell. Wichtig ist: Diese frühe Aufteilung legt Bildungswege sehr früh fest. Und genau das bringt uns zum Leistungsdruck.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zum Kern: dem Leistungsdruck. Links seht ihr, wodurch er entsteht – durch Noten, Prüfungen, ständige Konkurrenz und hohe Erwartungen von Eltern, Lehrkräften und Gesellschaft. Rechts die möglichen Folgen: Stress, Schlafprobleme, Unsicherheit und ein geringeres Selbstwertgefühl. Studien der WHO zeigen, dass schulischer Stress zu den häufigsten Belastungsfaktoren im Jugendalter gehört, und das Robert-Koch-Institut bestätigt das für Deutschland. Entscheidend ist aber der Merksatz unten: Leistungsdruck ist nicht nur negativ – er kann auch motivieren. Es kommt auf das Maß an. Ob aus Druck Motivation oder Belastung wird, hängt stark vom Umfeld ab – und damit vom Schulklima.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Neben dem Druck entscheidet vor allem das Schulklima über unser Wohlbefinden – also die Qualität der sozialen Beziehungen in der Schule. Drei Faktoren sind besonders wichtig. Erstens das Lehrer-Schüler-Verhältnis: Lehrkräfte sind Bezugspersonen, nicht nur Wissensvermittler. Ein respektvolles Verhältnis senkt Stress und steigert die Motivation. Zweitens die Mitbestimmung – etwa über Schülervertretung, Klassenrat oder Projekte. Wer mitentscheiden darf, erlebt Selbstwirksamkeit und fühlt sich ernst genommen. Drittens die Feedbackkultur: Neben Noten helfen qualitative Rückmeldungen, die eigenen Stärken realistisch einzuschätzen. Ein gutes Klima ist also ein echter Schutzfaktor. Doch wie erlebt ihr das eigentlich selbst? Das frage ich euch jetzt.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dieser Stelle möchte ich euch kurz einbinden. Meine Frage: Was beeinflusst euer Wohlbefinden in der Schule am stärksten? Ihr habt vier Möglichkeiten – der Notendruck, die Lehrkräfte, die Mitschülerinnen und Mitschüler oder der Zeitstress. Überlegt kurz, und dann ein kurzes Handzeichen: Wer würde sich am ehesten für Notendruck entscheiden? Wer für die Lehrkräfte? Wer für die Mitschüler? Und wer für Zeitstress? (Kurz Reaktionen abwarten.) Spannend – und genau das passt zum Ergebnis meiner Arbeit: Es gibt nicht den einen Faktor. Alle diese Aspekte spielen laut der Facharbeit zusammen eine wichtige Rolle. Wie andere Länder damit umgehen, zeigt der nächste Blick über die Grenze.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Deutschland einzuordnen, hilft der internationale Vergleich. In Deutschland teilen wir die Schülerinnen und Schüler früh auf, und Noten sowie Prüfungen spielen eine sehr große Rolle. Finnland macht es anders: Dort lernen die Kinder bis zur neunten Klasse gemeinsam, die Leistungsdifferenzierung kommt deutlich später, und es wird seltener standardisiert getestet. Finnland erzielt damit über Jahre sehr gute Ergebnisse bei geringeren sozialen Unterschieden. Die angelsächsischen Systeme wiederum setzen stärker auf Praxis, Projekte und Wahlmöglichkeiten. Wichtig bleibt aber: Kein System ist perfekt – jedes muss unterschiedliche gesellschaftliche Aufgaben erfüllen. Mit diesem Blick bewerten wir nun das deutsche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Deutschland kritisch zusammen – mit Stärken und Schwächen. Zu den Stärken: Das System bietet verschiedene Bildungswege, sodass unterschiedliche Begabungen gefördert werden können. Das duale Ausbildungssystem gilt international als Erfolgsmodell und sorgt für eine niedrige Jugendarbeitslosigkeit. Und besonders die Gymnasien haben hohe akademische Standards. Dem gegenüber stehen klare Schwächen: Die frühe Selektion schon nach der vierten Klasse – zu einem Zeitpunkt, an dem soziale Herkunft stark mitwirkt. Dazu der hohe Leistungsdruck und in der Folge soziale Ungleichheiten, die das System eher verstärken als ausgleichen kann. Genau hier setzen Reformüberlegungen 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den Schwächen ergeben sich drei vielversprechende Reformansätze. Erstens: mehr Lebenskompetenzen im Lehrplan – also Finanzbildung, Medienkompetenz und praktische Alltagsfähigkeiten, damit Schule besser aufs echte Leben vorbereitet. Zweitens: eine spätere Leistungsdifferenzierung nach skandinavischem Vorbild. Wenn Kinder länger gemeinsam lernen, haben sie mehr Zeit, ihre Fähigkeiten zu entwickeln und fundierter zu entscheiden. Und drittens: alternative Bewertungsformen – ausführliches Lernfeedback, Portfolioarbeit oder projektbasierte Bewertung, die den Lernprozess in den Mittelpunkt stellen statt nur das Prüfungsergebnis. Diese Ansätze zielen darauf, Bildungsqualität und Wohlbefinden zu verbinden. Damit komme ich zum Fazit.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Zurück zur Leitfrage: Inwiefern beeinflussen strukturelle Unterschiede das Wohlbefinden? Mein Fazit lautet – Schule beeinflusst weit mehr als nur Noten. Erstens: Strukturen wie die frühe Aufteilung und das Notensystem wirken nachweislich auf das Wohlbefinden. Zweitens: Leistungsdruck und Schulklima spielen dabei eine zentrale Rolle – sie können belasten, aber bei gutem Umfeld auch schützen und motivieren. Und drittens: Durchdachte Reformen könnten Bildung und Glück stärker miteinander verbinden. Wohlbefinden ist eben nicht nur Privatsache, sondern hängt stark von den Rahmenbedingungen ab, die wir gestalten können. Vielen Dank für eure Aufmerksamkeit – gerne beantworte ich jetzt eure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3840480" cy="3840480"/>
          </a:xfrm>
          <a:prstGeom prst="ellipse">
            <a:avLst/>
          </a:prstGeom>
          <a:solidFill>
            <a:srgbClr val="CFE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326880" y="-1280160"/>
            <a:ext cx="2926080" cy="2926080"/>
          </a:xfrm>
          <a:prstGeom prst="ellipse">
            <a:avLst/>
          </a:prstGeom>
          <a:solidFill>
            <a:srgbClr val="FFF7C7">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0" y="4754880"/>
            <a:ext cx="3291840" cy="3291840"/>
          </a:xfrm>
          <a:prstGeom prst="ellipse">
            <a:avLst/>
          </a:prstGeom>
          <a:solidFill>
            <a:srgbClr val="FFD9E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078992"/>
            <a:ext cx="2059228" cy="384048"/>
          </a:xfrm>
          <a:prstGeom prst="roundRect">
            <a:avLst>
              <a:gd name="adj" fmla="val 50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Seminarfachkurs Glück</a:t>
            </a:r>
          </a:p>
        </p:txBody>
      </p:sp>
      <p:sp>
        <p:nvSpPr>
          <p:cNvPr id="7" name="TextBox 6"/>
          <p:cNvSpPr txBox="1"/>
          <p:nvPr/>
        </p:nvSpPr>
        <p:spPr>
          <a:xfrm>
            <a:off x="822960" y="1783080"/>
            <a:ext cx="6309360" cy="2468880"/>
          </a:xfrm>
          <a:prstGeom prst="rect">
            <a:avLst/>
          </a:prstGeom>
          <a:noFill/>
        </p:spPr>
        <p:txBody>
          <a:bodyPr wrap="square" anchor="t" lIns="0" rIns="0" tIns="0" bIns="0">
            <a:spAutoFit/>
          </a:bodyPr>
          <a:lstStyle/>
          <a:p>
            <a:pPr algn="l">
              <a:lnSpc>
                <a:spcPct val="98000"/>
              </a:lnSpc>
              <a:spcBef>
                <a:spcPts val="0"/>
              </a:spcBef>
              <a:spcAft>
                <a:spcPts val="200"/>
              </a:spcAft>
            </a:pPr>
            <a:r>
              <a:rPr sz="5800" b="1" i="0">
                <a:solidFill>
                  <a:srgbClr val="2E2E38"/>
                </a:solidFill>
                <a:latin typeface="Helvetica Neue"/>
              </a:rPr>
              <a:t>Wie Schule</a:t>
            </a:r>
          </a:p>
          <a:p>
            <a:pPr algn="l">
              <a:lnSpc>
                <a:spcPct val="98000"/>
              </a:lnSpc>
              <a:spcBef>
                <a:spcPts val="0"/>
              </a:spcBef>
              <a:spcAft>
                <a:spcPts val="0"/>
              </a:spcAft>
            </a:pPr>
            <a:r>
              <a:rPr sz="5800" b="1" i="0">
                <a:solidFill>
                  <a:srgbClr val="4FA3D9"/>
                </a:solidFill>
                <a:latin typeface="Helvetica Neue"/>
              </a:rPr>
              <a:t>wirkt</a:t>
            </a:r>
          </a:p>
        </p:txBody>
      </p:sp>
      <p:sp>
        <p:nvSpPr>
          <p:cNvPr id="8" name="TextBox 7"/>
          <p:cNvSpPr txBox="1"/>
          <p:nvPr/>
        </p:nvSpPr>
        <p:spPr>
          <a:xfrm>
            <a:off x="868680" y="3977639"/>
            <a:ext cx="6035040" cy="1554480"/>
          </a:xfrm>
          <a:prstGeom prst="rect">
            <a:avLst/>
          </a:prstGeom>
          <a:noFill/>
        </p:spPr>
        <p:txBody>
          <a:bodyPr wrap="square" anchor="t" lIns="0" rIns="0" tIns="0" bIns="0">
            <a:spAutoFit/>
          </a:bodyPr>
          <a:lstStyle/>
          <a:p>
            <a:pPr algn="l">
              <a:lnSpc>
                <a:spcPct val="120000"/>
              </a:lnSpc>
              <a:spcBef>
                <a:spcPts val="0"/>
              </a:spcBef>
              <a:spcAft>
                <a:spcPts val="0"/>
              </a:spcAft>
            </a:pPr>
            <a:r>
              <a:rPr sz="2100" b="0" i="0">
                <a:solidFill>
                  <a:srgbClr val="6C6C78"/>
                </a:solidFill>
                <a:latin typeface="Helvetica Neue"/>
              </a:rPr>
              <a:t>Strukturelle Unterschiede und ihr Effekt auf das Wohlbefinden von Schülerinnen und Schülern</a:t>
            </a:r>
          </a:p>
        </p:txBody>
      </p:sp>
      <p:sp>
        <p:nvSpPr>
          <p:cNvPr id="9" name="TextBox 8"/>
          <p:cNvSpPr txBox="1"/>
          <p:nvPr/>
        </p:nvSpPr>
        <p:spPr>
          <a:xfrm>
            <a:off x="868680" y="5806440"/>
            <a:ext cx="6035040" cy="54864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2E2E38"/>
                </a:solidFill>
                <a:latin typeface="Helvetica Neue"/>
              </a:rPr>
              <a:t>Facharbeit von Svea Timphus</a:t>
            </a:r>
            <a:r>
              <a:rPr sz="1500" b="0" i="0">
                <a:solidFill>
                  <a:srgbClr val="6C6C78"/>
                </a:solidFill>
                <a:latin typeface="Helvetica Neue"/>
              </a:rPr>
              <a:t>   ·   Gymnasium Damme</a:t>
            </a:r>
          </a:p>
        </p:txBody>
      </p:sp>
      <p:pic>
        <p:nvPicPr>
          <p:cNvPr id="10" name="Picture 9" descr="cover_school.png"/>
          <p:cNvPicPr>
            <a:picLocks noChangeAspect="1"/>
          </p:cNvPicPr>
          <p:nvPr/>
        </p:nvPicPr>
        <p:blipFill>
          <a:blip r:embed="rId2"/>
          <a:stretch>
            <a:fillRect/>
          </a:stretch>
        </p:blipFill>
        <p:spPr>
          <a:xfrm>
            <a:off x="6720840" y="2057400"/>
            <a:ext cx="5212080" cy="3474720"/>
          </a:xfrm>
          <a:prstGeom prst="rect">
            <a:avLst/>
          </a:prstGeom>
        </p:spPr>
      </p:pic>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80"/>
                                        <p:tgtEl>
                                          <p:spTgt spid="6"/>
                                        </p:tgtEl>
                                      </p:cBhvr>
                                    </p:animEffect>
                                  </p:childTnLst>
                                </p:cTn>
                              </p:par>
                            </p:childTnLst>
                          </p:cTn>
                        </p:par>
                      </p:childTnLst>
                    </p:cTn>
                  </p:par>
                  <p:par>
                    <p:cTn id="8" fill="hold">
                      <p:stCondLst>
                        <p:cond delay="18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480"/>
                                        <p:tgtEl>
                                          <p:spTgt spid="7">
                                            <p:txEl>
                                              <p:pRg st="0" end="0"/>
                                            </p:txEl>
                                          </p:spTgt>
                                        </p:tgtEl>
                                      </p:cBhvr>
                                    </p:animEffect>
                                  </p:childTnLst>
                                </p:cTn>
                              </p:par>
                            </p:childTnLst>
                          </p:cTn>
                        </p:par>
                      </p:childTnLst>
                    </p:cTn>
                  </p:par>
                  <p:par>
                    <p:cTn id="13" fill="hold">
                      <p:stCondLst>
                        <p:cond delay="18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480"/>
                                        <p:tgtEl>
                                          <p:spTgt spid="7">
                                            <p:txEl>
                                              <p:pRg st="1" end="1"/>
                                            </p:txEl>
                                          </p:spTgt>
                                        </p:tgtEl>
                                      </p:cBhvr>
                                    </p:animEffect>
                                  </p:childTnLst>
                                </p:cTn>
                              </p:par>
                            </p:childTnLst>
                          </p:cTn>
                        </p:par>
                      </p:childTnLst>
                    </p:cTn>
                  </p:par>
                  <p:par>
                    <p:cTn id="18" fill="hold">
                      <p:stCondLst>
                        <p:cond delay="18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480"/>
                                        <p:tgtEl>
                                          <p:spTgt spid="8">
                                            <p:txEl>
                                              <p:pRg st="0" end="0"/>
                                            </p:txEl>
                                          </p:spTgt>
                                        </p:tgtEl>
                                      </p:cBhvr>
                                    </p:animEffect>
                                  </p:childTnLst>
                                </p:cTn>
                              </p:par>
                            </p:childTnLst>
                          </p:cTn>
                        </p:par>
                      </p:childTnLst>
                    </p:cTn>
                  </p:par>
                  <p:par>
                    <p:cTn id="23" fill="hold">
                      <p:stCondLst>
                        <p:cond delay="18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480"/>
                                        <p:tgtEl>
                                          <p:spTgt spid="9">
                                            <p:txEl>
                                              <p:pRg st="0" end="0"/>
                                            </p:txEl>
                                          </p:spTgt>
                                        </p:tgtEl>
                                      </p:cBhvr>
                                    </p:animEffect>
                                  </p:childTnLst>
                                </p:cTn>
                              </p:par>
                            </p:childTnLst>
                          </p:cTn>
                        </p:par>
                      </p:childTnLst>
                    </p:cTn>
                  </p:par>
                  <p:par>
                    <p:cTn id="28" fill="hold">
                      <p:stCondLst>
                        <p:cond delay="18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8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3291840" cy="3291840"/>
          </a:xfrm>
          <a:prstGeom prst="ellipse">
            <a:avLst/>
          </a:prstGeom>
          <a:solidFill>
            <a:srgbClr val="CFEF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180015" y="4663440"/>
            <a:ext cx="3474720" cy="3474720"/>
          </a:xfrm>
          <a:prstGeom prst="ellipse">
            <a:avLst/>
          </a:prstGeom>
          <a:solidFill>
            <a:srgbClr val="FFF7C7">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640080"/>
            <a:ext cx="965606" cy="384048"/>
          </a:xfrm>
          <a:prstGeom prst="roundRect">
            <a:avLst>
              <a:gd name="adj" fmla="val 50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Relevanz</a:t>
            </a:r>
          </a:p>
        </p:txBody>
      </p:sp>
      <p:sp>
        <p:nvSpPr>
          <p:cNvPr id="6" name="TextBox 5"/>
          <p:cNvSpPr txBox="1"/>
          <p:nvPr/>
        </p:nvSpPr>
        <p:spPr>
          <a:xfrm>
            <a:off x="822960" y="1078992"/>
            <a:ext cx="6400800" cy="914400"/>
          </a:xfrm>
          <a:prstGeom prst="rect">
            <a:avLst/>
          </a:prstGeom>
          <a:noFill/>
        </p:spPr>
        <p:txBody>
          <a:bodyPr wrap="square" anchor="t" lIns="0" rIns="0" tIns="0" bIns="0">
            <a:spAutoFit/>
          </a:bodyPr>
          <a:lstStyle/>
          <a:p>
            <a:pPr algn="l">
              <a:lnSpc>
                <a:spcPct val="105000"/>
              </a:lnSpc>
              <a:spcBef>
                <a:spcPts val="0"/>
              </a:spcBef>
              <a:spcAft>
                <a:spcPts val="0"/>
              </a:spcAft>
            </a:pPr>
            <a:r>
              <a:rPr sz="3800" b="1" i="0">
                <a:solidFill>
                  <a:srgbClr val="2E2E38"/>
                </a:solidFill>
                <a:latin typeface="Helvetica Neue"/>
              </a:rPr>
              <a:t>Warum ist das Thema wichtig?</a:t>
            </a:r>
          </a:p>
        </p:txBody>
      </p:sp>
      <p:sp>
        <p:nvSpPr>
          <p:cNvPr id="7" name="TextBox 6"/>
          <p:cNvSpPr txBox="1"/>
          <p:nvPr/>
        </p:nvSpPr>
        <p:spPr>
          <a:xfrm>
            <a:off x="914400" y="2286000"/>
            <a:ext cx="5852160" cy="2377440"/>
          </a:xfrm>
          <a:prstGeom prst="rect">
            <a:avLst/>
          </a:prstGeom>
          <a:noFill/>
        </p:spPr>
        <p:txBody>
          <a:bodyPr wrap="square" anchor="t" lIns="0" rIns="0" tIns="0" bIns="0">
            <a:spAutoFit/>
          </a:bodyPr>
          <a:lstStyle/>
          <a:p>
            <a:pPr algn="l">
              <a:lnSpc>
                <a:spcPct val="106000"/>
              </a:lnSpc>
              <a:spcBef>
                <a:spcPts val="0"/>
              </a:spcBef>
              <a:spcAft>
                <a:spcPts val="900"/>
              </a:spcAft>
            </a:pPr>
            <a:r>
              <a:rPr sz="1700" b="1" i="0">
                <a:solidFill>
                  <a:srgbClr val="4FA3D9"/>
                </a:solidFill>
                <a:latin typeface="Helvetica Neue"/>
              </a:rPr>
              <a:t>●  </a:t>
            </a:r>
            <a:r>
              <a:rPr sz="2100" b="0" i="0">
                <a:solidFill>
                  <a:srgbClr val="2E2E38"/>
                </a:solidFill>
                <a:latin typeface="Helvetica Neue"/>
              </a:rPr>
              <a:t>Schule prägt den Alltag junger Menschen</a:t>
            </a:r>
          </a:p>
          <a:p>
            <a:pPr algn="l">
              <a:lnSpc>
                <a:spcPct val="106000"/>
              </a:lnSpc>
              <a:spcBef>
                <a:spcPts val="0"/>
              </a:spcBef>
              <a:spcAft>
                <a:spcPts val="900"/>
              </a:spcAft>
            </a:pPr>
            <a:r>
              <a:rPr sz="1700" b="1" i="0">
                <a:solidFill>
                  <a:srgbClr val="E86FA1"/>
                </a:solidFill>
                <a:latin typeface="Helvetica Neue"/>
              </a:rPr>
              <a:t>●  </a:t>
            </a:r>
            <a:r>
              <a:rPr sz="2100" b="0" i="0">
                <a:solidFill>
                  <a:srgbClr val="2E2E38"/>
                </a:solidFill>
                <a:latin typeface="Helvetica Neue"/>
              </a:rPr>
              <a:t>Leistungsdruck nimmt zu</a:t>
            </a:r>
          </a:p>
          <a:p>
            <a:pPr algn="l">
              <a:lnSpc>
                <a:spcPct val="106000"/>
              </a:lnSpc>
              <a:spcBef>
                <a:spcPts val="0"/>
              </a:spcBef>
              <a:spcAft>
                <a:spcPts val="900"/>
              </a:spcAft>
            </a:pPr>
            <a:r>
              <a:rPr sz="1700" b="1" i="0">
                <a:solidFill>
                  <a:srgbClr val="D9B83A"/>
                </a:solidFill>
                <a:latin typeface="Helvetica Neue"/>
              </a:rPr>
              <a:t>●  </a:t>
            </a:r>
            <a:r>
              <a:rPr sz="2100" b="0" i="0">
                <a:solidFill>
                  <a:srgbClr val="2E2E38"/>
                </a:solidFill>
                <a:latin typeface="Helvetica Neue"/>
              </a:rPr>
              <a:t>Bildung beeinflusst Zukunft und Teilhabe</a:t>
            </a:r>
          </a:p>
          <a:p>
            <a:pPr algn="l">
              <a:lnSpc>
                <a:spcPct val="106000"/>
              </a:lnSpc>
              <a:spcBef>
                <a:spcPts val="0"/>
              </a:spcBef>
              <a:spcAft>
                <a:spcPts val="0"/>
              </a:spcAft>
            </a:pPr>
            <a:r>
              <a:rPr sz="1700" b="1" i="0">
                <a:solidFill>
                  <a:srgbClr val="55B077"/>
                </a:solidFill>
                <a:latin typeface="Helvetica Neue"/>
              </a:rPr>
              <a:t>●  </a:t>
            </a:r>
            <a:r>
              <a:rPr sz="2100" b="0" i="0">
                <a:solidFill>
                  <a:srgbClr val="2E2E38"/>
                </a:solidFill>
                <a:latin typeface="Helvetica Neue"/>
              </a:rPr>
              <a:t>Wohlbefinden ist Teil erfolgreicher Bildung</a:t>
            </a:r>
          </a:p>
        </p:txBody>
      </p:sp>
      <p:sp>
        <p:nvSpPr>
          <p:cNvPr id="8" name="Rounded Rectangle 7"/>
          <p:cNvSpPr/>
          <p:nvPr/>
        </p:nvSpPr>
        <p:spPr>
          <a:xfrm>
            <a:off x="868680" y="4892040"/>
            <a:ext cx="10424160" cy="1371600"/>
          </a:xfrm>
          <a:prstGeom prst="roundRect">
            <a:avLst>
              <a:gd name="adj" fmla="val 18000"/>
            </a:avLst>
          </a:prstGeom>
          <a:solidFill>
            <a:srgbClr val="CFEFFF"/>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900" b="1">
                <a:solidFill>
                  <a:srgbClr val="4FA3D9"/>
                </a:solidFill>
                <a:latin typeface="Helvetica Neue"/>
              </a:rPr>
              <a:t>Leitfrage:  </a:t>
            </a:r>
            <a:r>
              <a:rPr sz="1900" b="1">
                <a:solidFill>
                  <a:srgbClr val="2E2E38"/>
                </a:solidFill>
                <a:latin typeface="Helvetica Neue"/>
              </a:rPr>
              <a:t>Inwiefern beeinflussen strukturelle Unterschiede im deutschen Schulsystem das Wohlbefinden von Schülerinnen und Schülern?</a:t>
            </a:r>
          </a:p>
        </p:txBody>
      </p:sp>
      <p:pic>
        <p:nvPicPr>
          <p:cNvPr id="9" name="Picture 8" descr="balance_scale.png"/>
          <p:cNvPicPr>
            <a:picLocks noChangeAspect="1"/>
          </p:cNvPicPr>
          <p:nvPr/>
        </p:nvPicPr>
        <p:blipFill>
          <a:blip r:embed="rId2"/>
          <a:stretch>
            <a:fillRect/>
          </a:stretch>
        </p:blipFill>
        <p:spPr>
          <a:xfrm>
            <a:off x="7040880" y="1783080"/>
            <a:ext cx="4754880" cy="3169920"/>
          </a:xfrm>
          <a:prstGeom prst="rect">
            <a:avLst/>
          </a:prstGeom>
        </p:spPr>
      </p:pic>
    </p:spTree>
  </p:cSld>
  <p:clrMapOvr>
    <a:masterClrMapping/>
  </p:clrMapOvr>
  <p:transition xmlns:p14="http://schemas.microsoft.com/office/powerpoint/2010/main" spd="med" p14:dur="700">
    <p:zoom/>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8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8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80"/>
                                        <p:tgtEl>
                                          <p:spTgt spid="9"/>
                                        </p:tgtEl>
                                      </p:cBhvr>
                                    </p:animEffect>
                                  </p:childTnLst>
                                </p:cTn>
                              </p:par>
                            </p:childTnLst>
                          </p:cTn>
                        </p:par>
                      </p:childTnLst>
                    </p:cTn>
                  </p:par>
                  <p:par>
                    <p:cTn id="18" fill="hold">
                      <p:stCondLst>
                        <p:cond delay="18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480"/>
                                        <p:tgtEl>
                                          <p:spTgt spid="7">
                                            <p:txEl>
                                              <p:pRg st="0" end="0"/>
                                            </p:txEl>
                                          </p:spTgt>
                                        </p:tgtEl>
                                      </p:cBhvr>
                                    </p:animEffect>
                                  </p:childTnLst>
                                </p:cTn>
                              </p:par>
                            </p:childTnLst>
                          </p:cTn>
                        </p:par>
                      </p:childTnLst>
                    </p:cTn>
                  </p:par>
                  <p:par>
                    <p:cTn id="23" fill="hold">
                      <p:stCondLst>
                        <p:cond delay="18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480"/>
                                        <p:tgtEl>
                                          <p:spTgt spid="7">
                                            <p:txEl>
                                              <p:pRg st="1" end="1"/>
                                            </p:txEl>
                                          </p:spTgt>
                                        </p:tgtEl>
                                      </p:cBhvr>
                                    </p:animEffect>
                                  </p:childTnLst>
                                </p:cTn>
                              </p:par>
                            </p:childTnLst>
                          </p:cTn>
                        </p:par>
                      </p:childTnLst>
                    </p:cTn>
                  </p:par>
                  <p:par>
                    <p:cTn id="28" fill="hold">
                      <p:stCondLst>
                        <p:cond delay="18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fade">
                                      <p:cBhvr>
                                        <p:cTn id="32" dur="480"/>
                                        <p:tgtEl>
                                          <p:spTgt spid="7">
                                            <p:txEl>
                                              <p:pRg st="2" end="2"/>
                                            </p:txEl>
                                          </p:spTgt>
                                        </p:tgtEl>
                                      </p:cBhvr>
                                    </p:animEffect>
                                  </p:childTnLst>
                                </p:cTn>
                              </p:par>
                            </p:childTnLst>
                          </p:cTn>
                        </p:par>
                      </p:childTnLst>
                    </p:cTn>
                  </p:par>
                  <p:par>
                    <p:cTn id="33" fill="hold">
                      <p:stCondLst>
                        <p:cond delay="18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fade">
                                      <p:cBhvr>
                                        <p:cTn id="37" dur="480"/>
                                        <p:tgtEl>
                                          <p:spTgt spid="7">
                                            <p:txEl>
                                              <p:pRg st="3" end="3"/>
                                            </p:txEl>
                                          </p:spTgt>
                                        </p:tgtEl>
                                      </p:cBhvr>
                                    </p:animEffect>
                                  </p:childTnLst>
                                </p:cTn>
                              </p:par>
                            </p:childTnLst>
                          </p:cTn>
                        </p:par>
                      </p:childTnLst>
                    </p:cTn>
                  </p:par>
                  <p:par>
                    <p:cTn id="38" fill="hold">
                      <p:stCondLst>
                        <p:cond delay="18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48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023360"/>
            <a:ext cx="3108960" cy="3108960"/>
          </a:xfrm>
          <a:prstGeom prst="ellipse">
            <a:avLst/>
          </a:prstGeom>
          <a:solidFill>
            <a:srgbClr val="FFF7C7">
              <a:alpha val="3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1280160"/>
            <a:ext cx="2926080" cy="2926080"/>
          </a:xfrm>
          <a:prstGeom prst="ellipse">
            <a:avLst/>
          </a:prstGeom>
          <a:solidFill>
            <a:srgbClr val="CFEFFF">
              <a:alpha val="3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566928"/>
            <a:ext cx="965606" cy="384048"/>
          </a:xfrm>
          <a:prstGeom prst="roundRect">
            <a:avLst>
              <a:gd name="adj" fmla="val 50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Begriffe</a:t>
            </a:r>
          </a:p>
        </p:txBody>
      </p:sp>
      <p:sp>
        <p:nvSpPr>
          <p:cNvPr id="6" name="TextBox 5"/>
          <p:cNvSpPr txBox="1"/>
          <p:nvPr/>
        </p:nvSpPr>
        <p:spPr>
          <a:xfrm>
            <a:off x="822960" y="987552"/>
            <a:ext cx="7315200" cy="914400"/>
          </a:xfrm>
          <a:prstGeom prst="rect">
            <a:avLst/>
          </a:prstGeom>
          <a:noFill/>
        </p:spPr>
        <p:txBody>
          <a:bodyPr wrap="square" anchor="t" lIns="0" rIns="0" tIns="0" bIns="0">
            <a:spAutoFit/>
          </a:bodyPr>
          <a:lstStyle/>
          <a:p>
            <a:pPr algn="l">
              <a:lnSpc>
                <a:spcPct val="105000"/>
              </a:lnSpc>
              <a:spcBef>
                <a:spcPts val="0"/>
              </a:spcBef>
              <a:spcAft>
                <a:spcPts val="0"/>
              </a:spcAft>
            </a:pPr>
            <a:r>
              <a:rPr sz="4000" b="1" i="0">
                <a:solidFill>
                  <a:srgbClr val="2E2E38"/>
                </a:solidFill>
                <a:latin typeface="Helvetica Neue"/>
              </a:rPr>
              <a:t>Grundlagen</a:t>
            </a:r>
          </a:p>
        </p:txBody>
      </p:sp>
      <p:sp>
        <p:nvSpPr>
          <p:cNvPr id="7" name="Rounded Rectangle 6"/>
          <p:cNvSpPr/>
          <p:nvPr/>
        </p:nvSpPr>
        <p:spPr>
          <a:xfrm>
            <a:off x="868680" y="2148840"/>
            <a:ext cx="3456432" cy="3611880"/>
          </a:xfrm>
          <a:prstGeom prst="roundRect">
            <a:avLst>
              <a:gd name="adj" fmla="val 7000"/>
            </a:avLst>
          </a:prstGeom>
          <a:solidFill>
            <a:srgbClr val="FFFFFF"/>
          </a:solidFill>
          <a:ln w="19050">
            <a:solidFill>
              <a:srgbClr val="CFEFFF"/>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61288" y="2468880"/>
            <a:ext cx="566928" cy="566928"/>
          </a:xfrm>
          <a:prstGeom prst="ellipse">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1288" y="3246120"/>
            <a:ext cx="2907791" cy="914400"/>
          </a:xfrm>
          <a:prstGeom prst="rect">
            <a:avLst/>
          </a:prstGeom>
          <a:noFill/>
        </p:spPr>
        <p:txBody>
          <a:bodyPr wrap="square" anchor="t" lIns="0" rIns="0" tIns="0" bIns="0">
            <a:spAutoFit/>
          </a:bodyPr>
          <a:lstStyle/>
          <a:p>
            <a:pPr algn="l">
              <a:lnSpc>
                <a:spcPct val="98000"/>
              </a:lnSpc>
              <a:spcBef>
                <a:spcPts val="0"/>
              </a:spcBef>
              <a:spcAft>
                <a:spcPts val="0"/>
              </a:spcAft>
            </a:pPr>
            <a:r>
              <a:rPr sz="2100" b="1" i="0">
                <a:solidFill>
                  <a:srgbClr val="2E2E38"/>
                </a:solidFill>
                <a:latin typeface="Helvetica Neue"/>
              </a:rPr>
              <a:t>Strukturmerkmale</a:t>
            </a:r>
          </a:p>
        </p:txBody>
      </p:sp>
      <p:sp>
        <p:nvSpPr>
          <p:cNvPr id="10" name="TextBox 9"/>
          <p:cNvSpPr txBox="1"/>
          <p:nvPr/>
        </p:nvSpPr>
        <p:spPr>
          <a:xfrm>
            <a:off x="1179576" y="4343400"/>
            <a:ext cx="2889503" cy="1280160"/>
          </a:xfrm>
          <a:prstGeom prst="rect">
            <a:avLst/>
          </a:prstGeom>
          <a:noFill/>
        </p:spPr>
        <p:txBody>
          <a:bodyPr wrap="square" anchor="t" lIns="0" rIns="0" tIns="0" bIns="0">
            <a:spAutoFit/>
          </a:bodyPr>
          <a:lstStyle/>
          <a:p>
            <a:pPr algn="l">
              <a:lnSpc>
                <a:spcPct val="106000"/>
              </a:lnSpc>
              <a:spcBef>
                <a:spcPts val="0"/>
              </a:spcBef>
              <a:spcAft>
                <a:spcPts val="700"/>
              </a:spcAft>
            </a:pPr>
            <a:r>
              <a:rPr sz="1150" b="1" i="0">
                <a:solidFill>
                  <a:srgbClr val="4FA3D9"/>
                </a:solidFill>
                <a:latin typeface="Helvetica Neue"/>
              </a:rPr>
              <a:t>●  </a:t>
            </a:r>
            <a:r>
              <a:rPr sz="1550" b="0" i="0">
                <a:solidFill>
                  <a:srgbClr val="2E2E38"/>
                </a:solidFill>
                <a:latin typeface="Helvetica Neue"/>
              </a:rPr>
              <a:t>Schulformen</a:t>
            </a:r>
          </a:p>
          <a:p>
            <a:pPr algn="l">
              <a:lnSpc>
                <a:spcPct val="106000"/>
              </a:lnSpc>
              <a:spcBef>
                <a:spcPts val="0"/>
              </a:spcBef>
              <a:spcAft>
                <a:spcPts val="700"/>
              </a:spcAft>
            </a:pPr>
            <a:r>
              <a:rPr sz="1150" b="1" i="0">
                <a:solidFill>
                  <a:srgbClr val="4FA3D9"/>
                </a:solidFill>
                <a:latin typeface="Helvetica Neue"/>
              </a:rPr>
              <a:t>●  </a:t>
            </a:r>
            <a:r>
              <a:rPr sz="1550" b="0" i="0">
                <a:solidFill>
                  <a:srgbClr val="2E2E38"/>
                </a:solidFill>
                <a:latin typeface="Helvetica Neue"/>
              </a:rPr>
              <a:t>Notensystem</a:t>
            </a:r>
          </a:p>
          <a:p>
            <a:pPr algn="l">
              <a:lnSpc>
                <a:spcPct val="106000"/>
              </a:lnSpc>
              <a:spcBef>
                <a:spcPts val="0"/>
              </a:spcBef>
              <a:spcAft>
                <a:spcPts val="700"/>
              </a:spcAft>
            </a:pPr>
            <a:r>
              <a:rPr sz="1150" b="1" i="0">
                <a:solidFill>
                  <a:srgbClr val="4FA3D9"/>
                </a:solidFill>
                <a:latin typeface="Helvetica Neue"/>
              </a:rPr>
              <a:t>●  </a:t>
            </a:r>
            <a:r>
              <a:rPr sz="1550" b="0" i="0">
                <a:solidFill>
                  <a:srgbClr val="2E2E38"/>
                </a:solidFill>
                <a:latin typeface="Helvetica Neue"/>
              </a:rPr>
              <a:t>Versetzungen</a:t>
            </a:r>
          </a:p>
          <a:p>
            <a:pPr algn="l">
              <a:lnSpc>
                <a:spcPct val="106000"/>
              </a:lnSpc>
              <a:spcBef>
                <a:spcPts val="0"/>
              </a:spcBef>
              <a:spcAft>
                <a:spcPts val="700"/>
              </a:spcAft>
            </a:pPr>
            <a:r>
              <a:rPr sz="1150" b="1" i="0">
                <a:solidFill>
                  <a:srgbClr val="4FA3D9"/>
                </a:solidFill>
                <a:latin typeface="Helvetica Neue"/>
              </a:rPr>
              <a:t>●  </a:t>
            </a:r>
            <a:r>
              <a:rPr sz="1550" b="0" i="0">
                <a:solidFill>
                  <a:srgbClr val="2E2E38"/>
                </a:solidFill>
                <a:latin typeface="Helvetica Neue"/>
              </a:rPr>
              <a:t>Abschlüsse</a:t>
            </a:r>
          </a:p>
        </p:txBody>
      </p:sp>
      <p:sp>
        <p:nvSpPr>
          <p:cNvPr id="11" name="Rounded Rectangle 10"/>
          <p:cNvSpPr/>
          <p:nvPr/>
        </p:nvSpPr>
        <p:spPr>
          <a:xfrm>
            <a:off x="4489704" y="2148840"/>
            <a:ext cx="3456432" cy="3611880"/>
          </a:xfrm>
          <a:prstGeom prst="roundRect">
            <a:avLst>
              <a:gd name="adj" fmla="val 7000"/>
            </a:avLst>
          </a:prstGeom>
          <a:solidFill>
            <a:srgbClr val="FFFFFF"/>
          </a:solidFill>
          <a:ln w="19050">
            <a:solidFill>
              <a:srgbClr val="FFD9E8"/>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82312" y="2468880"/>
            <a:ext cx="566928" cy="566928"/>
          </a:xfrm>
          <a:prstGeom prst="ellipse">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2312" y="3246120"/>
            <a:ext cx="2907791" cy="914400"/>
          </a:xfrm>
          <a:prstGeom prst="rect">
            <a:avLst/>
          </a:prstGeom>
          <a:noFill/>
        </p:spPr>
        <p:txBody>
          <a:bodyPr wrap="square" anchor="t" lIns="0" rIns="0" tIns="0" bIns="0">
            <a:spAutoFit/>
          </a:bodyPr>
          <a:lstStyle/>
          <a:p>
            <a:pPr algn="l">
              <a:lnSpc>
                <a:spcPct val="98000"/>
              </a:lnSpc>
              <a:spcBef>
                <a:spcPts val="0"/>
              </a:spcBef>
              <a:spcAft>
                <a:spcPts val="0"/>
              </a:spcAft>
            </a:pPr>
            <a:r>
              <a:rPr sz="2100" b="1" i="0">
                <a:solidFill>
                  <a:srgbClr val="2E2E38"/>
                </a:solidFill>
                <a:latin typeface="Helvetica Neue"/>
              </a:rPr>
              <a:t>Wohlbefinden</a:t>
            </a:r>
          </a:p>
        </p:txBody>
      </p:sp>
      <p:sp>
        <p:nvSpPr>
          <p:cNvPr id="14" name="TextBox 13"/>
          <p:cNvSpPr txBox="1"/>
          <p:nvPr/>
        </p:nvSpPr>
        <p:spPr>
          <a:xfrm>
            <a:off x="4800600" y="4343400"/>
            <a:ext cx="2889503" cy="1280160"/>
          </a:xfrm>
          <a:prstGeom prst="rect">
            <a:avLst/>
          </a:prstGeom>
          <a:noFill/>
        </p:spPr>
        <p:txBody>
          <a:bodyPr wrap="square" anchor="t" lIns="0" rIns="0" tIns="0" bIns="0">
            <a:spAutoFit/>
          </a:bodyPr>
          <a:lstStyle/>
          <a:p>
            <a:pPr algn="l">
              <a:lnSpc>
                <a:spcPct val="106000"/>
              </a:lnSpc>
              <a:spcBef>
                <a:spcPts val="0"/>
              </a:spcBef>
              <a:spcAft>
                <a:spcPts val="700"/>
              </a:spcAft>
            </a:pPr>
            <a:r>
              <a:rPr sz="1150" b="1" i="0">
                <a:solidFill>
                  <a:srgbClr val="E86FA1"/>
                </a:solidFill>
                <a:latin typeface="Helvetica Neue"/>
              </a:rPr>
              <a:t>●  </a:t>
            </a:r>
            <a:r>
              <a:rPr sz="1550" b="0" i="0">
                <a:solidFill>
                  <a:srgbClr val="2E2E38"/>
                </a:solidFill>
                <a:latin typeface="Helvetica Neue"/>
              </a:rPr>
              <a:t>psychische Gesundheit</a:t>
            </a:r>
          </a:p>
          <a:p>
            <a:pPr algn="l">
              <a:lnSpc>
                <a:spcPct val="106000"/>
              </a:lnSpc>
              <a:spcBef>
                <a:spcPts val="0"/>
              </a:spcBef>
              <a:spcAft>
                <a:spcPts val="700"/>
              </a:spcAft>
            </a:pPr>
            <a:r>
              <a:rPr sz="1150" b="1" i="0">
                <a:solidFill>
                  <a:srgbClr val="E86FA1"/>
                </a:solidFill>
                <a:latin typeface="Helvetica Neue"/>
              </a:rPr>
              <a:t>●  </a:t>
            </a:r>
            <a:r>
              <a:rPr sz="1550" b="0" i="0">
                <a:solidFill>
                  <a:srgbClr val="2E2E38"/>
                </a:solidFill>
                <a:latin typeface="Helvetica Neue"/>
              </a:rPr>
              <a:t>soziale Beziehungen</a:t>
            </a:r>
          </a:p>
          <a:p>
            <a:pPr algn="l">
              <a:lnSpc>
                <a:spcPct val="106000"/>
              </a:lnSpc>
              <a:spcBef>
                <a:spcPts val="0"/>
              </a:spcBef>
              <a:spcAft>
                <a:spcPts val="700"/>
              </a:spcAft>
            </a:pPr>
            <a:r>
              <a:rPr sz="1150" b="1" i="0">
                <a:solidFill>
                  <a:srgbClr val="E86FA1"/>
                </a:solidFill>
                <a:latin typeface="Helvetica Neue"/>
              </a:rPr>
              <a:t>●  </a:t>
            </a:r>
            <a:r>
              <a:rPr sz="1550" b="0" i="0">
                <a:solidFill>
                  <a:srgbClr val="2E2E38"/>
                </a:solidFill>
                <a:latin typeface="Helvetica Neue"/>
              </a:rPr>
              <a:t>Lebenszufriedenheit</a:t>
            </a:r>
          </a:p>
        </p:txBody>
      </p:sp>
      <p:sp>
        <p:nvSpPr>
          <p:cNvPr id="15" name="Rounded Rectangle 14"/>
          <p:cNvSpPr/>
          <p:nvPr/>
        </p:nvSpPr>
        <p:spPr>
          <a:xfrm>
            <a:off x="8110728" y="2148840"/>
            <a:ext cx="3456432" cy="3611880"/>
          </a:xfrm>
          <a:prstGeom prst="roundRect">
            <a:avLst>
              <a:gd name="adj" fmla="val 7000"/>
            </a:avLst>
          </a:prstGeom>
          <a:solidFill>
            <a:srgbClr val="FFFFFF"/>
          </a:solidFill>
          <a:ln w="19050">
            <a:solidFill>
              <a:srgbClr val="FFF7C7"/>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03336" y="2468880"/>
            <a:ext cx="566928" cy="566928"/>
          </a:xfrm>
          <a:prstGeom prst="ellipse">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3336" y="3246120"/>
            <a:ext cx="2907791" cy="914400"/>
          </a:xfrm>
          <a:prstGeom prst="rect">
            <a:avLst/>
          </a:prstGeom>
          <a:noFill/>
        </p:spPr>
        <p:txBody>
          <a:bodyPr wrap="square" anchor="t" lIns="0" rIns="0" tIns="0" bIns="0">
            <a:spAutoFit/>
          </a:bodyPr>
          <a:lstStyle/>
          <a:p>
            <a:pPr algn="l">
              <a:lnSpc>
                <a:spcPct val="98000"/>
              </a:lnSpc>
              <a:spcBef>
                <a:spcPts val="0"/>
              </a:spcBef>
              <a:spcAft>
                <a:spcPts val="0"/>
              </a:spcAft>
            </a:pPr>
            <a:r>
              <a:rPr sz="2100" b="1" i="0">
                <a:solidFill>
                  <a:srgbClr val="2E2E38"/>
                </a:solidFill>
                <a:latin typeface="Helvetica Neue"/>
              </a:rPr>
              <a:t>Bildungs-
gerechtigkeit</a:t>
            </a:r>
          </a:p>
        </p:txBody>
      </p:sp>
      <p:sp>
        <p:nvSpPr>
          <p:cNvPr id="18" name="TextBox 17"/>
          <p:cNvSpPr txBox="1"/>
          <p:nvPr/>
        </p:nvSpPr>
        <p:spPr>
          <a:xfrm>
            <a:off x="8421624" y="4343400"/>
            <a:ext cx="2889503" cy="1280160"/>
          </a:xfrm>
          <a:prstGeom prst="rect">
            <a:avLst/>
          </a:prstGeom>
          <a:noFill/>
        </p:spPr>
        <p:txBody>
          <a:bodyPr wrap="square" anchor="t" lIns="0" rIns="0" tIns="0" bIns="0">
            <a:spAutoFit/>
          </a:bodyPr>
          <a:lstStyle/>
          <a:p>
            <a:pPr algn="l">
              <a:lnSpc>
                <a:spcPct val="106000"/>
              </a:lnSpc>
              <a:spcBef>
                <a:spcPts val="0"/>
              </a:spcBef>
              <a:spcAft>
                <a:spcPts val="700"/>
              </a:spcAft>
            </a:pPr>
            <a:r>
              <a:rPr sz="1150" b="1" i="0">
                <a:solidFill>
                  <a:srgbClr val="D9B83A"/>
                </a:solidFill>
                <a:latin typeface="Helvetica Neue"/>
              </a:rPr>
              <a:t>●  </a:t>
            </a:r>
            <a:r>
              <a:rPr sz="1550" b="0" i="0">
                <a:solidFill>
                  <a:srgbClr val="2E2E38"/>
                </a:solidFill>
                <a:latin typeface="Helvetica Neue"/>
              </a:rPr>
              <a:t>faire Chancen – unabhängig von sozialer Herkunft</a:t>
            </a:r>
          </a:p>
        </p:txBody>
      </p:sp>
    </p:spTree>
  </p:cSld>
  <p:clrMapOvr>
    <a:masterClrMapping/>
  </p:clrMapOvr>
  <p:transition xmlns:p14="http://schemas.microsoft.com/office/powerpoint/2010/main" spd="med" p14:dur="700">
    <p:cover dir="u"/>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4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4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480"/>
                                        <p:tgtEl>
                                          <p:spTgt spid="9">
                                            <p:txEl>
                                              <p:pRg st="0" end="0"/>
                                            </p:txEl>
                                          </p:spTgt>
                                        </p:tgtEl>
                                      </p:cBhvr>
                                    </p:animEffect>
                                  </p:childTnLst>
                                </p:cTn>
                              </p:par>
                            </p:childTnLst>
                          </p:cTn>
                        </p:par>
                      </p:childTnLst>
                    </p:cTn>
                  </p:par>
                  <p:par>
                    <p:cTn id="18" fill="hold">
                      <p:stCondLst>
                        <p:cond delay="14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480"/>
                                        <p:tgtEl>
                                          <p:spTgt spid="10">
                                            <p:txEl>
                                              <p:pRg st="0" end="0"/>
                                            </p:txEl>
                                          </p:spTgt>
                                        </p:tgtEl>
                                      </p:cBhvr>
                                    </p:animEffect>
                                  </p:childTnLst>
                                </p:cTn>
                              </p:par>
                            </p:childTnLst>
                          </p:cTn>
                        </p:par>
                      </p:childTnLst>
                    </p:cTn>
                  </p:par>
                  <p:par>
                    <p:cTn id="23" fill="hold">
                      <p:stCondLst>
                        <p:cond delay="14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animEffect transition="in" filter="fade">
                                      <p:cBhvr>
                                        <p:cTn id="27" dur="480"/>
                                        <p:tgtEl>
                                          <p:spTgt spid="10">
                                            <p:txEl>
                                              <p:pRg st="1" end="1"/>
                                            </p:txEl>
                                          </p:spTgt>
                                        </p:tgtEl>
                                      </p:cBhvr>
                                    </p:animEffect>
                                  </p:childTnLst>
                                </p:cTn>
                              </p:par>
                            </p:childTnLst>
                          </p:cTn>
                        </p:par>
                      </p:childTnLst>
                    </p:cTn>
                  </p:par>
                  <p:par>
                    <p:cTn id="28" fill="hold">
                      <p:stCondLst>
                        <p:cond delay="14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fade">
                                      <p:cBhvr>
                                        <p:cTn id="32" dur="480"/>
                                        <p:tgtEl>
                                          <p:spTgt spid="10">
                                            <p:txEl>
                                              <p:pRg st="2" end="2"/>
                                            </p:txEl>
                                          </p:spTgt>
                                        </p:tgtEl>
                                      </p:cBhvr>
                                    </p:animEffect>
                                  </p:childTnLst>
                                </p:cTn>
                              </p:par>
                            </p:childTnLst>
                          </p:cTn>
                        </p:par>
                      </p:childTnLst>
                    </p:cTn>
                  </p:par>
                  <p:par>
                    <p:cTn id="33" fill="hold">
                      <p:stCondLst>
                        <p:cond delay="14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0">
                                            <p:txEl>
                                              <p:pRg st="3" end="3"/>
                                            </p:txEl>
                                          </p:spTgt>
                                        </p:tgtEl>
                                        <p:attrNameLst>
                                          <p:attrName>style.visibility</p:attrName>
                                        </p:attrNameLst>
                                      </p:cBhvr>
                                      <p:to>
                                        <p:strVal val="visible"/>
                                      </p:to>
                                    </p:set>
                                    <p:animEffect transition="in" filter="fade">
                                      <p:cBhvr>
                                        <p:cTn id="37" dur="480"/>
                                        <p:tgtEl>
                                          <p:spTgt spid="10">
                                            <p:txEl>
                                              <p:pRg st="3" end="3"/>
                                            </p:txEl>
                                          </p:spTgt>
                                        </p:tgtEl>
                                      </p:cBhvr>
                                    </p:animEffect>
                                  </p:childTnLst>
                                </p:cTn>
                              </p:par>
                            </p:childTnLst>
                          </p:cTn>
                        </p:par>
                      </p:childTnLst>
                    </p:cTn>
                  </p:par>
                  <p:par>
                    <p:cTn id="38" fill="hold">
                      <p:stCondLst>
                        <p:cond delay="14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480"/>
                                        <p:tgtEl>
                                          <p:spTgt spid="13">
                                            <p:txEl>
                                              <p:pRg st="0" end="0"/>
                                            </p:txEl>
                                          </p:spTgt>
                                        </p:tgtEl>
                                      </p:cBhvr>
                                    </p:animEffect>
                                  </p:childTnLst>
                                </p:cTn>
                              </p:par>
                            </p:childTnLst>
                          </p:cTn>
                        </p:par>
                      </p:childTnLst>
                    </p:cTn>
                  </p:par>
                  <p:par>
                    <p:cTn id="43" fill="hold">
                      <p:stCondLst>
                        <p:cond delay="14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animEffect transition="in" filter="fade">
                                      <p:cBhvr>
                                        <p:cTn id="47" dur="480"/>
                                        <p:tgtEl>
                                          <p:spTgt spid="14">
                                            <p:txEl>
                                              <p:pRg st="0" end="0"/>
                                            </p:txEl>
                                          </p:spTgt>
                                        </p:tgtEl>
                                      </p:cBhvr>
                                    </p:animEffect>
                                  </p:childTnLst>
                                </p:cTn>
                              </p:par>
                            </p:childTnLst>
                          </p:cTn>
                        </p:par>
                      </p:childTnLst>
                    </p:cTn>
                  </p:par>
                  <p:par>
                    <p:cTn id="48" fill="hold">
                      <p:stCondLst>
                        <p:cond delay="14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14">
                                            <p:txEl>
                                              <p:pRg st="1" end="1"/>
                                            </p:txEl>
                                          </p:spTgt>
                                        </p:tgtEl>
                                        <p:attrNameLst>
                                          <p:attrName>style.visibility</p:attrName>
                                        </p:attrNameLst>
                                      </p:cBhvr>
                                      <p:to>
                                        <p:strVal val="visible"/>
                                      </p:to>
                                    </p:set>
                                    <p:animEffect transition="in" filter="fade">
                                      <p:cBhvr>
                                        <p:cTn id="52" dur="480"/>
                                        <p:tgtEl>
                                          <p:spTgt spid="14">
                                            <p:txEl>
                                              <p:pRg st="1" end="1"/>
                                            </p:txEl>
                                          </p:spTgt>
                                        </p:tgtEl>
                                      </p:cBhvr>
                                    </p:animEffect>
                                  </p:childTnLst>
                                </p:cTn>
                              </p:par>
                            </p:childTnLst>
                          </p:cTn>
                        </p:par>
                      </p:childTnLst>
                    </p:cTn>
                  </p:par>
                  <p:par>
                    <p:cTn id="53" fill="hold">
                      <p:stCondLst>
                        <p:cond delay="14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14">
                                            <p:txEl>
                                              <p:pRg st="2" end="2"/>
                                            </p:txEl>
                                          </p:spTgt>
                                        </p:tgtEl>
                                        <p:attrNameLst>
                                          <p:attrName>style.visibility</p:attrName>
                                        </p:attrNameLst>
                                      </p:cBhvr>
                                      <p:to>
                                        <p:strVal val="visible"/>
                                      </p:to>
                                    </p:set>
                                    <p:animEffect transition="in" filter="fade">
                                      <p:cBhvr>
                                        <p:cTn id="57" dur="480"/>
                                        <p:tgtEl>
                                          <p:spTgt spid="14">
                                            <p:txEl>
                                              <p:pRg st="2" end="2"/>
                                            </p:txEl>
                                          </p:spTgt>
                                        </p:tgtEl>
                                      </p:cBhvr>
                                    </p:animEffect>
                                  </p:childTnLst>
                                </p:cTn>
                              </p:par>
                            </p:childTnLst>
                          </p:cTn>
                        </p:par>
                      </p:childTnLst>
                    </p:cTn>
                  </p:par>
                  <p:par>
                    <p:cTn id="58" fill="hold">
                      <p:stCondLst>
                        <p:cond delay="14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xEl>
                                              <p:pRg st="0" end="0"/>
                                            </p:txEl>
                                          </p:spTgt>
                                        </p:tgtEl>
                                        <p:attrNameLst>
                                          <p:attrName>style.visibility</p:attrName>
                                        </p:attrNameLst>
                                      </p:cBhvr>
                                      <p:to>
                                        <p:strVal val="visible"/>
                                      </p:to>
                                    </p:set>
                                    <p:animEffect transition="in" filter="fade">
                                      <p:cBhvr>
                                        <p:cTn id="62" dur="480"/>
                                        <p:tgtEl>
                                          <p:spTgt spid="17">
                                            <p:txEl>
                                              <p:pRg st="0" end="0"/>
                                            </p:txEl>
                                          </p:spTgt>
                                        </p:tgtEl>
                                      </p:cBhvr>
                                    </p:animEffect>
                                  </p:childTnLst>
                                </p:cTn>
                              </p:par>
                            </p:childTnLst>
                          </p:cTn>
                        </p:par>
                      </p:childTnLst>
                    </p:cTn>
                  </p:par>
                  <p:par>
                    <p:cTn id="63" fill="hold">
                      <p:stCondLst>
                        <p:cond delay="140"/>
                      </p:stCondLst>
                      <p:childTnLst>
                        <p:par>
                          <p:cTn id="64" fill="hold">
                            <p:stCondLst>
                              <p:cond delay="0"/>
                            </p:stCondLst>
                            <p:childTnLst>
                              <p:par>
                                <p:cTn id="65" presetID="10" presetClass="entr" presetSubtype="0" fill="hold" grpId="0" nodeType="afterEffect">
                                  <p:stCondLst>
                                    <p:cond delay="0"/>
                                  </p:stCondLst>
                                  <p:childTnLst>
                                    <p:set>
                                      <p:cBhvr>
                                        <p:cTn id="66" dur="1" fill="hold">
                                          <p:stCondLst>
                                            <p:cond delay="0"/>
                                          </p:stCondLst>
                                        </p:cTn>
                                        <p:tgtEl>
                                          <p:spTgt spid="18">
                                            <p:txEl>
                                              <p:pRg st="0" end="0"/>
                                            </p:txEl>
                                          </p:spTgt>
                                        </p:tgtEl>
                                        <p:attrNameLst>
                                          <p:attrName>style.visibility</p:attrName>
                                        </p:attrNameLst>
                                      </p:cBhvr>
                                      <p:to>
                                        <p:strVal val="visible"/>
                                      </p:to>
                                    </p:set>
                                    <p:animEffect transition="in" filter="fade">
                                      <p:cBhvr>
                                        <p:cTn id="67" dur="48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P spid="10" grpId="0" build="p"/>
      <p:bldP spid="13" grpId="0" build="p"/>
      <p:bldP spid="14" grpId="0" build="p"/>
      <p:bldP spid="17" grpId="0" build="p"/>
      <p:bldP spid="18" grpId="0" build="p"/>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463040"/>
            <a:ext cx="3108960" cy="3108960"/>
          </a:xfrm>
          <a:prstGeom prst="ellipse">
            <a:avLst/>
          </a:prstGeom>
          <a:solidFill>
            <a:srgbClr val="CFEFFF">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4572000"/>
            <a:ext cx="3108960" cy="3108960"/>
          </a:xfrm>
          <a:prstGeom prst="ellipse">
            <a:avLst/>
          </a:prstGeom>
          <a:solidFill>
            <a:srgbClr val="FFD9E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548640"/>
            <a:ext cx="2059228" cy="384048"/>
          </a:xfrm>
          <a:prstGeom prst="roundRect">
            <a:avLst>
              <a:gd name="adj" fmla="val 50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Mehrgliedriges System</a:t>
            </a:r>
          </a:p>
        </p:txBody>
      </p:sp>
      <p:sp>
        <p:nvSpPr>
          <p:cNvPr id="6" name="TextBox 5"/>
          <p:cNvSpPr txBox="1"/>
          <p:nvPr/>
        </p:nvSpPr>
        <p:spPr>
          <a:xfrm>
            <a:off x="822960" y="969264"/>
            <a:ext cx="10058400" cy="914400"/>
          </a:xfrm>
          <a:prstGeom prst="rect">
            <a:avLst/>
          </a:prstGeom>
          <a:noFill/>
        </p:spPr>
        <p:txBody>
          <a:bodyPr wrap="square" anchor="t" lIns="0" rIns="0" tIns="0" bIns="0">
            <a:spAutoFit/>
          </a:bodyPr>
          <a:lstStyle/>
          <a:p>
            <a:pPr algn="l">
              <a:lnSpc>
                <a:spcPct val="105000"/>
              </a:lnSpc>
              <a:spcBef>
                <a:spcPts val="0"/>
              </a:spcBef>
              <a:spcAft>
                <a:spcPts val="0"/>
              </a:spcAft>
            </a:pPr>
            <a:r>
              <a:rPr sz="3800" b="1" i="0">
                <a:solidFill>
                  <a:srgbClr val="2E2E38"/>
                </a:solidFill>
                <a:latin typeface="Helvetica Neue"/>
              </a:rPr>
              <a:t>Das deutsche Schulsystem</a:t>
            </a:r>
          </a:p>
        </p:txBody>
      </p:sp>
      <p:sp>
        <p:nvSpPr>
          <p:cNvPr id="7" name="Rounded Rectangle 6"/>
          <p:cNvSpPr/>
          <p:nvPr/>
        </p:nvSpPr>
        <p:spPr>
          <a:xfrm>
            <a:off x="868680" y="2148840"/>
            <a:ext cx="10424160" cy="749808"/>
          </a:xfrm>
          <a:prstGeom prst="roundRect">
            <a:avLst>
              <a:gd name="adj" fmla="val 22000"/>
            </a:avLst>
          </a:prstGeom>
          <a:solidFill>
            <a:srgbClr val="FFFFFF"/>
          </a:solidFill>
          <a:ln w="17780">
            <a:solidFill>
              <a:srgbClr val="CFEFFF"/>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7280" y="2276856"/>
            <a:ext cx="164592" cy="493775"/>
          </a:xfrm>
          <a:prstGeom prst="roundRect">
            <a:avLst>
              <a:gd name="adj" fmla="val 50000"/>
            </a:avLst>
          </a:prstGeom>
          <a:solidFill>
            <a:srgbClr val="4FA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148840"/>
            <a:ext cx="9601200" cy="749808"/>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2E2E38"/>
                </a:solidFill>
                <a:latin typeface="Helvetica Neue"/>
              </a:rPr>
              <a:t>Gymnasium   </a:t>
            </a:r>
            <a:r>
              <a:rPr sz="1550" b="0" i="0">
                <a:solidFill>
                  <a:srgbClr val="6C6C78"/>
                </a:solidFill>
                <a:latin typeface="Helvetica Neue"/>
              </a:rPr>
              <a:t>Höchste akademische Anforderungen – Ziel ist das Abitur.</a:t>
            </a:r>
          </a:p>
        </p:txBody>
      </p:sp>
      <p:sp>
        <p:nvSpPr>
          <p:cNvPr id="10" name="Rounded Rectangle 9"/>
          <p:cNvSpPr/>
          <p:nvPr/>
        </p:nvSpPr>
        <p:spPr>
          <a:xfrm>
            <a:off x="868680" y="3044952"/>
            <a:ext cx="10424160" cy="749808"/>
          </a:xfrm>
          <a:prstGeom prst="roundRect">
            <a:avLst>
              <a:gd name="adj" fmla="val 22000"/>
            </a:avLst>
          </a:prstGeom>
          <a:solidFill>
            <a:srgbClr val="FFFFFF"/>
          </a:solidFill>
          <a:ln w="17780">
            <a:solidFill>
              <a:srgbClr val="FFD9E8"/>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 y="3172968"/>
            <a:ext cx="164592" cy="493775"/>
          </a:xfrm>
          <a:prstGeom prst="roundRect">
            <a:avLst>
              <a:gd name="adj" fmla="val 50000"/>
            </a:avLst>
          </a:prstGeom>
          <a:solidFill>
            <a:srgbClr val="E86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3044952"/>
            <a:ext cx="9601200" cy="749808"/>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2E2E38"/>
                </a:solidFill>
                <a:latin typeface="Helvetica Neue"/>
              </a:rPr>
              <a:t>Realschule   </a:t>
            </a:r>
            <a:r>
              <a:rPr sz="1550" b="0" i="0">
                <a:solidFill>
                  <a:srgbClr val="6C6C78"/>
                </a:solidFill>
                <a:latin typeface="Helvetica Neue"/>
              </a:rPr>
              <a:t>Mittlere Schulform mit mehr Praxisbezug – Mittlerer Abschluss.</a:t>
            </a:r>
          </a:p>
        </p:txBody>
      </p:sp>
      <p:sp>
        <p:nvSpPr>
          <p:cNvPr id="13" name="Rounded Rectangle 12"/>
          <p:cNvSpPr/>
          <p:nvPr/>
        </p:nvSpPr>
        <p:spPr>
          <a:xfrm>
            <a:off x="868680" y="3941064"/>
            <a:ext cx="10424160" cy="749808"/>
          </a:xfrm>
          <a:prstGeom prst="roundRect">
            <a:avLst>
              <a:gd name="adj" fmla="val 22000"/>
            </a:avLst>
          </a:prstGeom>
          <a:solidFill>
            <a:srgbClr val="FFFFFF"/>
          </a:solidFill>
          <a:ln w="17780">
            <a:solidFill>
              <a:srgbClr val="FFF7C7"/>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97280" y="4069080"/>
            <a:ext cx="164592" cy="493775"/>
          </a:xfrm>
          <a:prstGeom prst="roundRect">
            <a:avLst>
              <a:gd name="adj" fmla="val 50000"/>
            </a:avLst>
          </a:prstGeom>
          <a:solidFill>
            <a:srgbClr val="D9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3941064"/>
            <a:ext cx="9601200" cy="749808"/>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2E2E38"/>
                </a:solidFill>
                <a:latin typeface="Helvetica Neue"/>
              </a:rPr>
              <a:t>Hauptschule   </a:t>
            </a:r>
            <a:r>
              <a:rPr sz="1550" b="0" i="0">
                <a:solidFill>
                  <a:srgbClr val="6C6C78"/>
                </a:solidFill>
                <a:latin typeface="Helvetica Neue"/>
              </a:rPr>
              <a:t>Praktisch orientiert – führt meist in die Berufsausbildung.</a:t>
            </a:r>
          </a:p>
        </p:txBody>
      </p:sp>
      <p:sp>
        <p:nvSpPr>
          <p:cNvPr id="16" name="Rounded Rectangle 15"/>
          <p:cNvSpPr/>
          <p:nvPr/>
        </p:nvSpPr>
        <p:spPr>
          <a:xfrm>
            <a:off x="868680" y="4837176"/>
            <a:ext cx="10424160" cy="749808"/>
          </a:xfrm>
          <a:prstGeom prst="roundRect">
            <a:avLst>
              <a:gd name="adj" fmla="val 22000"/>
            </a:avLst>
          </a:prstGeom>
          <a:solidFill>
            <a:srgbClr val="FFFFFF"/>
          </a:solidFill>
          <a:ln w="17780">
            <a:solidFill>
              <a:srgbClr val="D7F2DD"/>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4965192"/>
            <a:ext cx="164592" cy="493775"/>
          </a:xfrm>
          <a:prstGeom prst="roundRect">
            <a:avLst>
              <a:gd name="adj" fmla="val 50000"/>
            </a:avLst>
          </a:prstGeom>
          <a:solidFill>
            <a:srgbClr val="55B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4837176"/>
            <a:ext cx="9601200" cy="749808"/>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2E2E38"/>
                </a:solidFill>
                <a:latin typeface="Helvetica Neue"/>
              </a:rPr>
              <a:t>Gesamtschule   </a:t>
            </a:r>
            <a:r>
              <a:rPr sz="1550" b="0" i="0">
                <a:solidFill>
                  <a:srgbClr val="6C6C78"/>
                </a:solidFill>
                <a:latin typeface="Helvetica Neue"/>
              </a:rPr>
              <a:t>Längeres gemeinsames Lernen – mehrere Abschlüsse möglich.</a:t>
            </a:r>
          </a:p>
        </p:txBody>
      </p:sp>
      <p:sp>
        <p:nvSpPr>
          <p:cNvPr id="19" name="Rounded Rectangle 18"/>
          <p:cNvSpPr/>
          <p:nvPr/>
        </p:nvSpPr>
        <p:spPr>
          <a:xfrm>
            <a:off x="868680" y="5733288"/>
            <a:ext cx="10424160" cy="749808"/>
          </a:xfrm>
          <a:prstGeom prst="roundRect">
            <a:avLst>
              <a:gd name="adj" fmla="val 22000"/>
            </a:avLst>
          </a:prstGeom>
          <a:solidFill>
            <a:srgbClr val="FFFFFF"/>
          </a:solidFill>
          <a:ln w="17780">
            <a:solidFill>
              <a:srgbClr val="CFEFFF"/>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 y="5861304"/>
            <a:ext cx="164592" cy="493775"/>
          </a:xfrm>
          <a:prstGeom prst="roundRect">
            <a:avLst>
              <a:gd name="adj" fmla="val 50000"/>
            </a:avLst>
          </a:prstGeom>
          <a:solidFill>
            <a:srgbClr val="4FA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5733288"/>
            <a:ext cx="9601200" cy="749808"/>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2E2E38"/>
                </a:solidFill>
                <a:latin typeface="Helvetica Neue"/>
              </a:rPr>
              <a:t>Berufliche Schule   </a:t>
            </a:r>
            <a:r>
              <a:rPr sz="1550" b="0" i="0">
                <a:solidFill>
                  <a:srgbClr val="6C6C78"/>
                </a:solidFill>
                <a:latin typeface="Helvetica Neue"/>
              </a:rPr>
              <a:t>Duales System – verbindet Betrieb und Schule eng miteinander.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80"/>
                                        <p:tgtEl>
                                          <p:spTgt spid="7"/>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480"/>
                                        <p:tgtEl>
                                          <p:spTgt spid="9">
                                            <p:txEl>
                                              <p:pRg st="0" end="0"/>
                                            </p:txEl>
                                          </p:spTgt>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80"/>
                                        <p:tgtEl>
                                          <p:spTgt spid="10"/>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fade">
                                      <p:cBhvr>
                                        <p:cTn id="32" dur="480"/>
                                        <p:tgtEl>
                                          <p:spTgt spid="12">
                                            <p:txEl>
                                              <p:pRg st="0" end="0"/>
                                            </p:txEl>
                                          </p:spTgt>
                                        </p:tgtEl>
                                      </p:cBhvr>
                                    </p:animEffect>
                                  </p:childTnLst>
                                </p:cTn>
                              </p:par>
                            </p:childTnLst>
                          </p:cTn>
                        </p:par>
                      </p:childTnLst>
                    </p:cTn>
                  </p:par>
                  <p:par>
                    <p:cTn id="33" fill="hold">
                      <p:stCondLst>
                        <p:cond delay="12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80"/>
                                        <p:tgtEl>
                                          <p:spTgt spid="13"/>
                                        </p:tgtEl>
                                      </p:cBhvr>
                                    </p:animEffect>
                                  </p:childTnLst>
                                </p:cTn>
                              </p:par>
                            </p:childTnLst>
                          </p:cTn>
                        </p:par>
                      </p:childTnLst>
                    </p:cTn>
                  </p:par>
                  <p:par>
                    <p:cTn id="38" fill="hold">
                      <p:stCondLst>
                        <p:cond delay="12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Effect transition="in" filter="fade">
                                      <p:cBhvr>
                                        <p:cTn id="42" dur="480"/>
                                        <p:tgtEl>
                                          <p:spTgt spid="15">
                                            <p:txEl>
                                              <p:pRg st="0" end="0"/>
                                            </p:txEl>
                                          </p:spTgt>
                                        </p:tgtEl>
                                      </p:cBhvr>
                                    </p:animEffect>
                                  </p:childTnLst>
                                </p:cTn>
                              </p:par>
                            </p:childTnLst>
                          </p:cTn>
                        </p:par>
                      </p:childTnLst>
                    </p:cTn>
                  </p:par>
                  <p:par>
                    <p:cTn id="43" fill="hold">
                      <p:stCondLst>
                        <p:cond delay="12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80"/>
                                        <p:tgtEl>
                                          <p:spTgt spid="16"/>
                                        </p:tgtEl>
                                      </p:cBhvr>
                                    </p:animEffect>
                                  </p:childTnLst>
                                </p:cTn>
                              </p:par>
                            </p:childTnLst>
                          </p:cTn>
                        </p:par>
                      </p:childTnLst>
                    </p:cTn>
                  </p:par>
                  <p:par>
                    <p:cTn id="48" fill="hold">
                      <p:stCondLst>
                        <p:cond delay="12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18">
                                            <p:txEl>
                                              <p:pRg st="0" end="0"/>
                                            </p:txEl>
                                          </p:spTgt>
                                        </p:tgtEl>
                                        <p:attrNameLst>
                                          <p:attrName>style.visibility</p:attrName>
                                        </p:attrNameLst>
                                      </p:cBhvr>
                                      <p:to>
                                        <p:strVal val="visible"/>
                                      </p:to>
                                    </p:set>
                                    <p:animEffect transition="in" filter="fade">
                                      <p:cBhvr>
                                        <p:cTn id="52" dur="480"/>
                                        <p:tgtEl>
                                          <p:spTgt spid="18">
                                            <p:txEl>
                                              <p:pRg st="0" end="0"/>
                                            </p:txEl>
                                          </p:spTgt>
                                        </p:tgtEl>
                                      </p:cBhvr>
                                    </p:animEffect>
                                  </p:childTnLst>
                                </p:cTn>
                              </p:par>
                            </p:childTnLst>
                          </p:cTn>
                        </p:par>
                      </p:childTnLst>
                    </p:cTn>
                  </p:par>
                  <p:par>
                    <p:cTn id="53" fill="hold">
                      <p:stCondLst>
                        <p:cond delay="12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80"/>
                                        <p:tgtEl>
                                          <p:spTgt spid="19"/>
                                        </p:tgtEl>
                                      </p:cBhvr>
                                    </p:animEffect>
                                  </p:childTnLst>
                                </p:cTn>
                              </p:par>
                            </p:childTnLst>
                          </p:cTn>
                        </p:par>
                      </p:childTnLst>
                    </p:cTn>
                  </p:par>
                  <p:par>
                    <p:cTn id="58" fill="hold">
                      <p:stCondLst>
                        <p:cond delay="12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21">
                                            <p:txEl>
                                              <p:pRg st="0" end="0"/>
                                            </p:txEl>
                                          </p:spTgt>
                                        </p:tgtEl>
                                        <p:attrNameLst>
                                          <p:attrName>style.visibility</p:attrName>
                                        </p:attrNameLst>
                                      </p:cBhvr>
                                      <p:to>
                                        <p:strVal val="visible"/>
                                      </p:to>
                                    </p:set>
                                    <p:animEffect transition="in" filter="fade">
                                      <p:cBhvr>
                                        <p:cTn id="62" dur="48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P spid="12" grpId="0" build="p"/>
      <p:bldP spid="15" grpId="0" build="p"/>
      <p:bldP spid="18" grpId="0" build="p"/>
      <p:bldP spid="21" grpId="0" build="p"/>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1371600"/>
            <a:ext cx="3108960" cy="3108960"/>
          </a:xfrm>
          <a:prstGeom prst="ellipse">
            <a:avLst/>
          </a:prstGeom>
          <a:solidFill>
            <a:srgbClr val="FFF7C7">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530352"/>
            <a:ext cx="1049731" cy="384048"/>
          </a:xfrm>
          <a:prstGeom prst="roundRect">
            <a:avLst>
              <a:gd name="adj" fmla="val 50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Kapitel 4</a:t>
            </a:r>
          </a:p>
        </p:txBody>
      </p:sp>
      <p:sp>
        <p:nvSpPr>
          <p:cNvPr id="5" name="TextBox 4"/>
          <p:cNvSpPr txBox="1"/>
          <p:nvPr/>
        </p:nvSpPr>
        <p:spPr>
          <a:xfrm>
            <a:off x="822960" y="950976"/>
            <a:ext cx="10607040" cy="914400"/>
          </a:xfrm>
          <a:prstGeom prst="rect">
            <a:avLst/>
          </a:prstGeom>
          <a:noFill/>
        </p:spPr>
        <p:txBody>
          <a:bodyPr wrap="square" anchor="t" lIns="0" rIns="0" tIns="0" bIns="0">
            <a:spAutoFit/>
          </a:bodyPr>
          <a:lstStyle/>
          <a:p>
            <a:pPr algn="l">
              <a:lnSpc>
                <a:spcPct val="105000"/>
              </a:lnSpc>
              <a:spcBef>
                <a:spcPts val="0"/>
              </a:spcBef>
              <a:spcAft>
                <a:spcPts val="0"/>
              </a:spcAft>
            </a:pPr>
            <a:r>
              <a:rPr sz="3400" b="1" i="0">
                <a:solidFill>
                  <a:srgbClr val="2E2E38"/>
                </a:solidFill>
                <a:latin typeface="Helvetica Neue"/>
              </a:rPr>
              <a:t>Leistungsdruck und Wohlbefinden</a:t>
            </a:r>
          </a:p>
        </p:txBody>
      </p:sp>
      <p:sp>
        <p:nvSpPr>
          <p:cNvPr id="6" name="Rounded Rectangle 5"/>
          <p:cNvSpPr/>
          <p:nvPr/>
        </p:nvSpPr>
        <p:spPr>
          <a:xfrm>
            <a:off x="868680" y="2057400"/>
            <a:ext cx="3063240" cy="3246120"/>
          </a:xfrm>
          <a:prstGeom prst="roundRect">
            <a:avLst>
              <a:gd name="adj" fmla="val 8000"/>
            </a:avLst>
          </a:prstGeom>
          <a:solidFill>
            <a:srgbClr val="CFEFFF"/>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86000"/>
            <a:ext cx="2560320" cy="548640"/>
          </a:xfrm>
          <a:prstGeom prst="rect">
            <a:avLst/>
          </a:prstGeom>
          <a:noFill/>
        </p:spPr>
        <p:txBody>
          <a:bodyPr wrap="square" anchor="t" lIns="0" rIns="0" tIns="0" bIns="0">
            <a:spAutoFit/>
          </a:bodyPr>
          <a:lstStyle/>
          <a:p>
            <a:pPr algn="l">
              <a:lnSpc>
                <a:spcPct val="105000"/>
              </a:lnSpc>
              <a:spcBef>
                <a:spcPts val="0"/>
              </a:spcBef>
              <a:spcAft>
                <a:spcPts val="0"/>
              </a:spcAft>
            </a:pPr>
            <a:r>
              <a:rPr sz="2000" b="1" i="0">
                <a:solidFill>
                  <a:srgbClr val="2E2E38"/>
                </a:solidFill>
                <a:latin typeface="Helvetica Neue"/>
              </a:rPr>
              <a:t>Leistungsdruck</a:t>
            </a:r>
          </a:p>
        </p:txBody>
      </p:sp>
      <p:sp>
        <p:nvSpPr>
          <p:cNvPr id="8" name="TextBox 7"/>
          <p:cNvSpPr txBox="1"/>
          <p:nvPr/>
        </p:nvSpPr>
        <p:spPr>
          <a:xfrm>
            <a:off x="1143000" y="2971800"/>
            <a:ext cx="2606040" cy="2194560"/>
          </a:xfrm>
          <a:prstGeom prst="rect">
            <a:avLst/>
          </a:prstGeom>
          <a:noFill/>
        </p:spPr>
        <p:txBody>
          <a:bodyPr wrap="square" anchor="t" lIns="0" rIns="0" tIns="0" bIns="0">
            <a:spAutoFit/>
          </a:bodyPr>
          <a:lstStyle/>
          <a:p>
            <a:pPr algn="l">
              <a:lnSpc>
                <a:spcPct val="106000"/>
              </a:lnSpc>
              <a:spcBef>
                <a:spcPts val="0"/>
              </a:spcBef>
              <a:spcAft>
                <a:spcPts val="900"/>
              </a:spcAft>
            </a:pPr>
            <a:r>
              <a:rPr sz="1400" b="1" i="0">
                <a:solidFill>
                  <a:srgbClr val="4FA3D9"/>
                </a:solidFill>
                <a:latin typeface="Helvetica Neue"/>
              </a:rPr>
              <a:t>●  </a:t>
            </a:r>
            <a:r>
              <a:rPr sz="1800" b="0" i="0">
                <a:solidFill>
                  <a:srgbClr val="2E2E38"/>
                </a:solidFill>
                <a:latin typeface="Helvetica Neue"/>
              </a:rPr>
              <a:t>Noten</a:t>
            </a:r>
          </a:p>
          <a:p>
            <a:pPr algn="l">
              <a:lnSpc>
                <a:spcPct val="106000"/>
              </a:lnSpc>
              <a:spcBef>
                <a:spcPts val="0"/>
              </a:spcBef>
              <a:spcAft>
                <a:spcPts val="900"/>
              </a:spcAft>
            </a:pPr>
            <a:r>
              <a:rPr sz="1400" b="1" i="0">
                <a:solidFill>
                  <a:srgbClr val="4FA3D9"/>
                </a:solidFill>
                <a:latin typeface="Helvetica Neue"/>
              </a:rPr>
              <a:t>●  </a:t>
            </a:r>
            <a:r>
              <a:rPr sz="1800" b="0" i="0">
                <a:solidFill>
                  <a:srgbClr val="2E2E38"/>
                </a:solidFill>
                <a:latin typeface="Helvetica Neue"/>
              </a:rPr>
              <a:t>Prüfungen</a:t>
            </a:r>
          </a:p>
          <a:p>
            <a:pPr algn="l">
              <a:lnSpc>
                <a:spcPct val="106000"/>
              </a:lnSpc>
              <a:spcBef>
                <a:spcPts val="0"/>
              </a:spcBef>
              <a:spcAft>
                <a:spcPts val="900"/>
              </a:spcAft>
            </a:pPr>
            <a:r>
              <a:rPr sz="1400" b="1" i="0">
                <a:solidFill>
                  <a:srgbClr val="4FA3D9"/>
                </a:solidFill>
                <a:latin typeface="Helvetica Neue"/>
              </a:rPr>
              <a:t>●  </a:t>
            </a:r>
            <a:r>
              <a:rPr sz="1800" b="0" i="0">
                <a:solidFill>
                  <a:srgbClr val="2E2E38"/>
                </a:solidFill>
                <a:latin typeface="Helvetica Neue"/>
              </a:rPr>
              <a:t>Konkurrenz</a:t>
            </a:r>
          </a:p>
          <a:p>
            <a:pPr algn="l">
              <a:lnSpc>
                <a:spcPct val="106000"/>
              </a:lnSpc>
              <a:spcBef>
                <a:spcPts val="0"/>
              </a:spcBef>
              <a:spcAft>
                <a:spcPts val="0"/>
              </a:spcAft>
            </a:pPr>
            <a:r>
              <a:rPr sz="1400" b="1" i="0">
                <a:solidFill>
                  <a:srgbClr val="4FA3D9"/>
                </a:solidFill>
                <a:latin typeface="Helvetica Neue"/>
              </a:rPr>
              <a:t>●  </a:t>
            </a:r>
            <a:r>
              <a:rPr sz="1800" b="0" i="0">
                <a:solidFill>
                  <a:srgbClr val="2E2E38"/>
                </a:solidFill>
                <a:latin typeface="Helvetica Neue"/>
              </a:rPr>
              <a:t>Erwartungen</a:t>
            </a:r>
          </a:p>
        </p:txBody>
      </p:sp>
      <p:sp>
        <p:nvSpPr>
          <p:cNvPr id="9" name="Rounded Rectangle 8"/>
          <p:cNvSpPr/>
          <p:nvPr/>
        </p:nvSpPr>
        <p:spPr>
          <a:xfrm>
            <a:off x="4114800" y="2057400"/>
            <a:ext cx="3063240" cy="3246120"/>
          </a:xfrm>
          <a:prstGeom prst="roundRect">
            <a:avLst>
              <a:gd name="adj" fmla="val 8000"/>
            </a:avLst>
          </a:prstGeom>
          <a:solidFill>
            <a:srgbClr val="FFD9E8"/>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2286000"/>
            <a:ext cx="2606040" cy="548640"/>
          </a:xfrm>
          <a:prstGeom prst="rect">
            <a:avLst/>
          </a:prstGeom>
          <a:noFill/>
        </p:spPr>
        <p:txBody>
          <a:bodyPr wrap="square" anchor="t" lIns="0" rIns="0" tIns="0" bIns="0">
            <a:spAutoFit/>
          </a:bodyPr>
          <a:lstStyle/>
          <a:p>
            <a:pPr algn="l">
              <a:lnSpc>
                <a:spcPct val="105000"/>
              </a:lnSpc>
              <a:spcBef>
                <a:spcPts val="0"/>
              </a:spcBef>
              <a:spcAft>
                <a:spcPts val="0"/>
              </a:spcAft>
            </a:pPr>
            <a:r>
              <a:rPr sz="2000" b="1" i="0">
                <a:solidFill>
                  <a:srgbClr val="2E2E38"/>
                </a:solidFill>
                <a:latin typeface="Helvetica Neue"/>
              </a:rPr>
              <a:t>Folgen</a:t>
            </a:r>
          </a:p>
        </p:txBody>
      </p:sp>
      <p:sp>
        <p:nvSpPr>
          <p:cNvPr id="11" name="TextBox 10"/>
          <p:cNvSpPr txBox="1"/>
          <p:nvPr/>
        </p:nvSpPr>
        <p:spPr>
          <a:xfrm>
            <a:off x="4389120" y="2971800"/>
            <a:ext cx="2697480" cy="2286000"/>
          </a:xfrm>
          <a:prstGeom prst="rect">
            <a:avLst/>
          </a:prstGeom>
          <a:noFill/>
        </p:spPr>
        <p:txBody>
          <a:bodyPr wrap="square" anchor="t" lIns="0" rIns="0" tIns="0" bIns="0">
            <a:spAutoFit/>
          </a:bodyPr>
          <a:lstStyle/>
          <a:p>
            <a:pPr algn="l">
              <a:lnSpc>
                <a:spcPct val="106000"/>
              </a:lnSpc>
              <a:spcBef>
                <a:spcPts val="0"/>
              </a:spcBef>
              <a:spcAft>
                <a:spcPts val="900"/>
              </a:spcAft>
            </a:pPr>
            <a:r>
              <a:rPr sz="1400" b="1" i="0">
                <a:solidFill>
                  <a:srgbClr val="E86FA1"/>
                </a:solidFill>
                <a:latin typeface="Helvetica Neue"/>
              </a:rPr>
              <a:t>●  </a:t>
            </a:r>
            <a:r>
              <a:rPr sz="1800" b="0" i="0">
                <a:solidFill>
                  <a:srgbClr val="2E2E38"/>
                </a:solidFill>
                <a:latin typeface="Helvetica Neue"/>
              </a:rPr>
              <a:t>Stress</a:t>
            </a:r>
          </a:p>
          <a:p>
            <a:pPr algn="l">
              <a:lnSpc>
                <a:spcPct val="106000"/>
              </a:lnSpc>
              <a:spcBef>
                <a:spcPts val="0"/>
              </a:spcBef>
              <a:spcAft>
                <a:spcPts val="900"/>
              </a:spcAft>
            </a:pPr>
            <a:r>
              <a:rPr sz="1400" b="1" i="0">
                <a:solidFill>
                  <a:srgbClr val="E86FA1"/>
                </a:solidFill>
                <a:latin typeface="Helvetica Neue"/>
              </a:rPr>
              <a:t>●  </a:t>
            </a:r>
            <a:r>
              <a:rPr sz="1800" b="0" i="0">
                <a:solidFill>
                  <a:srgbClr val="2E2E38"/>
                </a:solidFill>
                <a:latin typeface="Helvetica Neue"/>
              </a:rPr>
              <a:t>Schlafprobleme</a:t>
            </a:r>
          </a:p>
          <a:p>
            <a:pPr algn="l">
              <a:lnSpc>
                <a:spcPct val="106000"/>
              </a:lnSpc>
              <a:spcBef>
                <a:spcPts val="0"/>
              </a:spcBef>
              <a:spcAft>
                <a:spcPts val="900"/>
              </a:spcAft>
            </a:pPr>
            <a:r>
              <a:rPr sz="1400" b="1" i="0">
                <a:solidFill>
                  <a:srgbClr val="E86FA1"/>
                </a:solidFill>
                <a:latin typeface="Helvetica Neue"/>
              </a:rPr>
              <a:t>●  </a:t>
            </a:r>
            <a:r>
              <a:rPr sz="1800" b="0" i="0">
                <a:solidFill>
                  <a:srgbClr val="2E2E38"/>
                </a:solidFill>
                <a:latin typeface="Helvetica Neue"/>
              </a:rPr>
              <a:t>Unsicherheit</a:t>
            </a:r>
          </a:p>
          <a:p>
            <a:pPr algn="l">
              <a:lnSpc>
                <a:spcPct val="106000"/>
              </a:lnSpc>
              <a:spcBef>
                <a:spcPts val="0"/>
              </a:spcBef>
              <a:spcAft>
                <a:spcPts val="0"/>
              </a:spcAft>
            </a:pPr>
            <a:r>
              <a:rPr sz="1400" b="1" i="0">
                <a:solidFill>
                  <a:srgbClr val="E86FA1"/>
                </a:solidFill>
                <a:latin typeface="Helvetica Neue"/>
              </a:rPr>
              <a:t>●  </a:t>
            </a:r>
            <a:r>
              <a:rPr sz="1800" b="0" i="0">
                <a:solidFill>
                  <a:srgbClr val="2E2E38"/>
                </a:solidFill>
                <a:latin typeface="Helvetica Neue"/>
              </a:rPr>
              <a:t>geringeres Selbstwertgefühl</a:t>
            </a:r>
          </a:p>
        </p:txBody>
      </p:sp>
      <p:pic>
        <p:nvPicPr>
          <p:cNvPr id="12" name="Picture 11" descr="stressed_student.png"/>
          <p:cNvPicPr>
            <a:picLocks noChangeAspect="1"/>
          </p:cNvPicPr>
          <p:nvPr/>
        </p:nvPicPr>
        <p:blipFill>
          <a:blip r:embed="rId2"/>
          <a:stretch>
            <a:fillRect/>
          </a:stretch>
        </p:blipFill>
        <p:spPr>
          <a:xfrm>
            <a:off x="7360920" y="1783080"/>
            <a:ext cx="4572000" cy="3048000"/>
          </a:xfrm>
          <a:prstGeom prst="rect">
            <a:avLst/>
          </a:prstGeom>
        </p:spPr>
      </p:pic>
      <p:sp>
        <p:nvSpPr>
          <p:cNvPr id="13" name="Rounded Rectangle 12"/>
          <p:cNvSpPr/>
          <p:nvPr/>
        </p:nvSpPr>
        <p:spPr>
          <a:xfrm>
            <a:off x="868680" y="5577840"/>
            <a:ext cx="10424160" cy="868680"/>
          </a:xfrm>
          <a:prstGeom prst="roundRect">
            <a:avLst>
              <a:gd name="adj" fmla="val 30000"/>
            </a:avLst>
          </a:prstGeom>
          <a:solidFill>
            <a:srgbClr val="FFF7C7"/>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r>
              <a:rPr sz="1800" b="1" i="1">
                <a:solidFill>
                  <a:srgbClr val="2E2E38"/>
                </a:solidFill>
                <a:latin typeface="Helvetica Neue"/>
              </a:rPr>
              <a:t>„Leistungsdruck kann Motivation fördern, aber auch das Wohlbefinden beeinträchtigen.“</a:t>
            </a:r>
          </a:p>
        </p:txBody>
      </p:sp>
    </p:spTree>
  </p:cSld>
  <p:clrMapOvr>
    <a:masterClrMapping/>
  </p:clrMapOvr>
  <p:transition xmlns:p14="http://schemas.microsoft.com/office/powerpoint/2010/main" spd="med" p14:dur="700">
    <p:circle/>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80"/>
                                        <p:tgtEl>
                                          <p:spTgt spid="4"/>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480"/>
                                        <p:tgtEl>
                                          <p:spTgt spid="5">
                                            <p:txEl>
                                              <p:pRg st="0" end="0"/>
                                            </p:txEl>
                                          </p:spTgt>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80"/>
                                        <p:tgtEl>
                                          <p:spTgt spid="12"/>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80"/>
                                        <p:tgtEl>
                                          <p:spTgt spid="6"/>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480"/>
                                        <p:tgtEl>
                                          <p:spTgt spid="7">
                                            <p:txEl>
                                              <p:pRg st="0" end="0"/>
                                            </p:txEl>
                                          </p:spTgt>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fade">
                                      <p:cBhvr>
                                        <p:cTn id="32" dur="480"/>
                                        <p:tgtEl>
                                          <p:spTgt spid="8">
                                            <p:txEl>
                                              <p:pRg st="0" end="0"/>
                                            </p:txEl>
                                          </p:spTgt>
                                        </p:tgtEl>
                                      </p:cBhvr>
                                    </p:animEffect>
                                  </p:childTnLst>
                                </p:cTn>
                              </p:par>
                            </p:childTnLst>
                          </p:cTn>
                        </p:par>
                      </p:childTnLst>
                    </p:cTn>
                  </p:par>
                  <p:par>
                    <p:cTn id="33" fill="hold">
                      <p:stCondLst>
                        <p:cond delay="12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8">
                                            <p:txEl>
                                              <p:pRg st="1" end="1"/>
                                            </p:txEl>
                                          </p:spTgt>
                                        </p:tgtEl>
                                        <p:attrNameLst>
                                          <p:attrName>style.visibility</p:attrName>
                                        </p:attrNameLst>
                                      </p:cBhvr>
                                      <p:to>
                                        <p:strVal val="visible"/>
                                      </p:to>
                                    </p:set>
                                    <p:animEffect transition="in" filter="fade">
                                      <p:cBhvr>
                                        <p:cTn id="37" dur="480"/>
                                        <p:tgtEl>
                                          <p:spTgt spid="8">
                                            <p:txEl>
                                              <p:pRg st="1" end="1"/>
                                            </p:txEl>
                                          </p:spTgt>
                                        </p:tgtEl>
                                      </p:cBhvr>
                                    </p:animEffect>
                                  </p:childTnLst>
                                </p:cTn>
                              </p:par>
                            </p:childTnLst>
                          </p:cTn>
                        </p:par>
                      </p:childTnLst>
                    </p:cTn>
                  </p:par>
                  <p:par>
                    <p:cTn id="38" fill="hold">
                      <p:stCondLst>
                        <p:cond delay="12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8">
                                            <p:txEl>
                                              <p:pRg st="2" end="2"/>
                                            </p:txEl>
                                          </p:spTgt>
                                        </p:tgtEl>
                                        <p:attrNameLst>
                                          <p:attrName>style.visibility</p:attrName>
                                        </p:attrNameLst>
                                      </p:cBhvr>
                                      <p:to>
                                        <p:strVal val="visible"/>
                                      </p:to>
                                    </p:set>
                                    <p:animEffect transition="in" filter="fade">
                                      <p:cBhvr>
                                        <p:cTn id="42" dur="480"/>
                                        <p:tgtEl>
                                          <p:spTgt spid="8">
                                            <p:txEl>
                                              <p:pRg st="2" end="2"/>
                                            </p:txEl>
                                          </p:spTgt>
                                        </p:tgtEl>
                                      </p:cBhvr>
                                    </p:animEffect>
                                  </p:childTnLst>
                                </p:cTn>
                              </p:par>
                            </p:childTnLst>
                          </p:cTn>
                        </p:par>
                      </p:childTnLst>
                    </p:cTn>
                  </p:par>
                  <p:par>
                    <p:cTn id="43" fill="hold">
                      <p:stCondLst>
                        <p:cond delay="12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8">
                                            <p:txEl>
                                              <p:pRg st="3" end="3"/>
                                            </p:txEl>
                                          </p:spTgt>
                                        </p:tgtEl>
                                        <p:attrNameLst>
                                          <p:attrName>style.visibility</p:attrName>
                                        </p:attrNameLst>
                                      </p:cBhvr>
                                      <p:to>
                                        <p:strVal val="visible"/>
                                      </p:to>
                                    </p:set>
                                    <p:animEffect transition="in" filter="fade">
                                      <p:cBhvr>
                                        <p:cTn id="47" dur="480"/>
                                        <p:tgtEl>
                                          <p:spTgt spid="8">
                                            <p:txEl>
                                              <p:pRg st="3" end="3"/>
                                            </p:txEl>
                                          </p:spTgt>
                                        </p:tgtEl>
                                      </p:cBhvr>
                                    </p:animEffect>
                                  </p:childTnLst>
                                </p:cTn>
                              </p:par>
                            </p:childTnLst>
                          </p:cTn>
                        </p:par>
                      </p:childTnLst>
                    </p:cTn>
                  </p:par>
                  <p:par>
                    <p:cTn id="48" fill="hold">
                      <p:stCondLst>
                        <p:cond delay="12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480"/>
                                        <p:tgtEl>
                                          <p:spTgt spid="9"/>
                                        </p:tgtEl>
                                      </p:cBhvr>
                                    </p:animEffect>
                                  </p:childTnLst>
                                </p:cTn>
                              </p:par>
                            </p:childTnLst>
                          </p:cTn>
                        </p:par>
                      </p:childTnLst>
                    </p:cTn>
                  </p:par>
                  <p:par>
                    <p:cTn id="53" fill="hold">
                      <p:stCondLst>
                        <p:cond delay="12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10">
                                            <p:txEl>
                                              <p:pRg st="0" end="0"/>
                                            </p:txEl>
                                          </p:spTgt>
                                        </p:tgtEl>
                                        <p:attrNameLst>
                                          <p:attrName>style.visibility</p:attrName>
                                        </p:attrNameLst>
                                      </p:cBhvr>
                                      <p:to>
                                        <p:strVal val="visible"/>
                                      </p:to>
                                    </p:set>
                                    <p:animEffect transition="in" filter="fade">
                                      <p:cBhvr>
                                        <p:cTn id="57" dur="480"/>
                                        <p:tgtEl>
                                          <p:spTgt spid="10">
                                            <p:txEl>
                                              <p:pRg st="0" end="0"/>
                                            </p:txEl>
                                          </p:spTgt>
                                        </p:tgtEl>
                                      </p:cBhvr>
                                    </p:animEffect>
                                  </p:childTnLst>
                                </p:cTn>
                              </p:par>
                            </p:childTnLst>
                          </p:cTn>
                        </p:par>
                      </p:childTnLst>
                    </p:cTn>
                  </p:par>
                  <p:par>
                    <p:cTn id="58" fill="hold">
                      <p:stCondLst>
                        <p:cond delay="12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1">
                                            <p:txEl>
                                              <p:pRg st="0" end="0"/>
                                            </p:txEl>
                                          </p:spTgt>
                                        </p:tgtEl>
                                        <p:attrNameLst>
                                          <p:attrName>style.visibility</p:attrName>
                                        </p:attrNameLst>
                                      </p:cBhvr>
                                      <p:to>
                                        <p:strVal val="visible"/>
                                      </p:to>
                                    </p:set>
                                    <p:animEffect transition="in" filter="fade">
                                      <p:cBhvr>
                                        <p:cTn id="62" dur="480"/>
                                        <p:tgtEl>
                                          <p:spTgt spid="11">
                                            <p:txEl>
                                              <p:pRg st="0" end="0"/>
                                            </p:txEl>
                                          </p:spTgt>
                                        </p:tgtEl>
                                      </p:cBhvr>
                                    </p:animEffect>
                                  </p:childTnLst>
                                </p:cTn>
                              </p:par>
                            </p:childTnLst>
                          </p:cTn>
                        </p:par>
                      </p:childTnLst>
                    </p:cTn>
                  </p:par>
                  <p:par>
                    <p:cTn id="63" fill="hold">
                      <p:stCondLst>
                        <p:cond delay="120"/>
                      </p:stCondLst>
                      <p:childTnLst>
                        <p:par>
                          <p:cTn id="64" fill="hold">
                            <p:stCondLst>
                              <p:cond delay="0"/>
                            </p:stCondLst>
                            <p:childTnLst>
                              <p:par>
                                <p:cTn id="65" presetID="10" presetClass="entr" presetSubtype="0" fill="hold" grpId="0" nodeType="afterEffect">
                                  <p:stCondLst>
                                    <p:cond delay="0"/>
                                  </p:stCondLst>
                                  <p:childTnLst>
                                    <p:set>
                                      <p:cBhvr>
                                        <p:cTn id="66" dur="1" fill="hold">
                                          <p:stCondLst>
                                            <p:cond delay="0"/>
                                          </p:stCondLst>
                                        </p:cTn>
                                        <p:tgtEl>
                                          <p:spTgt spid="11">
                                            <p:txEl>
                                              <p:pRg st="1" end="1"/>
                                            </p:txEl>
                                          </p:spTgt>
                                        </p:tgtEl>
                                        <p:attrNameLst>
                                          <p:attrName>style.visibility</p:attrName>
                                        </p:attrNameLst>
                                      </p:cBhvr>
                                      <p:to>
                                        <p:strVal val="visible"/>
                                      </p:to>
                                    </p:set>
                                    <p:animEffect transition="in" filter="fade">
                                      <p:cBhvr>
                                        <p:cTn id="67" dur="480"/>
                                        <p:tgtEl>
                                          <p:spTgt spid="11">
                                            <p:txEl>
                                              <p:pRg st="1" end="1"/>
                                            </p:txEl>
                                          </p:spTgt>
                                        </p:tgtEl>
                                      </p:cBhvr>
                                    </p:animEffect>
                                  </p:childTnLst>
                                </p:cTn>
                              </p:par>
                            </p:childTnLst>
                          </p:cTn>
                        </p:par>
                      </p:childTnLst>
                    </p:cTn>
                  </p:par>
                  <p:par>
                    <p:cTn id="68" fill="hold">
                      <p:stCondLst>
                        <p:cond delay="120"/>
                      </p:stCondLst>
                      <p:childTnLst>
                        <p:par>
                          <p:cTn id="69" fill="hold">
                            <p:stCondLst>
                              <p:cond delay="0"/>
                            </p:stCondLst>
                            <p:childTnLst>
                              <p:par>
                                <p:cTn id="70" presetID="10" presetClass="entr" presetSubtype="0" fill="hold" grpId="0" nodeType="afterEffect">
                                  <p:stCondLst>
                                    <p:cond delay="0"/>
                                  </p:stCondLst>
                                  <p:childTnLst>
                                    <p:set>
                                      <p:cBhvr>
                                        <p:cTn id="71" dur="1" fill="hold">
                                          <p:stCondLst>
                                            <p:cond delay="0"/>
                                          </p:stCondLst>
                                        </p:cTn>
                                        <p:tgtEl>
                                          <p:spTgt spid="11">
                                            <p:txEl>
                                              <p:pRg st="2" end="2"/>
                                            </p:txEl>
                                          </p:spTgt>
                                        </p:tgtEl>
                                        <p:attrNameLst>
                                          <p:attrName>style.visibility</p:attrName>
                                        </p:attrNameLst>
                                      </p:cBhvr>
                                      <p:to>
                                        <p:strVal val="visible"/>
                                      </p:to>
                                    </p:set>
                                    <p:animEffect transition="in" filter="fade">
                                      <p:cBhvr>
                                        <p:cTn id="72" dur="480"/>
                                        <p:tgtEl>
                                          <p:spTgt spid="11">
                                            <p:txEl>
                                              <p:pRg st="2" end="2"/>
                                            </p:txEl>
                                          </p:spTgt>
                                        </p:tgtEl>
                                      </p:cBhvr>
                                    </p:animEffect>
                                  </p:childTnLst>
                                </p:cTn>
                              </p:par>
                            </p:childTnLst>
                          </p:cTn>
                        </p:par>
                      </p:childTnLst>
                    </p:cTn>
                  </p:par>
                  <p:par>
                    <p:cTn id="73" fill="hold">
                      <p:stCondLst>
                        <p:cond delay="120"/>
                      </p:stCondLst>
                      <p:childTnLst>
                        <p:par>
                          <p:cTn id="74" fill="hold">
                            <p:stCondLst>
                              <p:cond delay="0"/>
                            </p:stCondLst>
                            <p:childTnLst>
                              <p:par>
                                <p:cTn id="75" presetID="10" presetClass="entr" presetSubtype="0" fill="hold" grpId="0" nodeType="afterEffect">
                                  <p:stCondLst>
                                    <p:cond delay="0"/>
                                  </p:stCondLst>
                                  <p:childTnLst>
                                    <p:set>
                                      <p:cBhvr>
                                        <p:cTn id="76" dur="1" fill="hold">
                                          <p:stCondLst>
                                            <p:cond delay="0"/>
                                          </p:stCondLst>
                                        </p:cTn>
                                        <p:tgtEl>
                                          <p:spTgt spid="11">
                                            <p:txEl>
                                              <p:pRg st="3" end="3"/>
                                            </p:txEl>
                                          </p:spTgt>
                                        </p:tgtEl>
                                        <p:attrNameLst>
                                          <p:attrName>style.visibility</p:attrName>
                                        </p:attrNameLst>
                                      </p:cBhvr>
                                      <p:to>
                                        <p:strVal val="visible"/>
                                      </p:to>
                                    </p:set>
                                    <p:animEffect transition="in" filter="fade">
                                      <p:cBhvr>
                                        <p:cTn id="77" dur="480"/>
                                        <p:tgtEl>
                                          <p:spTgt spid="11">
                                            <p:txEl>
                                              <p:pRg st="3" end="3"/>
                                            </p:txEl>
                                          </p:spTgt>
                                        </p:tgtEl>
                                      </p:cBhvr>
                                    </p:animEffect>
                                  </p:childTnLst>
                                </p:cTn>
                              </p:par>
                            </p:childTnLst>
                          </p:cTn>
                        </p:par>
                      </p:childTnLst>
                    </p:cTn>
                  </p:par>
                  <p:par>
                    <p:cTn id="78" fill="hold">
                      <p:stCondLst>
                        <p:cond delay="120"/>
                      </p:stCondLst>
                      <p:childTnLst>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48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8" grpId="0" build="p"/>
      <p:bldP spid="10" grpId="0" build="p"/>
      <p:bldP spid="11" grpId="0" build="p"/>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4206240"/>
            <a:ext cx="3108960" cy="3108960"/>
          </a:xfrm>
          <a:prstGeom prst="ellipse">
            <a:avLst/>
          </a:prstGeom>
          <a:solidFill>
            <a:srgbClr val="CFEFFF">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1280160"/>
            <a:ext cx="2926080" cy="2926080"/>
          </a:xfrm>
          <a:prstGeom prst="ellipse">
            <a:avLst/>
          </a:prstGeom>
          <a:solidFill>
            <a:srgbClr val="D7F2DD">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566928"/>
            <a:ext cx="1554480" cy="384048"/>
          </a:xfrm>
          <a:prstGeom prst="roundRect">
            <a:avLst>
              <a:gd name="adj" fmla="val 50000"/>
            </a:avLst>
          </a:prstGeom>
          <a:solidFill>
            <a:srgbClr val="D7F2D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Beziehungsebene</a:t>
            </a:r>
          </a:p>
        </p:txBody>
      </p:sp>
      <p:sp>
        <p:nvSpPr>
          <p:cNvPr id="6" name="TextBox 5"/>
          <p:cNvSpPr txBox="1"/>
          <p:nvPr/>
        </p:nvSpPr>
        <p:spPr>
          <a:xfrm>
            <a:off x="822960" y="987552"/>
            <a:ext cx="7315200" cy="914400"/>
          </a:xfrm>
          <a:prstGeom prst="rect">
            <a:avLst/>
          </a:prstGeom>
          <a:noFill/>
        </p:spPr>
        <p:txBody>
          <a:bodyPr wrap="square" anchor="t" lIns="0" rIns="0" tIns="0" bIns="0">
            <a:spAutoFit/>
          </a:bodyPr>
          <a:lstStyle/>
          <a:p>
            <a:pPr algn="l">
              <a:lnSpc>
                <a:spcPct val="105000"/>
              </a:lnSpc>
              <a:spcBef>
                <a:spcPts val="0"/>
              </a:spcBef>
              <a:spcAft>
                <a:spcPts val="0"/>
              </a:spcAft>
            </a:pPr>
            <a:r>
              <a:rPr sz="4000" b="1" i="0">
                <a:solidFill>
                  <a:srgbClr val="2E2E38"/>
                </a:solidFill>
                <a:latin typeface="Helvetica Neue"/>
              </a:rPr>
              <a:t>Schulklima</a:t>
            </a:r>
          </a:p>
        </p:txBody>
      </p:sp>
      <p:pic>
        <p:nvPicPr>
          <p:cNvPr id="7" name="Picture 6" descr="teacher_student.png"/>
          <p:cNvPicPr>
            <a:picLocks noChangeAspect="1"/>
          </p:cNvPicPr>
          <p:nvPr/>
        </p:nvPicPr>
        <p:blipFill>
          <a:blip r:embed="rId2"/>
          <a:stretch>
            <a:fillRect/>
          </a:stretch>
        </p:blipFill>
        <p:spPr>
          <a:xfrm>
            <a:off x="8458200" y="320040"/>
            <a:ext cx="3063240" cy="2042160"/>
          </a:xfrm>
          <a:prstGeom prst="rect">
            <a:avLst/>
          </a:prstGeom>
        </p:spPr>
      </p:pic>
      <p:sp>
        <p:nvSpPr>
          <p:cNvPr id="8" name="Rounded Rectangle 7"/>
          <p:cNvSpPr/>
          <p:nvPr/>
        </p:nvSpPr>
        <p:spPr>
          <a:xfrm>
            <a:off x="868680" y="2423160"/>
            <a:ext cx="3456432" cy="3520440"/>
          </a:xfrm>
          <a:prstGeom prst="roundRect">
            <a:avLst>
              <a:gd name="adj" fmla="val 7000"/>
            </a:avLst>
          </a:prstGeom>
          <a:solidFill>
            <a:srgbClr val="FFFFFF"/>
          </a:solidFill>
          <a:ln w="19050">
            <a:solidFill>
              <a:srgbClr val="CFEFFF"/>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423160"/>
            <a:ext cx="3456432" cy="146304"/>
          </a:xfrm>
          <a:prstGeom prst="roundRect">
            <a:avLst>
              <a:gd name="adj" fmla="val 50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697480"/>
            <a:ext cx="2953511" cy="914400"/>
          </a:xfrm>
          <a:prstGeom prst="rect">
            <a:avLst/>
          </a:prstGeom>
          <a:noFill/>
        </p:spPr>
        <p:txBody>
          <a:bodyPr wrap="square" anchor="t" lIns="0" rIns="0" tIns="0" bIns="0">
            <a:spAutoFit/>
          </a:bodyPr>
          <a:lstStyle/>
          <a:p>
            <a:pPr algn="l">
              <a:lnSpc>
                <a:spcPct val="98000"/>
              </a:lnSpc>
              <a:spcBef>
                <a:spcPts val="0"/>
              </a:spcBef>
              <a:spcAft>
                <a:spcPts val="0"/>
              </a:spcAft>
            </a:pPr>
            <a:r>
              <a:rPr sz="1900" b="1" i="0">
                <a:solidFill>
                  <a:srgbClr val="2E2E38"/>
                </a:solidFill>
                <a:latin typeface="Helvetica Neue"/>
              </a:rPr>
              <a:t>Lehrer-Schüler-
Verhältnis</a:t>
            </a:r>
          </a:p>
        </p:txBody>
      </p:sp>
      <p:sp>
        <p:nvSpPr>
          <p:cNvPr id="11" name="TextBox 10"/>
          <p:cNvSpPr txBox="1"/>
          <p:nvPr/>
        </p:nvSpPr>
        <p:spPr>
          <a:xfrm>
            <a:off x="1161288" y="3794760"/>
            <a:ext cx="2907791" cy="2011680"/>
          </a:xfrm>
          <a:prstGeom prst="rect">
            <a:avLst/>
          </a:prstGeom>
          <a:noFill/>
        </p:spPr>
        <p:txBody>
          <a:bodyPr wrap="square" anchor="t" lIns="0" rIns="0" tIns="0" bIns="0">
            <a:spAutoFit/>
          </a:bodyPr>
          <a:lstStyle/>
          <a:p>
            <a:pPr algn="l">
              <a:lnSpc>
                <a:spcPct val="106000"/>
              </a:lnSpc>
              <a:spcBef>
                <a:spcPts val="0"/>
              </a:spcBef>
              <a:spcAft>
                <a:spcPts val="800"/>
              </a:spcAft>
            </a:pPr>
            <a:r>
              <a:rPr sz="1050" b="1" i="0">
                <a:solidFill>
                  <a:srgbClr val="4FA3D9"/>
                </a:solidFill>
                <a:latin typeface="Helvetica Neue"/>
              </a:rPr>
              <a:t>●  </a:t>
            </a:r>
            <a:r>
              <a:rPr sz="1450" b="0" i="0">
                <a:solidFill>
                  <a:srgbClr val="2E2E38"/>
                </a:solidFill>
                <a:latin typeface="Helvetica Neue"/>
              </a:rPr>
              <a:t>Bezugspersonen, nicht nur Wissensvermittler</a:t>
            </a:r>
          </a:p>
          <a:p>
            <a:pPr algn="l">
              <a:lnSpc>
                <a:spcPct val="106000"/>
              </a:lnSpc>
              <a:spcBef>
                <a:spcPts val="0"/>
              </a:spcBef>
              <a:spcAft>
                <a:spcPts val="800"/>
              </a:spcAft>
            </a:pPr>
            <a:r>
              <a:rPr sz="1050" b="1" i="0">
                <a:solidFill>
                  <a:srgbClr val="4FA3D9"/>
                </a:solidFill>
                <a:latin typeface="Helvetica Neue"/>
              </a:rPr>
              <a:t>●  </a:t>
            </a:r>
            <a:r>
              <a:rPr sz="1450" b="0" i="0">
                <a:solidFill>
                  <a:srgbClr val="2E2E38"/>
                </a:solidFill>
                <a:latin typeface="Helvetica Neue"/>
              </a:rPr>
              <a:t>Respekt reduziert Stress</a:t>
            </a:r>
          </a:p>
          <a:p>
            <a:pPr algn="l">
              <a:lnSpc>
                <a:spcPct val="106000"/>
              </a:lnSpc>
              <a:spcBef>
                <a:spcPts val="0"/>
              </a:spcBef>
              <a:spcAft>
                <a:spcPts val="800"/>
              </a:spcAft>
            </a:pPr>
            <a:r>
              <a:rPr sz="1050" b="1" i="0">
                <a:solidFill>
                  <a:srgbClr val="4FA3D9"/>
                </a:solidFill>
                <a:latin typeface="Helvetica Neue"/>
              </a:rPr>
              <a:t>●  </a:t>
            </a:r>
            <a:r>
              <a:rPr sz="1450" b="0" i="0">
                <a:solidFill>
                  <a:srgbClr val="2E2E38"/>
                </a:solidFill>
                <a:latin typeface="Helvetica Neue"/>
              </a:rPr>
              <a:t>stärkt die Lernmotivation</a:t>
            </a:r>
          </a:p>
        </p:txBody>
      </p:sp>
      <p:sp>
        <p:nvSpPr>
          <p:cNvPr id="12" name="Rounded Rectangle 11"/>
          <p:cNvSpPr/>
          <p:nvPr/>
        </p:nvSpPr>
        <p:spPr>
          <a:xfrm>
            <a:off x="4489704" y="2423160"/>
            <a:ext cx="3456432" cy="3520440"/>
          </a:xfrm>
          <a:prstGeom prst="roundRect">
            <a:avLst>
              <a:gd name="adj" fmla="val 7000"/>
            </a:avLst>
          </a:prstGeom>
          <a:solidFill>
            <a:srgbClr val="FFFFFF"/>
          </a:solidFill>
          <a:ln w="19050">
            <a:solidFill>
              <a:srgbClr val="FFD9E8"/>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9704" y="2423160"/>
            <a:ext cx="3456432" cy="146304"/>
          </a:xfrm>
          <a:prstGeom prst="roundRect">
            <a:avLst>
              <a:gd name="adj" fmla="val 50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2697480"/>
            <a:ext cx="2953511" cy="914400"/>
          </a:xfrm>
          <a:prstGeom prst="rect">
            <a:avLst/>
          </a:prstGeom>
          <a:noFill/>
        </p:spPr>
        <p:txBody>
          <a:bodyPr wrap="square" anchor="t" lIns="0" rIns="0" tIns="0" bIns="0">
            <a:spAutoFit/>
          </a:bodyPr>
          <a:lstStyle/>
          <a:p>
            <a:pPr algn="l">
              <a:lnSpc>
                <a:spcPct val="98000"/>
              </a:lnSpc>
              <a:spcBef>
                <a:spcPts val="0"/>
              </a:spcBef>
              <a:spcAft>
                <a:spcPts val="0"/>
              </a:spcAft>
            </a:pPr>
            <a:r>
              <a:rPr sz="1900" b="1" i="0">
                <a:solidFill>
                  <a:srgbClr val="2E2E38"/>
                </a:solidFill>
                <a:latin typeface="Helvetica Neue"/>
              </a:rPr>
              <a:t>Mitbestimmung</a:t>
            </a:r>
          </a:p>
        </p:txBody>
      </p:sp>
      <p:sp>
        <p:nvSpPr>
          <p:cNvPr id="15" name="TextBox 14"/>
          <p:cNvSpPr txBox="1"/>
          <p:nvPr/>
        </p:nvSpPr>
        <p:spPr>
          <a:xfrm>
            <a:off x="4782312" y="3794760"/>
            <a:ext cx="2907791" cy="2011680"/>
          </a:xfrm>
          <a:prstGeom prst="rect">
            <a:avLst/>
          </a:prstGeom>
          <a:noFill/>
        </p:spPr>
        <p:txBody>
          <a:bodyPr wrap="square" anchor="t" lIns="0" rIns="0" tIns="0" bIns="0">
            <a:spAutoFit/>
          </a:bodyPr>
          <a:lstStyle/>
          <a:p>
            <a:pPr algn="l">
              <a:lnSpc>
                <a:spcPct val="106000"/>
              </a:lnSpc>
              <a:spcBef>
                <a:spcPts val="0"/>
              </a:spcBef>
              <a:spcAft>
                <a:spcPts val="800"/>
              </a:spcAft>
            </a:pPr>
            <a:r>
              <a:rPr sz="1050" b="1" i="0">
                <a:solidFill>
                  <a:srgbClr val="E86FA1"/>
                </a:solidFill>
                <a:latin typeface="Helvetica Neue"/>
              </a:rPr>
              <a:t>●  </a:t>
            </a:r>
            <a:r>
              <a:rPr sz="1450" b="0" i="0">
                <a:solidFill>
                  <a:srgbClr val="2E2E38"/>
                </a:solidFill>
                <a:latin typeface="Helvetica Neue"/>
              </a:rPr>
              <a:t>Schülervertretung &amp; Klassenrat</a:t>
            </a:r>
          </a:p>
          <a:p>
            <a:pPr algn="l">
              <a:lnSpc>
                <a:spcPct val="106000"/>
              </a:lnSpc>
              <a:spcBef>
                <a:spcPts val="0"/>
              </a:spcBef>
              <a:spcAft>
                <a:spcPts val="800"/>
              </a:spcAft>
            </a:pPr>
            <a:r>
              <a:rPr sz="1050" b="1" i="0">
                <a:solidFill>
                  <a:srgbClr val="E86FA1"/>
                </a:solidFill>
                <a:latin typeface="Helvetica Neue"/>
              </a:rPr>
              <a:t>●  </a:t>
            </a:r>
            <a:r>
              <a:rPr sz="1450" b="0" i="0">
                <a:solidFill>
                  <a:srgbClr val="2E2E38"/>
                </a:solidFill>
                <a:latin typeface="Helvetica Neue"/>
              </a:rPr>
              <a:t>Beteiligung an Projekten</a:t>
            </a:r>
          </a:p>
          <a:p>
            <a:pPr algn="l">
              <a:lnSpc>
                <a:spcPct val="106000"/>
              </a:lnSpc>
              <a:spcBef>
                <a:spcPts val="0"/>
              </a:spcBef>
              <a:spcAft>
                <a:spcPts val="800"/>
              </a:spcAft>
            </a:pPr>
            <a:r>
              <a:rPr sz="1050" b="1" i="0">
                <a:solidFill>
                  <a:srgbClr val="E86FA1"/>
                </a:solidFill>
                <a:latin typeface="Helvetica Neue"/>
              </a:rPr>
              <a:t>●  </a:t>
            </a:r>
            <a:r>
              <a:rPr sz="1450" b="0" i="0">
                <a:solidFill>
                  <a:srgbClr val="2E2E38"/>
                </a:solidFill>
                <a:latin typeface="Helvetica Neue"/>
              </a:rPr>
              <a:t>stärkt Selbstwirksamkeit</a:t>
            </a:r>
          </a:p>
        </p:txBody>
      </p:sp>
      <p:sp>
        <p:nvSpPr>
          <p:cNvPr id="16" name="Rounded Rectangle 15"/>
          <p:cNvSpPr/>
          <p:nvPr/>
        </p:nvSpPr>
        <p:spPr>
          <a:xfrm>
            <a:off x="8110728" y="2423160"/>
            <a:ext cx="3456432" cy="3520440"/>
          </a:xfrm>
          <a:prstGeom prst="roundRect">
            <a:avLst>
              <a:gd name="adj" fmla="val 7000"/>
            </a:avLst>
          </a:prstGeom>
          <a:solidFill>
            <a:srgbClr val="FFFFFF"/>
          </a:solidFill>
          <a:ln w="19050">
            <a:solidFill>
              <a:srgbClr val="FFF7C7"/>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0728" y="2423160"/>
            <a:ext cx="3456432" cy="146304"/>
          </a:xfrm>
          <a:prstGeom prst="roundRect">
            <a:avLst>
              <a:gd name="adj" fmla="val 50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2697480"/>
            <a:ext cx="2953511" cy="914400"/>
          </a:xfrm>
          <a:prstGeom prst="rect">
            <a:avLst/>
          </a:prstGeom>
          <a:noFill/>
        </p:spPr>
        <p:txBody>
          <a:bodyPr wrap="square" anchor="t" lIns="0" rIns="0" tIns="0" bIns="0">
            <a:spAutoFit/>
          </a:bodyPr>
          <a:lstStyle/>
          <a:p>
            <a:pPr algn="l">
              <a:lnSpc>
                <a:spcPct val="98000"/>
              </a:lnSpc>
              <a:spcBef>
                <a:spcPts val="0"/>
              </a:spcBef>
              <a:spcAft>
                <a:spcPts val="0"/>
              </a:spcAft>
            </a:pPr>
            <a:r>
              <a:rPr sz="1900" b="1" i="0">
                <a:solidFill>
                  <a:srgbClr val="2E2E38"/>
                </a:solidFill>
                <a:latin typeface="Helvetica Neue"/>
              </a:rPr>
              <a:t>Feedbackkultur</a:t>
            </a:r>
          </a:p>
        </p:txBody>
      </p:sp>
      <p:sp>
        <p:nvSpPr>
          <p:cNvPr id="19" name="TextBox 18"/>
          <p:cNvSpPr txBox="1"/>
          <p:nvPr/>
        </p:nvSpPr>
        <p:spPr>
          <a:xfrm>
            <a:off x="8403336" y="3794760"/>
            <a:ext cx="2907791" cy="2011680"/>
          </a:xfrm>
          <a:prstGeom prst="rect">
            <a:avLst/>
          </a:prstGeom>
          <a:noFill/>
        </p:spPr>
        <p:txBody>
          <a:bodyPr wrap="square" anchor="t" lIns="0" rIns="0" tIns="0" bIns="0">
            <a:spAutoFit/>
          </a:bodyPr>
          <a:lstStyle/>
          <a:p>
            <a:pPr algn="l">
              <a:lnSpc>
                <a:spcPct val="106000"/>
              </a:lnSpc>
              <a:spcBef>
                <a:spcPts val="0"/>
              </a:spcBef>
              <a:spcAft>
                <a:spcPts val="800"/>
              </a:spcAft>
            </a:pPr>
            <a:r>
              <a:rPr sz="1050" b="1" i="0">
                <a:solidFill>
                  <a:srgbClr val="D9B83A"/>
                </a:solidFill>
                <a:latin typeface="Helvetica Neue"/>
              </a:rPr>
              <a:t>●  </a:t>
            </a:r>
            <a:r>
              <a:rPr sz="1450" b="0" i="0">
                <a:solidFill>
                  <a:srgbClr val="2E2E38"/>
                </a:solidFill>
                <a:latin typeface="Helvetica Neue"/>
              </a:rPr>
              <a:t>Noten + qualitative Rückmeldung</a:t>
            </a:r>
          </a:p>
          <a:p>
            <a:pPr algn="l">
              <a:lnSpc>
                <a:spcPct val="106000"/>
              </a:lnSpc>
              <a:spcBef>
                <a:spcPts val="0"/>
              </a:spcBef>
              <a:spcAft>
                <a:spcPts val="800"/>
              </a:spcAft>
            </a:pPr>
            <a:r>
              <a:rPr sz="1050" b="1" i="0">
                <a:solidFill>
                  <a:srgbClr val="D9B83A"/>
                </a:solidFill>
                <a:latin typeface="Helvetica Neue"/>
              </a:rPr>
              <a:t>●  </a:t>
            </a:r>
            <a:r>
              <a:rPr sz="1450" b="0" i="0">
                <a:solidFill>
                  <a:srgbClr val="2E2E38"/>
                </a:solidFill>
                <a:latin typeface="Helvetica Neue"/>
              </a:rPr>
              <a:t>formatives Feedback begleitet</a:t>
            </a:r>
          </a:p>
          <a:p>
            <a:pPr algn="l">
              <a:lnSpc>
                <a:spcPct val="106000"/>
              </a:lnSpc>
              <a:spcBef>
                <a:spcPts val="0"/>
              </a:spcBef>
              <a:spcAft>
                <a:spcPts val="800"/>
              </a:spcAft>
            </a:pPr>
            <a:r>
              <a:rPr sz="1050" b="1" i="0">
                <a:solidFill>
                  <a:srgbClr val="D9B83A"/>
                </a:solidFill>
                <a:latin typeface="Helvetica Neue"/>
              </a:rPr>
              <a:t>●  </a:t>
            </a:r>
            <a:r>
              <a:rPr sz="1450" b="0" i="0">
                <a:solidFill>
                  <a:srgbClr val="2E2E38"/>
                </a:solidFill>
                <a:latin typeface="Helvetica Neue"/>
              </a:rPr>
              <a:t>fördert realistische Selbsteinschätzung</a:t>
            </a:r>
          </a:p>
        </p:txBody>
      </p:sp>
    </p:spTree>
  </p:cSld>
  <p:clrMapOvr>
    <a:masterClrMapping/>
  </p:clrMapOvr>
  <p:transition xmlns:p14="http://schemas.microsoft.com/office/powerpoint/2010/main" spd="med" p14:dur="700">
    <p:push dir="l"/>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3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3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80"/>
                                        <p:tgtEl>
                                          <p:spTgt spid="7"/>
                                        </p:tgtEl>
                                      </p:cBhvr>
                                    </p:animEffect>
                                  </p:childTnLst>
                                </p:cTn>
                              </p:par>
                            </p:childTnLst>
                          </p:cTn>
                        </p:par>
                      </p:childTnLst>
                    </p:cTn>
                  </p:par>
                  <p:par>
                    <p:cTn id="18" fill="hold">
                      <p:stCondLst>
                        <p:cond delay="13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480"/>
                                        <p:tgtEl>
                                          <p:spTgt spid="10">
                                            <p:txEl>
                                              <p:pRg st="0" end="0"/>
                                            </p:txEl>
                                          </p:spTgt>
                                        </p:tgtEl>
                                      </p:cBhvr>
                                    </p:animEffect>
                                  </p:childTnLst>
                                </p:cTn>
                              </p:par>
                            </p:childTnLst>
                          </p:cTn>
                        </p:par>
                      </p:childTnLst>
                    </p:cTn>
                  </p:par>
                  <p:par>
                    <p:cTn id="23" fill="hold">
                      <p:stCondLst>
                        <p:cond delay="13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fade">
                                      <p:cBhvr>
                                        <p:cTn id="27" dur="480"/>
                                        <p:tgtEl>
                                          <p:spTgt spid="11">
                                            <p:txEl>
                                              <p:pRg st="0" end="0"/>
                                            </p:txEl>
                                          </p:spTgt>
                                        </p:tgtEl>
                                      </p:cBhvr>
                                    </p:animEffect>
                                  </p:childTnLst>
                                </p:cTn>
                              </p:par>
                            </p:childTnLst>
                          </p:cTn>
                        </p:par>
                      </p:childTnLst>
                    </p:cTn>
                  </p:par>
                  <p:par>
                    <p:cTn id="28" fill="hold">
                      <p:stCondLst>
                        <p:cond delay="13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1">
                                            <p:txEl>
                                              <p:pRg st="1" end="1"/>
                                            </p:txEl>
                                          </p:spTgt>
                                        </p:tgtEl>
                                        <p:attrNameLst>
                                          <p:attrName>style.visibility</p:attrName>
                                        </p:attrNameLst>
                                      </p:cBhvr>
                                      <p:to>
                                        <p:strVal val="visible"/>
                                      </p:to>
                                    </p:set>
                                    <p:animEffect transition="in" filter="fade">
                                      <p:cBhvr>
                                        <p:cTn id="32" dur="480"/>
                                        <p:tgtEl>
                                          <p:spTgt spid="11">
                                            <p:txEl>
                                              <p:pRg st="1" end="1"/>
                                            </p:txEl>
                                          </p:spTgt>
                                        </p:tgtEl>
                                      </p:cBhvr>
                                    </p:animEffect>
                                  </p:childTnLst>
                                </p:cTn>
                              </p:par>
                            </p:childTnLst>
                          </p:cTn>
                        </p:par>
                      </p:childTnLst>
                    </p:cTn>
                  </p:par>
                  <p:par>
                    <p:cTn id="33" fill="hold">
                      <p:stCondLst>
                        <p:cond delay="13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Effect transition="in" filter="fade">
                                      <p:cBhvr>
                                        <p:cTn id="37" dur="480"/>
                                        <p:tgtEl>
                                          <p:spTgt spid="11">
                                            <p:txEl>
                                              <p:pRg st="2" end="2"/>
                                            </p:txEl>
                                          </p:spTgt>
                                        </p:tgtEl>
                                      </p:cBhvr>
                                    </p:animEffect>
                                  </p:childTnLst>
                                </p:cTn>
                              </p:par>
                            </p:childTnLst>
                          </p:cTn>
                        </p:par>
                      </p:childTnLst>
                    </p:cTn>
                  </p:par>
                  <p:par>
                    <p:cTn id="38" fill="hold">
                      <p:stCondLst>
                        <p:cond delay="13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4">
                                            <p:txEl>
                                              <p:pRg st="0" end="0"/>
                                            </p:txEl>
                                          </p:spTgt>
                                        </p:tgtEl>
                                        <p:attrNameLst>
                                          <p:attrName>style.visibility</p:attrName>
                                        </p:attrNameLst>
                                      </p:cBhvr>
                                      <p:to>
                                        <p:strVal val="visible"/>
                                      </p:to>
                                    </p:set>
                                    <p:animEffect transition="in" filter="fade">
                                      <p:cBhvr>
                                        <p:cTn id="42" dur="480"/>
                                        <p:tgtEl>
                                          <p:spTgt spid="14">
                                            <p:txEl>
                                              <p:pRg st="0" end="0"/>
                                            </p:txEl>
                                          </p:spTgt>
                                        </p:tgtEl>
                                      </p:cBhvr>
                                    </p:animEffect>
                                  </p:childTnLst>
                                </p:cTn>
                              </p:par>
                            </p:childTnLst>
                          </p:cTn>
                        </p:par>
                      </p:childTnLst>
                    </p:cTn>
                  </p:par>
                  <p:par>
                    <p:cTn id="43" fill="hold">
                      <p:stCondLst>
                        <p:cond delay="13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animEffect transition="in" filter="fade">
                                      <p:cBhvr>
                                        <p:cTn id="47" dur="480"/>
                                        <p:tgtEl>
                                          <p:spTgt spid="15">
                                            <p:txEl>
                                              <p:pRg st="0" end="0"/>
                                            </p:txEl>
                                          </p:spTgt>
                                        </p:tgtEl>
                                      </p:cBhvr>
                                    </p:animEffect>
                                  </p:childTnLst>
                                </p:cTn>
                              </p:par>
                            </p:childTnLst>
                          </p:cTn>
                        </p:par>
                      </p:childTnLst>
                    </p:cTn>
                  </p:par>
                  <p:par>
                    <p:cTn id="48" fill="hold">
                      <p:stCondLst>
                        <p:cond delay="13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15">
                                            <p:txEl>
                                              <p:pRg st="1" end="1"/>
                                            </p:txEl>
                                          </p:spTgt>
                                        </p:tgtEl>
                                        <p:attrNameLst>
                                          <p:attrName>style.visibility</p:attrName>
                                        </p:attrNameLst>
                                      </p:cBhvr>
                                      <p:to>
                                        <p:strVal val="visible"/>
                                      </p:to>
                                    </p:set>
                                    <p:animEffect transition="in" filter="fade">
                                      <p:cBhvr>
                                        <p:cTn id="52" dur="480"/>
                                        <p:tgtEl>
                                          <p:spTgt spid="15">
                                            <p:txEl>
                                              <p:pRg st="1" end="1"/>
                                            </p:txEl>
                                          </p:spTgt>
                                        </p:tgtEl>
                                      </p:cBhvr>
                                    </p:animEffect>
                                  </p:childTnLst>
                                </p:cTn>
                              </p:par>
                            </p:childTnLst>
                          </p:cTn>
                        </p:par>
                      </p:childTnLst>
                    </p:cTn>
                  </p:par>
                  <p:par>
                    <p:cTn id="53" fill="hold">
                      <p:stCondLst>
                        <p:cond delay="13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15">
                                            <p:txEl>
                                              <p:pRg st="2" end="2"/>
                                            </p:txEl>
                                          </p:spTgt>
                                        </p:tgtEl>
                                        <p:attrNameLst>
                                          <p:attrName>style.visibility</p:attrName>
                                        </p:attrNameLst>
                                      </p:cBhvr>
                                      <p:to>
                                        <p:strVal val="visible"/>
                                      </p:to>
                                    </p:set>
                                    <p:animEffect transition="in" filter="fade">
                                      <p:cBhvr>
                                        <p:cTn id="57" dur="480"/>
                                        <p:tgtEl>
                                          <p:spTgt spid="15">
                                            <p:txEl>
                                              <p:pRg st="2" end="2"/>
                                            </p:txEl>
                                          </p:spTgt>
                                        </p:tgtEl>
                                      </p:cBhvr>
                                    </p:animEffect>
                                  </p:childTnLst>
                                </p:cTn>
                              </p:par>
                            </p:childTnLst>
                          </p:cTn>
                        </p:par>
                      </p:childTnLst>
                    </p:cTn>
                  </p:par>
                  <p:par>
                    <p:cTn id="58" fill="hold">
                      <p:stCondLst>
                        <p:cond delay="13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8">
                                            <p:txEl>
                                              <p:pRg st="0" end="0"/>
                                            </p:txEl>
                                          </p:spTgt>
                                        </p:tgtEl>
                                        <p:attrNameLst>
                                          <p:attrName>style.visibility</p:attrName>
                                        </p:attrNameLst>
                                      </p:cBhvr>
                                      <p:to>
                                        <p:strVal val="visible"/>
                                      </p:to>
                                    </p:set>
                                    <p:animEffect transition="in" filter="fade">
                                      <p:cBhvr>
                                        <p:cTn id="62" dur="480"/>
                                        <p:tgtEl>
                                          <p:spTgt spid="18">
                                            <p:txEl>
                                              <p:pRg st="0" end="0"/>
                                            </p:txEl>
                                          </p:spTgt>
                                        </p:tgtEl>
                                      </p:cBhvr>
                                    </p:animEffect>
                                  </p:childTnLst>
                                </p:cTn>
                              </p:par>
                            </p:childTnLst>
                          </p:cTn>
                        </p:par>
                      </p:childTnLst>
                    </p:cTn>
                  </p:par>
                  <p:par>
                    <p:cTn id="63" fill="hold">
                      <p:stCondLst>
                        <p:cond delay="130"/>
                      </p:stCondLst>
                      <p:childTnLst>
                        <p:par>
                          <p:cTn id="64" fill="hold">
                            <p:stCondLst>
                              <p:cond delay="0"/>
                            </p:stCondLst>
                            <p:childTnLst>
                              <p:par>
                                <p:cTn id="65" presetID="10" presetClass="entr" presetSubtype="0" fill="hold" grpId="0" nodeType="afterEffect">
                                  <p:stCondLst>
                                    <p:cond delay="0"/>
                                  </p:stCondLst>
                                  <p:childTnLst>
                                    <p:set>
                                      <p:cBhvr>
                                        <p:cTn id="66" dur="1" fill="hold">
                                          <p:stCondLst>
                                            <p:cond delay="0"/>
                                          </p:stCondLst>
                                        </p:cTn>
                                        <p:tgtEl>
                                          <p:spTgt spid="19">
                                            <p:txEl>
                                              <p:pRg st="0" end="0"/>
                                            </p:txEl>
                                          </p:spTgt>
                                        </p:tgtEl>
                                        <p:attrNameLst>
                                          <p:attrName>style.visibility</p:attrName>
                                        </p:attrNameLst>
                                      </p:cBhvr>
                                      <p:to>
                                        <p:strVal val="visible"/>
                                      </p:to>
                                    </p:set>
                                    <p:animEffect transition="in" filter="fade">
                                      <p:cBhvr>
                                        <p:cTn id="67" dur="480"/>
                                        <p:tgtEl>
                                          <p:spTgt spid="19">
                                            <p:txEl>
                                              <p:pRg st="0" end="0"/>
                                            </p:txEl>
                                          </p:spTgt>
                                        </p:tgtEl>
                                      </p:cBhvr>
                                    </p:animEffect>
                                  </p:childTnLst>
                                </p:cTn>
                              </p:par>
                            </p:childTnLst>
                          </p:cTn>
                        </p:par>
                      </p:childTnLst>
                    </p:cTn>
                  </p:par>
                  <p:par>
                    <p:cTn id="68" fill="hold">
                      <p:stCondLst>
                        <p:cond delay="130"/>
                      </p:stCondLst>
                      <p:childTnLst>
                        <p:par>
                          <p:cTn id="69" fill="hold">
                            <p:stCondLst>
                              <p:cond delay="0"/>
                            </p:stCondLst>
                            <p:childTnLst>
                              <p:par>
                                <p:cTn id="70" presetID="10" presetClass="entr" presetSubtype="0" fill="hold" grpId="0" nodeType="afterEffect">
                                  <p:stCondLst>
                                    <p:cond delay="0"/>
                                  </p:stCondLst>
                                  <p:childTnLst>
                                    <p:set>
                                      <p:cBhvr>
                                        <p:cTn id="71" dur="1" fill="hold">
                                          <p:stCondLst>
                                            <p:cond delay="0"/>
                                          </p:stCondLst>
                                        </p:cTn>
                                        <p:tgtEl>
                                          <p:spTgt spid="19">
                                            <p:txEl>
                                              <p:pRg st="1" end="1"/>
                                            </p:txEl>
                                          </p:spTgt>
                                        </p:tgtEl>
                                        <p:attrNameLst>
                                          <p:attrName>style.visibility</p:attrName>
                                        </p:attrNameLst>
                                      </p:cBhvr>
                                      <p:to>
                                        <p:strVal val="visible"/>
                                      </p:to>
                                    </p:set>
                                    <p:animEffect transition="in" filter="fade">
                                      <p:cBhvr>
                                        <p:cTn id="72" dur="480"/>
                                        <p:tgtEl>
                                          <p:spTgt spid="19">
                                            <p:txEl>
                                              <p:pRg st="1" end="1"/>
                                            </p:txEl>
                                          </p:spTgt>
                                        </p:tgtEl>
                                      </p:cBhvr>
                                    </p:animEffect>
                                  </p:childTnLst>
                                </p:cTn>
                              </p:par>
                            </p:childTnLst>
                          </p:cTn>
                        </p:par>
                      </p:childTnLst>
                    </p:cTn>
                  </p:par>
                  <p:par>
                    <p:cTn id="73" fill="hold">
                      <p:stCondLst>
                        <p:cond delay="130"/>
                      </p:stCondLst>
                      <p:childTnLst>
                        <p:par>
                          <p:cTn id="74" fill="hold">
                            <p:stCondLst>
                              <p:cond delay="0"/>
                            </p:stCondLst>
                            <p:childTnLst>
                              <p:par>
                                <p:cTn id="75" presetID="10" presetClass="entr" presetSubtype="0" fill="hold" grpId="0" nodeType="afterEffect">
                                  <p:stCondLst>
                                    <p:cond delay="0"/>
                                  </p:stCondLst>
                                  <p:childTnLst>
                                    <p:set>
                                      <p:cBhvr>
                                        <p:cTn id="76" dur="1" fill="hold">
                                          <p:stCondLst>
                                            <p:cond delay="0"/>
                                          </p:stCondLst>
                                        </p:cTn>
                                        <p:tgtEl>
                                          <p:spTgt spid="19">
                                            <p:txEl>
                                              <p:pRg st="2" end="2"/>
                                            </p:txEl>
                                          </p:spTgt>
                                        </p:tgtEl>
                                        <p:attrNameLst>
                                          <p:attrName>style.visibility</p:attrName>
                                        </p:attrNameLst>
                                      </p:cBhvr>
                                      <p:to>
                                        <p:strVal val="visible"/>
                                      </p:to>
                                    </p:set>
                                    <p:animEffect transition="in" filter="fade">
                                      <p:cBhvr>
                                        <p:cTn id="77" dur="48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0" grpId="0" build="p"/>
      <p:bldP spid="11" grpId="0" build="p"/>
      <p:bldP spid="14" grpId="0" build="p"/>
      <p:bldP spid="15" grpId="0" build="p"/>
      <p:bldP spid="18" grpId="0" build="p"/>
      <p:bldP spid="19" grpId="0" build="p"/>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463040"/>
            <a:ext cx="3291840" cy="3291840"/>
          </a:xfrm>
          <a:prstGeom prst="ellipse">
            <a:avLst/>
          </a:prstGeom>
          <a:solidFill>
            <a:srgbClr val="FFD9E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4572000"/>
            <a:ext cx="3108960" cy="3108960"/>
          </a:xfrm>
          <a:prstGeom prst="ellipse">
            <a:avLst/>
          </a:prstGeom>
          <a:solidFill>
            <a:srgbClr val="CFEFFF">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983480" y="640080"/>
            <a:ext cx="1386230" cy="384048"/>
          </a:xfrm>
          <a:prstGeom prst="roundRect">
            <a:avLst>
              <a:gd name="adj" fmla="val 50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500" b="1">
                <a:solidFill>
                  <a:srgbClr val="2E2E38"/>
                </a:solidFill>
                <a:latin typeface="Helvetica Neue"/>
              </a:rPr>
              <a:t>Kurze Umfrage</a:t>
            </a:r>
          </a:p>
        </p:txBody>
      </p:sp>
      <p:sp>
        <p:nvSpPr>
          <p:cNvPr id="6" name="TextBox 5"/>
          <p:cNvSpPr txBox="1"/>
          <p:nvPr/>
        </p:nvSpPr>
        <p:spPr>
          <a:xfrm>
            <a:off x="1280160" y="1325880"/>
            <a:ext cx="9601200" cy="1554480"/>
          </a:xfrm>
          <a:prstGeom prst="rect">
            <a:avLst/>
          </a:prstGeom>
          <a:noFill/>
        </p:spPr>
        <p:txBody>
          <a:bodyPr wrap="square" anchor="t" lIns="0" rIns="0" tIns="0" bIns="0">
            <a:spAutoFit/>
          </a:bodyPr>
          <a:lstStyle/>
          <a:p>
            <a:pPr algn="ctr">
              <a:lnSpc>
                <a:spcPct val="106000"/>
              </a:lnSpc>
              <a:spcBef>
                <a:spcPts val="0"/>
              </a:spcBef>
              <a:spcAft>
                <a:spcPts val="0"/>
              </a:spcAft>
            </a:pPr>
            <a:r>
              <a:rPr sz="3200" b="1" i="0">
                <a:solidFill>
                  <a:srgbClr val="2E2E38"/>
                </a:solidFill>
                <a:latin typeface="Helvetica Neue"/>
              </a:rPr>
              <a:t>Was beeinflusst euer Wohlbefinden in der Schule am stärksten?</a:t>
            </a:r>
          </a:p>
        </p:txBody>
      </p:sp>
      <p:sp>
        <p:nvSpPr>
          <p:cNvPr id="7" name="Rounded Rectangle 6"/>
          <p:cNvSpPr/>
          <p:nvPr/>
        </p:nvSpPr>
        <p:spPr>
          <a:xfrm>
            <a:off x="960120" y="3154680"/>
            <a:ext cx="2468880" cy="1143000"/>
          </a:xfrm>
          <a:prstGeom prst="roundRect">
            <a:avLst>
              <a:gd name="adj" fmla="val 22000"/>
            </a:avLst>
          </a:prstGeom>
          <a:solidFill>
            <a:srgbClr val="CFEFFF"/>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E2E38"/>
                </a:solidFill>
                <a:latin typeface="Helvetica Neue"/>
              </a:rPr>
              <a:t>📚  Notendruck</a:t>
            </a:r>
          </a:p>
        </p:txBody>
      </p:sp>
      <p:sp>
        <p:nvSpPr>
          <p:cNvPr id="8" name="Rounded Rectangle 7"/>
          <p:cNvSpPr/>
          <p:nvPr/>
        </p:nvSpPr>
        <p:spPr>
          <a:xfrm>
            <a:off x="3648456" y="3154680"/>
            <a:ext cx="2468880" cy="1143000"/>
          </a:xfrm>
          <a:prstGeom prst="roundRect">
            <a:avLst>
              <a:gd name="adj" fmla="val 22000"/>
            </a:avLst>
          </a:prstGeom>
          <a:solidFill>
            <a:srgbClr val="FFD9E8"/>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E2E38"/>
                </a:solidFill>
                <a:latin typeface="Helvetica Neue"/>
              </a:rPr>
              <a:t>👩‍🏫  Lehrkräfte</a:t>
            </a:r>
          </a:p>
        </p:txBody>
      </p:sp>
      <p:sp>
        <p:nvSpPr>
          <p:cNvPr id="9" name="Rounded Rectangle 8"/>
          <p:cNvSpPr/>
          <p:nvPr/>
        </p:nvSpPr>
        <p:spPr>
          <a:xfrm>
            <a:off x="6336792" y="3154680"/>
            <a:ext cx="2468880" cy="1143000"/>
          </a:xfrm>
          <a:prstGeom prst="roundRect">
            <a:avLst>
              <a:gd name="adj" fmla="val 22000"/>
            </a:avLst>
          </a:prstGeom>
          <a:solidFill>
            <a:srgbClr val="FFF7C7"/>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E2E38"/>
                </a:solidFill>
                <a:latin typeface="Helvetica Neue"/>
              </a:rPr>
              <a:t>👥  Mitschüler</a:t>
            </a:r>
          </a:p>
        </p:txBody>
      </p:sp>
      <p:sp>
        <p:nvSpPr>
          <p:cNvPr id="10" name="Rounded Rectangle 9"/>
          <p:cNvSpPr/>
          <p:nvPr/>
        </p:nvSpPr>
        <p:spPr>
          <a:xfrm>
            <a:off x="9025128" y="3154680"/>
            <a:ext cx="2468880" cy="1143000"/>
          </a:xfrm>
          <a:prstGeom prst="roundRect">
            <a:avLst>
              <a:gd name="adj" fmla="val 22000"/>
            </a:avLst>
          </a:prstGeom>
          <a:solidFill>
            <a:srgbClr val="D7F2DD"/>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E2E38"/>
                </a:solidFill>
                <a:latin typeface="Helvetica Neue"/>
              </a:rPr>
              <a:t>🕒  Zeitstress</a:t>
            </a:r>
          </a:p>
        </p:txBody>
      </p:sp>
      <p:sp>
        <p:nvSpPr>
          <p:cNvPr id="11" name="TextBox 10"/>
          <p:cNvSpPr txBox="1"/>
          <p:nvPr/>
        </p:nvSpPr>
        <p:spPr>
          <a:xfrm>
            <a:off x="1280160" y="4526280"/>
            <a:ext cx="9601200" cy="548640"/>
          </a:xfrm>
          <a:prstGeom prst="rect">
            <a:avLst/>
          </a:prstGeom>
          <a:noFill/>
        </p:spPr>
        <p:txBody>
          <a:bodyPr wrap="square" anchor="t" lIns="0" rIns="0" tIns="0" bIns="0">
            <a:spAutoFit/>
          </a:bodyPr>
          <a:lstStyle/>
          <a:p>
            <a:pPr algn="ctr">
              <a:lnSpc>
                <a:spcPct val="105000"/>
              </a:lnSpc>
              <a:spcBef>
                <a:spcPts val="0"/>
              </a:spcBef>
              <a:spcAft>
                <a:spcPts val="0"/>
              </a:spcAft>
            </a:pPr>
            <a:r>
              <a:rPr sz="1800" b="0" i="0">
                <a:solidFill>
                  <a:srgbClr val="6C6C78"/>
                </a:solidFill>
                <a:latin typeface="Helvetica Neue"/>
              </a:rPr>
              <a:t>Kurzes Handzeichen – was trifft auf euch zu?</a:t>
            </a:r>
          </a:p>
        </p:txBody>
      </p:sp>
      <p:sp>
        <p:nvSpPr>
          <p:cNvPr id="12" name="Rounded Rectangle 11"/>
          <p:cNvSpPr/>
          <p:nvPr/>
        </p:nvSpPr>
        <p:spPr>
          <a:xfrm>
            <a:off x="2194560" y="5257800"/>
            <a:ext cx="7772400" cy="960120"/>
          </a:xfrm>
          <a:prstGeom prst="roundRect">
            <a:avLst>
              <a:gd name="adj" fmla="val 30000"/>
            </a:avLst>
          </a:prstGeom>
          <a:solidFill>
            <a:srgbClr val="2E2E38"/>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r>
              <a:rPr sz="1900" b="1">
                <a:solidFill>
                  <a:srgbClr val="FFFFFF"/>
                </a:solidFill>
                <a:latin typeface="Helvetica Neue"/>
              </a:rPr>
              <a:t>Alle Faktoren spielen laut Facharbeit eine wichtige Rolle.</a:t>
            </a:r>
          </a:p>
        </p:txBody>
      </p:sp>
    </p:spTree>
  </p:cSld>
  <p:clrMapOvr>
    <a:masterClrMapping/>
  </p:clrMapOvr>
  <p:transition xmlns:p14="http://schemas.microsoft.com/office/powerpoint/2010/main" spd="med" p14:dur="700">
    <p:dissolve/>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6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6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80"/>
                                        <p:tgtEl>
                                          <p:spTgt spid="7"/>
                                        </p:tgtEl>
                                      </p:cBhvr>
                                    </p:animEffect>
                                  </p:childTnLst>
                                </p:cTn>
                              </p:par>
                            </p:childTnLst>
                          </p:cTn>
                        </p:par>
                      </p:childTnLst>
                    </p:cTn>
                  </p:par>
                  <p:par>
                    <p:cTn id="18" fill="hold">
                      <p:stCondLst>
                        <p:cond delay="16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80"/>
                                        <p:tgtEl>
                                          <p:spTgt spid="8"/>
                                        </p:tgtEl>
                                      </p:cBhvr>
                                    </p:animEffect>
                                  </p:childTnLst>
                                </p:cTn>
                              </p:par>
                            </p:childTnLst>
                          </p:cTn>
                        </p:par>
                      </p:childTnLst>
                    </p:cTn>
                  </p:par>
                  <p:par>
                    <p:cTn id="23" fill="hold">
                      <p:stCondLst>
                        <p:cond delay="16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80"/>
                                        <p:tgtEl>
                                          <p:spTgt spid="9"/>
                                        </p:tgtEl>
                                      </p:cBhvr>
                                    </p:animEffect>
                                  </p:childTnLst>
                                </p:cTn>
                              </p:par>
                            </p:childTnLst>
                          </p:cTn>
                        </p:par>
                      </p:childTnLst>
                    </p:cTn>
                  </p:par>
                  <p:par>
                    <p:cTn id="28" fill="hold">
                      <p:stCondLst>
                        <p:cond delay="16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80"/>
                                        <p:tgtEl>
                                          <p:spTgt spid="10"/>
                                        </p:tgtEl>
                                      </p:cBhvr>
                                    </p:animEffect>
                                  </p:childTnLst>
                                </p:cTn>
                              </p:par>
                            </p:childTnLst>
                          </p:cTn>
                        </p:par>
                      </p:childTnLst>
                    </p:cTn>
                  </p:par>
                  <p:par>
                    <p:cTn id="33" fill="hold">
                      <p:stCondLst>
                        <p:cond delay="16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480"/>
                                        <p:tgtEl>
                                          <p:spTgt spid="11">
                                            <p:txEl>
                                              <p:pRg st="0" end="0"/>
                                            </p:txEl>
                                          </p:spTgt>
                                        </p:tgtEl>
                                      </p:cBhvr>
                                    </p:animEffect>
                                  </p:childTnLst>
                                </p:cTn>
                              </p:par>
                            </p:childTnLst>
                          </p:cTn>
                        </p:par>
                      </p:childTnLst>
                    </p:cTn>
                  </p:par>
                  <p:par>
                    <p:cTn id="38" fill="hold">
                      <p:stCondLst>
                        <p:cond delay="16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8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2926080" cy="2926080"/>
          </a:xfrm>
          <a:prstGeom prst="ellipse">
            <a:avLst/>
          </a:prstGeom>
          <a:solidFill>
            <a:srgbClr val="CFEFFF">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4572000"/>
            <a:ext cx="3108960" cy="3108960"/>
          </a:xfrm>
          <a:prstGeom prst="ellipse">
            <a:avLst/>
          </a:prstGeom>
          <a:solidFill>
            <a:srgbClr val="FFF7C7">
              <a:alpha val="3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548640"/>
            <a:ext cx="2059228" cy="384048"/>
          </a:xfrm>
          <a:prstGeom prst="roundRect">
            <a:avLst>
              <a:gd name="adj" fmla="val 50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Blick über die Grenze</a:t>
            </a:r>
          </a:p>
        </p:txBody>
      </p:sp>
      <p:sp>
        <p:nvSpPr>
          <p:cNvPr id="6" name="TextBox 5"/>
          <p:cNvSpPr txBox="1"/>
          <p:nvPr/>
        </p:nvSpPr>
        <p:spPr>
          <a:xfrm>
            <a:off x="822960" y="969264"/>
            <a:ext cx="7772400" cy="914400"/>
          </a:xfrm>
          <a:prstGeom prst="rect">
            <a:avLst/>
          </a:prstGeom>
          <a:noFill/>
        </p:spPr>
        <p:txBody>
          <a:bodyPr wrap="square" anchor="t" lIns="0" rIns="0" tIns="0" bIns="0">
            <a:spAutoFit/>
          </a:bodyPr>
          <a:lstStyle/>
          <a:p>
            <a:pPr algn="l">
              <a:lnSpc>
                <a:spcPct val="105000"/>
              </a:lnSpc>
              <a:spcBef>
                <a:spcPts val="0"/>
              </a:spcBef>
              <a:spcAft>
                <a:spcPts val="0"/>
              </a:spcAft>
            </a:pPr>
            <a:r>
              <a:rPr sz="3800" b="1" i="0">
                <a:solidFill>
                  <a:srgbClr val="2E2E38"/>
                </a:solidFill>
                <a:latin typeface="Helvetica Neue"/>
              </a:rPr>
              <a:t>Internationaler Vergleich</a:t>
            </a:r>
          </a:p>
        </p:txBody>
      </p:sp>
      <p:pic>
        <p:nvPicPr>
          <p:cNvPr id="7" name="Picture 6" descr="international.png"/>
          <p:cNvPicPr>
            <a:picLocks noChangeAspect="1"/>
          </p:cNvPicPr>
          <p:nvPr/>
        </p:nvPicPr>
        <p:blipFill>
          <a:blip r:embed="rId2"/>
          <a:stretch>
            <a:fillRect/>
          </a:stretch>
        </p:blipFill>
        <p:spPr>
          <a:xfrm>
            <a:off x="8732520" y="411480"/>
            <a:ext cx="2971800" cy="1981200"/>
          </a:xfrm>
          <a:prstGeom prst="rect">
            <a:avLst/>
          </a:prstGeom>
        </p:spPr>
      </p:pic>
      <p:sp>
        <p:nvSpPr>
          <p:cNvPr id="8" name="Rounded Rectangle 7"/>
          <p:cNvSpPr/>
          <p:nvPr/>
        </p:nvSpPr>
        <p:spPr>
          <a:xfrm>
            <a:off x="868680" y="2423160"/>
            <a:ext cx="3456432" cy="3200400"/>
          </a:xfrm>
          <a:prstGeom prst="roundRect">
            <a:avLst>
              <a:gd name="adj" fmla="val 8000"/>
            </a:avLst>
          </a:prstGeom>
          <a:solidFill>
            <a:srgbClr val="FFFFFF"/>
          </a:solidFill>
          <a:ln w="19050">
            <a:solidFill>
              <a:srgbClr val="CFEFFF"/>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1288" y="2724912"/>
            <a:ext cx="502920" cy="502920"/>
          </a:xfrm>
          <a:prstGeom prst="ellipse">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337560"/>
            <a:ext cx="2953511" cy="914400"/>
          </a:xfrm>
          <a:prstGeom prst="rect">
            <a:avLst/>
          </a:prstGeom>
          <a:noFill/>
        </p:spPr>
        <p:txBody>
          <a:bodyPr wrap="square" anchor="t" lIns="0" rIns="0" tIns="0" bIns="0">
            <a:spAutoFit/>
          </a:bodyPr>
          <a:lstStyle/>
          <a:p>
            <a:pPr algn="l">
              <a:lnSpc>
                <a:spcPct val="98000"/>
              </a:lnSpc>
              <a:spcBef>
                <a:spcPts val="0"/>
              </a:spcBef>
              <a:spcAft>
                <a:spcPts val="0"/>
              </a:spcAft>
            </a:pPr>
            <a:r>
              <a:rPr sz="1900" b="1" i="0">
                <a:solidFill>
                  <a:srgbClr val="2E2E38"/>
                </a:solidFill>
                <a:latin typeface="Helvetica Neue"/>
              </a:rPr>
              <a:t>Deutschland</a:t>
            </a:r>
          </a:p>
        </p:txBody>
      </p:sp>
      <p:sp>
        <p:nvSpPr>
          <p:cNvPr id="11" name="TextBox 10"/>
          <p:cNvSpPr txBox="1"/>
          <p:nvPr/>
        </p:nvSpPr>
        <p:spPr>
          <a:xfrm>
            <a:off x="1161288" y="4480560"/>
            <a:ext cx="2907791" cy="1097280"/>
          </a:xfrm>
          <a:prstGeom prst="rect">
            <a:avLst/>
          </a:prstGeom>
          <a:noFill/>
        </p:spPr>
        <p:txBody>
          <a:bodyPr wrap="square" anchor="t" lIns="0" rIns="0" tIns="0" bIns="0">
            <a:spAutoFit/>
          </a:bodyPr>
          <a:lstStyle/>
          <a:p>
            <a:pPr algn="l">
              <a:lnSpc>
                <a:spcPct val="106000"/>
              </a:lnSpc>
              <a:spcBef>
                <a:spcPts val="0"/>
              </a:spcBef>
              <a:spcAft>
                <a:spcPts val="800"/>
              </a:spcAft>
            </a:pPr>
            <a:r>
              <a:rPr sz="1150" b="1" i="0">
                <a:solidFill>
                  <a:srgbClr val="4FA3D9"/>
                </a:solidFill>
                <a:latin typeface="Helvetica Neue"/>
              </a:rPr>
              <a:t>●  </a:t>
            </a:r>
            <a:r>
              <a:rPr sz="1550" b="0" i="0">
                <a:solidFill>
                  <a:srgbClr val="2E2E38"/>
                </a:solidFill>
                <a:latin typeface="Helvetica Neue"/>
              </a:rPr>
              <a:t>frühe Aufteilung</a:t>
            </a:r>
          </a:p>
          <a:p>
            <a:pPr algn="l">
              <a:lnSpc>
                <a:spcPct val="106000"/>
              </a:lnSpc>
              <a:spcBef>
                <a:spcPts val="0"/>
              </a:spcBef>
              <a:spcAft>
                <a:spcPts val="800"/>
              </a:spcAft>
            </a:pPr>
            <a:r>
              <a:rPr sz="1150" b="1" i="0">
                <a:solidFill>
                  <a:srgbClr val="4FA3D9"/>
                </a:solidFill>
                <a:latin typeface="Helvetica Neue"/>
              </a:rPr>
              <a:t>●  </a:t>
            </a:r>
            <a:r>
              <a:rPr sz="1550" b="0" i="0">
                <a:solidFill>
                  <a:srgbClr val="2E2E38"/>
                </a:solidFill>
                <a:latin typeface="Helvetica Neue"/>
              </a:rPr>
              <a:t>viele Noten &amp; Prüfungen</a:t>
            </a:r>
          </a:p>
        </p:txBody>
      </p:sp>
      <p:sp>
        <p:nvSpPr>
          <p:cNvPr id="12" name="Rounded Rectangle 11"/>
          <p:cNvSpPr/>
          <p:nvPr/>
        </p:nvSpPr>
        <p:spPr>
          <a:xfrm>
            <a:off x="4489704" y="2423160"/>
            <a:ext cx="3456432" cy="3200400"/>
          </a:xfrm>
          <a:prstGeom prst="roundRect">
            <a:avLst>
              <a:gd name="adj" fmla="val 8000"/>
            </a:avLst>
          </a:prstGeom>
          <a:solidFill>
            <a:srgbClr val="FFFFFF"/>
          </a:solidFill>
          <a:ln w="19050">
            <a:solidFill>
              <a:srgbClr val="FFD9E8"/>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82312" y="2724912"/>
            <a:ext cx="502920" cy="502920"/>
          </a:xfrm>
          <a:prstGeom prst="ellipse">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3337560"/>
            <a:ext cx="2953511" cy="914400"/>
          </a:xfrm>
          <a:prstGeom prst="rect">
            <a:avLst/>
          </a:prstGeom>
          <a:noFill/>
        </p:spPr>
        <p:txBody>
          <a:bodyPr wrap="square" anchor="t" lIns="0" rIns="0" tIns="0" bIns="0">
            <a:spAutoFit/>
          </a:bodyPr>
          <a:lstStyle/>
          <a:p>
            <a:pPr algn="l">
              <a:lnSpc>
                <a:spcPct val="98000"/>
              </a:lnSpc>
              <a:spcBef>
                <a:spcPts val="0"/>
              </a:spcBef>
              <a:spcAft>
                <a:spcPts val="0"/>
              </a:spcAft>
            </a:pPr>
            <a:r>
              <a:rPr sz="1900" b="1" i="0">
                <a:solidFill>
                  <a:srgbClr val="2E2E38"/>
                </a:solidFill>
                <a:latin typeface="Helvetica Neue"/>
              </a:rPr>
              <a:t>Finnland</a:t>
            </a:r>
          </a:p>
        </p:txBody>
      </p:sp>
      <p:sp>
        <p:nvSpPr>
          <p:cNvPr id="15" name="TextBox 14"/>
          <p:cNvSpPr txBox="1"/>
          <p:nvPr/>
        </p:nvSpPr>
        <p:spPr>
          <a:xfrm>
            <a:off x="4782312" y="4480560"/>
            <a:ext cx="2907791" cy="1097280"/>
          </a:xfrm>
          <a:prstGeom prst="rect">
            <a:avLst/>
          </a:prstGeom>
          <a:noFill/>
        </p:spPr>
        <p:txBody>
          <a:bodyPr wrap="square" anchor="t" lIns="0" rIns="0" tIns="0" bIns="0">
            <a:spAutoFit/>
          </a:bodyPr>
          <a:lstStyle/>
          <a:p>
            <a:pPr algn="l">
              <a:lnSpc>
                <a:spcPct val="106000"/>
              </a:lnSpc>
              <a:spcBef>
                <a:spcPts val="0"/>
              </a:spcBef>
              <a:spcAft>
                <a:spcPts val="800"/>
              </a:spcAft>
            </a:pPr>
            <a:r>
              <a:rPr sz="1150" b="1" i="0">
                <a:solidFill>
                  <a:srgbClr val="E86FA1"/>
                </a:solidFill>
                <a:latin typeface="Helvetica Neue"/>
              </a:rPr>
              <a:t>●  </a:t>
            </a:r>
            <a:r>
              <a:rPr sz="1550" b="0" i="0">
                <a:solidFill>
                  <a:srgbClr val="2E2E38"/>
                </a:solidFill>
                <a:latin typeface="Helvetica Neue"/>
              </a:rPr>
              <a:t>längeres gemeinsames Lernen</a:t>
            </a:r>
          </a:p>
          <a:p>
            <a:pPr algn="l">
              <a:lnSpc>
                <a:spcPct val="106000"/>
              </a:lnSpc>
              <a:spcBef>
                <a:spcPts val="0"/>
              </a:spcBef>
              <a:spcAft>
                <a:spcPts val="800"/>
              </a:spcAft>
            </a:pPr>
            <a:r>
              <a:rPr sz="1150" b="1" i="0">
                <a:solidFill>
                  <a:srgbClr val="E86FA1"/>
                </a:solidFill>
                <a:latin typeface="Helvetica Neue"/>
              </a:rPr>
              <a:t>●  </a:t>
            </a:r>
            <a:r>
              <a:rPr sz="1550" b="0" i="0">
                <a:solidFill>
                  <a:srgbClr val="2E2E38"/>
                </a:solidFill>
                <a:latin typeface="Helvetica Neue"/>
              </a:rPr>
              <a:t>spätere Leistungsdifferenzierung</a:t>
            </a:r>
          </a:p>
        </p:txBody>
      </p:sp>
      <p:sp>
        <p:nvSpPr>
          <p:cNvPr id="16" name="Rounded Rectangle 15"/>
          <p:cNvSpPr/>
          <p:nvPr/>
        </p:nvSpPr>
        <p:spPr>
          <a:xfrm>
            <a:off x="8110728" y="2423160"/>
            <a:ext cx="3456432" cy="3200400"/>
          </a:xfrm>
          <a:prstGeom prst="roundRect">
            <a:avLst>
              <a:gd name="adj" fmla="val 8000"/>
            </a:avLst>
          </a:prstGeom>
          <a:solidFill>
            <a:srgbClr val="FFFFFF"/>
          </a:solidFill>
          <a:ln w="19050">
            <a:solidFill>
              <a:srgbClr val="FFF7C7"/>
            </a:solid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03336" y="2724912"/>
            <a:ext cx="502920" cy="502920"/>
          </a:xfrm>
          <a:prstGeom prst="ellipse">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3337560"/>
            <a:ext cx="2953511" cy="914400"/>
          </a:xfrm>
          <a:prstGeom prst="rect">
            <a:avLst/>
          </a:prstGeom>
          <a:noFill/>
        </p:spPr>
        <p:txBody>
          <a:bodyPr wrap="square" anchor="t" lIns="0" rIns="0" tIns="0" bIns="0">
            <a:spAutoFit/>
          </a:bodyPr>
          <a:lstStyle/>
          <a:p>
            <a:pPr algn="l">
              <a:lnSpc>
                <a:spcPct val="98000"/>
              </a:lnSpc>
              <a:spcBef>
                <a:spcPts val="0"/>
              </a:spcBef>
              <a:spcAft>
                <a:spcPts val="0"/>
              </a:spcAft>
            </a:pPr>
            <a:r>
              <a:rPr sz="1900" b="1" i="0">
                <a:solidFill>
                  <a:srgbClr val="2E2E38"/>
                </a:solidFill>
                <a:latin typeface="Helvetica Neue"/>
              </a:rPr>
              <a:t>Angelsächsische
Systeme</a:t>
            </a:r>
          </a:p>
        </p:txBody>
      </p:sp>
      <p:sp>
        <p:nvSpPr>
          <p:cNvPr id="19" name="TextBox 18"/>
          <p:cNvSpPr txBox="1"/>
          <p:nvPr/>
        </p:nvSpPr>
        <p:spPr>
          <a:xfrm>
            <a:off x="8403336" y="4480560"/>
            <a:ext cx="2907791" cy="1097280"/>
          </a:xfrm>
          <a:prstGeom prst="rect">
            <a:avLst/>
          </a:prstGeom>
          <a:noFill/>
        </p:spPr>
        <p:txBody>
          <a:bodyPr wrap="square" anchor="t" lIns="0" rIns="0" tIns="0" bIns="0">
            <a:spAutoFit/>
          </a:bodyPr>
          <a:lstStyle/>
          <a:p>
            <a:pPr algn="l">
              <a:lnSpc>
                <a:spcPct val="106000"/>
              </a:lnSpc>
              <a:spcBef>
                <a:spcPts val="0"/>
              </a:spcBef>
              <a:spcAft>
                <a:spcPts val="800"/>
              </a:spcAft>
            </a:pPr>
            <a:r>
              <a:rPr sz="1150" b="1" i="0">
                <a:solidFill>
                  <a:srgbClr val="D9B83A"/>
                </a:solidFill>
                <a:latin typeface="Helvetica Neue"/>
              </a:rPr>
              <a:t>●  </a:t>
            </a:r>
            <a:r>
              <a:rPr sz="1550" b="0" i="0">
                <a:solidFill>
                  <a:srgbClr val="2E2E38"/>
                </a:solidFill>
                <a:latin typeface="Helvetica Neue"/>
              </a:rPr>
              <a:t>mehr Praxis &amp; Projekte</a:t>
            </a:r>
          </a:p>
          <a:p>
            <a:pPr algn="l">
              <a:lnSpc>
                <a:spcPct val="106000"/>
              </a:lnSpc>
              <a:spcBef>
                <a:spcPts val="0"/>
              </a:spcBef>
              <a:spcAft>
                <a:spcPts val="800"/>
              </a:spcAft>
            </a:pPr>
            <a:r>
              <a:rPr sz="1150" b="1" i="0">
                <a:solidFill>
                  <a:srgbClr val="D9B83A"/>
                </a:solidFill>
                <a:latin typeface="Helvetica Neue"/>
              </a:rPr>
              <a:t>●  </a:t>
            </a:r>
            <a:r>
              <a:rPr sz="1550" b="0" i="0">
                <a:solidFill>
                  <a:srgbClr val="2E2E38"/>
                </a:solidFill>
                <a:latin typeface="Helvetica Neue"/>
              </a:rPr>
              <a:t>mehr Wahlmöglichkeiten</a:t>
            </a:r>
          </a:p>
        </p:txBody>
      </p:sp>
      <p:sp>
        <p:nvSpPr>
          <p:cNvPr id="20" name="Rounded Rectangle 19"/>
          <p:cNvSpPr/>
          <p:nvPr/>
        </p:nvSpPr>
        <p:spPr>
          <a:xfrm>
            <a:off x="3108960" y="5943600"/>
            <a:ext cx="5943600" cy="640080"/>
          </a:xfrm>
          <a:prstGeom prst="roundRect">
            <a:avLst>
              <a:gd name="adj" fmla="val 40000"/>
            </a:avLst>
          </a:prstGeom>
          <a:solidFill>
            <a:srgbClr val="D7F2DD"/>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E2E38"/>
                </a:solidFill>
                <a:latin typeface="Helvetica Neue"/>
              </a:rPr>
              <a:t>Kein System ist perfekt.</a:t>
            </a:r>
          </a:p>
        </p:txBody>
      </p:sp>
    </p:spTree>
  </p:cSld>
  <p:clrMapOvr>
    <a:masterClrMapping/>
  </p:clrMapOvr>
  <p:transition xmlns:p14="http://schemas.microsoft.com/office/powerpoint/2010/main" spd="med" p14:dur="700">
    <p:newsflash/>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3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3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80"/>
                                        <p:tgtEl>
                                          <p:spTgt spid="7"/>
                                        </p:tgtEl>
                                      </p:cBhvr>
                                    </p:animEffect>
                                  </p:childTnLst>
                                </p:cTn>
                              </p:par>
                            </p:childTnLst>
                          </p:cTn>
                        </p:par>
                      </p:childTnLst>
                    </p:cTn>
                  </p:par>
                  <p:par>
                    <p:cTn id="18" fill="hold">
                      <p:stCondLst>
                        <p:cond delay="13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480"/>
                                        <p:tgtEl>
                                          <p:spTgt spid="10">
                                            <p:txEl>
                                              <p:pRg st="0" end="0"/>
                                            </p:txEl>
                                          </p:spTgt>
                                        </p:tgtEl>
                                      </p:cBhvr>
                                    </p:animEffect>
                                  </p:childTnLst>
                                </p:cTn>
                              </p:par>
                            </p:childTnLst>
                          </p:cTn>
                        </p:par>
                      </p:childTnLst>
                    </p:cTn>
                  </p:par>
                  <p:par>
                    <p:cTn id="23" fill="hold">
                      <p:stCondLst>
                        <p:cond delay="13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fade">
                                      <p:cBhvr>
                                        <p:cTn id="27" dur="480"/>
                                        <p:tgtEl>
                                          <p:spTgt spid="11">
                                            <p:txEl>
                                              <p:pRg st="0" end="0"/>
                                            </p:txEl>
                                          </p:spTgt>
                                        </p:tgtEl>
                                      </p:cBhvr>
                                    </p:animEffect>
                                  </p:childTnLst>
                                </p:cTn>
                              </p:par>
                            </p:childTnLst>
                          </p:cTn>
                        </p:par>
                      </p:childTnLst>
                    </p:cTn>
                  </p:par>
                  <p:par>
                    <p:cTn id="28" fill="hold">
                      <p:stCondLst>
                        <p:cond delay="13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1">
                                            <p:txEl>
                                              <p:pRg st="1" end="1"/>
                                            </p:txEl>
                                          </p:spTgt>
                                        </p:tgtEl>
                                        <p:attrNameLst>
                                          <p:attrName>style.visibility</p:attrName>
                                        </p:attrNameLst>
                                      </p:cBhvr>
                                      <p:to>
                                        <p:strVal val="visible"/>
                                      </p:to>
                                    </p:set>
                                    <p:animEffect transition="in" filter="fade">
                                      <p:cBhvr>
                                        <p:cTn id="32" dur="480"/>
                                        <p:tgtEl>
                                          <p:spTgt spid="11">
                                            <p:txEl>
                                              <p:pRg st="1" end="1"/>
                                            </p:txEl>
                                          </p:spTgt>
                                        </p:tgtEl>
                                      </p:cBhvr>
                                    </p:animEffect>
                                  </p:childTnLst>
                                </p:cTn>
                              </p:par>
                            </p:childTnLst>
                          </p:cTn>
                        </p:par>
                      </p:childTnLst>
                    </p:cTn>
                  </p:par>
                  <p:par>
                    <p:cTn id="33" fill="hold">
                      <p:stCondLst>
                        <p:cond delay="13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fade">
                                      <p:cBhvr>
                                        <p:cTn id="37" dur="480"/>
                                        <p:tgtEl>
                                          <p:spTgt spid="14">
                                            <p:txEl>
                                              <p:pRg st="0" end="0"/>
                                            </p:txEl>
                                          </p:spTgt>
                                        </p:tgtEl>
                                      </p:cBhvr>
                                    </p:animEffect>
                                  </p:childTnLst>
                                </p:cTn>
                              </p:par>
                            </p:childTnLst>
                          </p:cTn>
                        </p:par>
                      </p:childTnLst>
                    </p:cTn>
                  </p:par>
                  <p:par>
                    <p:cTn id="38" fill="hold">
                      <p:stCondLst>
                        <p:cond delay="13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Effect transition="in" filter="fade">
                                      <p:cBhvr>
                                        <p:cTn id="42" dur="480"/>
                                        <p:tgtEl>
                                          <p:spTgt spid="15">
                                            <p:txEl>
                                              <p:pRg st="0" end="0"/>
                                            </p:txEl>
                                          </p:spTgt>
                                        </p:tgtEl>
                                      </p:cBhvr>
                                    </p:animEffect>
                                  </p:childTnLst>
                                </p:cTn>
                              </p:par>
                            </p:childTnLst>
                          </p:cTn>
                        </p:par>
                      </p:childTnLst>
                    </p:cTn>
                  </p:par>
                  <p:par>
                    <p:cTn id="43" fill="hold">
                      <p:stCondLst>
                        <p:cond delay="13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15">
                                            <p:txEl>
                                              <p:pRg st="1" end="1"/>
                                            </p:txEl>
                                          </p:spTgt>
                                        </p:tgtEl>
                                        <p:attrNameLst>
                                          <p:attrName>style.visibility</p:attrName>
                                        </p:attrNameLst>
                                      </p:cBhvr>
                                      <p:to>
                                        <p:strVal val="visible"/>
                                      </p:to>
                                    </p:set>
                                    <p:animEffect transition="in" filter="fade">
                                      <p:cBhvr>
                                        <p:cTn id="47" dur="480"/>
                                        <p:tgtEl>
                                          <p:spTgt spid="15">
                                            <p:txEl>
                                              <p:pRg st="1" end="1"/>
                                            </p:txEl>
                                          </p:spTgt>
                                        </p:tgtEl>
                                      </p:cBhvr>
                                    </p:animEffect>
                                  </p:childTnLst>
                                </p:cTn>
                              </p:par>
                            </p:childTnLst>
                          </p:cTn>
                        </p:par>
                      </p:childTnLst>
                    </p:cTn>
                  </p:par>
                  <p:par>
                    <p:cTn id="48" fill="hold">
                      <p:stCondLst>
                        <p:cond delay="13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18">
                                            <p:txEl>
                                              <p:pRg st="0" end="0"/>
                                            </p:txEl>
                                          </p:spTgt>
                                        </p:tgtEl>
                                        <p:attrNameLst>
                                          <p:attrName>style.visibility</p:attrName>
                                        </p:attrNameLst>
                                      </p:cBhvr>
                                      <p:to>
                                        <p:strVal val="visible"/>
                                      </p:to>
                                    </p:set>
                                    <p:animEffect transition="in" filter="fade">
                                      <p:cBhvr>
                                        <p:cTn id="52" dur="480"/>
                                        <p:tgtEl>
                                          <p:spTgt spid="18">
                                            <p:txEl>
                                              <p:pRg st="0" end="0"/>
                                            </p:txEl>
                                          </p:spTgt>
                                        </p:tgtEl>
                                      </p:cBhvr>
                                    </p:animEffect>
                                  </p:childTnLst>
                                </p:cTn>
                              </p:par>
                            </p:childTnLst>
                          </p:cTn>
                        </p:par>
                      </p:childTnLst>
                    </p:cTn>
                  </p:par>
                  <p:par>
                    <p:cTn id="53" fill="hold">
                      <p:stCondLst>
                        <p:cond delay="13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19">
                                            <p:txEl>
                                              <p:pRg st="0" end="0"/>
                                            </p:txEl>
                                          </p:spTgt>
                                        </p:tgtEl>
                                        <p:attrNameLst>
                                          <p:attrName>style.visibility</p:attrName>
                                        </p:attrNameLst>
                                      </p:cBhvr>
                                      <p:to>
                                        <p:strVal val="visible"/>
                                      </p:to>
                                    </p:set>
                                    <p:animEffect transition="in" filter="fade">
                                      <p:cBhvr>
                                        <p:cTn id="57" dur="480"/>
                                        <p:tgtEl>
                                          <p:spTgt spid="19">
                                            <p:txEl>
                                              <p:pRg st="0" end="0"/>
                                            </p:txEl>
                                          </p:spTgt>
                                        </p:tgtEl>
                                      </p:cBhvr>
                                    </p:animEffect>
                                  </p:childTnLst>
                                </p:cTn>
                              </p:par>
                            </p:childTnLst>
                          </p:cTn>
                        </p:par>
                      </p:childTnLst>
                    </p:cTn>
                  </p:par>
                  <p:par>
                    <p:cTn id="58" fill="hold">
                      <p:stCondLst>
                        <p:cond delay="13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9">
                                            <p:txEl>
                                              <p:pRg st="1" end="1"/>
                                            </p:txEl>
                                          </p:spTgt>
                                        </p:tgtEl>
                                        <p:attrNameLst>
                                          <p:attrName>style.visibility</p:attrName>
                                        </p:attrNameLst>
                                      </p:cBhvr>
                                      <p:to>
                                        <p:strVal val="visible"/>
                                      </p:to>
                                    </p:set>
                                    <p:animEffect transition="in" filter="fade">
                                      <p:cBhvr>
                                        <p:cTn id="62" dur="480"/>
                                        <p:tgtEl>
                                          <p:spTgt spid="19">
                                            <p:txEl>
                                              <p:pRg st="1" end="1"/>
                                            </p:txEl>
                                          </p:spTgt>
                                        </p:tgtEl>
                                      </p:cBhvr>
                                    </p:animEffect>
                                  </p:childTnLst>
                                </p:cTn>
                              </p:par>
                            </p:childTnLst>
                          </p:cTn>
                        </p:par>
                      </p:childTnLst>
                    </p:cTn>
                  </p:par>
                  <p:par>
                    <p:cTn id="63" fill="hold">
                      <p:stCondLst>
                        <p:cond delay="130"/>
                      </p:stCondLst>
                      <p:childTnLst>
                        <p:par>
                          <p:cTn id="64" fill="hold">
                            <p:stCondLst>
                              <p:cond delay="0"/>
                            </p:stCondLst>
                            <p:childTnLst>
                              <p:par>
                                <p:cTn id="65" presetID="10" presetClass="entr" presetSubtype="0"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8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0" grpId="0" build="p"/>
      <p:bldP spid="11" grpId="0" build="p"/>
      <p:bldP spid="14" grpId="0" build="p"/>
      <p:bldP spid="15" grpId="0" build="p"/>
      <p:bldP spid="18" grpId="0" build="p"/>
      <p:bldP spid="19"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20640" y="-1554480"/>
            <a:ext cx="3108960" cy="3108960"/>
          </a:xfrm>
          <a:prstGeom prst="ellipse">
            <a:avLst/>
          </a:prstGeom>
          <a:solidFill>
            <a:srgbClr val="FFF7C7">
              <a:alpha val="3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566928"/>
            <a:ext cx="1890979" cy="384048"/>
          </a:xfrm>
          <a:prstGeom prst="roundRect">
            <a:avLst>
              <a:gd name="adj" fmla="val 50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Kritische Bewertung</a:t>
            </a:r>
          </a:p>
        </p:txBody>
      </p:sp>
      <p:sp>
        <p:nvSpPr>
          <p:cNvPr id="5" name="TextBox 4"/>
          <p:cNvSpPr txBox="1"/>
          <p:nvPr/>
        </p:nvSpPr>
        <p:spPr>
          <a:xfrm>
            <a:off x="822960" y="987552"/>
            <a:ext cx="9144000" cy="914400"/>
          </a:xfrm>
          <a:prstGeom prst="rect">
            <a:avLst/>
          </a:prstGeom>
          <a:noFill/>
        </p:spPr>
        <p:txBody>
          <a:bodyPr wrap="square" anchor="t" lIns="0" rIns="0" tIns="0" bIns="0">
            <a:spAutoFit/>
          </a:bodyPr>
          <a:lstStyle/>
          <a:p>
            <a:pPr algn="l">
              <a:lnSpc>
                <a:spcPct val="105000"/>
              </a:lnSpc>
              <a:spcBef>
                <a:spcPts val="0"/>
              </a:spcBef>
              <a:spcAft>
                <a:spcPts val="0"/>
              </a:spcAft>
            </a:pPr>
            <a:r>
              <a:rPr sz="4000" b="1" i="0">
                <a:solidFill>
                  <a:srgbClr val="2E2E38"/>
                </a:solidFill>
                <a:latin typeface="Helvetica Neue"/>
              </a:rPr>
              <a:t>Stärken und Schwächen</a:t>
            </a:r>
          </a:p>
        </p:txBody>
      </p:sp>
      <p:sp>
        <p:nvSpPr>
          <p:cNvPr id="6" name="Rounded Rectangle 5"/>
          <p:cNvSpPr/>
          <p:nvPr/>
        </p:nvSpPr>
        <p:spPr>
          <a:xfrm>
            <a:off x="868680" y="2240280"/>
            <a:ext cx="5074920" cy="3840480"/>
          </a:xfrm>
          <a:prstGeom prst="roundRect">
            <a:avLst>
              <a:gd name="adj" fmla="val 6000"/>
            </a:avLst>
          </a:prstGeom>
          <a:solidFill>
            <a:srgbClr val="D7F2DD"/>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560320"/>
            <a:ext cx="4389120" cy="640080"/>
          </a:xfrm>
          <a:prstGeom prst="rect">
            <a:avLst/>
          </a:prstGeom>
          <a:noFill/>
        </p:spPr>
        <p:txBody>
          <a:bodyPr wrap="square" anchor="t" lIns="0" rIns="0" tIns="0" bIns="0">
            <a:spAutoFit/>
          </a:bodyPr>
          <a:lstStyle/>
          <a:p>
            <a:pPr algn="l">
              <a:lnSpc>
                <a:spcPct val="105000"/>
              </a:lnSpc>
              <a:spcBef>
                <a:spcPts val="0"/>
              </a:spcBef>
              <a:spcAft>
                <a:spcPts val="0"/>
              </a:spcAft>
            </a:pPr>
            <a:r>
              <a:rPr sz="2400" b="1" i="0">
                <a:solidFill>
                  <a:srgbClr val="55B077"/>
                </a:solidFill>
                <a:latin typeface="Helvetica Neue"/>
              </a:rPr>
              <a:t>✓  Stärken</a:t>
            </a:r>
          </a:p>
        </p:txBody>
      </p:sp>
      <p:sp>
        <p:nvSpPr>
          <p:cNvPr id="8" name="TextBox 7"/>
          <p:cNvSpPr txBox="1"/>
          <p:nvPr/>
        </p:nvSpPr>
        <p:spPr>
          <a:xfrm>
            <a:off x="1280160" y="3429000"/>
            <a:ext cx="4434840" cy="2468880"/>
          </a:xfrm>
          <a:prstGeom prst="rect">
            <a:avLst/>
          </a:prstGeom>
          <a:noFill/>
        </p:spPr>
        <p:txBody>
          <a:bodyPr wrap="square" anchor="t" lIns="0" rIns="0" tIns="0" bIns="0">
            <a:spAutoFit/>
          </a:bodyPr>
          <a:lstStyle/>
          <a:p>
            <a:pPr algn="l">
              <a:lnSpc>
                <a:spcPct val="106000"/>
              </a:lnSpc>
              <a:spcBef>
                <a:spcPts val="0"/>
              </a:spcBef>
              <a:spcAft>
                <a:spcPts val="1400"/>
              </a:spcAft>
            </a:pPr>
            <a:r>
              <a:rPr sz="1500" b="1" i="0">
                <a:solidFill>
                  <a:srgbClr val="55B077"/>
                </a:solidFill>
                <a:latin typeface="Helvetica Neue"/>
              </a:rPr>
              <a:t>●  </a:t>
            </a:r>
            <a:r>
              <a:rPr sz="1900" b="0" i="0">
                <a:solidFill>
                  <a:srgbClr val="2E2E38"/>
                </a:solidFill>
                <a:latin typeface="Helvetica Neue"/>
              </a:rPr>
              <a:t>verschiedene Bildungswege</a:t>
            </a:r>
          </a:p>
          <a:p>
            <a:pPr algn="l">
              <a:lnSpc>
                <a:spcPct val="106000"/>
              </a:lnSpc>
              <a:spcBef>
                <a:spcPts val="0"/>
              </a:spcBef>
              <a:spcAft>
                <a:spcPts val="1400"/>
              </a:spcAft>
            </a:pPr>
            <a:r>
              <a:rPr sz="1500" b="1" i="0">
                <a:solidFill>
                  <a:srgbClr val="55B077"/>
                </a:solidFill>
                <a:latin typeface="Helvetica Neue"/>
              </a:rPr>
              <a:t>●  </a:t>
            </a:r>
            <a:r>
              <a:rPr sz="1900" b="0" i="0">
                <a:solidFill>
                  <a:srgbClr val="2E2E38"/>
                </a:solidFill>
                <a:latin typeface="Helvetica Neue"/>
              </a:rPr>
              <a:t>duales Ausbildungssystem</a:t>
            </a:r>
          </a:p>
          <a:p>
            <a:pPr algn="l">
              <a:lnSpc>
                <a:spcPct val="106000"/>
              </a:lnSpc>
              <a:spcBef>
                <a:spcPts val="0"/>
              </a:spcBef>
              <a:spcAft>
                <a:spcPts val="0"/>
              </a:spcAft>
            </a:pPr>
            <a:r>
              <a:rPr sz="1500" b="1" i="0">
                <a:solidFill>
                  <a:srgbClr val="55B077"/>
                </a:solidFill>
                <a:latin typeface="Helvetica Neue"/>
              </a:rPr>
              <a:t>●  </a:t>
            </a:r>
            <a:r>
              <a:rPr sz="1900" b="0" i="0">
                <a:solidFill>
                  <a:srgbClr val="2E2E38"/>
                </a:solidFill>
                <a:latin typeface="Helvetica Neue"/>
              </a:rPr>
              <a:t>hohe akademische Standards</a:t>
            </a:r>
          </a:p>
        </p:txBody>
      </p:sp>
      <p:sp>
        <p:nvSpPr>
          <p:cNvPr id="9" name="Rounded Rectangle 8"/>
          <p:cNvSpPr/>
          <p:nvPr/>
        </p:nvSpPr>
        <p:spPr>
          <a:xfrm>
            <a:off x="6263640" y="2240280"/>
            <a:ext cx="5074920" cy="3840480"/>
          </a:xfrm>
          <a:prstGeom prst="roundRect">
            <a:avLst>
              <a:gd name="adj" fmla="val 6000"/>
            </a:avLst>
          </a:prstGeom>
          <a:solidFill>
            <a:srgbClr val="FFD9E8"/>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2560320"/>
            <a:ext cx="4389120" cy="640080"/>
          </a:xfrm>
          <a:prstGeom prst="rect">
            <a:avLst/>
          </a:prstGeom>
          <a:noFill/>
        </p:spPr>
        <p:txBody>
          <a:bodyPr wrap="square" anchor="t" lIns="0" rIns="0" tIns="0" bIns="0">
            <a:spAutoFit/>
          </a:bodyPr>
          <a:lstStyle/>
          <a:p>
            <a:pPr algn="l">
              <a:lnSpc>
                <a:spcPct val="105000"/>
              </a:lnSpc>
              <a:spcBef>
                <a:spcPts val="0"/>
              </a:spcBef>
              <a:spcAft>
                <a:spcPts val="0"/>
              </a:spcAft>
            </a:pPr>
            <a:r>
              <a:rPr sz="2400" b="1" i="0">
                <a:solidFill>
                  <a:srgbClr val="E86FA1"/>
                </a:solidFill>
                <a:latin typeface="Helvetica Neue"/>
              </a:rPr>
              <a:t>✕  Schwächen</a:t>
            </a:r>
          </a:p>
        </p:txBody>
      </p:sp>
      <p:sp>
        <p:nvSpPr>
          <p:cNvPr id="11" name="TextBox 10"/>
          <p:cNvSpPr txBox="1"/>
          <p:nvPr/>
        </p:nvSpPr>
        <p:spPr>
          <a:xfrm>
            <a:off x="6675120" y="3429000"/>
            <a:ext cx="4434840" cy="2468880"/>
          </a:xfrm>
          <a:prstGeom prst="rect">
            <a:avLst/>
          </a:prstGeom>
          <a:noFill/>
        </p:spPr>
        <p:txBody>
          <a:bodyPr wrap="square" anchor="t" lIns="0" rIns="0" tIns="0" bIns="0">
            <a:spAutoFit/>
          </a:bodyPr>
          <a:lstStyle/>
          <a:p>
            <a:pPr algn="l">
              <a:lnSpc>
                <a:spcPct val="106000"/>
              </a:lnSpc>
              <a:spcBef>
                <a:spcPts val="0"/>
              </a:spcBef>
              <a:spcAft>
                <a:spcPts val="1400"/>
              </a:spcAft>
            </a:pPr>
            <a:r>
              <a:rPr sz="1500" b="1" i="0">
                <a:solidFill>
                  <a:srgbClr val="E86FA1"/>
                </a:solidFill>
                <a:latin typeface="Helvetica Neue"/>
              </a:rPr>
              <a:t>●  </a:t>
            </a:r>
            <a:r>
              <a:rPr sz="1900" b="0" i="0">
                <a:solidFill>
                  <a:srgbClr val="2E2E38"/>
                </a:solidFill>
                <a:latin typeface="Helvetica Neue"/>
              </a:rPr>
              <a:t>frühe Selektion</a:t>
            </a:r>
          </a:p>
          <a:p>
            <a:pPr algn="l">
              <a:lnSpc>
                <a:spcPct val="106000"/>
              </a:lnSpc>
              <a:spcBef>
                <a:spcPts val="0"/>
              </a:spcBef>
              <a:spcAft>
                <a:spcPts val="1400"/>
              </a:spcAft>
            </a:pPr>
            <a:r>
              <a:rPr sz="1500" b="1" i="0">
                <a:solidFill>
                  <a:srgbClr val="E86FA1"/>
                </a:solidFill>
                <a:latin typeface="Helvetica Neue"/>
              </a:rPr>
              <a:t>●  </a:t>
            </a:r>
            <a:r>
              <a:rPr sz="1900" b="0" i="0">
                <a:solidFill>
                  <a:srgbClr val="2E2E38"/>
                </a:solidFill>
                <a:latin typeface="Helvetica Neue"/>
              </a:rPr>
              <a:t>Leistungsdruck</a:t>
            </a:r>
          </a:p>
          <a:p>
            <a:pPr algn="l">
              <a:lnSpc>
                <a:spcPct val="106000"/>
              </a:lnSpc>
              <a:spcBef>
                <a:spcPts val="0"/>
              </a:spcBef>
              <a:spcAft>
                <a:spcPts val="0"/>
              </a:spcAft>
            </a:pPr>
            <a:r>
              <a:rPr sz="1500" b="1" i="0">
                <a:solidFill>
                  <a:srgbClr val="E86FA1"/>
                </a:solidFill>
                <a:latin typeface="Helvetica Neue"/>
              </a:rPr>
              <a:t>●  </a:t>
            </a:r>
            <a:r>
              <a:rPr sz="1900" b="0" i="0">
                <a:solidFill>
                  <a:srgbClr val="2E2E38"/>
                </a:solidFill>
                <a:latin typeface="Helvetica Neue"/>
              </a:rPr>
              <a:t>soziale Ungleichheiten</a:t>
            </a:r>
          </a:p>
        </p:txBody>
      </p:sp>
    </p:spTree>
  </p:cSld>
  <p:clrMapOvr>
    <a:masterClrMapping/>
  </p:clrMapOvr>
  <p:transition xmlns:p14="http://schemas.microsoft.com/office/powerpoint/2010/main" spd="med" p14:dur="700">
    <p:pull dir="r"/>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80"/>
                                        <p:tgtEl>
                                          <p:spTgt spid="4"/>
                                        </p:tgtEl>
                                      </p:cBhvr>
                                    </p:animEffect>
                                  </p:childTnLst>
                                </p:cTn>
                              </p:par>
                            </p:childTnLst>
                          </p:cTn>
                        </p:par>
                      </p:childTnLst>
                    </p:cTn>
                  </p:par>
                  <p:par>
                    <p:cTn id="8" fill="hold">
                      <p:stCondLst>
                        <p:cond delay="13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480"/>
                                        <p:tgtEl>
                                          <p:spTgt spid="5">
                                            <p:txEl>
                                              <p:pRg st="0" end="0"/>
                                            </p:txEl>
                                          </p:spTgt>
                                        </p:tgtEl>
                                      </p:cBhvr>
                                    </p:animEffect>
                                  </p:childTnLst>
                                </p:cTn>
                              </p:par>
                            </p:childTnLst>
                          </p:cTn>
                        </p:par>
                      </p:childTnLst>
                    </p:cTn>
                  </p:par>
                  <p:par>
                    <p:cTn id="13" fill="hold">
                      <p:stCondLst>
                        <p:cond delay="13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80"/>
                                        <p:tgtEl>
                                          <p:spTgt spid="6"/>
                                        </p:tgtEl>
                                      </p:cBhvr>
                                    </p:animEffect>
                                  </p:childTnLst>
                                </p:cTn>
                              </p:par>
                            </p:childTnLst>
                          </p:cTn>
                        </p:par>
                      </p:childTnLst>
                    </p:cTn>
                  </p:par>
                  <p:par>
                    <p:cTn id="18" fill="hold">
                      <p:stCondLst>
                        <p:cond delay="13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480"/>
                                        <p:tgtEl>
                                          <p:spTgt spid="7">
                                            <p:txEl>
                                              <p:pRg st="0" end="0"/>
                                            </p:txEl>
                                          </p:spTgt>
                                        </p:tgtEl>
                                      </p:cBhvr>
                                    </p:animEffect>
                                  </p:childTnLst>
                                </p:cTn>
                              </p:par>
                            </p:childTnLst>
                          </p:cTn>
                        </p:par>
                      </p:childTnLst>
                    </p:cTn>
                  </p:par>
                  <p:par>
                    <p:cTn id="23" fill="hold">
                      <p:stCondLst>
                        <p:cond delay="13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480"/>
                                        <p:tgtEl>
                                          <p:spTgt spid="8">
                                            <p:txEl>
                                              <p:pRg st="0" end="0"/>
                                            </p:txEl>
                                          </p:spTgt>
                                        </p:tgtEl>
                                      </p:cBhvr>
                                    </p:animEffect>
                                  </p:childTnLst>
                                </p:cTn>
                              </p:par>
                            </p:childTnLst>
                          </p:cTn>
                        </p:par>
                      </p:childTnLst>
                    </p:cTn>
                  </p:par>
                  <p:par>
                    <p:cTn id="28" fill="hold">
                      <p:stCondLst>
                        <p:cond delay="13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480"/>
                                        <p:tgtEl>
                                          <p:spTgt spid="8">
                                            <p:txEl>
                                              <p:pRg st="1" end="1"/>
                                            </p:txEl>
                                          </p:spTgt>
                                        </p:tgtEl>
                                      </p:cBhvr>
                                    </p:animEffect>
                                  </p:childTnLst>
                                </p:cTn>
                              </p:par>
                            </p:childTnLst>
                          </p:cTn>
                        </p:par>
                      </p:childTnLst>
                    </p:cTn>
                  </p:par>
                  <p:par>
                    <p:cTn id="33" fill="hold">
                      <p:stCondLst>
                        <p:cond delay="13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fade">
                                      <p:cBhvr>
                                        <p:cTn id="37" dur="480"/>
                                        <p:tgtEl>
                                          <p:spTgt spid="8">
                                            <p:txEl>
                                              <p:pRg st="2" end="2"/>
                                            </p:txEl>
                                          </p:spTgt>
                                        </p:tgtEl>
                                      </p:cBhvr>
                                    </p:animEffect>
                                  </p:childTnLst>
                                </p:cTn>
                              </p:par>
                            </p:childTnLst>
                          </p:cTn>
                        </p:par>
                      </p:childTnLst>
                    </p:cTn>
                  </p:par>
                  <p:par>
                    <p:cTn id="38" fill="hold">
                      <p:stCondLst>
                        <p:cond delay="13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80"/>
                                        <p:tgtEl>
                                          <p:spTgt spid="9"/>
                                        </p:tgtEl>
                                      </p:cBhvr>
                                    </p:animEffect>
                                  </p:childTnLst>
                                </p:cTn>
                              </p:par>
                            </p:childTnLst>
                          </p:cTn>
                        </p:par>
                      </p:childTnLst>
                    </p:cTn>
                  </p:par>
                  <p:par>
                    <p:cTn id="43" fill="hold">
                      <p:stCondLst>
                        <p:cond delay="13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10">
                                            <p:txEl>
                                              <p:pRg st="0" end="0"/>
                                            </p:txEl>
                                          </p:spTgt>
                                        </p:tgtEl>
                                        <p:attrNameLst>
                                          <p:attrName>style.visibility</p:attrName>
                                        </p:attrNameLst>
                                      </p:cBhvr>
                                      <p:to>
                                        <p:strVal val="visible"/>
                                      </p:to>
                                    </p:set>
                                    <p:animEffect transition="in" filter="fade">
                                      <p:cBhvr>
                                        <p:cTn id="47" dur="480"/>
                                        <p:tgtEl>
                                          <p:spTgt spid="10">
                                            <p:txEl>
                                              <p:pRg st="0" end="0"/>
                                            </p:txEl>
                                          </p:spTgt>
                                        </p:tgtEl>
                                      </p:cBhvr>
                                    </p:animEffect>
                                  </p:childTnLst>
                                </p:cTn>
                              </p:par>
                            </p:childTnLst>
                          </p:cTn>
                        </p:par>
                      </p:childTnLst>
                    </p:cTn>
                  </p:par>
                  <p:par>
                    <p:cTn id="48" fill="hold">
                      <p:stCondLst>
                        <p:cond delay="13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11">
                                            <p:txEl>
                                              <p:pRg st="0" end="0"/>
                                            </p:txEl>
                                          </p:spTgt>
                                        </p:tgtEl>
                                        <p:attrNameLst>
                                          <p:attrName>style.visibility</p:attrName>
                                        </p:attrNameLst>
                                      </p:cBhvr>
                                      <p:to>
                                        <p:strVal val="visible"/>
                                      </p:to>
                                    </p:set>
                                    <p:animEffect transition="in" filter="fade">
                                      <p:cBhvr>
                                        <p:cTn id="52" dur="480"/>
                                        <p:tgtEl>
                                          <p:spTgt spid="11">
                                            <p:txEl>
                                              <p:pRg st="0" end="0"/>
                                            </p:txEl>
                                          </p:spTgt>
                                        </p:tgtEl>
                                      </p:cBhvr>
                                    </p:animEffect>
                                  </p:childTnLst>
                                </p:cTn>
                              </p:par>
                            </p:childTnLst>
                          </p:cTn>
                        </p:par>
                      </p:childTnLst>
                    </p:cTn>
                  </p:par>
                  <p:par>
                    <p:cTn id="53" fill="hold">
                      <p:stCondLst>
                        <p:cond delay="13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11">
                                            <p:txEl>
                                              <p:pRg st="1" end="1"/>
                                            </p:txEl>
                                          </p:spTgt>
                                        </p:tgtEl>
                                        <p:attrNameLst>
                                          <p:attrName>style.visibility</p:attrName>
                                        </p:attrNameLst>
                                      </p:cBhvr>
                                      <p:to>
                                        <p:strVal val="visible"/>
                                      </p:to>
                                    </p:set>
                                    <p:animEffect transition="in" filter="fade">
                                      <p:cBhvr>
                                        <p:cTn id="57" dur="480"/>
                                        <p:tgtEl>
                                          <p:spTgt spid="11">
                                            <p:txEl>
                                              <p:pRg st="1" end="1"/>
                                            </p:txEl>
                                          </p:spTgt>
                                        </p:tgtEl>
                                      </p:cBhvr>
                                    </p:animEffect>
                                  </p:childTnLst>
                                </p:cTn>
                              </p:par>
                            </p:childTnLst>
                          </p:cTn>
                        </p:par>
                      </p:childTnLst>
                    </p:cTn>
                  </p:par>
                  <p:par>
                    <p:cTn id="58" fill="hold">
                      <p:stCondLst>
                        <p:cond delay="13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1">
                                            <p:txEl>
                                              <p:pRg st="2" end="2"/>
                                            </p:txEl>
                                          </p:spTgt>
                                        </p:tgtEl>
                                        <p:attrNameLst>
                                          <p:attrName>style.visibility</p:attrName>
                                        </p:attrNameLst>
                                      </p:cBhvr>
                                      <p:to>
                                        <p:strVal val="visible"/>
                                      </p:to>
                                    </p:set>
                                    <p:animEffect transition="in" filter="fade">
                                      <p:cBhvr>
                                        <p:cTn id="62" dur="48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8" grpId="0" build="p"/>
      <p:bldP spid="10" grpId="0" build="p"/>
      <p:bldP spid="11"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206240"/>
            <a:ext cx="3108960" cy="3108960"/>
          </a:xfrm>
          <a:prstGeom prst="ellipse">
            <a:avLst/>
          </a:prstGeom>
          <a:solidFill>
            <a:srgbClr val="CFEFFF">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1280160"/>
            <a:ext cx="2926080" cy="2926080"/>
          </a:xfrm>
          <a:prstGeom prst="ellipse">
            <a:avLst/>
          </a:prstGeom>
          <a:solidFill>
            <a:srgbClr val="FFD9E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548640"/>
            <a:ext cx="1554480" cy="384048"/>
          </a:xfrm>
          <a:prstGeom prst="roundRect">
            <a:avLst>
              <a:gd name="adj" fmla="val 50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Blick nach vorn</a:t>
            </a:r>
          </a:p>
        </p:txBody>
      </p:sp>
      <p:sp>
        <p:nvSpPr>
          <p:cNvPr id="6" name="TextBox 5"/>
          <p:cNvSpPr txBox="1"/>
          <p:nvPr/>
        </p:nvSpPr>
        <p:spPr>
          <a:xfrm>
            <a:off x="822960" y="969264"/>
            <a:ext cx="7772400" cy="914400"/>
          </a:xfrm>
          <a:prstGeom prst="rect">
            <a:avLst/>
          </a:prstGeom>
          <a:noFill/>
        </p:spPr>
        <p:txBody>
          <a:bodyPr wrap="square" anchor="t" lIns="0" rIns="0" tIns="0" bIns="0">
            <a:spAutoFit/>
          </a:bodyPr>
          <a:lstStyle/>
          <a:p>
            <a:pPr algn="l">
              <a:lnSpc>
                <a:spcPct val="105000"/>
              </a:lnSpc>
              <a:spcBef>
                <a:spcPts val="0"/>
              </a:spcBef>
              <a:spcAft>
                <a:spcPts val="0"/>
              </a:spcAft>
            </a:pPr>
            <a:r>
              <a:rPr sz="4000" b="1" i="0">
                <a:solidFill>
                  <a:srgbClr val="2E2E38"/>
                </a:solidFill>
                <a:latin typeface="Helvetica Neue"/>
              </a:rPr>
              <a:t>Reformansätze</a:t>
            </a:r>
          </a:p>
        </p:txBody>
      </p:sp>
      <p:pic>
        <p:nvPicPr>
          <p:cNvPr id="7" name="Picture 6" descr="future_arrow.png"/>
          <p:cNvPicPr>
            <a:picLocks noChangeAspect="1"/>
          </p:cNvPicPr>
          <p:nvPr/>
        </p:nvPicPr>
        <p:blipFill>
          <a:blip r:embed="rId2"/>
          <a:stretch>
            <a:fillRect/>
          </a:stretch>
        </p:blipFill>
        <p:spPr>
          <a:xfrm>
            <a:off x="8823960" y="411480"/>
            <a:ext cx="2971800" cy="1981200"/>
          </a:xfrm>
          <a:prstGeom prst="rect">
            <a:avLst/>
          </a:prstGeom>
        </p:spPr>
      </p:pic>
      <p:sp>
        <p:nvSpPr>
          <p:cNvPr id="8" name="Oval 7"/>
          <p:cNvSpPr/>
          <p:nvPr/>
        </p:nvSpPr>
        <p:spPr>
          <a:xfrm>
            <a:off x="1554480" y="2514600"/>
            <a:ext cx="2377440" cy="2377440"/>
          </a:xfrm>
          <a:prstGeom prst="ellipse">
            <a:avLst/>
          </a:prstGeom>
          <a:solidFill>
            <a:srgbClr val="CFEFFF"/>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500" b="1">
                <a:solidFill>
                  <a:srgbClr val="2E2E38"/>
                </a:solidFill>
                <a:latin typeface="Helvetica Neue"/>
              </a:rPr>
              <a:t>Mehr
Lebens-
kompetenzen</a:t>
            </a:r>
          </a:p>
        </p:txBody>
      </p:sp>
      <p:sp>
        <p:nvSpPr>
          <p:cNvPr id="9" name="TextBox 8"/>
          <p:cNvSpPr txBox="1"/>
          <p:nvPr/>
        </p:nvSpPr>
        <p:spPr>
          <a:xfrm>
            <a:off x="1143000" y="5166360"/>
            <a:ext cx="3200400" cy="1280160"/>
          </a:xfrm>
          <a:prstGeom prst="rect">
            <a:avLst/>
          </a:prstGeom>
          <a:noFill/>
        </p:spPr>
        <p:txBody>
          <a:bodyPr wrap="square" anchor="t" lIns="0" rIns="0" tIns="0" bIns="0">
            <a:spAutoFit/>
          </a:bodyPr>
          <a:lstStyle/>
          <a:p>
            <a:pPr algn="ctr">
              <a:lnSpc>
                <a:spcPct val="110000"/>
              </a:lnSpc>
              <a:spcBef>
                <a:spcPts val="0"/>
              </a:spcBef>
              <a:spcAft>
                <a:spcPts val="0"/>
              </a:spcAft>
            </a:pPr>
            <a:r>
              <a:rPr sz="1500" b="0" i="0">
                <a:solidFill>
                  <a:srgbClr val="6C6C78"/>
                </a:solidFill>
                <a:latin typeface="Helvetica Neue"/>
              </a:rPr>
              <a:t>Finanzbildung, Medien- und Alltagskompetenzen im Lehrplan.</a:t>
            </a:r>
          </a:p>
        </p:txBody>
      </p:sp>
      <p:sp>
        <p:nvSpPr>
          <p:cNvPr id="10" name="Oval 9"/>
          <p:cNvSpPr/>
          <p:nvPr/>
        </p:nvSpPr>
        <p:spPr>
          <a:xfrm>
            <a:off x="5257800" y="2514600"/>
            <a:ext cx="2377440" cy="2377440"/>
          </a:xfrm>
          <a:prstGeom prst="ellipse">
            <a:avLst/>
          </a:prstGeom>
          <a:solidFill>
            <a:srgbClr val="FFD9E8"/>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500" b="1">
                <a:solidFill>
                  <a:srgbClr val="2E2E38"/>
                </a:solidFill>
                <a:latin typeface="Helvetica Neue"/>
              </a:rPr>
              <a:t>Spätere
Differen-
zierung</a:t>
            </a:r>
          </a:p>
        </p:txBody>
      </p:sp>
      <p:sp>
        <p:nvSpPr>
          <p:cNvPr id="11" name="TextBox 10"/>
          <p:cNvSpPr txBox="1"/>
          <p:nvPr/>
        </p:nvSpPr>
        <p:spPr>
          <a:xfrm>
            <a:off x="4846320" y="5166360"/>
            <a:ext cx="3200400" cy="1280160"/>
          </a:xfrm>
          <a:prstGeom prst="rect">
            <a:avLst/>
          </a:prstGeom>
          <a:noFill/>
        </p:spPr>
        <p:txBody>
          <a:bodyPr wrap="square" anchor="t" lIns="0" rIns="0" tIns="0" bIns="0">
            <a:spAutoFit/>
          </a:bodyPr>
          <a:lstStyle/>
          <a:p>
            <a:pPr algn="ctr">
              <a:lnSpc>
                <a:spcPct val="110000"/>
              </a:lnSpc>
              <a:spcBef>
                <a:spcPts val="0"/>
              </a:spcBef>
              <a:spcAft>
                <a:spcPts val="0"/>
              </a:spcAft>
            </a:pPr>
            <a:r>
              <a:rPr sz="1500" b="0" i="0">
                <a:solidFill>
                  <a:srgbClr val="6C6C78"/>
                </a:solidFill>
                <a:latin typeface="Helvetica Neue"/>
              </a:rPr>
              <a:t>Länger gemeinsam lernen – mehr Zeit zur Entwicklung.</a:t>
            </a:r>
          </a:p>
        </p:txBody>
      </p:sp>
      <p:sp>
        <p:nvSpPr>
          <p:cNvPr id="12" name="Oval 11"/>
          <p:cNvSpPr/>
          <p:nvPr/>
        </p:nvSpPr>
        <p:spPr>
          <a:xfrm>
            <a:off x="8961119" y="2514600"/>
            <a:ext cx="2377440" cy="2377440"/>
          </a:xfrm>
          <a:prstGeom prst="ellipse">
            <a:avLst/>
          </a:prstGeom>
          <a:solidFill>
            <a:srgbClr val="FFF7C7"/>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500" b="1">
                <a:solidFill>
                  <a:srgbClr val="2E2E38"/>
                </a:solidFill>
                <a:latin typeface="Helvetica Neue"/>
              </a:rPr>
              <a:t>Alternative
Bewertung</a:t>
            </a:r>
          </a:p>
        </p:txBody>
      </p:sp>
      <p:sp>
        <p:nvSpPr>
          <p:cNvPr id="13" name="TextBox 12"/>
          <p:cNvSpPr txBox="1"/>
          <p:nvPr/>
        </p:nvSpPr>
        <p:spPr>
          <a:xfrm>
            <a:off x="8549640" y="5166360"/>
            <a:ext cx="3200400" cy="1280160"/>
          </a:xfrm>
          <a:prstGeom prst="rect">
            <a:avLst/>
          </a:prstGeom>
          <a:noFill/>
        </p:spPr>
        <p:txBody>
          <a:bodyPr wrap="square" anchor="t" lIns="0" rIns="0" tIns="0" bIns="0">
            <a:spAutoFit/>
          </a:bodyPr>
          <a:lstStyle/>
          <a:p>
            <a:pPr algn="ctr">
              <a:lnSpc>
                <a:spcPct val="110000"/>
              </a:lnSpc>
              <a:spcBef>
                <a:spcPts val="0"/>
              </a:spcBef>
              <a:spcAft>
                <a:spcPts val="0"/>
              </a:spcAft>
            </a:pPr>
            <a:r>
              <a:rPr sz="1500" b="0" i="0">
                <a:solidFill>
                  <a:srgbClr val="6C6C78"/>
                </a:solidFill>
                <a:latin typeface="Helvetica Neue"/>
              </a:rPr>
              <a:t>Lernfeedback, Portfolio- und projektbasierte Bewertung.</a:t>
            </a:r>
          </a:p>
        </p:txBody>
      </p:sp>
    </p:spTree>
  </p:cSld>
  <p:clrMapOvr>
    <a:masterClrMapping/>
  </p:clrMapOvr>
  <p:transition xmlns:p14="http://schemas.microsoft.com/office/powerpoint/2010/main" spd="med" p14:dur="700">
    <p:wheel spokes="2"/>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80"/>
                                        <p:tgtEl>
                                          <p:spTgt spid="5"/>
                                        </p:tgtEl>
                                      </p:cBhvr>
                                    </p:animEffect>
                                  </p:childTnLst>
                                </p:cTn>
                              </p:par>
                            </p:childTnLst>
                          </p:cTn>
                        </p:par>
                      </p:childTnLst>
                    </p:cTn>
                  </p:par>
                  <p:par>
                    <p:cTn id="8" fill="hold">
                      <p:stCondLst>
                        <p:cond delay="15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480"/>
                                        <p:tgtEl>
                                          <p:spTgt spid="6">
                                            <p:txEl>
                                              <p:pRg st="0" end="0"/>
                                            </p:txEl>
                                          </p:spTgt>
                                        </p:tgtEl>
                                      </p:cBhvr>
                                    </p:animEffect>
                                  </p:childTnLst>
                                </p:cTn>
                              </p:par>
                            </p:childTnLst>
                          </p:cTn>
                        </p:par>
                      </p:childTnLst>
                    </p:cTn>
                  </p:par>
                  <p:par>
                    <p:cTn id="13" fill="hold">
                      <p:stCondLst>
                        <p:cond delay="15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80"/>
                                        <p:tgtEl>
                                          <p:spTgt spid="7"/>
                                        </p:tgtEl>
                                      </p:cBhvr>
                                    </p:animEffect>
                                  </p:childTnLst>
                                </p:cTn>
                              </p:par>
                            </p:childTnLst>
                          </p:cTn>
                        </p:par>
                      </p:childTnLst>
                    </p:cTn>
                  </p:par>
                  <p:par>
                    <p:cTn id="18" fill="hold">
                      <p:stCondLst>
                        <p:cond delay="15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80"/>
                                        <p:tgtEl>
                                          <p:spTgt spid="8"/>
                                        </p:tgtEl>
                                      </p:cBhvr>
                                    </p:animEffect>
                                  </p:childTnLst>
                                </p:cTn>
                              </p:par>
                            </p:childTnLst>
                          </p:cTn>
                        </p:par>
                      </p:childTnLst>
                    </p:cTn>
                  </p:par>
                  <p:par>
                    <p:cTn id="23" fill="hold">
                      <p:stCondLst>
                        <p:cond delay="15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480"/>
                                        <p:tgtEl>
                                          <p:spTgt spid="9">
                                            <p:txEl>
                                              <p:pRg st="0" end="0"/>
                                            </p:txEl>
                                          </p:spTgt>
                                        </p:tgtEl>
                                      </p:cBhvr>
                                    </p:animEffect>
                                  </p:childTnLst>
                                </p:cTn>
                              </p:par>
                            </p:childTnLst>
                          </p:cTn>
                        </p:par>
                      </p:childTnLst>
                    </p:cTn>
                  </p:par>
                  <p:par>
                    <p:cTn id="28" fill="hold">
                      <p:stCondLst>
                        <p:cond delay="15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80"/>
                                        <p:tgtEl>
                                          <p:spTgt spid="10"/>
                                        </p:tgtEl>
                                      </p:cBhvr>
                                    </p:animEffect>
                                  </p:childTnLst>
                                </p:cTn>
                              </p:par>
                            </p:childTnLst>
                          </p:cTn>
                        </p:par>
                      </p:childTnLst>
                    </p:cTn>
                  </p:par>
                  <p:par>
                    <p:cTn id="33" fill="hold">
                      <p:stCondLst>
                        <p:cond delay="15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480"/>
                                        <p:tgtEl>
                                          <p:spTgt spid="11">
                                            <p:txEl>
                                              <p:pRg st="0" end="0"/>
                                            </p:txEl>
                                          </p:spTgt>
                                        </p:tgtEl>
                                      </p:cBhvr>
                                    </p:animEffect>
                                  </p:childTnLst>
                                </p:cTn>
                              </p:par>
                            </p:childTnLst>
                          </p:cTn>
                        </p:par>
                      </p:childTnLst>
                    </p:cTn>
                  </p:par>
                  <p:par>
                    <p:cTn id="38" fill="hold">
                      <p:stCondLst>
                        <p:cond delay="15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80"/>
                                        <p:tgtEl>
                                          <p:spTgt spid="12"/>
                                        </p:tgtEl>
                                      </p:cBhvr>
                                    </p:animEffect>
                                  </p:childTnLst>
                                </p:cTn>
                              </p:par>
                            </p:childTnLst>
                          </p:cTn>
                        </p:par>
                      </p:childTnLst>
                    </p:cTn>
                  </p:par>
                  <p:par>
                    <p:cTn id="43" fill="hold">
                      <p:stCondLst>
                        <p:cond delay="15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animEffect transition="in" filter="fade">
                                      <p:cBhvr>
                                        <p:cTn id="47" dur="48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P spid="11" grpId="0" build="p"/>
      <p:bldP spid="13"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554480"/>
            <a:ext cx="3657600" cy="3657600"/>
          </a:xfrm>
          <a:prstGeom prst="ellipse">
            <a:avLst/>
          </a:prstGeom>
          <a:solidFill>
            <a:srgbClr val="CFEF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92640" y="4572000"/>
            <a:ext cx="3291840" cy="3291840"/>
          </a:xfrm>
          <a:prstGeom prst="ellipse">
            <a:avLst/>
          </a:prstGeom>
          <a:solidFill>
            <a:srgbClr val="FFD9E8">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875520" y="-1371600"/>
            <a:ext cx="2743200" cy="2743200"/>
          </a:xfrm>
          <a:prstGeom prst="ellipse">
            <a:avLst/>
          </a:prstGeom>
          <a:solidFill>
            <a:srgbClr val="FFF7C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868680"/>
            <a:ext cx="713232" cy="384048"/>
          </a:xfrm>
          <a:prstGeom prst="roundRect">
            <a:avLst>
              <a:gd name="adj" fmla="val 50000"/>
            </a:avLst>
          </a:prstGeom>
          <a:solidFill>
            <a:srgbClr val="D7F2D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2E2E38"/>
                </a:solidFill>
                <a:latin typeface="Helvetica Neue"/>
              </a:rPr>
              <a:t>Fazit</a:t>
            </a:r>
          </a:p>
        </p:txBody>
      </p:sp>
      <p:sp>
        <p:nvSpPr>
          <p:cNvPr id="7" name="TextBox 6"/>
          <p:cNvSpPr txBox="1"/>
          <p:nvPr/>
        </p:nvSpPr>
        <p:spPr>
          <a:xfrm>
            <a:off x="822960" y="1371600"/>
            <a:ext cx="6675120" cy="1828800"/>
          </a:xfrm>
          <a:prstGeom prst="rect">
            <a:avLst/>
          </a:prstGeom>
          <a:noFill/>
        </p:spPr>
        <p:txBody>
          <a:bodyPr wrap="square" anchor="t" lIns="0" rIns="0" tIns="0" bIns="0">
            <a:spAutoFit/>
          </a:bodyPr>
          <a:lstStyle/>
          <a:p>
            <a:pPr algn="l">
              <a:lnSpc>
                <a:spcPct val="104000"/>
              </a:lnSpc>
              <a:spcBef>
                <a:spcPts val="0"/>
              </a:spcBef>
              <a:spcAft>
                <a:spcPts val="0"/>
              </a:spcAft>
            </a:pPr>
            <a:r>
              <a:rPr sz="4000" b="1" i="0">
                <a:solidFill>
                  <a:srgbClr val="2E2E38"/>
                </a:solidFill>
                <a:latin typeface="Helvetica Neue"/>
              </a:rPr>
              <a:t>Schule beeinflusst mehr als nur Noten.</a:t>
            </a:r>
          </a:p>
        </p:txBody>
      </p:sp>
      <p:sp>
        <p:nvSpPr>
          <p:cNvPr id="8" name="TextBox 7"/>
          <p:cNvSpPr txBox="1"/>
          <p:nvPr/>
        </p:nvSpPr>
        <p:spPr>
          <a:xfrm>
            <a:off x="868680" y="3383280"/>
            <a:ext cx="6400800" cy="2286000"/>
          </a:xfrm>
          <a:prstGeom prst="rect">
            <a:avLst/>
          </a:prstGeom>
          <a:noFill/>
        </p:spPr>
        <p:txBody>
          <a:bodyPr wrap="square" anchor="t" lIns="0" rIns="0" tIns="0" bIns="0">
            <a:spAutoFit/>
          </a:bodyPr>
          <a:lstStyle/>
          <a:p>
            <a:pPr algn="l">
              <a:lnSpc>
                <a:spcPct val="108000"/>
              </a:lnSpc>
              <a:spcBef>
                <a:spcPts val="0"/>
              </a:spcBef>
              <a:spcAft>
                <a:spcPts val="1400"/>
              </a:spcAft>
            </a:pPr>
            <a:r>
              <a:rPr sz="2000" b="1" i="0">
                <a:solidFill>
                  <a:srgbClr val="55B077"/>
                </a:solidFill>
                <a:latin typeface="Helvetica Neue"/>
              </a:rPr>
              <a:t>✓  </a:t>
            </a:r>
            <a:r>
              <a:rPr sz="2000" b="0" i="0">
                <a:solidFill>
                  <a:srgbClr val="2E2E38"/>
                </a:solidFill>
                <a:latin typeface="Helvetica Neue"/>
              </a:rPr>
              <a:t>Strukturen wirken auf das Wohlbefinden.</a:t>
            </a:r>
          </a:p>
          <a:p>
            <a:pPr algn="l">
              <a:lnSpc>
                <a:spcPct val="108000"/>
              </a:lnSpc>
              <a:spcBef>
                <a:spcPts val="0"/>
              </a:spcBef>
              <a:spcAft>
                <a:spcPts val="1400"/>
              </a:spcAft>
            </a:pPr>
            <a:r>
              <a:rPr sz="2000" b="1" i="0">
                <a:solidFill>
                  <a:srgbClr val="55B077"/>
                </a:solidFill>
                <a:latin typeface="Helvetica Neue"/>
              </a:rPr>
              <a:t>✓  </a:t>
            </a:r>
            <a:r>
              <a:rPr sz="2000" b="0" i="0">
                <a:solidFill>
                  <a:srgbClr val="2E2E38"/>
                </a:solidFill>
                <a:latin typeface="Helvetica Neue"/>
              </a:rPr>
              <a:t>Leistungsdruck und Schulklima spielen eine zentrale Rolle.</a:t>
            </a:r>
          </a:p>
          <a:p>
            <a:pPr algn="l">
              <a:lnSpc>
                <a:spcPct val="108000"/>
              </a:lnSpc>
              <a:spcBef>
                <a:spcPts val="0"/>
              </a:spcBef>
              <a:spcAft>
                <a:spcPts val="0"/>
              </a:spcAft>
            </a:pPr>
            <a:r>
              <a:rPr sz="2000" b="1" i="0">
                <a:solidFill>
                  <a:srgbClr val="55B077"/>
                </a:solidFill>
                <a:latin typeface="Helvetica Neue"/>
              </a:rPr>
              <a:t>✓  </a:t>
            </a:r>
            <a:r>
              <a:rPr sz="2000" b="0" i="0">
                <a:solidFill>
                  <a:srgbClr val="2E2E38"/>
                </a:solidFill>
                <a:latin typeface="Helvetica Neue"/>
              </a:rPr>
              <a:t>Reformen können Bildung und Glück verbinden.</a:t>
            </a:r>
          </a:p>
        </p:txBody>
      </p:sp>
      <p:sp>
        <p:nvSpPr>
          <p:cNvPr id="9" name="Rounded Rectangle 8"/>
          <p:cNvSpPr/>
          <p:nvPr/>
        </p:nvSpPr>
        <p:spPr>
          <a:xfrm>
            <a:off x="868680" y="5715000"/>
            <a:ext cx="6126480" cy="777240"/>
          </a:xfrm>
          <a:prstGeom prst="roundRect">
            <a:avLst>
              <a:gd name="adj" fmla="val 40000"/>
            </a:avLst>
          </a:prstGeom>
          <a:solidFill>
            <a:srgbClr val="CFEFFF"/>
          </a:solidFill>
          <a:ln>
            <a:noFill/>
          </a:ln>
          <a:effectLst>
            <a:outerShdw blurRad="190500" dist="50800" dir="5400000" rotWithShape="0">
              <a:srgbClr val="2E2E38">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2200" b="1">
                <a:solidFill>
                  <a:srgbClr val="2E2E38"/>
                </a:solidFill>
                <a:latin typeface="Helvetica Neue"/>
              </a:rPr>
              <a:t>Danke für eure Aufmerksamkeit!</a:t>
            </a:r>
          </a:p>
        </p:txBody>
      </p:sp>
      <p:pic>
        <p:nvPicPr>
          <p:cNvPr id="10" name="Picture 9" descr="closing_calm.png"/>
          <p:cNvPicPr>
            <a:picLocks noChangeAspect="1"/>
          </p:cNvPicPr>
          <p:nvPr/>
        </p:nvPicPr>
        <p:blipFill>
          <a:blip r:embed="rId2"/>
          <a:stretch>
            <a:fillRect/>
          </a:stretch>
        </p:blipFill>
        <p:spPr>
          <a:xfrm>
            <a:off x="7269480" y="2286000"/>
            <a:ext cx="4663440" cy="3108960"/>
          </a:xfrm>
          <a:prstGeom prst="rect">
            <a:avLst/>
          </a:prstGeom>
        </p:spPr>
      </p:pic>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30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80"/>
                                        <p:tgtEl>
                                          <p:spTgt spid="6"/>
                                        </p:tgtEl>
                                      </p:cBhvr>
                                    </p:animEffect>
                                  </p:childTnLst>
                                </p:cTn>
                              </p:par>
                            </p:childTnLst>
                          </p:cTn>
                        </p:par>
                      </p:childTnLst>
                    </p:cTn>
                  </p:par>
                  <p:par>
                    <p:cTn id="8" fill="hold">
                      <p:stCondLst>
                        <p:cond delay="20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480"/>
                                        <p:tgtEl>
                                          <p:spTgt spid="7">
                                            <p:txEl>
                                              <p:pRg st="0" end="0"/>
                                            </p:txEl>
                                          </p:spTgt>
                                        </p:tgtEl>
                                      </p:cBhvr>
                                    </p:animEffect>
                                  </p:childTnLst>
                                </p:cTn>
                              </p:par>
                            </p:childTnLst>
                          </p:cTn>
                        </p:par>
                      </p:childTnLst>
                    </p:cTn>
                  </p:par>
                  <p:par>
                    <p:cTn id="13" fill="hold">
                      <p:stCondLst>
                        <p:cond delay="20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80"/>
                                        <p:tgtEl>
                                          <p:spTgt spid="10"/>
                                        </p:tgtEl>
                                      </p:cBhvr>
                                    </p:animEffect>
                                  </p:childTnLst>
                                </p:cTn>
                              </p:par>
                            </p:childTnLst>
                          </p:cTn>
                        </p:par>
                      </p:childTnLst>
                    </p:cTn>
                  </p:par>
                  <p:par>
                    <p:cTn id="18" fill="hold">
                      <p:stCondLst>
                        <p:cond delay="20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480"/>
                                        <p:tgtEl>
                                          <p:spTgt spid="8">
                                            <p:txEl>
                                              <p:pRg st="0" end="0"/>
                                            </p:txEl>
                                          </p:spTgt>
                                        </p:tgtEl>
                                      </p:cBhvr>
                                    </p:animEffect>
                                  </p:childTnLst>
                                </p:cTn>
                              </p:par>
                            </p:childTnLst>
                          </p:cTn>
                        </p:par>
                      </p:childTnLst>
                    </p:cTn>
                  </p:par>
                  <p:par>
                    <p:cTn id="23" fill="hold">
                      <p:stCondLst>
                        <p:cond delay="20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fade">
                                      <p:cBhvr>
                                        <p:cTn id="27" dur="480"/>
                                        <p:tgtEl>
                                          <p:spTgt spid="8">
                                            <p:txEl>
                                              <p:pRg st="1" end="1"/>
                                            </p:txEl>
                                          </p:spTgt>
                                        </p:tgtEl>
                                      </p:cBhvr>
                                    </p:animEffect>
                                  </p:childTnLst>
                                </p:cTn>
                              </p:par>
                            </p:childTnLst>
                          </p:cTn>
                        </p:par>
                      </p:childTnLst>
                    </p:cTn>
                  </p:par>
                  <p:par>
                    <p:cTn id="28" fill="hold">
                      <p:stCondLst>
                        <p:cond delay="20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animEffect transition="in" filter="fade">
                                      <p:cBhvr>
                                        <p:cTn id="32" dur="480"/>
                                        <p:tgtEl>
                                          <p:spTgt spid="8">
                                            <p:txEl>
                                              <p:pRg st="2" end="2"/>
                                            </p:txEl>
                                          </p:spTgt>
                                        </p:tgtEl>
                                      </p:cBhvr>
                                    </p:animEffect>
                                  </p:childTnLst>
                                </p:cTn>
                              </p:par>
                            </p:childTnLst>
                          </p:cTn>
                        </p:par>
                      </p:childTnLst>
                    </p:cTn>
                  </p:par>
                  <p:par>
                    <p:cTn id="33" fill="hold">
                      <p:stCondLst>
                        <p:cond delay="20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8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