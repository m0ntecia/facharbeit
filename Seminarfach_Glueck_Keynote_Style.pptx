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zu meiner Präsentation im Seminarfachkurs Glück. Ich untersuche heute, wie Schule nicht nur Leistungen, sondern auch das Wohlbefinden von Schülerinnen und Schülern beeinflusst. Im Mittelpunkt steht die Frage, welche strukturellen Merkmale des deutschen Schulsystems belastend oder unterstützend wirken. Die Facharbeit zeigt, dass sich schulische Organisation, Leistungsbewertung und soziale Bedingungen direkt auf Motivation, Selbstwertgefühl und psychische Gesundheit auswirken können. Diese Gegenüberstellung von zufriedenen und gestressten Lernenden macht das Spannungsfeld sichtbar: Schule kann stärken, aber auch belasten. Im nächsten Schritt klären wir, warum dieses Thema gesellschaftlich so relevant ist und welche Leitfrage die Arbeit verfolgt.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Facharbeit betont, dass Schule ein zentraler Lebensraum ist: Ein großer Teil des Alltags findet dort statt, deshalb wirken schulische Strukturen langfristig auf junge Menschen. Gleichzeitig zeigen Studien, dass schulische Anforderungen häufig als belastend erlebt werden. Das ist gesellschaftlich relevant, weil Bildung über spätere Chancen mitentscheidet und weil Wohlbefinden eine Voraussetzung für nachhaltiges Lernen ist. Wenn Schülerinnen und Schüler dauerhaft unter Druck stehen, leidet nicht nur die Gesundheit, sondern oft auch die Lernmotivation. Daraus entsteht die Leitfrage dieser Arbeit, die wir als roten Faden mitnehmen. Als Nächstes schauen wir auf die theoretischen Grundlagen, damit die wichtigsten Begriffe klar sind.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Bevor wir in die Analyse einsteigen, klärt die Facharbeit drei Grundbegriffe. Erstens die Strukturmerkmale von Schule: Dazu gehören unter anderem Schulformen, Noten, Versetzungsregeln und Abschlüsse. Diese Merkmale organisieren den Schulalltag, wirken aber auch sozial selektiv. Zweitens das Wohlbefinden: Es umfasst nicht nur Leistungen, sondern auch psychische Gesundheit, soziale Eingebundenheit und Lebenszufriedenheit. Drittens die Bildungsgerechtigkeit: Gemeint sind faire Bildungszugänge unabhängig von Herkunft. Gerade im deutschen System zeigt die Literatur eine enge Verbindung zwischen sozialem Hintergrund und Bildungserfolg. Mit diesen Begriffen im Blick sehen wir uns als Nächstes die Schulformen im deutschen System 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sehen wir die wichtigsten Schulformen, die in der Facharbeit verglichen werden. Das Gymnasium ist akademisch stark ausgerichtet und führt zum Abitur. Die Realschule nimmt eine mittlere Position zwischen allgemeinbildender und praxisnäherer Ausrichtung ein. Die Hauptschule war traditionell stark berufsorientiert, wurde aber in vielen Bundesländern strukturell verändert. Gesamtschulen verfolgen das Ziel, Schülerinnen und Schüler länger gemeinsam lernen zu lassen. Berufliche Schulen und das duale System sind ein besonderes Merkmal in Deutschland und international anerkannt. Diese Vielfalt ist einerseits eine Stärke, andererseits entstehen durch die frühe Aufteilung auch Unterschiede in Chancen und Belastungen. Damit kommen wir direkt zum Thema Leistungsdruck.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Facharbeit beschreibt Leistungsdruck als einen zentralen Einflussfaktor auf das schulische Wohlbefinden. Noten und Prüfungen steuern Bildungswege, deshalb werden sie oft als besonders bedeutsam erlebt. Hinzu kommen Vergleichsprozesse und äußere Erwartungen, etwa von Schule, Elternhaus oder Gesellschaft. Dabei zeigt sich ein ambivalentes Bild: Leistungsanforderungen können motivierend wirken, wenn sie als machbar erlebt werden. Werden sie jedoch als dauerhaft überfordernd wahrgenommen, entstehen Stress, Unsicherheit und psychosomatische Belastungen wie Schlafprobleme. Die Arbeit verweist hier auf WHO- und RKI-Befunde zu schulischem Stress im Jugendalter. Die entscheidende Frage ist deshalb nicht nur, ob Leistung gefordert wird, sondern wie das schulische Umfeld damit umgeht. Damit sind wir beim Schulklima.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Neben Leistung ist laut Facharbeit vor allem das Schulklima entscheidend. Ein positives Schulklima umfasst Sicherheit, Zugehörigkeit und verlässliche Beziehungen. Besonders wichtig ist das Lehrer-Schüler-Verhältnis: Wenn Lernende sich ernst genommen fühlen, steigt die Motivation und Stress kann sinken. Als zweiter Punkt wird Mitbestimmung betont, zum Beispiel über Klassenrat oder Schülervertretung. Beteiligung stärkt das Gefühl, wirksam zu sein und nicht nur Objekt von Entscheidungen zu sein. Drittens spielt Feedback eine wichtige Rolle. Ergänzend zu Noten können qualitative Rückmeldungen Lernfortschritte besser sichtbar machen. Zusammen zeigen diese Faktoren, dass Wohlbefinden aktiv gestaltbar ist. Auf der nächsten Folie binden wir das Publikum kurz ein.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 möchte ich euch kurz aktiv einbinden. Die Frage lautet: Was beeinflusst euer Wohlbefinden in der Schule am stärksten? Wir haben vier mögliche Antworten aus den zentralen Themen der Arbeit: Notendruck, Lehrkräfte, Mitschüler und Zeitstress. Bitte per Handzeichen abstimmen, was ihr persönlich am stärksten wahrnehmt. Wichtig ist danach die Einordnung: Die Facharbeit zeigt, dass es kein einzelner Faktor ist. Vielmehr wirken diese Aspekte zusammen und verstärken oder entlasten sich gegenseitig. Genau deshalb lohnt der Blick über Deutschland hinaus. Auf der nächsten Folie vergleichen wir internationale Systeme und schauen, welche strukturellen Unterschiede dort sichtbar sind.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 internationale Vergleich ordnet das deutsche System besser ein. In Deutschland erfolgt die Aufteilung in Bildungswege meist früh, und Leistungsbewertung durch Noten hat ein hohes Gewicht. Finnland steht in der Facharbeit für ein Modell mit längerem gemeinsamen Lernen und späterer Differenzierung. Dort wird in frühen Jahren tendenziell weniger standardisiert getestet und stärker auf individuelle Entwicklung geachtet. Angelsächsische Systeme zeigen häufig mehr Wahlmöglichkeiten und eine stärkere Praxis- oder Projektorientierung. Gleichzeitig haben auch diese Systeme Herausforderungen, etwa Unterschiede zwischen Regionen oder Schulen. Wichtig ist daher die Kernaussage: Es gibt kein perfektes System, aber unterschiedliche strukturelle Prioritäten. Als Nächstes bündeln wir Stärken und Schwächen des deutschen Modells.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Facharbeit bewertet das deutsche Schulsystem differenziert. Zu den Stärken zählt die Vielfalt an Bildungswegen, durch die unterschiedliche Lerninteressen und Leistungsprofile adressiert werden können. Besonders hervorgehoben wird das duale Ausbildungssystem als gute Brücke in den Arbeitsmarkt. Auch die akademischen Standards, vor allem im gymnasialen Bereich, gelten als qualitativ anspruchsvoll. Gleichzeitig stehen diesen Vorteilen klare Schwächen gegenüber: die frühe Selektion, ein oft hoher Leistungsdruck und die enge Kopplung zwischen sozialer Herkunft und Bildungserfolg. Diese Schwächen sind für das Wohlbefinden besonders relevant, weil sie Stress und Ungleichheitswahrnehmung verstärken können. Daraus leiten sich Reformideen ab, die wir nun anschauen.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Aus den analysierten Schwächen leitet die Facharbeit drei zentrale Reformansätze ab. Erstens: mehr Lebenskompetenzen im Curriculum, etwa Finanzbildung oder Medienkompetenz. Damit soll Schule alltagsnäher werden und junge Menschen besser auf selbstständiges Handeln vorbereiten. Zweitens: spätere Leistungsdifferenzierung, damit Bildungsentscheidungen weniger früh und auf einer breiteren Entwicklungsbasis getroffen werden. Drittens: alternative Bewertungsformen, die Lernprozesse stärker begleiten, statt nur punktuelle Prüfungsleistungen zu bewerten. Diese Ansätze verstehen Leistung nicht als Gegensatz zum Wohlbefinden, sondern als etwas, das durch gute Strukturen nachhaltiger gefördert werden kann. Damit kommen wir zum abschließenden Fazit.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Zusammenfassend zeigt die Facharbeit klar: Schule beeinflusst deutlich mehr als Noten. Strukturelle Merkmale wie Schulform, Selektionszeitpunkt und Bewertungssystem wirken auf Lernbedingungen und Wohlbefinden zugleich. Zudem wurde sichtbar, dass Leistungsdruck und Schulklima zentrale Stellschrauben sind, wenn es um Motivation, Selbstbild und psychische Belastung geht. Der internationale Vergleich macht deutlich, dass andere Wege möglich sind, auch wenn kein System perfekt ist. Daraus ergeben sich Reformoptionen, die Bildungsgerechtigkeit und Wohlbefinden besser verbinden könnten. Für die Leitfrage bedeutet das: Ja, strukturelle Unterschiede im deutschen Schulsystem beeinflussen das Wohlbefinden von Schülerinnen und Schülern spürbar. Vielen Dank für eure Aufmerksamkeit, ich freue mich auf eure Fragen und eure Eindrücke.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FFD9E8">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CFEFFF">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48640"/>
            <a:ext cx="7498079" cy="731520"/>
          </a:xfrm>
          <a:prstGeom prst="rect">
            <a:avLst/>
          </a:prstGeom>
          <a:noFill/>
        </p:spPr>
        <p:txBody>
          <a:bodyPr wrap="none">
            <a:spAutoFit/>
          </a:bodyPr>
          <a:lstStyle/>
          <a:p>
            <a:pPr algn="l"/>
            <a:r>
              <a:rPr sz="4400" b="1">
                <a:solidFill>
                  <a:srgbClr val="333333"/>
                </a:solidFill>
                <a:latin typeface="Avenir Next"/>
              </a:rPr>
              <a:t>Wie Schule wirkt:</a:t>
            </a:r>
          </a:p>
        </p:txBody>
      </p:sp>
      <p:sp>
        <p:nvSpPr>
          <p:cNvPr id="5" name="TextBox 4"/>
          <p:cNvSpPr txBox="1"/>
          <p:nvPr/>
        </p:nvSpPr>
        <p:spPr>
          <a:xfrm>
            <a:off x="731520" y="1280160"/>
            <a:ext cx="6675120" cy="1645920"/>
          </a:xfrm>
          <a:prstGeom prst="rect">
            <a:avLst/>
          </a:prstGeom>
          <a:noFill/>
        </p:spPr>
        <p:txBody>
          <a:bodyPr wrap="none">
            <a:spAutoFit/>
          </a:bodyPr>
          <a:lstStyle/>
          <a:p>
            <a:pPr algn="l"/>
            <a:r>
              <a:rPr sz="2500" b="0">
                <a:solidFill>
                  <a:srgbClr val="333333"/>
                </a:solidFill>
                <a:latin typeface="Avenir Next"/>
              </a:rPr>
              <a:t>Strukturelle Unterschiede und ihr Effekt</a:t>
            </a:r>
            <a:br/>
            <a:r>
              <a:t>auf das Wohlbefinden von Schülerinnen und Schülern</a:t>
            </a:r>
          </a:p>
        </p:txBody>
      </p:sp>
      <p:sp>
        <p:nvSpPr>
          <p:cNvPr id="6" name="TextBox 5"/>
          <p:cNvSpPr txBox="1"/>
          <p:nvPr/>
        </p:nvSpPr>
        <p:spPr>
          <a:xfrm>
            <a:off x="731520" y="2834640"/>
            <a:ext cx="3657600" cy="457200"/>
          </a:xfrm>
          <a:prstGeom prst="rect">
            <a:avLst/>
          </a:prstGeom>
          <a:noFill/>
        </p:spPr>
        <p:txBody>
          <a:bodyPr wrap="none">
            <a:spAutoFit/>
          </a:bodyPr>
          <a:lstStyle/>
          <a:p>
            <a:pPr algn="l"/>
            <a:r>
              <a:rPr sz="2000" b="0">
                <a:solidFill>
                  <a:srgbClr val="666666"/>
                </a:solidFill>
                <a:latin typeface="Avenir Next"/>
              </a:rPr>
              <a:t>Seminarfachkurs Glück</a:t>
            </a:r>
          </a:p>
        </p:txBody>
      </p:sp>
      <p:sp>
        <p:nvSpPr>
          <p:cNvPr id="7" name="Rounded Rectangle 6"/>
          <p:cNvSpPr/>
          <p:nvPr/>
        </p:nvSpPr>
        <p:spPr>
          <a:xfrm>
            <a:off x="6858000" y="822960"/>
            <a:ext cx="4754880" cy="5303520"/>
          </a:xfrm>
          <a:prstGeom prst="roundRect">
            <a:avLst/>
          </a:prstGeom>
          <a:solidFill>
            <a:srgbClr val="CFEFFF">
              <a:lumMod val="72000"/>
              <a:lumOff val="2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32520" y="1417320"/>
            <a:ext cx="1280160" cy="914400"/>
          </a:xfrm>
          <a:prstGeom prst="rect">
            <a:avLst/>
          </a:prstGeom>
          <a:noFill/>
        </p:spPr>
        <p:txBody>
          <a:bodyPr wrap="none">
            <a:spAutoFit/>
          </a:bodyPr>
          <a:lstStyle/>
          <a:p>
            <a:pPr algn="ctr"/>
            <a:r>
              <a:rPr sz="6400" b="0">
                <a:solidFill>
                  <a:srgbClr val="333333"/>
                </a:solidFill>
                <a:latin typeface="Avenir Next"/>
              </a:rPr>
              <a:t>🏫</a:t>
            </a:r>
          </a:p>
        </p:txBody>
      </p:sp>
      <p:sp>
        <p:nvSpPr>
          <p:cNvPr id="9" name="TextBox 8"/>
          <p:cNvSpPr txBox="1"/>
          <p:nvPr/>
        </p:nvSpPr>
        <p:spPr>
          <a:xfrm>
            <a:off x="7543800" y="2743200"/>
            <a:ext cx="1645920" cy="548640"/>
          </a:xfrm>
          <a:prstGeom prst="rect">
            <a:avLst/>
          </a:prstGeom>
          <a:noFill/>
        </p:spPr>
        <p:txBody>
          <a:bodyPr wrap="none">
            <a:spAutoFit/>
          </a:bodyPr>
          <a:lstStyle/>
          <a:p>
            <a:pPr algn="ctr"/>
            <a:r>
              <a:rPr sz="3600" b="0">
                <a:solidFill>
                  <a:srgbClr val="333333"/>
                </a:solidFill>
                <a:latin typeface="Avenir Next"/>
              </a:rPr>
              <a:t>🙂🙂</a:t>
            </a:r>
          </a:p>
        </p:txBody>
      </p:sp>
      <p:sp>
        <p:nvSpPr>
          <p:cNvPr id="10" name="TextBox 9"/>
          <p:cNvSpPr txBox="1"/>
          <p:nvPr/>
        </p:nvSpPr>
        <p:spPr>
          <a:xfrm>
            <a:off x="9601200" y="2788920"/>
            <a:ext cx="1645920" cy="548640"/>
          </a:xfrm>
          <a:prstGeom prst="rect">
            <a:avLst/>
          </a:prstGeom>
          <a:noFill/>
        </p:spPr>
        <p:txBody>
          <a:bodyPr wrap="none">
            <a:spAutoFit/>
          </a:bodyPr>
          <a:lstStyle/>
          <a:p>
            <a:pPr algn="ctr"/>
            <a:r>
              <a:rPr sz="3600" b="0">
                <a:solidFill>
                  <a:srgbClr val="333333"/>
                </a:solidFill>
                <a:latin typeface="Avenir Next"/>
              </a:rPr>
              <a:t>😓😣</a:t>
            </a:r>
          </a:p>
        </p:txBody>
      </p:sp>
      <p:sp>
        <p:nvSpPr>
          <p:cNvPr id="11" name="TextBox 10"/>
          <p:cNvSpPr txBox="1"/>
          <p:nvPr/>
        </p:nvSpPr>
        <p:spPr>
          <a:xfrm>
            <a:off x="7635240" y="3383280"/>
            <a:ext cx="1463040" cy="365760"/>
          </a:xfrm>
          <a:prstGeom prst="rect">
            <a:avLst/>
          </a:prstGeom>
          <a:noFill/>
        </p:spPr>
        <p:txBody>
          <a:bodyPr wrap="none">
            <a:spAutoFit/>
          </a:bodyPr>
          <a:lstStyle/>
          <a:p>
            <a:pPr algn="ctr"/>
            <a:r>
              <a:rPr sz="1400" b="0">
                <a:solidFill>
                  <a:srgbClr val="666666"/>
                </a:solidFill>
                <a:latin typeface="Avenir Next"/>
              </a:rPr>
              <a:t>Lernfreude</a:t>
            </a:r>
          </a:p>
        </p:txBody>
      </p:sp>
      <p:sp>
        <p:nvSpPr>
          <p:cNvPr id="12" name="TextBox 11"/>
          <p:cNvSpPr txBox="1"/>
          <p:nvPr/>
        </p:nvSpPr>
        <p:spPr>
          <a:xfrm>
            <a:off x="9555480" y="3383280"/>
            <a:ext cx="1737360" cy="365760"/>
          </a:xfrm>
          <a:prstGeom prst="rect">
            <a:avLst/>
          </a:prstGeom>
          <a:noFill/>
        </p:spPr>
        <p:txBody>
          <a:bodyPr wrap="none">
            <a:spAutoFit/>
          </a:bodyPr>
          <a:lstStyle/>
          <a:p>
            <a:pPr algn="ctr"/>
            <a:r>
              <a:rPr sz="1400" b="0">
                <a:solidFill>
                  <a:srgbClr val="666666"/>
                </a:solidFill>
                <a:latin typeface="Avenir Next"/>
              </a:rPr>
              <a:t>Leistungsdruck</a:t>
            </a:r>
          </a:p>
        </p:txBody>
      </p:sp>
    </p:spTree>
  </p:cSld>
  <p:clrMapOvr>
    <a:masterClrMapping/>
  </p:clrMapOvr>
  <p:transition>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FFD9E8">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FFF7C7">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943600" cy="731520"/>
          </a:xfrm>
          <a:prstGeom prst="rect">
            <a:avLst/>
          </a:prstGeom>
          <a:noFill/>
        </p:spPr>
        <p:txBody>
          <a:bodyPr wrap="none">
            <a:spAutoFit/>
          </a:bodyPr>
          <a:lstStyle/>
          <a:p>
            <a:pPr algn="l"/>
            <a:r>
              <a:rPr sz="3900" b="1">
                <a:solidFill>
                  <a:srgbClr val="333333"/>
                </a:solidFill>
                <a:latin typeface="Avenir Next"/>
              </a:rPr>
              <a:t>Warum ist das Thema wichtig?</a:t>
            </a:r>
          </a:p>
        </p:txBody>
      </p:sp>
      <p:sp>
        <p:nvSpPr>
          <p:cNvPr id="5" name="Rounded Rectangle 4"/>
          <p:cNvSpPr/>
          <p:nvPr/>
        </p:nvSpPr>
        <p:spPr>
          <a:xfrm>
            <a:off x="731520" y="1371600"/>
            <a:ext cx="6035040" cy="3291840"/>
          </a:xfrm>
          <a:prstGeom prst="roundRect">
            <a:avLst/>
          </a:prstGeom>
          <a:solidFill>
            <a:srgbClr val="FFF7C7">
              <a:lumMod val="92000"/>
              <a:lumOff val="8000"/>
            </a:srgbClr>
          </a:solidFill>
          <a:ln w="1524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lIns="182880" rIns="137160" tIns="109728" wrap="square"/>
          <a:lstStyle/>
          <a:p>
            <a:pPr algn="ctr"/>
            <a:r>
              <a:rPr sz="2200" b="1">
                <a:solidFill>
                  <a:srgbClr val="333333"/>
                </a:solidFill>
                <a:latin typeface="Avenir Next"/>
              </a:rPr>
              <a:t>Relevanz</a:t>
            </a:r>
          </a:p>
          <a:p>
            <a:pPr>
              <a:spcAft>
                <a:spcPts val="200"/>
              </a:spcAft>
            </a:pPr>
            <a:r>
              <a:rPr sz="1600">
                <a:solidFill>
                  <a:srgbClr val="333333"/>
                </a:solidFill>
                <a:latin typeface="Avenir Next"/>
              </a:rPr>
              <a:t>• Schule prägt den Alltag von Kindern und Jugendlichen.</a:t>
            </a:r>
          </a:p>
          <a:p>
            <a:pPr>
              <a:spcAft>
                <a:spcPts val="200"/>
              </a:spcAft>
            </a:pPr>
            <a:r>
              <a:rPr sz="1600">
                <a:solidFill>
                  <a:srgbClr val="333333"/>
                </a:solidFill>
                <a:latin typeface="Avenir Next"/>
              </a:rPr>
              <a:t>• Leistungsdruck und psychische Belastungen werden häufiger diskutiert.</a:t>
            </a:r>
          </a:p>
          <a:p>
            <a:pPr>
              <a:spcAft>
                <a:spcPts val="200"/>
              </a:spcAft>
            </a:pPr>
            <a:r>
              <a:rPr sz="1600">
                <a:solidFill>
                  <a:srgbClr val="333333"/>
                </a:solidFill>
                <a:latin typeface="Avenir Next"/>
              </a:rPr>
              <a:t>• Bildung beeinflusst berufliche Chancen und soziale Teilhabe.</a:t>
            </a:r>
          </a:p>
          <a:p>
            <a:pPr>
              <a:spcAft>
                <a:spcPts val="200"/>
              </a:spcAft>
            </a:pPr>
            <a:r>
              <a:rPr sz="1600">
                <a:solidFill>
                  <a:srgbClr val="333333"/>
                </a:solidFill>
                <a:latin typeface="Avenir Next"/>
              </a:rPr>
              <a:t>• Wohlbefinden ist Teil erfolgreicher Bildung.</a:t>
            </a:r>
          </a:p>
        </p:txBody>
      </p:sp>
      <p:sp>
        <p:nvSpPr>
          <p:cNvPr id="6" name="Rounded Rectangle 5"/>
          <p:cNvSpPr/>
          <p:nvPr/>
        </p:nvSpPr>
        <p:spPr>
          <a:xfrm>
            <a:off x="7315200" y="1280160"/>
            <a:ext cx="4206240" cy="3383280"/>
          </a:xfrm>
          <a:prstGeom prst="roundRect">
            <a:avLst/>
          </a:prstGeom>
          <a:solidFill>
            <a:srgbClr val="FFD9E8">
              <a:lumMod val="82000"/>
              <a:lumOff val="1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0" y="1828800"/>
            <a:ext cx="1371600" cy="914400"/>
          </a:xfrm>
          <a:prstGeom prst="rect">
            <a:avLst/>
          </a:prstGeom>
          <a:noFill/>
        </p:spPr>
        <p:txBody>
          <a:bodyPr wrap="none">
            <a:spAutoFit/>
          </a:bodyPr>
          <a:lstStyle/>
          <a:p>
            <a:pPr algn="ctr"/>
            <a:r>
              <a:rPr sz="6600" b="0">
                <a:solidFill>
                  <a:srgbClr val="333333"/>
                </a:solidFill>
                <a:latin typeface="Avenir Next"/>
              </a:rPr>
              <a:t>⚖️</a:t>
            </a:r>
          </a:p>
        </p:txBody>
      </p:sp>
      <p:sp>
        <p:nvSpPr>
          <p:cNvPr id="8" name="TextBox 7"/>
          <p:cNvSpPr txBox="1"/>
          <p:nvPr/>
        </p:nvSpPr>
        <p:spPr>
          <a:xfrm>
            <a:off x="7818120" y="3017520"/>
            <a:ext cx="1280160" cy="365760"/>
          </a:xfrm>
          <a:prstGeom prst="rect">
            <a:avLst/>
          </a:prstGeom>
          <a:noFill/>
        </p:spPr>
        <p:txBody>
          <a:bodyPr wrap="none">
            <a:spAutoFit/>
          </a:bodyPr>
          <a:lstStyle/>
          <a:p>
            <a:pPr algn="ctr"/>
            <a:r>
              <a:rPr sz="1600" b="1">
                <a:solidFill>
                  <a:srgbClr val="333333"/>
                </a:solidFill>
                <a:latin typeface="Avenir Next"/>
              </a:rPr>
              <a:t>Bildung</a:t>
            </a:r>
          </a:p>
        </p:txBody>
      </p:sp>
      <p:sp>
        <p:nvSpPr>
          <p:cNvPr id="9" name="TextBox 8"/>
          <p:cNvSpPr txBox="1"/>
          <p:nvPr/>
        </p:nvSpPr>
        <p:spPr>
          <a:xfrm>
            <a:off x="9418320" y="3017520"/>
            <a:ext cx="1737360" cy="365760"/>
          </a:xfrm>
          <a:prstGeom prst="rect">
            <a:avLst/>
          </a:prstGeom>
          <a:noFill/>
        </p:spPr>
        <p:txBody>
          <a:bodyPr wrap="none">
            <a:spAutoFit/>
          </a:bodyPr>
          <a:lstStyle/>
          <a:p>
            <a:pPr algn="ctr"/>
            <a:r>
              <a:rPr sz="1600" b="1">
                <a:solidFill>
                  <a:srgbClr val="333333"/>
                </a:solidFill>
                <a:latin typeface="Avenir Next"/>
              </a:rPr>
              <a:t>Wohlbefinden</a:t>
            </a:r>
          </a:p>
        </p:txBody>
      </p:sp>
      <p:sp>
        <p:nvSpPr>
          <p:cNvPr id="10" name="Rounded Rectangle 9"/>
          <p:cNvSpPr/>
          <p:nvPr/>
        </p:nvSpPr>
        <p:spPr>
          <a:xfrm>
            <a:off x="822960" y="4892040"/>
            <a:ext cx="10881360" cy="1143000"/>
          </a:xfrm>
          <a:prstGeom prst="roundRect">
            <a:avLst/>
          </a:prstGeom>
          <a:solidFill>
            <a:srgbClr val="CFEFFF">
              <a:lumMod val="92000"/>
              <a:lumOff val="8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solidFill>
                  <a:srgbClr val="333333"/>
                </a:solidFill>
                <a:latin typeface="Avenir Next"/>
              </a:rPr>
              <a:t>Inwiefern beeinflussen strukturelle Unterschiede im deutschen Schulsystem das Wohlbefinden von Schülerinnen und Schülern?</a:t>
            </a:r>
          </a:p>
        </p:txBody>
      </p:sp>
    </p:spTree>
  </p:cSld>
  <p:clrMapOvr>
    <a:masterClrMapping/>
  </p:clrMapOvr>
  <p:transition>
    <p:zoom/>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CFEFFF">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CFEFFF">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4114800" cy="731520"/>
          </a:xfrm>
          <a:prstGeom prst="rect">
            <a:avLst/>
          </a:prstGeom>
          <a:noFill/>
        </p:spPr>
        <p:txBody>
          <a:bodyPr wrap="none">
            <a:spAutoFit/>
          </a:bodyPr>
          <a:lstStyle/>
          <a:p>
            <a:pPr algn="l"/>
            <a:r>
              <a:rPr sz="4000" b="1">
                <a:solidFill>
                  <a:srgbClr val="333333"/>
                </a:solidFill>
                <a:latin typeface="Avenir Next"/>
              </a:rPr>
              <a:t>Grundlagen</a:t>
            </a:r>
          </a:p>
        </p:txBody>
      </p:sp>
      <p:sp>
        <p:nvSpPr>
          <p:cNvPr id="5" name="TextBox 4"/>
          <p:cNvSpPr txBox="1"/>
          <p:nvPr/>
        </p:nvSpPr>
        <p:spPr>
          <a:xfrm>
            <a:off x="731520" y="1097280"/>
            <a:ext cx="4114800" cy="457200"/>
          </a:xfrm>
          <a:prstGeom prst="rect">
            <a:avLst/>
          </a:prstGeom>
          <a:noFill/>
        </p:spPr>
        <p:txBody>
          <a:bodyPr wrap="none">
            <a:spAutoFit/>
          </a:bodyPr>
          <a:lstStyle/>
          <a:p>
            <a:pPr algn="l"/>
            <a:r>
              <a:rPr sz="1700" b="0">
                <a:solidFill>
                  <a:srgbClr val="666666"/>
                </a:solidFill>
                <a:latin typeface="Avenir Next"/>
              </a:rPr>
              <a:t>Mindmap zentraler Begriffe</a:t>
            </a:r>
          </a:p>
        </p:txBody>
      </p:sp>
      <p:sp>
        <p:nvSpPr>
          <p:cNvPr id="6" name="Oval 5"/>
          <p:cNvSpPr/>
          <p:nvPr/>
        </p:nvSpPr>
        <p:spPr>
          <a:xfrm>
            <a:off x="4937760" y="2377440"/>
            <a:ext cx="2286000" cy="1188720"/>
          </a:xfrm>
          <a:prstGeom prst="ellipse">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latin typeface="Avenir Next"/>
              </a:rPr>
              <a:t>Schule</a:t>
            </a:r>
          </a:p>
          <a:p>
            <a:r>
              <a:t>&amp; Wohlbefinden</a:t>
            </a:r>
          </a:p>
        </p:txBody>
      </p:sp>
      <p:sp>
        <p:nvSpPr>
          <p:cNvPr id="7" name="Rounded Rectangle 6"/>
          <p:cNvSpPr/>
          <p:nvPr/>
        </p:nvSpPr>
        <p:spPr>
          <a:xfrm>
            <a:off x="822960" y="1828800"/>
            <a:ext cx="3383280" cy="2377440"/>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333333"/>
                </a:solidFill>
                <a:latin typeface="Avenir Next"/>
              </a:rPr>
              <a:t>🏛️  Strukturmerkmale</a:t>
            </a:r>
          </a:p>
          <a:p>
            <a:r>
              <a:rPr sz="1400">
                <a:solidFill>
                  <a:srgbClr val="333333"/>
                </a:solidFill>
                <a:latin typeface="Avenir Next"/>
              </a:rPr>
              <a:t>• Schulformen</a:t>
            </a:r>
          </a:p>
          <a:p>
            <a:r>
              <a:rPr sz="1400">
                <a:solidFill>
                  <a:srgbClr val="333333"/>
                </a:solidFill>
                <a:latin typeface="Avenir Next"/>
              </a:rPr>
              <a:t>• Notensystem</a:t>
            </a:r>
          </a:p>
          <a:p>
            <a:r>
              <a:rPr sz="1400">
                <a:solidFill>
                  <a:srgbClr val="333333"/>
                </a:solidFill>
                <a:latin typeface="Avenir Next"/>
              </a:rPr>
              <a:t>• Versetzungen</a:t>
            </a:r>
          </a:p>
        </p:txBody>
      </p:sp>
      <p:sp>
        <p:nvSpPr>
          <p:cNvPr id="8" name="Rounded Rectangle 7"/>
          <p:cNvSpPr/>
          <p:nvPr/>
        </p:nvSpPr>
        <p:spPr>
          <a:xfrm>
            <a:off x="7772400" y="1691640"/>
            <a:ext cx="3474720" cy="2560320"/>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333333"/>
                </a:solidFill>
                <a:latin typeface="Avenir Next"/>
              </a:rPr>
              <a:t>💛  Wohlbefinden</a:t>
            </a:r>
          </a:p>
          <a:p>
            <a:r>
              <a:rPr sz="1400">
                <a:solidFill>
                  <a:srgbClr val="333333"/>
                </a:solidFill>
                <a:latin typeface="Avenir Next"/>
              </a:rPr>
              <a:t>• psychische Gesundheit</a:t>
            </a:r>
          </a:p>
          <a:p>
            <a:r>
              <a:rPr sz="1400">
                <a:solidFill>
                  <a:srgbClr val="333333"/>
                </a:solidFill>
                <a:latin typeface="Avenir Next"/>
              </a:rPr>
              <a:t>• soziale Beziehungen</a:t>
            </a:r>
          </a:p>
          <a:p>
            <a:r>
              <a:rPr sz="1400">
                <a:solidFill>
                  <a:srgbClr val="333333"/>
                </a:solidFill>
                <a:latin typeface="Avenir Next"/>
              </a:rPr>
              <a:t>• Lebenszufriedenheit</a:t>
            </a:r>
          </a:p>
        </p:txBody>
      </p:sp>
      <p:sp>
        <p:nvSpPr>
          <p:cNvPr id="9" name="Rounded Rectangle 8"/>
          <p:cNvSpPr/>
          <p:nvPr/>
        </p:nvSpPr>
        <p:spPr>
          <a:xfrm>
            <a:off x="4160520" y="3977639"/>
            <a:ext cx="3840480" cy="2286000"/>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333333"/>
                </a:solidFill>
                <a:latin typeface="Avenir Next"/>
              </a:rPr>
              <a:t>⚖️  Bildungsgerechtigkeit</a:t>
            </a:r>
          </a:p>
          <a:p>
            <a:r>
              <a:rPr sz="1400">
                <a:solidFill>
                  <a:srgbClr val="333333"/>
                </a:solidFill>
                <a:latin typeface="Avenir Next"/>
              </a:rPr>
              <a:t>• faire Chancen</a:t>
            </a:r>
          </a:p>
          <a:p>
            <a:r>
              <a:rPr sz="1400">
                <a:solidFill>
                  <a:srgbClr val="333333"/>
                </a:solidFill>
                <a:latin typeface="Avenir Next"/>
              </a:rPr>
              <a:t>• unabhängig von sozialer Herkunft</a:t>
            </a:r>
          </a:p>
        </p:txBody>
      </p:sp>
    </p:spTree>
  </p:cSld>
  <p:clrMapOvr>
    <a:masterClrMapping/>
  </p:clrMapOvr>
  <p:transition>
    <p:cover dir="r"/>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FFD9E8">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FFF7C7">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943600" cy="731520"/>
          </a:xfrm>
          <a:prstGeom prst="rect">
            <a:avLst/>
          </a:prstGeom>
          <a:noFill/>
        </p:spPr>
        <p:txBody>
          <a:bodyPr wrap="none">
            <a:spAutoFit/>
          </a:bodyPr>
          <a:lstStyle/>
          <a:p>
            <a:pPr algn="l"/>
            <a:r>
              <a:rPr sz="3800" b="1">
                <a:solidFill>
                  <a:srgbClr val="333333"/>
                </a:solidFill>
                <a:latin typeface="Avenir Next"/>
              </a:rPr>
              <a:t>Das deutsche Schulsystem</a:t>
            </a:r>
          </a:p>
        </p:txBody>
      </p:sp>
      <p:sp>
        <p:nvSpPr>
          <p:cNvPr id="5" name="TextBox 4"/>
          <p:cNvSpPr txBox="1"/>
          <p:nvPr/>
        </p:nvSpPr>
        <p:spPr>
          <a:xfrm>
            <a:off x="731520" y="1051560"/>
            <a:ext cx="5029200" cy="365760"/>
          </a:xfrm>
          <a:prstGeom prst="rect">
            <a:avLst/>
          </a:prstGeom>
          <a:noFill/>
        </p:spPr>
        <p:txBody>
          <a:bodyPr wrap="none">
            <a:spAutoFit/>
          </a:bodyPr>
          <a:lstStyle/>
          <a:p>
            <a:pPr algn="l"/>
            <a:r>
              <a:rPr sz="1600" b="0">
                <a:solidFill>
                  <a:srgbClr val="666666"/>
                </a:solidFill>
                <a:latin typeface="Avenir Next"/>
              </a:rPr>
              <a:t>Überblick über zentrale Schulformen</a:t>
            </a:r>
          </a:p>
        </p:txBody>
      </p:sp>
      <p:sp>
        <p:nvSpPr>
          <p:cNvPr id="6" name="Rounded Rectangle 5"/>
          <p:cNvSpPr/>
          <p:nvPr/>
        </p:nvSpPr>
        <p:spPr>
          <a:xfrm>
            <a:off x="731520" y="1828800"/>
            <a:ext cx="1920240" cy="4297680"/>
          </a:xfrm>
          <a:prstGeom prst="roundRect">
            <a:avLst/>
          </a:prstGeom>
          <a:solidFill>
            <a:srgbClr val="CFEFFF">
              <a:lumMod val="84000"/>
              <a:lumOff val="16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a:t>🎓</a:t>
            </a:r>
          </a:p>
          <a:p>
            <a:pPr algn="ctr"/>
            <a:r>
              <a:rPr sz="1400" b="1">
                <a:latin typeface="Avenir Next"/>
              </a:rPr>
              <a:t>Gymnasium</a:t>
            </a:r>
          </a:p>
          <a:p>
            <a:r>
              <a:rPr sz="1100">
                <a:latin typeface="Avenir Next"/>
              </a:rPr>
              <a:t>Abitur, hohe akademische Anforderungen.</a:t>
            </a:r>
          </a:p>
        </p:txBody>
      </p:sp>
      <p:sp>
        <p:nvSpPr>
          <p:cNvPr id="7" name="Rounded Rectangle 6"/>
          <p:cNvSpPr/>
          <p:nvPr/>
        </p:nvSpPr>
        <p:spPr>
          <a:xfrm>
            <a:off x="3063240" y="1828800"/>
            <a:ext cx="1920240" cy="4297680"/>
          </a:xfrm>
          <a:prstGeom prst="roundRect">
            <a:avLst/>
          </a:prstGeom>
          <a:solidFill>
            <a:srgbClr val="FFD9E8">
              <a:lumMod val="84000"/>
              <a:lumOff val="16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a:t>📘</a:t>
            </a:r>
          </a:p>
          <a:p>
            <a:pPr algn="ctr"/>
            <a:r>
              <a:rPr sz="1400" b="1">
                <a:latin typeface="Avenir Next"/>
              </a:rPr>
              <a:t>Realschule</a:t>
            </a:r>
          </a:p>
          <a:p>
            <a:r>
              <a:rPr sz="1100">
                <a:latin typeface="Avenir Next"/>
              </a:rPr>
              <a:t>Mittlerer Abschluss, Verbindung aus Theorie und Praxis.</a:t>
            </a:r>
          </a:p>
        </p:txBody>
      </p:sp>
      <p:sp>
        <p:nvSpPr>
          <p:cNvPr id="8" name="Rounded Rectangle 7"/>
          <p:cNvSpPr/>
          <p:nvPr/>
        </p:nvSpPr>
        <p:spPr>
          <a:xfrm>
            <a:off x="5394960" y="1828800"/>
            <a:ext cx="1920240" cy="4297680"/>
          </a:xfrm>
          <a:prstGeom prst="roundRect">
            <a:avLst/>
          </a:prstGeom>
          <a:solidFill>
            <a:srgbClr val="FFF7C7">
              <a:lumMod val="84000"/>
              <a:lumOff val="16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a:t>🛠️</a:t>
            </a:r>
          </a:p>
          <a:p>
            <a:pPr algn="ctr"/>
            <a:r>
              <a:rPr sz="1400" b="1">
                <a:latin typeface="Avenir Next"/>
              </a:rPr>
              <a:t>Hauptschule</a:t>
            </a:r>
          </a:p>
          <a:p>
            <a:r>
              <a:rPr sz="1100">
                <a:latin typeface="Avenir Next"/>
              </a:rPr>
              <a:t>Traditionell praxisnah; heute teils in neue Modelle integriert.</a:t>
            </a:r>
          </a:p>
        </p:txBody>
      </p:sp>
      <p:sp>
        <p:nvSpPr>
          <p:cNvPr id="9" name="Rounded Rectangle 8"/>
          <p:cNvSpPr/>
          <p:nvPr/>
        </p:nvSpPr>
        <p:spPr>
          <a:xfrm>
            <a:off x="7726679" y="1828800"/>
            <a:ext cx="1920240" cy="4297680"/>
          </a:xfrm>
          <a:prstGeom prst="roundRect">
            <a:avLst/>
          </a:prstGeom>
          <a:solidFill>
            <a:srgbClr val="CFEFFF">
              <a:lumMod val="84000"/>
              <a:lumOff val="16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a:t>👥</a:t>
            </a:r>
          </a:p>
          <a:p>
            <a:pPr algn="ctr"/>
            <a:r>
              <a:rPr sz="1400" b="1">
                <a:latin typeface="Avenir Next"/>
              </a:rPr>
              <a:t>Gesamtschule</a:t>
            </a:r>
          </a:p>
          <a:p>
            <a:r>
              <a:rPr sz="1100">
                <a:latin typeface="Avenir Next"/>
              </a:rPr>
              <a:t>Längeres gemeinsames Lernen mit verschiedenen Niveaus.</a:t>
            </a:r>
          </a:p>
        </p:txBody>
      </p:sp>
      <p:sp>
        <p:nvSpPr>
          <p:cNvPr id="10" name="Rounded Rectangle 9"/>
          <p:cNvSpPr/>
          <p:nvPr/>
        </p:nvSpPr>
        <p:spPr>
          <a:xfrm>
            <a:off x="10058400" y="1828800"/>
            <a:ext cx="1920240" cy="4297680"/>
          </a:xfrm>
          <a:prstGeom prst="roundRect">
            <a:avLst/>
          </a:prstGeom>
          <a:solidFill>
            <a:srgbClr val="FFD9E8">
              <a:lumMod val="84000"/>
              <a:lumOff val="16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800"/>
              <a:t>💼</a:t>
            </a:r>
          </a:p>
          <a:p>
            <a:pPr algn="ctr"/>
            <a:r>
              <a:rPr sz="1400" b="1">
                <a:latin typeface="Avenir Next"/>
              </a:rPr>
              <a:t>Berufliche Schule</a:t>
            </a:r>
          </a:p>
          <a:p>
            <a:r>
              <a:rPr sz="1100">
                <a:latin typeface="Avenir Next"/>
              </a:rPr>
              <a:t>Duale Ausbildung mit enger Verbindung zum Betrieb.</a:t>
            </a:r>
          </a:p>
        </p:txBody>
      </p:sp>
    </p:spTree>
  </p:cSld>
  <p:clrMapOvr>
    <a:masterClrMapping/>
  </p:clrMapOvr>
  <p:transition>
    <p:uncover dir="r"/>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FFD9E8">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CFEFFF">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6858000" cy="731520"/>
          </a:xfrm>
          <a:prstGeom prst="rect">
            <a:avLst/>
          </a:prstGeom>
          <a:noFill/>
        </p:spPr>
        <p:txBody>
          <a:bodyPr wrap="none">
            <a:spAutoFit/>
          </a:bodyPr>
          <a:lstStyle/>
          <a:p>
            <a:pPr algn="l"/>
            <a:r>
              <a:rPr sz="3700" b="1">
                <a:solidFill>
                  <a:srgbClr val="333333"/>
                </a:solidFill>
                <a:latin typeface="Avenir Next"/>
              </a:rPr>
              <a:t>Leistungsdruck und Wohlbefinden</a:t>
            </a:r>
          </a:p>
        </p:txBody>
      </p:sp>
      <p:sp>
        <p:nvSpPr>
          <p:cNvPr id="5" name="Rounded Rectangle 4"/>
          <p:cNvSpPr/>
          <p:nvPr/>
        </p:nvSpPr>
        <p:spPr>
          <a:xfrm>
            <a:off x="822960" y="1463040"/>
            <a:ext cx="4937760" cy="3566160"/>
          </a:xfrm>
          <a:prstGeom prst="roundRect">
            <a:avLst/>
          </a:prstGeom>
          <a:solidFill>
            <a:srgbClr val="FFD9E8">
              <a:lumMod val="92000"/>
              <a:lumOff val="8000"/>
            </a:srgbClr>
          </a:solidFill>
          <a:ln w="1524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lIns="182880" rIns="137160" tIns="109728" wrap="square"/>
          <a:lstStyle/>
          <a:p>
            <a:pPr algn="ctr"/>
            <a:r>
              <a:rPr sz="2200" b="1">
                <a:solidFill>
                  <a:srgbClr val="333333"/>
                </a:solidFill>
                <a:latin typeface="Avenir Next"/>
              </a:rPr>
              <a:t>Leistungsdruck</a:t>
            </a:r>
          </a:p>
          <a:p>
            <a:pPr>
              <a:spcAft>
                <a:spcPts val="200"/>
              </a:spcAft>
            </a:pPr>
            <a:r>
              <a:rPr sz="1600">
                <a:solidFill>
                  <a:srgbClr val="333333"/>
                </a:solidFill>
                <a:latin typeface="Avenir Next"/>
              </a:rPr>
              <a:t>• Noten</a:t>
            </a:r>
          </a:p>
          <a:p>
            <a:pPr>
              <a:spcAft>
                <a:spcPts val="200"/>
              </a:spcAft>
            </a:pPr>
            <a:r>
              <a:rPr sz="1600">
                <a:solidFill>
                  <a:srgbClr val="333333"/>
                </a:solidFill>
                <a:latin typeface="Avenir Next"/>
              </a:rPr>
              <a:t>• Prüfungen</a:t>
            </a:r>
          </a:p>
          <a:p>
            <a:pPr>
              <a:spcAft>
                <a:spcPts val="200"/>
              </a:spcAft>
            </a:pPr>
            <a:r>
              <a:rPr sz="1600">
                <a:solidFill>
                  <a:srgbClr val="333333"/>
                </a:solidFill>
                <a:latin typeface="Avenir Next"/>
              </a:rPr>
              <a:t>• Konkurrenz</a:t>
            </a:r>
          </a:p>
          <a:p>
            <a:pPr>
              <a:spcAft>
                <a:spcPts val="200"/>
              </a:spcAft>
            </a:pPr>
            <a:r>
              <a:rPr sz="1600">
                <a:solidFill>
                  <a:srgbClr val="333333"/>
                </a:solidFill>
                <a:latin typeface="Avenir Next"/>
              </a:rPr>
              <a:t>• Erwartungen</a:t>
            </a:r>
          </a:p>
        </p:txBody>
      </p:sp>
      <p:sp>
        <p:nvSpPr>
          <p:cNvPr id="6" name="Rounded Rectangle 5"/>
          <p:cNvSpPr/>
          <p:nvPr/>
        </p:nvSpPr>
        <p:spPr>
          <a:xfrm>
            <a:off x="6309360" y="1463040"/>
            <a:ext cx="4937760" cy="3566160"/>
          </a:xfrm>
          <a:prstGeom prst="roundRect">
            <a:avLst/>
          </a:prstGeom>
          <a:solidFill>
            <a:srgbClr val="CFEFFF">
              <a:lumMod val="92000"/>
              <a:lumOff val="8000"/>
            </a:srgbClr>
          </a:solidFill>
          <a:ln w="1524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lIns="182880" rIns="137160" tIns="109728" wrap="square"/>
          <a:lstStyle/>
          <a:p>
            <a:pPr algn="ctr"/>
            <a:r>
              <a:rPr sz="2200" b="1">
                <a:solidFill>
                  <a:srgbClr val="333333"/>
                </a:solidFill>
                <a:latin typeface="Avenir Next"/>
              </a:rPr>
              <a:t>Folgen</a:t>
            </a:r>
          </a:p>
          <a:p>
            <a:pPr>
              <a:spcAft>
                <a:spcPts val="200"/>
              </a:spcAft>
            </a:pPr>
            <a:r>
              <a:rPr sz="1600">
                <a:solidFill>
                  <a:srgbClr val="333333"/>
                </a:solidFill>
                <a:latin typeface="Avenir Next"/>
              </a:rPr>
              <a:t>• Stress</a:t>
            </a:r>
          </a:p>
          <a:p>
            <a:pPr>
              <a:spcAft>
                <a:spcPts val="200"/>
              </a:spcAft>
            </a:pPr>
            <a:r>
              <a:rPr sz="1600">
                <a:solidFill>
                  <a:srgbClr val="333333"/>
                </a:solidFill>
                <a:latin typeface="Avenir Next"/>
              </a:rPr>
              <a:t>• Schlafprobleme</a:t>
            </a:r>
          </a:p>
          <a:p>
            <a:pPr>
              <a:spcAft>
                <a:spcPts val="200"/>
              </a:spcAft>
            </a:pPr>
            <a:r>
              <a:rPr sz="1600">
                <a:solidFill>
                  <a:srgbClr val="333333"/>
                </a:solidFill>
                <a:latin typeface="Avenir Next"/>
              </a:rPr>
              <a:t>• Unsicherheit</a:t>
            </a:r>
          </a:p>
          <a:p>
            <a:pPr>
              <a:spcAft>
                <a:spcPts val="200"/>
              </a:spcAft>
            </a:pPr>
            <a:r>
              <a:rPr sz="1600">
                <a:solidFill>
                  <a:srgbClr val="333333"/>
                </a:solidFill>
                <a:latin typeface="Avenir Next"/>
              </a:rPr>
              <a:t>• geringeres Selbstwertgefühl</a:t>
            </a:r>
          </a:p>
        </p:txBody>
      </p:sp>
      <p:sp>
        <p:nvSpPr>
          <p:cNvPr id="7" name="TextBox 6"/>
          <p:cNvSpPr txBox="1"/>
          <p:nvPr/>
        </p:nvSpPr>
        <p:spPr>
          <a:xfrm>
            <a:off x="10515600" y="868680"/>
            <a:ext cx="1097280" cy="731520"/>
          </a:xfrm>
          <a:prstGeom prst="rect">
            <a:avLst/>
          </a:prstGeom>
          <a:noFill/>
        </p:spPr>
        <p:txBody>
          <a:bodyPr wrap="none">
            <a:spAutoFit/>
          </a:bodyPr>
          <a:lstStyle/>
          <a:p>
            <a:pPr algn="ctr"/>
            <a:r>
              <a:rPr sz="4200" b="0">
                <a:solidFill>
                  <a:srgbClr val="333333"/>
                </a:solidFill>
                <a:latin typeface="Avenir Next"/>
              </a:rPr>
              <a:t>😵‍💫</a:t>
            </a:r>
          </a:p>
        </p:txBody>
      </p:sp>
      <p:sp>
        <p:nvSpPr>
          <p:cNvPr id="8" name="Rounded Rectangle 7"/>
          <p:cNvSpPr/>
          <p:nvPr/>
        </p:nvSpPr>
        <p:spPr>
          <a:xfrm>
            <a:off x="914400" y="5212080"/>
            <a:ext cx="10241280" cy="914400"/>
          </a:xfrm>
          <a:prstGeom prst="roundRect">
            <a:avLst/>
          </a:prstGeom>
          <a:solidFill>
            <a:srgbClr val="FFF7C7"/>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latin typeface="Avenir Next"/>
              </a:rPr>
              <a:t>Merksatz: Leistungsdruck kann Motivation fördern, aber auch das Wohlbefinden beeinträchtigen.</a:t>
            </a:r>
          </a:p>
        </p:txBody>
      </p:sp>
    </p:spTree>
  </p:cSld>
  <p:clrMapOvr>
    <a:masterClrMapping/>
  </p:clrMapOvr>
  <p:transition>
    <p:split orient="vert" dir="out"/>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CFEFFF">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FFF7C7">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3657600" cy="731520"/>
          </a:xfrm>
          <a:prstGeom prst="rect">
            <a:avLst/>
          </a:prstGeom>
          <a:noFill/>
        </p:spPr>
        <p:txBody>
          <a:bodyPr wrap="none">
            <a:spAutoFit/>
          </a:bodyPr>
          <a:lstStyle/>
          <a:p>
            <a:pPr algn="l"/>
            <a:r>
              <a:rPr sz="4000" b="1">
                <a:solidFill>
                  <a:srgbClr val="333333"/>
                </a:solidFill>
                <a:latin typeface="Avenir Next"/>
              </a:rPr>
              <a:t>Schulklima</a:t>
            </a:r>
          </a:p>
        </p:txBody>
      </p:sp>
      <p:sp>
        <p:nvSpPr>
          <p:cNvPr id="5" name="TextBox 4"/>
          <p:cNvSpPr txBox="1"/>
          <p:nvPr/>
        </p:nvSpPr>
        <p:spPr>
          <a:xfrm>
            <a:off x="731520" y="1097280"/>
            <a:ext cx="5486400" cy="365760"/>
          </a:xfrm>
          <a:prstGeom prst="rect">
            <a:avLst/>
          </a:prstGeom>
          <a:noFill/>
        </p:spPr>
        <p:txBody>
          <a:bodyPr wrap="none">
            <a:spAutoFit/>
          </a:bodyPr>
          <a:lstStyle/>
          <a:p>
            <a:pPr algn="l"/>
            <a:r>
              <a:rPr sz="1600" b="0">
                <a:solidFill>
                  <a:srgbClr val="666666"/>
                </a:solidFill>
                <a:latin typeface="Avenir Next"/>
              </a:rPr>
              <a:t>Beziehungen und Beteiligung als Schutzfaktoren</a:t>
            </a:r>
          </a:p>
        </p:txBody>
      </p:sp>
      <p:sp>
        <p:nvSpPr>
          <p:cNvPr id="6" name="Rounded Rectangle 5"/>
          <p:cNvSpPr/>
          <p:nvPr/>
        </p:nvSpPr>
        <p:spPr>
          <a:xfrm>
            <a:off x="822960" y="1828800"/>
            <a:ext cx="3657600" cy="4114800"/>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333333"/>
                </a:solidFill>
                <a:latin typeface="Avenir Next"/>
              </a:rPr>
              <a:t>👩‍🏫  Lehrer-Schüler-Verhältnis</a:t>
            </a:r>
          </a:p>
          <a:p>
            <a:r>
              <a:rPr sz="1400">
                <a:solidFill>
                  <a:srgbClr val="333333"/>
                </a:solidFill>
                <a:latin typeface="Avenir Next"/>
              </a:rPr>
              <a:t>• Vertrauen senkt Stress</a:t>
            </a:r>
          </a:p>
          <a:p>
            <a:r>
              <a:rPr sz="1400">
                <a:solidFill>
                  <a:srgbClr val="333333"/>
                </a:solidFill>
                <a:latin typeface="Avenir Next"/>
              </a:rPr>
              <a:t>• Unterstützung stärkt Motivation</a:t>
            </a:r>
          </a:p>
          <a:p>
            <a:r>
              <a:rPr sz="1400">
                <a:solidFill>
                  <a:srgbClr val="333333"/>
                </a:solidFill>
                <a:latin typeface="Avenir Next"/>
              </a:rPr>
              <a:t>• Respekt fördert Sicherheit</a:t>
            </a:r>
          </a:p>
        </p:txBody>
      </p:sp>
      <p:sp>
        <p:nvSpPr>
          <p:cNvPr id="7" name="Rounded Rectangle 6"/>
          <p:cNvSpPr/>
          <p:nvPr/>
        </p:nvSpPr>
        <p:spPr>
          <a:xfrm>
            <a:off x="4526280" y="1828800"/>
            <a:ext cx="3566160" cy="4114800"/>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333333"/>
                </a:solidFill>
                <a:latin typeface="Avenir Next"/>
              </a:rPr>
              <a:t>🗳️  Mitbestimmung</a:t>
            </a:r>
          </a:p>
          <a:p>
            <a:r>
              <a:rPr sz="1400">
                <a:solidFill>
                  <a:srgbClr val="333333"/>
                </a:solidFill>
                <a:latin typeface="Avenir Next"/>
              </a:rPr>
              <a:t>• Beteiligung im Schulalltag</a:t>
            </a:r>
          </a:p>
          <a:p>
            <a:r>
              <a:rPr sz="1400">
                <a:solidFill>
                  <a:srgbClr val="333333"/>
                </a:solidFill>
                <a:latin typeface="Avenir Next"/>
              </a:rPr>
              <a:t>• mehr Selbstwirksamkeit</a:t>
            </a:r>
          </a:p>
          <a:p>
            <a:r>
              <a:rPr sz="1400">
                <a:solidFill>
                  <a:srgbClr val="333333"/>
                </a:solidFill>
                <a:latin typeface="Avenir Next"/>
              </a:rPr>
              <a:t>• Meinung zählt</a:t>
            </a:r>
          </a:p>
        </p:txBody>
      </p:sp>
      <p:sp>
        <p:nvSpPr>
          <p:cNvPr id="8" name="Rounded Rectangle 7"/>
          <p:cNvSpPr/>
          <p:nvPr/>
        </p:nvSpPr>
        <p:spPr>
          <a:xfrm>
            <a:off x="8138160" y="1828800"/>
            <a:ext cx="3566160" cy="4114800"/>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333333"/>
                </a:solidFill>
                <a:latin typeface="Avenir Next"/>
              </a:rPr>
              <a:t>💬  Feedbackkultur</a:t>
            </a:r>
          </a:p>
          <a:p>
            <a:r>
              <a:rPr sz="1400">
                <a:solidFill>
                  <a:srgbClr val="333333"/>
                </a:solidFill>
                <a:latin typeface="Avenir Next"/>
              </a:rPr>
              <a:t>• Noten plus qualitative Rückmeldung</a:t>
            </a:r>
          </a:p>
          <a:p>
            <a:r>
              <a:rPr sz="1400">
                <a:solidFill>
                  <a:srgbClr val="333333"/>
                </a:solidFill>
                <a:latin typeface="Avenir Next"/>
              </a:rPr>
              <a:t>• individuelle Lernentwicklung</a:t>
            </a:r>
          </a:p>
          <a:p>
            <a:r>
              <a:rPr sz="1400">
                <a:solidFill>
                  <a:srgbClr val="333333"/>
                </a:solidFill>
                <a:latin typeface="Avenir Next"/>
              </a:rPr>
              <a:t>• formative Orientierung</a:t>
            </a:r>
          </a:p>
        </p:txBody>
      </p:sp>
    </p:spTree>
  </p:cSld>
  <p:clrMapOvr>
    <a:masterClrMapping/>
  </p:clrMapOvr>
  <p:transition>
    <p:push dir="r"/>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FFD9E8">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CFEFFF">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4114800" cy="731520"/>
          </a:xfrm>
          <a:prstGeom prst="rect">
            <a:avLst/>
          </a:prstGeom>
          <a:noFill/>
        </p:spPr>
        <p:txBody>
          <a:bodyPr wrap="none">
            <a:spAutoFit/>
          </a:bodyPr>
          <a:lstStyle/>
          <a:p>
            <a:pPr algn="l"/>
            <a:r>
              <a:rPr sz="4000" b="1">
                <a:solidFill>
                  <a:srgbClr val="333333"/>
                </a:solidFill>
                <a:latin typeface="Avenir Next"/>
              </a:rPr>
              <a:t>Kurze Umfrage</a:t>
            </a:r>
          </a:p>
        </p:txBody>
      </p:sp>
      <p:sp>
        <p:nvSpPr>
          <p:cNvPr id="5" name="Rounded Rectangle 4"/>
          <p:cNvSpPr/>
          <p:nvPr/>
        </p:nvSpPr>
        <p:spPr>
          <a:xfrm>
            <a:off x="914400" y="1417320"/>
            <a:ext cx="10149840" cy="1371600"/>
          </a:xfrm>
          <a:prstGeom prst="roundRect">
            <a:avLst/>
          </a:prstGeom>
          <a:solidFill>
            <a:srgbClr val="CFEFFF">
              <a:lumMod val="90000"/>
              <a:lumOff val="1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700" b="1">
                <a:latin typeface="Avenir Next"/>
              </a:rPr>
              <a:t>Was beeinflusst euer Wohlbefinden in der Schule am stärksten?</a:t>
            </a:r>
          </a:p>
        </p:txBody>
      </p:sp>
      <p:sp>
        <p:nvSpPr>
          <p:cNvPr id="6" name="Rounded Rectangle 5"/>
          <p:cNvSpPr/>
          <p:nvPr/>
        </p:nvSpPr>
        <p:spPr>
          <a:xfrm>
            <a:off x="1280160" y="3154680"/>
            <a:ext cx="4480560" cy="914400"/>
          </a:xfrm>
          <a:prstGeom prst="roundRect">
            <a:avLst/>
          </a:prstGeom>
          <a:solidFill>
            <a:srgbClr val="FFD9E8">
              <a:lumMod val="92000"/>
              <a:lumOff val="8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latin typeface="Avenir Next"/>
              </a:rPr>
              <a:t>📚 Notendruck</a:t>
            </a:r>
          </a:p>
        </p:txBody>
      </p:sp>
      <p:sp>
        <p:nvSpPr>
          <p:cNvPr id="7" name="Rounded Rectangle 6"/>
          <p:cNvSpPr/>
          <p:nvPr/>
        </p:nvSpPr>
        <p:spPr>
          <a:xfrm>
            <a:off x="6355080" y="3154680"/>
            <a:ext cx="4480560" cy="914400"/>
          </a:xfrm>
          <a:prstGeom prst="roundRect">
            <a:avLst/>
          </a:prstGeom>
          <a:solidFill>
            <a:srgbClr val="FFF7C7">
              <a:lumMod val="92000"/>
              <a:lumOff val="8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latin typeface="Avenir Next"/>
              </a:rPr>
              <a:t>👩‍🏫 Lehrkräfte</a:t>
            </a:r>
          </a:p>
        </p:txBody>
      </p:sp>
      <p:sp>
        <p:nvSpPr>
          <p:cNvPr id="8" name="Rounded Rectangle 7"/>
          <p:cNvSpPr/>
          <p:nvPr/>
        </p:nvSpPr>
        <p:spPr>
          <a:xfrm>
            <a:off x="1280160" y="4343400"/>
            <a:ext cx="4480560" cy="914400"/>
          </a:xfrm>
          <a:prstGeom prst="roundRect">
            <a:avLst/>
          </a:prstGeom>
          <a:solidFill>
            <a:srgbClr val="CFEFFF">
              <a:lumMod val="92000"/>
              <a:lumOff val="8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latin typeface="Avenir Next"/>
              </a:rPr>
              <a:t>👥 Mitschüler</a:t>
            </a:r>
          </a:p>
        </p:txBody>
      </p:sp>
      <p:sp>
        <p:nvSpPr>
          <p:cNvPr id="9" name="Rounded Rectangle 8"/>
          <p:cNvSpPr/>
          <p:nvPr/>
        </p:nvSpPr>
        <p:spPr>
          <a:xfrm>
            <a:off x="6355080" y="4343400"/>
            <a:ext cx="4480560" cy="914400"/>
          </a:xfrm>
          <a:prstGeom prst="roundRect">
            <a:avLst/>
          </a:prstGeom>
          <a:solidFill>
            <a:srgbClr val="FFD9E8">
              <a:lumMod val="92000"/>
              <a:lumOff val="8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100" b="1">
                <a:latin typeface="Avenir Next"/>
              </a:rPr>
              <a:t>🕒 Zeitstress</a:t>
            </a:r>
          </a:p>
        </p:txBody>
      </p:sp>
      <p:sp>
        <p:nvSpPr>
          <p:cNvPr id="10" name="TextBox 9"/>
          <p:cNvSpPr txBox="1"/>
          <p:nvPr/>
        </p:nvSpPr>
        <p:spPr>
          <a:xfrm>
            <a:off x="4754880" y="5486400"/>
            <a:ext cx="2743200" cy="365760"/>
          </a:xfrm>
          <a:prstGeom prst="rect">
            <a:avLst/>
          </a:prstGeom>
          <a:noFill/>
        </p:spPr>
        <p:txBody>
          <a:bodyPr wrap="none">
            <a:spAutoFit/>
          </a:bodyPr>
          <a:lstStyle/>
          <a:p>
            <a:pPr algn="ctr"/>
            <a:r>
              <a:rPr sz="1600" b="0">
                <a:solidFill>
                  <a:srgbClr val="666666"/>
                </a:solidFill>
                <a:latin typeface="Avenir Next"/>
              </a:rPr>
              <a:t>Kurzes Handzeichen</a:t>
            </a:r>
          </a:p>
        </p:txBody>
      </p:sp>
      <p:sp>
        <p:nvSpPr>
          <p:cNvPr id="11" name="TextBox 10"/>
          <p:cNvSpPr txBox="1"/>
          <p:nvPr/>
        </p:nvSpPr>
        <p:spPr>
          <a:xfrm>
            <a:off x="2834640" y="5806440"/>
            <a:ext cx="6583680" cy="457200"/>
          </a:xfrm>
          <a:prstGeom prst="rect">
            <a:avLst/>
          </a:prstGeom>
          <a:noFill/>
        </p:spPr>
        <p:txBody>
          <a:bodyPr wrap="none">
            <a:spAutoFit/>
          </a:bodyPr>
          <a:lstStyle/>
          <a:p>
            <a:pPr algn="ctr"/>
            <a:r>
              <a:rPr sz="1600" b="1">
                <a:solidFill>
                  <a:srgbClr val="333333"/>
                </a:solidFill>
                <a:latin typeface="Avenir Next"/>
              </a:rPr>
              <a:t>Alle Faktoren spielen laut Facharbeit eine wichtige Rolle.</a:t>
            </a:r>
          </a:p>
        </p:txBody>
      </p:sp>
    </p:spTree>
  </p:cSld>
  <p:clrMapOvr>
    <a:masterClrMapping/>
  </p:clrMapOvr>
  <p:transition>
    <p:randomBar dir="vert"/>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FFD9E8">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FFF7C7">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669280" cy="731520"/>
          </a:xfrm>
          <a:prstGeom prst="rect">
            <a:avLst/>
          </a:prstGeom>
          <a:noFill/>
        </p:spPr>
        <p:txBody>
          <a:bodyPr wrap="none">
            <a:spAutoFit/>
          </a:bodyPr>
          <a:lstStyle/>
          <a:p>
            <a:pPr algn="l"/>
            <a:r>
              <a:rPr sz="3800" b="1">
                <a:solidFill>
                  <a:srgbClr val="333333"/>
                </a:solidFill>
                <a:latin typeface="Avenir Next"/>
              </a:rPr>
              <a:t>Internationaler Vergleich</a:t>
            </a:r>
          </a:p>
        </p:txBody>
      </p:sp>
      <p:sp>
        <p:nvSpPr>
          <p:cNvPr id="5" name="TextBox 4"/>
          <p:cNvSpPr txBox="1"/>
          <p:nvPr/>
        </p:nvSpPr>
        <p:spPr>
          <a:xfrm>
            <a:off x="731520" y="1097280"/>
            <a:ext cx="6400800" cy="365760"/>
          </a:xfrm>
          <a:prstGeom prst="rect">
            <a:avLst/>
          </a:prstGeom>
          <a:noFill/>
        </p:spPr>
        <p:txBody>
          <a:bodyPr wrap="none">
            <a:spAutoFit/>
          </a:bodyPr>
          <a:lstStyle/>
          <a:p>
            <a:pPr algn="l"/>
            <a:r>
              <a:rPr sz="1600" b="0">
                <a:solidFill>
                  <a:srgbClr val="666666"/>
                </a:solidFill>
                <a:latin typeface="Avenir Next"/>
              </a:rPr>
              <a:t>Deutschland – Finnland – angelsächsische Systeme</a:t>
            </a:r>
          </a:p>
        </p:txBody>
      </p:sp>
      <p:sp>
        <p:nvSpPr>
          <p:cNvPr id="6" name="Rounded Rectangle 5"/>
          <p:cNvSpPr/>
          <p:nvPr/>
        </p:nvSpPr>
        <p:spPr>
          <a:xfrm>
            <a:off x="822960" y="1737360"/>
            <a:ext cx="3566160" cy="4206240"/>
          </a:xfrm>
          <a:prstGeom prst="roundRect">
            <a:avLst/>
          </a:prstGeom>
          <a:solidFill>
            <a:srgbClr val="FFD9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333333"/>
                </a:solidFill>
                <a:latin typeface="Avenir Next"/>
              </a:rPr>
              <a:t>🇩🇪  Deutschland</a:t>
            </a:r>
          </a:p>
          <a:p>
            <a:r>
              <a:rPr sz="1400">
                <a:solidFill>
                  <a:srgbClr val="333333"/>
                </a:solidFill>
                <a:latin typeface="Avenir Next"/>
              </a:rPr>
              <a:t>• frühe Aufteilung</a:t>
            </a:r>
          </a:p>
          <a:p>
            <a:r>
              <a:rPr sz="1400">
                <a:solidFill>
                  <a:srgbClr val="333333"/>
                </a:solidFill>
                <a:latin typeface="Avenir Next"/>
              </a:rPr>
              <a:t>• viele Noten</a:t>
            </a:r>
          </a:p>
          <a:p>
            <a:r>
              <a:rPr sz="1400">
                <a:solidFill>
                  <a:srgbClr val="333333"/>
                </a:solidFill>
                <a:latin typeface="Avenir Next"/>
              </a:rPr>
              <a:t>• starke Selektionslogik</a:t>
            </a:r>
          </a:p>
        </p:txBody>
      </p:sp>
      <p:sp>
        <p:nvSpPr>
          <p:cNvPr id="7" name="Rounded Rectangle 6"/>
          <p:cNvSpPr/>
          <p:nvPr/>
        </p:nvSpPr>
        <p:spPr>
          <a:xfrm>
            <a:off x="4526280" y="1737360"/>
            <a:ext cx="3566160" cy="4206240"/>
          </a:xfrm>
          <a:prstGeom prst="roundRect">
            <a:avLst/>
          </a:prstGeom>
          <a:solidFill>
            <a:srgbClr val="CFE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333333"/>
                </a:solidFill>
                <a:latin typeface="Avenir Next"/>
              </a:rPr>
              <a:t>🇫🇮  Finnland</a:t>
            </a:r>
          </a:p>
          <a:p>
            <a:r>
              <a:rPr sz="1400">
                <a:solidFill>
                  <a:srgbClr val="333333"/>
                </a:solidFill>
                <a:latin typeface="Avenir Next"/>
              </a:rPr>
              <a:t>• längeres gemeinsames Lernen</a:t>
            </a:r>
          </a:p>
          <a:p>
            <a:r>
              <a:rPr sz="1400">
                <a:solidFill>
                  <a:srgbClr val="333333"/>
                </a:solidFill>
                <a:latin typeface="Avenir Next"/>
              </a:rPr>
              <a:t>• spätere Differenzierung</a:t>
            </a:r>
          </a:p>
          <a:p>
            <a:r>
              <a:rPr sz="1400">
                <a:solidFill>
                  <a:srgbClr val="333333"/>
                </a:solidFill>
                <a:latin typeface="Avenir Next"/>
              </a:rPr>
              <a:t>• mehr Fokus auf Lernfortschritt</a:t>
            </a:r>
          </a:p>
        </p:txBody>
      </p:sp>
      <p:sp>
        <p:nvSpPr>
          <p:cNvPr id="8" name="Rounded Rectangle 7"/>
          <p:cNvSpPr/>
          <p:nvPr/>
        </p:nvSpPr>
        <p:spPr>
          <a:xfrm>
            <a:off x="8229600" y="1737360"/>
            <a:ext cx="3017520" cy="4206240"/>
          </a:xfrm>
          <a:prstGeom prst="roundRect">
            <a:avLst/>
          </a:prstGeom>
          <a:solidFill>
            <a:srgbClr val="FFF7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000" b="1">
                <a:solidFill>
                  <a:srgbClr val="333333"/>
                </a:solidFill>
                <a:latin typeface="Avenir Next"/>
              </a:rPr>
              <a:t>🌍  Angelsächsische Systeme</a:t>
            </a:r>
          </a:p>
          <a:p>
            <a:r>
              <a:rPr sz="1400">
                <a:solidFill>
                  <a:srgbClr val="333333"/>
                </a:solidFill>
                <a:latin typeface="Avenir Next"/>
              </a:rPr>
              <a:t>• mehr Praxis</a:t>
            </a:r>
          </a:p>
          <a:p>
            <a:r>
              <a:rPr sz="1400">
                <a:solidFill>
                  <a:srgbClr val="333333"/>
                </a:solidFill>
                <a:latin typeface="Avenir Next"/>
              </a:rPr>
              <a:t>• mehr Wahlmöglichkeiten</a:t>
            </a:r>
          </a:p>
          <a:p>
            <a:r>
              <a:rPr sz="1400">
                <a:solidFill>
                  <a:srgbClr val="333333"/>
                </a:solidFill>
                <a:latin typeface="Avenir Next"/>
              </a:rPr>
              <a:t>• projektorientierte Elemente</a:t>
            </a:r>
          </a:p>
        </p:txBody>
      </p:sp>
      <p:sp>
        <p:nvSpPr>
          <p:cNvPr id="9" name="TextBox 8"/>
          <p:cNvSpPr txBox="1"/>
          <p:nvPr/>
        </p:nvSpPr>
        <p:spPr>
          <a:xfrm>
            <a:off x="4206240" y="5989320"/>
            <a:ext cx="3840480" cy="411480"/>
          </a:xfrm>
          <a:prstGeom prst="rect">
            <a:avLst/>
          </a:prstGeom>
          <a:noFill/>
        </p:spPr>
        <p:txBody>
          <a:bodyPr wrap="none">
            <a:spAutoFit/>
          </a:bodyPr>
          <a:lstStyle/>
          <a:p>
            <a:pPr algn="ctr"/>
            <a:r>
              <a:rPr sz="1900" b="1">
                <a:solidFill>
                  <a:srgbClr val="333333"/>
                </a:solidFill>
                <a:latin typeface="Avenir Next"/>
              </a:rPr>
              <a:t>Kein System ist perfekt.</a:t>
            </a:r>
          </a:p>
        </p:txBody>
      </p:sp>
    </p:spTree>
  </p:cSld>
  <p:clrMapOvr>
    <a:masterClrMapping/>
  </p:clrMapOvr>
  <p:transition>
    <p:circle/>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CFEFFF">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CFEFFF">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5486400" cy="731520"/>
          </a:xfrm>
          <a:prstGeom prst="rect">
            <a:avLst/>
          </a:prstGeom>
          <a:noFill/>
        </p:spPr>
        <p:txBody>
          <a:bodyPr wrap="none">
            <a:spAutoFit/>
          </a:bodyPr>
          <a:lstStyle/>
          <a:p>
            <a:pPr algn="l"/>
            <a:r>
              <a:rPr sz="3900" b="1">
                <a:solidFill>
                  <a:srgbClr val="333333"/>
                </a:solidFill>
                <a:latin typeface="Avenir Next"/>
              </a:rPr>
              <a:t>Stärken und Schwächen</a:t>
            </a:r>
          </a:p>
        </p:txBody>
      </p:sp>
      <p:sp>
        <p:nvSpPr>
          <p:cNvPr id="5" name="Rounded Rectangle 4"/>
          <p:cNvSpPr/>
          <p:nvPr/>
        </p:nvSpPr>
        <p:spPr>
          <a:xfrm>
            <a:off x="822960" y="1645920"/>
            <a:ext cx="5212080" cy="4389120"/>
          </a:xfrm>
          <a:prstGeom prst="roundRect">
            <a:avLst/>
          </a:prstGeom>
          <a:solidFill>
            <a:srgbClr val="D8F3DC">
              <a:lumMod val="92000"/>
              <a:lumOff val="8000"/>
            </a:srgbClr>
          </a:solidFill>
          <a:ln w="1524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lIns="182880" rIns="137160" tIns="109728" wrap="square"/>
          <a:lstStyle/>
          <a:p>
            <a:pPr algn="ctr"/>
            <a:r>
              <a:rPr sz="2200" b="1">
                <a:solidFill>
                  <a:srgbClr val="333333"/>
                </a:solidFill>
                <a:latin typeface="Avenir Next"/>
              </a:rPr>
              <a:t>Stärken</a:t>
            </a:r>
          </a:p>
          <a:p>
            <a:pPr>
              <a:spcAft>
                <a:spcPts val="200"/>
              </a:spcAft>
            </a:pPr>
            <a:r>
              <a:rPr sz="1600">
                <a:solidFill>
                  <a:srgbClr val="333333"/>
                </a:solidFill>
                <a:latin typeface="Avenir Next"/>
              </a:rPr>
              <a:t>• verschiedene Bildungswege</a:t>
            </a:r>
          </a:p>
          <a:p>
            <a:pPr>
              <a:spcAft>
                <a:spcPts val="200"/>
              </a:spcAft>
            </a:pPr>
            <a:r>
              <a:rPr sz="1600">
                <a:solidFill>
                  <a:srgbClr val="333333"/>
                </a:solidFill>
                <a:latin typeface="Avenir Next"/>
              </a:rPr>
              <a:t>• duales Ausbildungssystem</a:t>
            </a:r>
          </a:p>
          <a:p>
            <a:pPr>
              <a:spcAft>
                <a:spcPts val="200"/>
              </a:spcAft>
            </a:pPr>
            <a:r>
              <a:rPr sz="1600">
                <a:solidFill>
                  <a:srgbClr val="333333"/>
                </a:solidFill>
                <a:latin typeface="Avenir Next"/>
              </a:rPr>
              <a:t>• hohe akademische Standards</a:t>
            </a:r>
          </a:p>
        </p:txBody>
      </p:sp>
      <p:sp>
        <p:nvSpPr>
          <p:cNvPr id="6" name="Rounded Rectangle 5"/>
          <p:cNvSpPr/>
          <p:nvPr/>
        </p:nvSpPr>
        <p:spPr>
          <a:xfrm>
            <a:off x="6172200" y="1645920"/>
            <a:ext cx="5212080" cy="4389120"/>
          </a:xfrm>
          <a:prstGeom prst="roundRect">
            <a:avLst/>
          </a:prstGeom>
          <a:solidFill>
            <a:srgbClr val="FFD9E8">
              <a:lumMod val="92000"/>
              <a:lumOff val="8000"/>
            </a:srgbClr>
          </a:solidFill>
          <a:ln w="1524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lIns="182880" rIns="137160" tIns="109728" wrap="square"/>
          <a:lstStyle/>
          <a:p>
            <a:pPr algn="ctr"/>
            <a:r>
              <a:rPr sz="2200" b="1">
                <a:solidFill>
                  <a:srgbClr val="333333"/>
                </a:solidFill>
                <a:latin typeface="Avenir Next"/>
              </a:rPr>
              <a:t>Schwächen</a:t>
            </a:r>
          </a:p>
          <a:p>
            <a:pPr>
              <a:spcAft>
                <a:spcPts val="200"/>
              </a:spcAft>
            </a:pPr>
            <a:r>
              <a:rPr sz="1600">
                <a:solidFill>
                  <a:srgbClr val="333333"/>
                </a:solidFill>
                <a:latin typeface="Avenir Next"/>
              </a:rPr>
              <a:t>• frühe Selektion</a:t>
            </a:r>
          </a:p>
          <a:p>
            <a:pPr>
              <a:spcAft>
                <a:spcPts val="200"/>
              </a:spcAft>
            </a:pPr>
            <a:r>
              <a:rPr sz="1600">
                <a:solidFill>
                  <a:srgbClr val="333333"/>
                </a:solidFill>
                <a:latin typeface="Avenir Next"/>
              </a:rPr>
              <a:t>• Leistungsdruck</a:t>
            </a:r>
          </a:p>
          <a:p>
            <a:pPr>
              <a:spcAft>
                <a:spcPts val="200"/>
              </a:spcAft>
            </a:pPr>
            <a:r>
              <a:rPr sz="1600">
                <a:solidFill>
                  <a:srgbClr val="333333"/>
                </a:solidFill>
                <a:latin typeface="Avenir Next"/>
              </a:rPr>
              <a:t>• soziale Ungleichheiten</a:t>
            </a:r>
          </a:p>
        </p:txBody>
      </p:sp>
    </p:spTree>
  </p:cSld>
  <p:clrMapOvr>
    <a:masterClrMapping/>
  </p:clrMapOvr>
  <p:transition>
    <p:wipe dir="r"/>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FFD9E8">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FFF7C7">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4114800" cy="731520"/>
          </a:xfrm>
          <a:prstGeom prst="rect">
            <a:avLst/>
          </a:prstGeom>
          <a:noFill/>
        </p:spPr>
        <p:txBody>
          <a:bodyPr wrap="none">
            <a:spAutoFit/>
          </a:bodyPr>
          <a:lstStyle/>
          <a:p>
            <a:pPr algn="l"/>
            <a:r>
              <a:rPr sz="4000" b="1">
                <a:solidFill>
                  <a:srgbClr val="333333"/>
                </a:solidFill>
                <a:latin typeface="Avenir Next"/>
              </a:rPr>
              <a:t>Reformansätze</a:t>
            </a:r>
          </a:p>
        </p:txBody>
      </p:sp>
      <p:sp>
        <p:nvSpPr>
          <p:cNvPr id="5" name="TextBox 4"/>
          <p:cNvSpPr txBox="1"/>
          <p:nvPr/>
        </p:nvSpPr>
        <p:spPr>
          <a:xfrm>
            <a:off x="731520" y="1097280"/>
            <a:ext cx="6858000" cy="411480"/>
          </a:xfrm>
          <a:prstGeom prst="rect">
            <a:avLst/>
          </a:prstGeom>
          <a:noFill/>
        </p:spPr>
        <p:txBody>
          <a:bodyPr wrap="none">
            <a:spAutoFit/>
          </a:bodyPr>
          <a:lstStyle/>
          <a:p>
            <a:pPr algn="l"/>
            <a:r>
              <a:rPr sz="1600" b="0">
                <a:solidFill>
                  <a:srgbClr val="666666"/>
                </a:solidFill>
                <a:latin typeface="Avenir Next"/>
              </a:rPr>
              <a:t>Strukturen in Richtung Zukunft weiterentwickeln</a:t>
            </a:r>
          </a:p>
        </p:txBody>
      </p:sp>
      <p:sp>
        <p:nvSpPr>
          <p:cNvPr id="6" name="TextBox 5"/>
          <p:cNvSpPr txBox="1"/>
          <p:nvPr/>
        </p:nvSpPr>
        <p:spPr>
          <a:xfrm>
            <a:off x="10424160" y="411480"/>
            <a:ext cx="1097280" cy="731520"/>
          </a:xfrm>
          <a:prstGeom prst="rect">
            <a:avLst/>
          </a:prstGeom>
          <a:noFill/>
        </p:spPr>
        <p:txBody>
          <a:bodyPr wrap="none">
            <a:spAutoFit/>
          </a:bodyPr>
          <a:lstStyle/>
          <a:p>
            <a:pPr algn="ctr"/>
            <a:r>
              <a:rPr sz="4800" b="0">
                <a:solidFill>
                  <a:srgbClr val="333333"/>
                </a:solidFill>
                <a:latin typeface="Avenir Next"/>
              </a:rPr>
              <a:t>➡️</a:t>
            </a:r>
          </a:p>
        </p:txBody>
      </p:sp>
      <p:sp>
        <p:nvSpPr>
          <p:cNvPr id="7" name="Oval 6"/>
          <p:cNvSpPr/>
          <p:nvPr/>
        </p:nvSpPr>
        <p:spPr>
          <a:xfrm>
            <a:off x="1097280" y="1828800"/>
            <a:ext cx="3017520" cy="3017520"/>
          </a:xfrm>
          <a:prstGeom prst="ellipse">
            <a:avLst/>
          </a:prstGeom>
          <a:solidFill>
            <a:srgbClr val="CFEFFF">
              <a:lumMod val="90000"/>
              <a:lumOff val="10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a:t>🧭</a:t>
            </a:r>
          </a:p>
          <a:p>
            <a:pPr algn="ctr"/>
            <a:r>
              <a:rPr sz="1400" b="1">
                <a:latin typeface="Avenir Next"/>
              </a:rPr>
              <a:t>Mehr Lebenskompetenzen</a:t>
            </a:r>
          </a:p>
          <a:p>
            <a:pPr algn="ctr"/>
            <a:r>
              <a:rPr sz="1100">
                <a:latin typeface="Avenir Next"/>
              </a:rPr>
              <a:t>z. B. Finanzbildung,</a:t>
            </a:r>
            <a:br/>
            <a:r>
              <a:t>Medienkompetenz,</a:t>
            </a:r>
            <a:br/>
            <a:r>
              <a:t>Alltagsbezug</a:t>
            </a:r>
          </a:p>
        </p:txBody>
      </p:sp>
      <p:sp>
        <p:nvSpPr>
          <p:cNvPr id="8" name="Oval 7"/>
          <p:cNvSpPr/>
          <p:nvPr/>
        </p:nvSpPr>
        <p:spPr>
          <a:xfrm>
            <a:off x="4480560" y="1828800"/>
            <a:ext cx="3017520" cy="3017520"/>
          </a:xfrm>
          <a:prstGeom prst="ellipse">
            <a:avLst/>
          </a:prstGeom>
          <a:solidFill>
            <a:srgbClr val="FFD9E8">
              <a:lumMod val="90000"/>
              <a:lumOff val="10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a:t>🕰️</a:t>
            </a:r>
          </a:p>
          <a:p>
            <a:pPr algn="ctr"/>
            <a:r>
              <a:rPr sz="1400" b="1">
                <a:latin typeface="Avenir Next"/>
              </a:rPr>
              <a:t>Spätere Leistungs-</a:t>
            </a:r>
            <a:br/>
            <a:r>
              <a:t>differenzierung</a:t>
            </a:r>
          </a:p>
          <a:p>
            <a:pPr algn="ctr"/>
            <a:r>
              <a:rPr sz="1100">
                <a:latin typeface="Avenir Next"/>
              </a:rPr>
              <a:t>mehr Zeit zur</a:t>
            </a:r>
            <a:br/>
            <a:r>
              <a:t>individuellen Entwicklung</a:t>
            </a:r>
            <a:br/>
            <a:r>
              <a:t>vor der Aufteilung</a:t>
            </a:r>
          </a:p>
        </p:txBody>
      </p:sp>
      <p:sp>
        <p:nvSpPr>
          <p:cNvPr id="9" name="Oval 8"/>
          <p:cNvSpPr/>
          <p:nvPr/>
        </p:nvSpPr>
        <p:spPr>
          <a:xfrm>
            <a:off x="7863840" y="1828800"/>
            <a:ext cx="3017520" cy="3017520"/>
          </a:xfrm>
          <a:prstGeom prst="ellipse">
            <a:avLst/>
          </a:prstGeom>
          <a:solidFill>
            <a:srgbClr val="FFF7C7">
              <a:lumMod val="90000"/>
              <a:lumOff val="10000"/>
            </a:srgbClr>
          </a:solidFill>
          <a:ln>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600"/>
              <a:t>📝</a:t>
            </a:r>
          </a:p>
          <a:p>
            <a:pPr algn="ctr"/>
            <a:r>
              <a:rPr sz="1400" b="1">
                <a:latin typeface="Avenir Next"/>
              </a:rPr>
              <a:t>Alternative</a:t>
            </a:r>
            <a:br/>
            <a:r>
              <a:t>Bewertungsformen</a:t>
            </a:r>
          </a:p>
          <a:p>
            <a:pPr algn="ctr"/>
            <a:r>
              <a:rPr sz="1100">
                <a:latin typeface="Avenir Next"/>
              </a:rPr>
              <a:t>mehr Lernfeedback,</a:t>
            </a:r>
            <a:br/>
            <a:r>
              <a:t>Portfolio- und</a:t>
            </a:r>
            <a:br/>
            <a:r>
              <a:t>projektbezogene Bewertung</a:t>
            </a:r>
          </a:p>
        </p:txBody>
      </p:sp>
    </p:spTree>
  </p:cSld>
  <p:clrMapOvr>
    <a:masterClrMapping/>
  </p:clrMapOvr>
  <p:transition>
    <p:wheel spokes="1"/>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182880" y="182880"/>
            <a:ext cx="2011680" cy="640080"/>
          </a:xfrm>
          <a:prstGeom prst="roundRect">
            <a:avLst/>
          </a:prstGeom>
          <a:solidFill>
            <a:srgbClr val="FFD9E8">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241280" y="6035040"/>
            <a:ext cx="1828800" cy="640080"/>
          </a:xfrm>
          <a:prstGeom prst="roundRect">
            <a:avLst/>
          </a:prstGeom>
          <a:solidFill>
            <a:srgbClr val="CFEFFF">
              <a:lumMod val="85000"/>
              <a:lumOff val="1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640080"/>
            <a:ext cx="8595360" cy="822960"/>
          </a:xfrm>
          <a:prstGeom prst="rect">
            <a:avLst/>
          </a:prstGeom>
          <a:noFill/>
        </p:spPr>
        <p:txBody>
          <a:bodyPr wrap="none">
            <a:spAutoFit/>
          </a:bodyPr>
          <a:lstStyle/>
          <a:p>
            <a:pPr algn="l"/>
            <a:r>
              <a:rPr sz="4200" b="1">
                <a:solidFill>
                  <a:srgbClr val="333333"/>
                </a:solidFill>
                <a:latin typeface="Avenir Next"/>
              </a:rPr>
              <a:t>Schule beeinflusst mehr als nur Noten.</a:t>
            </a:r>
          </a:p>
        </p:txBody>
      </p:sp>
      <p:sp>
        <p:nvSpPr>
          <p:cNvPr id="5" name="Rounded Rectangle 4"/>
          <p:cNvSpPr/>
          <p:nvPr/>
        </p:nvSpPr>
        <p:spPr>
          <a:xfrm>
            <a:off x="868680" y="1828800"/>
            <a:ext cx="8046720" cy="3291840"/>
          </a:xfrm>
          <a:prstGeom prst="roundRect">
            <a:avLst/>
          </a:prstGeom>
          <a:solidFill>
            <a:srgbClr val="CFEFFF">
              <a:lumMod val="80000"/>
              <a:lumOff val="2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2300" b="1">
                <a:solidFill>
                  <a:srgbClr val="333333"/>
                </a:solidFill>
                <a:latin typeface="Avenir Next"/>
              </a:rPr>
              <a:t>✓ Strukturen wirken auf das Wohlbefinden.</a:t>
            </a:r>
          </a:p>
          <a:p>
            <a:pPr>
              <a:spcAft>
                <a:spcPts val="800"/>
              </a:spcAft>
            </a:pPr>
            <a:r>
              <a:rPr sz="2100" b="1">
                <a:solidFill>
                  <a:srgbClr val="333333"/>
                </a:solidFill>
                <a:latin typeface="Avenir Next"/>
              </a:rPr>
              <a:t>✓ Leistungsdruck und Schulklima spielen eine zentrale Rolle.</a:t>
            </a:r>
          </a:p>
          <a:p>
            <a:pPr>
              <a:spcAft>
                <a:spcPts val="800"/>
              </a:spcAft>
            </a:pPr>
            <a:r>
              <a:rPr sz="2100" b="1">
                <a:solidFill>
                  <a:srgbClr val="333333"/>
                </a:solidFill>
                <a:latin typeface="Avenir Next"/>
              </a:rPr>
              <a:t>✓ Reformen könnten Bildung und Glück stärker miteinander verbinden.</a:t>
            </a:r>
          </a:p>
        </p:txBody>
      </p:sp>
      <p:sp>
        <p:nvSpPr>
          <p:cNvPr id="6" name="Rounded Rectangle 5"/>
          <p:cNvSpPr/>
          <p:nvPr/>
        </p:nvSpPr>
        <p:spPr>
          <a:xfrm>
            <a:off x="9098280" y="1828800"/>
            <a:ext cx="2468880" cy="3291840"/>
          </a:xfrm>
          <a:prstGeom prst="roundRect">
            <a:avLst/>
          </a:prstGeom>
          <a:solidFill>
            <a:srgbClr val="FFD9E8">
              <a:lumMod val="78000"/>
              <a:lumOff val="2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2331720"/>
            <a:ext cx="1645920" cy="822960"/>
          </a:xfrm>
          <a:prstGeom prst="rect">
            <a:avLst/>
          </a:prstGeom>
          <a:noFill/>
        </p:spPr>
        <p:txBody>
          <a:bodyPr wrap="none">
            <a:spAutoFit/>
          </a:bodyPr>
          <a:lstStyle/>
          <a:p>
            <a:pPr algn="ctr"/>
            <a:r>
              <a:rPr sz="5200" b="0">
                <a:solidFill>
                  <a:srgbClr val="333333"/>
                </a:solidFill>
                <a:latin typeface="Avenir Next"/>
              </a:rPr>
              <a:t>🌅</a:t>
            </a:r>
          </a:p>
        </p:txBody>
      </p:sp>
      <p:sp>
        <p:nvSpPr>
          <p:cNvPr id="8" name="TextBox 7"/>
          <p:cNvSpPr txBox="1"/>
          <p:nvPr/>
        </p:nvSpPr>
        <p:spPr>
          <a:xfrm>
            <a:off x="9326880" y="3200400"/>
            <a:ext cx="2011680" cy="365760"/>
          </a:xfrm>
          <a:prstGeom prst="rect">
            <a:avLst/>
          </a:prstGeom>
          <a:noFill/>
        </p:spPr>
        <p:txBody>
          <a:bodyPr wrap="none">
            <a:spAutoFit/>
          </a:bodyPr>
          <a:lstStyle/>
          <a:p>
            <a:pPr algn="ctr"/>
            <a:r>
              <a:rPr sz="1400" b="0">
                <a:solidFill>
                  <a:srgbClr val="666666"/>
                </a:solidFill>
                <a:latin typeface="Avenir Next"/>
              </a:rPr>
              <a:t>ruhiger Ausblick</a:t>
            </a:r>
          </a:p>
        </p:txBody>
      </p:sp>
      <p:sp>
        <p:nvSpPr>
          <p:cNvPr id="9" name="TextBox 8"/>
          <p:cNvSpPr txBox="1"/>
          <p:nvPr/>
        </p:nvSpPr>
        <p:spPr>
          <a:xfrm>
            <a:off x="868680" y="5669280"/>
            <a:ext cx="6583680" cy="548640"/>
          </a:xfrm>
          <a:prstGeom prst="rect">
            <a:avLst/>
          </a:prstGeom>
          <a:noFill/>
        </p:spPr>
        <p:txBody>
          <a:bodyPr wrap="none">
            <a:spAutoFit/>
          </a:bodyPr>
          <a:lstStyle/>
          <a:p>
            <a:pPr algn="l"/>
            <a:r>
              <a:rPr sz="2800" b="1">
                <a:solidFill>
                  <a:srgbClr val="333333"/>
                </a:solidFill>
                <a:latin typeface="Avenir Next"/>
              </a:rPr>
              <a:t>Danke für eure Aufmerksamkeit!</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