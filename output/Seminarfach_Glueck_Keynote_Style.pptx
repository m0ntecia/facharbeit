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Willkommen zu meiner Präsentation im Seminarfachkurs Glück. Ich untersuche heute, wie Schule auf das Wohlbefinden von Schülerinnen und Schülern wirkt. Im Mittelpunkt steht die Frage, ob strukturelle Unterschiede im deutschen Schulsystem nicht nur Bildungswege, sondern auch psychische und soziale Erfahrungen prägen. Die Facharbeit zeigt: Schule ist mehr als Unterricht und Noten. Sie ist ein zentraler Lebensraum, in dem Selbstwert, Motivation und Zukunftsperspektiven mitgeformt werden. Genau deshalb ist der Blick auf Strukturfragen so wichtig. Als nächstes zeige ich, warum dieses Thema gesellschaftlich relevant ist und welche Leitfrage die Arbeit leitet.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Facharbeit zeigt deutlich, warum dieses Thema relevant ist. Schule ist ein täglicher Lebensraum und wirkt damit auf Lernprozesse, Beziehungen und psychische Gesundheit. Gleichzeitig steht sie unter dem Anspruch, auf Zukunft und Beruf vorzubereiten. Genau in diesem Spannungsfeld zwischen Bildungsauftrag und Lebensrealität entsteht die zentrale Problematik: Leistungsdruck, Vergleich und Selektion können belasten, obwohl Bildung eigentlich fördern soll. Deshalb verbindet die Arbeit individuelle Perspektiven mit gesellschaftlichen Fragen der Bildungsgerechtigkeit. Die hervorgehobene Leitfrage ist der rote Faden der gesamten Untersuchung. Im nächsten Schritt kläre ich die grundlegenden Begriffe, mit denen die Arbeit operiert.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Bevor wir in die Analyse gehen, definiert die Facharbeit drei zentrale Begriffe. Erstens die Strukturmerkmale von Schule: also institutionelle Regeln wie Schulformen, Notensystem, Versetzungsordnung und Abschlüsse. Diese Elemente steuern Bildungswege und Selektionsprozesse. Zweitens das Wohlbefinden: Es umfasst nicht nur Leistungen, sondern auch psychische Gesundheit, soziale Einbindung und subjektive Lebenszufriedenheit. Und drittens Bildungsgerechtigkeit: die faire Verteilung von Chancen unabhängig von sozialer Herkunft. Gerade die Verbindung dieser drei Ebenen ist entscheidend, um die Leitfrage zu beantworten. Auf dieser Grundlage schauen wir uns als Nächstes die Schulformen im deutschen System an.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Facharbeit beschreibt das deutsche System als historisch gewachsen und mehrgliedrig. Gymnasium, Realschule, Hauptschule, Gesamtschule und berufliche Schulen verfolgen jeweils unterschiedliche Bildungsziele. Das kann gezielte Förderung ermöglichen, führt aber auch zu frühen Weichenstellungen. Besonders wichtig ist: Die Aufteilung erfolgt in vielen Bundesländern bereits nach der Grundschule. Genau diese frühe Differenzierung ist ein zentraler Streitpunkt in der bildungspolitischen Diskussion. Gleichzeitig zeigt das duale System eine oft positiv bewertete Stärke der deutschen Bildungsstruktur. Im nächsten Schritt fokussiere ich den Bereich, der in der Facharbeit als besonders belastend beschrieben wird: Leistungsdruck und seine Folgen für das Wohlbefinden.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Facharbeit zeigt klar: Leistungsdruck ist ein Schlüsselfaktor für schulisches Wohlbefinden. Noten, Prüfungen und Versetzungsentscheidungen sind im deutschen System zentral und haben konkrete Folgen für Bildungswege. Viele Jugendliche nehmen diese Anforderungen als Stressquelle wahr. Genannt werden unter anderem Unsicherheit, psychosomatische Beschwerden und ein sinkendes Selbstwertgefühl, vor allem bei wiederholten Misserfolgserfahrungen. Gleichzeitig ist wichtig, dass Leistungsanforderungen nicht nur negativ sind: Sie können auch motivieren. Entscheidend ist also das Ausmaß und die subjektive Wahrnehmung. Genau hier kommt der nächste Faktor ins Spiel: das Schulklima und die Qualität sozialer Beziehungen.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Neben Leistungsdruck betont die Facharbeit das Schulklima als entscheidenden Einflussfaktor. Ein unterstützendes Lehrer-Schüler-Verhältnis wirkt stabilisierend, weil Schülerinnen und Schüler sich ernst genommen und begleitet fühlen. Zweitens spielt Mitbestimmung eine wichtige Rolle: Wenn Lernende beteiligt werden, steigt das Gefühl von Selbstwirksamkeit. Drittens ist die Feedbackkultur zentral. Qualitative Rückmeldungen ergänzen Noten und helfen, Lernfortschritte differenziert wahrzunehmen. Insgesamt zeigt sich: Wohlbefinden entsteht nicht nur durch individuelle Stärke, sondern durch die Qualität schulischer Beziehungen und Strukturen. Nach diesem inhaltlichen Teil binde ich jetzt kurz das Publikum mit einer Frage ein.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dieser Stelle binde ich euch kurz ein. Die Frage lautet: Was beeinflusst euer Wohlbefinden in der Schule am stärksten? Wir machen dazu ein kurzes Handzeichen. Die vier Optionen greifen zentrale Faktoren aus der Facharbeit auf: Notendruck, Beziehung zu Lehrkräften, Mitschülerinnen und Mitschüler sowie Zeit- und Leistungsstress. Wichtig ist: Die Arbeit kommt nicht zu dem Ergebnis, dass nur ein Faktor entscheidend ist. Vielmehr wirken diese Aspekte zusammen und verstärken sich teilweise gegenseitig. Damit knüpfen wir direkt an den internationalen Vergleich an und schauen, wie andere Systeme mit Leistungsdruck und Strukturfragen umgehen.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internationale Vergleich hilft, die deutsche Struktur besser einzuordnen. Deutschland ist durch frühe Differenzierung und starke Notenorientierung geprägt. Finnland setzt auf längeres gemeinsames Lernen und eine spätere Aufteilung in Bildungswege. In angelsächsischen Systemen fallen vor allem Praxisbezug und Wahlmöglichkeiten auf. Die Facharbeit zeigt dabei keine einfache Rangliste, sondern unterschiedliche Schwerpunkte. Entscheidend ist, welche Ziele ein System priorisiert: akademische Selektion, soziale Durchlässigkeit oder praxisnahe Kompetenzentwicklung. Deshalb lautet die zentrale Erkenntnis hier: Es gibt kein perfektes Modell, aber es gibt lernenswerte Ansätze. Darauf aufbauend fasse ich jetzt die Stärken und Schwächen des deutschen Systems zusammen.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kritische Bewertung der Facharbeit ist ausgewogen. Zu den Stärken zählen die differenzierten Bildungswege, das international anerkannte duale Ausbildungssystem und hohe akademische Standards. Gleichzeitig werden strukturelle Schwächen klar benannt: die frühe Selektion, anhaltender Leistungsdruck und die enge Kopplung von Bildungserfolg an soziale Herkunft. Damit wird deutlich: Das deutsche System ist weder grundsätzlich schlecht noch unproblematisch, sondern in sich widersprüchlich. Genau aus dieser Spannung ergeben sich Reformansätze, die Bildungsqualität und Wohlbefinden stärker zusammenführen sollen. Diese drei Reformideen zeige ich auf der nächsten Folie.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Aus der Analyse leitet die Facharbeit drei zentrale Reformansätze ab. Erstens: mehr Lebenskompetenzen im Curriculum, also Inhalte mit direktem Alltagsbezug wie finanzielle Grundbildung oder Medienkompetenz. Zweitens: eine spätere Leistungsdifferenzierung, damit Bildungsentscheidungen weniger früh festgelegt werden und Lernende mehr Entwicklungszeit erhalten. Drittens: alternative Bewertungsformen, die Lernprozesse stärker berücksichtigen und den Fokus nicht ausschließlich auf Prüfungsnoten legen. Diese Ansätze sollen nicht Leistung abschaffen, sondern Schule ausgewogener gestalten. Zum Abschluss fasse ich nun die Kernbotschaft der Arbeit in drei Aussagen zusammen.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Damit komme ich zum Fazit. Die Leitfrage kann klar beantwortet werden: Strukturelle Unterschiede im deutschen Schulsystem beeinflussen das Wohlbefinden von Schülerinnen und Schülern spürbar. Die Facharbeit zeigt, dass insbesondere frühe Selektion, Leistungsdruck und Schulklima entscheidende Wirkfaktoren sind. Gleichzeitig wird deutlich, dass Schule auch Chancen bietet, wenn Strukturen unterstützend gestaltet werden. Die diskutierten Reformansätze zeigen, wie Bildungsgerechtigkeit, Leistungsanspruch und Wohlbefinden besser verbunden werden können. Damit endet meine Präsentation. Vielen Dank fürs Zuhören – ich freue mich auf Fragen und eure Perspektiven.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966960" y="182880"/>
            <a:ext cx="1920240" cy="1920240"/>
          </a:xfrm>
          <a:prstGeom prst="roundRect">
            <a:avLst/>
          </a:prstGeom>
          <a:solidFill>
            <a:srgbClr val="CFEFFF"/>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82880" y="5303520"/>
            <a:ext cx="2286000" cy="1188720"/>
          </a:xfrm>
          <a:prstGeom prst="roundRect">
            <a:avLst/>
          </a:prstGeom>
          <a:solidFill>
            <a:srgbClr val="FFD9E8"/>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789920" cy="914400"/>
          </a:xfrm>
          <a:prstGeom prst="rect">
            <a:avLst/>
          </a:prstGeom>
          <a:noFill/>
        </p:spPr>
        <p:txBody>
          <a:bodyPr wrap="none">
            <a:spAutoFit/>
          </a:bodyPr>
          <a:lstStyle/>
          <a:p>
            <a:pPr>
              <a:defRPr b="1" sz="5600">
                <a:solidFill>
                  <a:srgbClr val="333333"/>
                </a:solidFill>
                <a:latin typeface="Avenir Next"/>
              </a:defRPr>
            </a:pPr>
            <a:r>
              <a:t>Wie Schule wirkt</a:t>
            </a:r>
          </a:p>
        </p:txBody>
      </p:sp>
      <p:sp>
        <p:nvSpPr>
          <p:cNvPr id="5" name="TextBox 4"/>
          <p:cNvSpPr txBox="1"/>
          <p:nvPr/>
        </p:nvSpPr>
        <p:spPr>
          <a:xfrm>
            <a:off x="640080" y="1828800"/>
            <a:ext cx="7498079" cy="914400"/>
          </a:xfrm>
          <a:prstGeom prst="rect">
            <a:avLst/>
          </a:prstGeom>
          <a:noFill/>
        </p:spPr>
        <p:txBody>
          <a:bodyPr wrap="none">
            <a:spAutoFit/>
          </a:bodyPr>
          <a:lstStyle/>
          <a:p>
            <a:pPr>
              <a:defRPr sz="2400">
                <a:solidFill>
                  <a:srgbClr val="333333"/>
                </a:solidFill>
                <a:latin typeface="Avenir Next"/>
              </a:defRPr>
            </a:pPr>
            <a:r>
              <a:t>Strukturelle Unterschiede und ihr Effekt auf das Wohlbefinden</a:t>
            </a:r>
            <a:br/>
            <a:r>
              <a:t>von Schülerinnen und Schülern</a:t>
            </a:r>
          </a:p>
        </p:txBody>
      </p:sp>
      <p:sp>
        <p:nvSpPr>
          <p:cNvPr id="6" name="TextBox 5"/>
          <p:cNvSpPr txBox="1"/>
          <p:nvPr/>
        </p:nvSpPr>
        <p:spPr>
          <a:xfrm>
            <a:off x="640080" y="3063240"/>
            <a:ext cx="7498079" cy="914400"/>
          </a:xfrm>
          <a:prstGeom prst="rect">
            <a:avLst/>
          </a:prstGeom>
          <a:noFill/>
        </p:spPr>
        <p:txBody>
          <a:bodyPr wrap="none">
            <a:spAutoFit/>
          </a:bodyPr>
          <a:lstStyle/>
          <a:p>
            <a:pPr>
              <a:defRPr sz="2400">
                <a:solidFill>
                  <a:srgbClr val="333333"/>
                </a:solidFill>
                <a:latin typeface="Avenir Next"/>
              </a:defRPr>
            </a:pPr>
            <a:r>
              <a:t>Seminarfachkurs Glück</a:t>
            </a:r>
          </a:p>
        </p:txBody>
      </p:sp>
      <p:sp>
        <p:nvSpPr>
          <p:cNvPr id="7" name="Rounded Rectangle 6"/>
          <p:cNvSpPr/>
          <p:nvPr/>
        </p:nvSpPr>
        <p:spPr>
          <a:xfrm>
            <a:off x="8046720" y="1371600"/>
            <a:ext cx="3657600" cy="4389120"/>
          </a:xfrm>
          <a:prstGeom prst="roundRect">
            <a:avLst/>
          </a:prstGeom>
          <a:solidFill>
            <a:srgbClr val="CFEFFF"/>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8595360" y="2468880"/>
            <a:ext cx="2560320" cy="2011680"/>
          </a:xfrm>
          <a:prstGeom prst="rect">
            <a:avLst/>
          </a:prstGeom>
          <a:solidFill>
            <a:srgbClr val="FFFFFF"/>
          </a:solidFill>
          <a:ln>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Isosceles Triangle 8"/>
          <p:cNvSpPr/>
          <p:nvPr/>
        </p:nvSpPr>
        <p:spPr>
          <a:xfrm>
            <a:off x="8503920" y="1828800"/>
            <a:ext cx="2743200" cy="914400"/>
          </a:xfrm>
          <a:prstGeom prst="triangle">
            <a:avLst/>
          </a:prstGeom>
          <a:solidFill>
            <a:srgbClr val="FFD9E8"/>
          </a:solidFill>
          <a:ln>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823960" y="2743200"/>
            <a:ext cx="320040" cy="320040"/>
          </a:xfrm>
          <a:prstGeom prst="rect">
            <a:avLst/>
          </a:prstGeom>
          <a:solidFill>
            <a:srgbClr val="FFF7C7"/>
          </a:solidFill>
          <a:ln>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509760" y="2743200"/>
            <a:ext cx="320040" cy="320040"/>
          </a:xfrm>
          <a:prstGeom prst="rect">
            <a:avLst/>
          </a:prstGeom>
          <a:solidFill>
            <a:srgbClr val="FFF7C7"/>
          </a:solidFill>
          <a:ln>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195560" y="2743200"/>
            <a:ext cx="320040" cy="320040"/>
          </a:xfrm>
          <a:prstGeom prst="rect">
            <a:avLst/>
          </a:prstGeom>
          <a:solidFill>
            <a:srgbClr val="FFF7C7"/>
          </a:solidFill>
          <a:ln>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823960" y="3337560"/>
            <a:ext cx="320040" cy="320040"/>
          </a:xfrm>
          <a:prstGeom prst="rect">
            <a:avLst/>
          </a:prstGeom>
          <a:solidFill>
            <a:srgbClr val="FFF7C7"/>
          </a:solidFill>
          <a:ln>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509760" y="3337560"/>
            <a:ext cx="320040" cy="320040"/>
          </a:xfrm>
          <a:prstGeom prst="rect">
            <a:avLst/>
          </a:prstGeom>
          <a:solidFill>
            <a:srgbClr val="FFF7C7"/>
          </a:solidFill>
          <a:ln>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195560" y="3337560"/>
            <a:ext cx="320040" cy="320040"/>
          </a:xfrm>
          <a:prstGeom prst="rect">
            <a:avLst/>
          </a:prstGeom>
          <a:solidFill>
            <a:srgbClr val="FFF7C7"/>
          </a:solidFill>
          <a:ln>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692640" y="5394960"/>
            <a:ext cx="2194560" cy="1097280"/>
          </a:xfrm>
          <a:prstGeom prst="roundRect">
            <a:avLst/>
          </a:prstGeom>
          <a:solidFill>
            <a:srgbClr val="FFF7C7"/>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28600" y="182880"/>
            <a:ext cx="2560320" cy="1097280"/>
          </a:xfrm>
          <a:prstGeom prst="roundRect">
            <a:avLst/>
          </a:prstGeom>
          <a:solidFill>
            <a:srgbClr val="CFEFFF"/>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10789920" cy="914400"/>
          </a:xfrm>
          <a:prstGeom prst="rect">
            <a:avLst/>
          </a:prstGeom>
          <a:noFill/>
        </p:spPr>
        <p:txBody>
          <a:bodyPr wrap="none">
            <a:spAutoFit/>
          </a:bodyPr>
          <a:lstStyle/>
          <a:p>
            <a:pPr>
              <a:defRPr b="1" sz="4400">
                <a:solidFill>
                  <a:srgbClr val="333333"/>
                </a:solidFill>
                <a:latin typeface="Avenir Next"/>
              </a:defRPr>
            </a:pPr>
            <a:r>
              <a:t>Warum ist das Thema wichtig?</a:t>
            </a:r>
          </a:p>
        </p:txBody>
      </p:sp>
      <p:sp>
        <p:nvSpPr>
          <p:cNvPr id="5" name="Rounded Rectangle 4"/>
          <p:cNvSpPr/>
          <p:nvPr/>
        </p:nvSpPr>
        <p:spPr>
          <a:xfrm>
            <a:off x="731520" y="1417320"/>
            <a:ext cx="6400800" cy="3474720"/>
          </a:xfrm>
          <a:prstGeom prst="roundRect">
            <a:avLst/>
          </a:prstGeom>
          <a:solidFill>
            <a:srgbClr val="FFFFFF"/>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2400">
                <a:solidFill>
                  <a:srgbClr val="333333"/>
                </a:solidFill>
                <a:latin typeface="Avenir Next"/>
              </a:defRPr>
            </a:pPr>
            <a:r>
              <a:t>Relevanz</a:t>
            </a:r>
          </a:p>
          <a:p>
            <a:pPr>
              <a:defRPr sz="2100">
                <a:solidFill>
                  <a:srgbClr val="333333"/>
                </a:solidFill>
                <a:latin typeface="Avenir Next"/>
              </a:defRPr>
            </a:pPr>
            <a:r>
              <a:t>Schule prägt den Alltag junger Menschen.</a:t>
            </a:r>
          </a:p>
          <a:p>
            <a:pPr>
              <a:defRPr sz="2100">
                <a:solidFill>
                  <a:srgbClr val="333333"/>
                </a:solidFill>
                <a:latin typeface="Avenir Next"/>
              </a:defRPr>
            </a:pPr>
            <a:r>
              <a:t>Leistungsdruck wird von vielen Jugendlichen als Belastung erlebt.</a:t>
            </a:r>
          </a:p>
          <a:p>
            <a:pPr>
              <a:defRPr sz="2100">
                <a:solidFill>
                  <a:srgbClr val="333333"/>
                </a:solidFill>
                <a:latin typeface="Avenir Next"/>
              </a:defRPr>
            </a:pPr>
            <a:r>
              <a:t>Bildung beeinflusst soziale Teilhabe und Zukunftschancen.</a:t>
            </a:r>
          </a:p>
          <a:p>
            <a:pPr>
              <a:defRPr sz="2100">
                <a:solidFill>
                  <a:srgbClr val="333333"/>
                </a:solidFill>
                <a:latin typeface="Avenir Next"/>
              </a:defRPr>
            </a:pPr>
            <a:r>
              <a:t>Wohlbefinden ist Teil erfolgreicher Bildung.</a:t>
            </a:r>
          </a:p>
        </p:txBody>
      </p:sp>
      <p:sp>
        <p:nvSpPr>
          <p:cNvPr id="6" name="Rounded Rectangle 5"/>
          <p:cNvSpPr/>
          <p:nvPr/>
        </p:nvSpPr>
        <p:spPr>
          <a:xfrm>
            <a:off x="731520" y="5074920"/>
            <a:ext cx="10789920" cy="1051560"/>
          </a:xfrm>
          <a:prstGeom prst="roundRect">
            <a:avLst/>
          </a:prstGeom>
          <a:solidFill>
            <a:srgbClr val="FFF7C7"/>
          </a:solidFill>
          <a:ln w="190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333333"/>
                </a:solidFill>
                <a:latin typeface="Avenir Next"/>
              </a:defRPr>
            </a:pPr>
            <a:r>
              <a:t>Inwiefern beeinflussen strukturelle Unterschiede im deutschen Schulsystem das Wohlbefinden von Schülerinnen und Schülern?</a:t>
            </a:r>
          </a:p>
        </p:txBody>
      </p:sp>
      <p:sp>
        <p:nvSpPr>
          <p:cNvPr id="7" name="Rounded Rectangle 6"/>
          <p:cNvSpPr/>
          <p:nvPr/>
        </p:nvSpPr>
        <p:spPr>
          <a:xfrm>
            <a:off x="7543800" y="1417320"/>
            <a:ext cx="3977639" cy="3474720"/>
          </a:xfrm>
          <a:prstGeom prst="roundRect">
            <a:avLst/>
          </a:prstGeom>
          <a:solidFill>
            <a:srgbClr val="FFD9E8"/>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000" b="1">
                <a:solidFill>
                  <a:srgbClr val="333333"/>
                </a:solidFill>
                <a:latin typeface="Avenir Next"/>
              </a:defRPr>
            </a:pPr>
            <a:r>
              <a:t>⚖ Bildung</a:t>
            </a:r>
          </a:p>
          <a:p>
            <a:pPr algn="ctr">
              <a:defRPr sz="3000" b="1">
                <a:solidFill>
                  <a:srgbClr val="333333"/>
                </a:solidFill>
                <a:latin typeface="Avenir Next"/>
              </a:defRPr>
            </a:pPr>
            <a:r>
              <a:t>und</a:t>
            </a:r>
          </a:p>
          <a:p>
            <a:pPr algn="ctr">
              <a:defRPr sz="3000" b="1">
                <a:solidFill>
                  <a:srgbClr val="333333"/>
                </a:solidFill>
                <a:latin typeface="Avenir Next"/>
              </a:defRPr>
            </a:pPr>
            <a:r>
              <a:t>Wohlbefinden</a:t>
            </a:r>
          </a:p>
        </p:txBody>
      </p:sp>
    </p:spTree>
  </p:cSld>
  <p:clrMapOvr>
    <a:masterClrMapping/>
  </p:clrMapOvr>
  <p:transition advClick="1">
    <p:zoom/>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0058400" y="5303520"/>
            <a:ext cx="1737360" cy="1005840"/>
          </a:xfrm>
          <a:prstGeom prst="roundRect">
            <a:avLst/>
          </a:prstGeom>
          <a:solidFill>
            <a:srgbClr val="FFD9E8"/>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82880" y="137160"/>
            <a:ext cx="1828800" cy="1005840"/>
          </a:xfrm>
          <a:prstGeom prst="roundRect">
            <a:avLst/>
          </a:prstGeom>
          <a:solidFill>
            <a:srgbClr val="FFF7C7"/>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10789920" cy="914400"/>
          </a:xfrm>
          <a:prstGeom prst="rect">
            <a:avLst/>
          </a:prstGeom>
          <a:noFill/>
        </p:spPr>
        <p:txBody>
          <a:bodyPr wrap="none">
            <a:spAutoFit/>
          </a:bodyPr>
          <a:lstStyle/>
          <a:p>
            <a:pPr>
              <a:defRPr b="1" sz="4400">
                <a:solidFill>
                  <a:srgbClr val="333333"/>
                </a:solidFill>
                <a:latin typeface="Avenir Next"/>
              </a:defRPr>
            </a:pPr>
            <a:r>
              <a:t>Grundlagen</a:t>
            </a:r>
          </a:p>
        </p:txBody>
      </p:sp>
      <p:sp>
        <p:nvSpPr>
          <p:cNvPr id="5" name="Rounded Rectangle 4"/>
          <p:cNvSpPr/>
          <p:nvPr/>
        </p:nvSpPr>
        <p:spPr>
          <a:xfrm>
            <a:off x="731520" y="1463040"/>
            <a:ext cx="3657600" cy="4389120"/>
          </a:xfrm>
          <a:prstGeom prst="roundRect">
            <a:avLst/>
          </a:prstGeom>
          <a:solidFill>
            <a:srgbClr val="CFEFFF"/>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b="1" sz="2500">
                <a:solidFill>
                  <a:srgbClr val="333333"/>
                </a:solidFill>
                <a:latin typeface="Avenir Next"/>
              </a:defRPr>
            </a:pPr>
            <a:r>
              <a:t>Strukturmerkmale</a:t>
            </a:r>
          </a:p>
          <a:p>
            <a:pPr algn="l">
              <a:defRPr b="0" sz="2000">
                <a:solidFill>
                  <a:srgbClr val="333333"/>
                </a:solidFill>
                <a:latin typeface="Avenir Next"/>
              </a:defRPr>
            </a:pPr>
            <a:r>
              <a:t>• Schulformen</a:t>
            </a:r>
          </a:p>
          <a:p>
            <a:pPr algn="l">
              <a:defRPr b="0" sz="2000">
                <a:solidFill>
                  <a:srgbClr val="333333"/>
                </a:solidFill>
                <a:latin typeface="Avenir Next"/>
              </a:defRPr>
            </a:pPr>
            <a:r>
              <a:t>• Notensystem</a:t>
            </a:r>
          </a:p>
          <a:p>
            <a:pPr algn="l">
              <a:defRPr b="0" sz="2000">
                <a:solidFill>
                  <a:srgbClr val="333333"/>
                </a:solidFill>
                <a:latin typeface="Avenir Next"/>
              </a:defRPr>
            </a:pPr>
            <a:r>
              <a:t>• Versetzungen</a:t>
            </a:r>
          </a:p>
          <a:p>
            <a:pPr algn="l">
              <a:defRPr b="0" sz="2000">
                <a:solidFill>
                  <a:srgbClr val="333333"/>
                </a:solidFill>
                <a:latin typeface="Avenir Next"/>
              </a:defRPr>
            </a:pPr>
            <a:r>
              <a:t>• Abschlüsse</a:t>
            </a:r>
          </a:p>
        </p:txBody>
      </p:sp>
      <p:sp>
        <p:nvSpPr>
          <p:cNvPr id="6" name="Rounded Rectangle 5"/>
          <p:cNvSpPr/>
          <p:nvPr/>
        </p:nvSpPr>
        <p:spPr>
          <a:xfrm>
            <a:off x="4526280" y="1463040"/>
            <a:ext cx="3657600" cy="4389120"/>
          </a:xfrm>
          <a:prstGeom prst="roundRect">
            <a:avLst/>
          </a:prstGeom>
          <a:solidFill>
            <a:srgbClr val="FFD9E8"/>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b="1" sz="2500">
                <a:solidFill>
                  <a:srgbClr val="333333"/>
                </a:solidFill>
                <a:latin typeface="Avenir Next"/>
              </a:defRPr>
            </a:pPr>
            <a:r>
              <a:t>Wohlbefinden</a:t>
            </a:r>
          </a:p>
          <a:p>
            <a:pPr algn="l">
              <a:defRPr b="0" sz="2000">
                <a:solidFill>
                  <a:srgbClr val="333333"/>
                </a:solidFill>
                <a:latin typeface="Avenir Next"/>
              </a:defRPr>
            </a:pPr>
            <a:r>
              <a:t>• psychische Gesundheit</a:t>
            </a:r>
          </a:p>
          <a:p>
            <a:pPr algn="l">
              <a:defRPr b="0" sz="2000">
                <a:solidFill>
                  <a:srgbClr val="333333"/>
                </a:solidFill>
                <a:latin typeface="Avenir Next"/>
              </a:defRPr>
            </a:pPr>
            <a:r>
              <a:t>• soziale Beziehungen</a:t>
            </a:r>
          </a:p>
          <a:p>
            <a:pPr algn="l">
              <a:defRPr b="0" sz="2000">
                <a:solidFill>
                  <a:srgbClr val="333333"/>
                </a:solidFill>
                <a:latin typeface="Avenir Next"/>
              </a:defRPr>
            </a:pPr>
            <a:r>
              <a:t>• Lebenszufriedenheit</a:t>
            </a:r>
          </a:p>
        </p:txBody>
      </p:sp>
      <p:sp>
        <p:nvSpPr>
          <p:cNvPr id="7" name="Rounded Rectangle 6"/>
          <p:cNvSpPr/>
          <p:nvPr/>
        </p:nvSpPr>
        <p:spPr>
          <a:xfrm>
            <a:off x="8321040" y="1463040"/>
            <a:ext cx="3154680" cy="4389120"/>
          </a:xfrm>
          <a:prstGeom prst="roundRect">
            <a:avLst/>
          </a:prstGeom>
          <a:solidFill>
            <a:srgbClr val="FFF7C7"/>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b="1" sz="2500">
                <a:solidFill>
                  <a:srgbClr val="333333"/>
                </a:solidFill>
                <a:latin typeface="Avenir Next"/>
              </a:defRPr>
            </a:pPr>
            <a:r>
              <a:t>Bildungsgerechtigkeit</a:t>
            </a:r>
          </a:p>
          <a:p>
            <a:pPr algn="l">
              <a:defRPr b="0" sz="2000">
                <a:solidFill>
                  <a:srgbClr val="333333"/>
                </a:solidFill>
                <a:latin typeface="Avenir Next"/>
              </a:defRPr>
            </a:pPr>
            <a:r>
              <a:t>• faire Chancen</a:t>
            </a:r>
          </a:p>
          <a:p>
            <a:pPr algn="l">
              <a:defRPr b="0" sz="2000">
                <a:solidFill>
                  <a:srgbClr val="333333"/>
                </a:solidFill>
                <a:latin typeface="Avenir Next"/>
              </a:defRPr>
            </a:pPr>
            <a:r>
              <a:t>• unabhängig von</a:t>
            </a:r>
          </a:p>
          <a:p>
            <a:pPr algn="l">
              <a:defRPr b="0" sz="2000">
                <a:solidFill>
                  <a:srgbClr val="333333"/>
                </a:solidFill>
                <a:latin typeface="Avenir Next"/>
              </a:defRPr>
            </a:pPr>
            <a:r>
              <a:t>  sozialer Herkunft</a:t>
            </a:r>
          </a:p>
        </p:txBody>
      </p:sp>
    </p:spTree>
  </p:cSld>
  <p:clrMapOvr>
    <a:masterClrMapping/>
  </p:clrMapOvr>
  <p:transition advClick="1">
    <p:cover/>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966960" y="182880"/>
            <a:ext cx="1920240" cy="1920240"/>
          </a:xfrm>
          <a:prstGeom prst="roundRect">
            <a:avLst/>
          </a:prstGeom>
          <a:solidFill>
            <a:srgbClr val="CFEFFF"/>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82880" y="5303520"/>
            <a:ext cx="2286000" cy="1188720"/>
          </a:xfrm>
          <a:prstGeom prst="roundRect">
            <a:avLst/>
          </a:prstGeom>
          <a:solidFill>
            <a:srgbClr val="FFD9E8"/>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10789920" cy="914400"/>
          </a:xfrm>
          <a:prstGeom prst="rect">
            <a:avLst/>
          </a:prstGeom>
          <a:noFill/>
        </p:spPr>
        <p:txBody>
          <a:bodyPr wrap="none">
            <a:spAutoFit/>
          </a:bodyPr>
          <a:lstStyle/>
          <a:p>
            <a:pPr>
              <a:defRPr b="1" sz="4400">
                <a:solidFill>
                  <a:srgbClr val="333333"/>
                </a:solidFill>
                <a:latin typeface="Avenir Next"/>
              </a:defRPr>
            </a:pPr>
            <a:r>
              <a:t>Das deutsche Schulsystem</a:t>
            </a:r>
          </a:p>
        </p:txBody>
      </p:sp>
      <p:sp>
        <p:nvSpPr>
          <p:cNvPr id="5" name="Rounded Rectangle 4"/>
          <p:cNvSpPr/>
          <p:nvPr/>
        </p:nvSpPr>
        <p:spPr>
          <a:xfrm>
            <a:off x="822960" y="1371600"/>
            <a:ext cx="5303520" cy="1371600"/>
          </a:xfrm>
          <a:prstGeom prst="roundRect">
            <a:avLst/>
          </a:prstGeom>
          <a:solidFill>
            <a:srgbClr val="CFEFFF"/>
          </a:solidFill>
          <a:ln w="190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2400">
                <a:solidFill>
                  <a:srgbClr val="333333"/>
                </a:solidFill>
                <a:latin typeface="Avenir Next"/>
              </a:defRPr>
            </a:pPr>
            <a:r>
              <a:t>Gymnasium</a:t>
            </a:r>
          </a:p>
          <a:p>
            <a:pPr>
              <a:defRPr sz="1700">
                <a:solidFill>
                  <a:srgbClr val="333333"/>
                </a:solidFill>
                <a:latin typeface="Avenir Next"/>
              </a:defRPr>
            </a:pPr>
            <a:r>
              <a:t>hohe akademische Anforderungen, Ziel: Abitur</a:t>
            </a:r>
          </a:p>
        </p:txBody>
      </p:sp>
      <p:sp>
        <p:nvSpPr>
          <p:cNvPr id="6" name="Rounded Rectangle 5"/>
          <p:cNvSpPr/>
          <p:nvPr/>
        </p:nvSpPr>
        <p:spPr>
          <a:xfrm>
            <a:off x="6400800" y="1371600"/>
            <a:ext cx="5303520" cy="1371600"/>
          </a:xfrm>
          <a:prstGeom prst="roundRect">
            <a:avLst/>
          </a:prstGeom>
          <a:solidFill>
            <a:srgbClr val="FFD9E8"/>
          </a:solidFill>
          <a:ln w="190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2400">
                <a:solidFill>
                  <a:srgbClr val="333333"/>
                </a:solidFill>
                <a:latin typeface="Avenir Next"/>
              </a:defRPr>
            </a:pPr>
            <a:r>
              <a:t>Realschule</a:t>
            </a:r>
          </a:p>
          <a:p>
            <a:pPr>
              <a:defRPr sz="1700">
                <a:solidFill>
                  <a:srgbClr val="333333"/>
                </a:solidFill>
                <a:latin typeface="Avenir Next"/>
              </a:defRPr>
            </a:pPr>
            <a:r>
              <a:t>mittlerer Abschluss, Verbindung von Theorie und Praxis</a:t>
            </a:r>
          </a:p>
        </p:txBody>
      </p:sp>
      <p:sp>
        <p:nvSpPr>
          <p:cNvPr id="7" name="Rounded Rectangle 6"/>
          <p:cNvSpPr/>
          <p:nvPr/>
        </p:nvSpPr>
        <p:spPr>
          <a:xfrm>
            <a:off x="822960" y="3017520"/>
            <a:ext cx="5303520" cy="1371600"/>
          </a:xfrm>
          <a:prstGeom prst="roundRect">
            <a:avLst/>
          </a:prstGeom>
          <a:solidFill>
            <a:srgbClr val="FFF7C7"/>
          </a:solidFill>
          <a:ln w="190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2400">
                <a:solidFill>
                  <a:srgbClr val="333333"/>
                </a:solidFill>
                <a:latin typeface="Avenir Next"/>
              </a:defRPr>
            </a:pPr>
            <a:r>
              <a:t>Hauptschule</a:t>
            </a:r>
          </a:p>
          <a:p>
            <a:pPr>
              <a:defRPr sz="1700">
                <a:solidFill>
                  <a:srgbClr val="333333"/>
                </a:solidFill>
                <a:latin typeface="Avenir Next"/>
              </a:defRPr>
            </a:pPr>
            <a:r>
              <a:t>traditionell praxisnah, in vielen Ländern umstrukturiert</a:t>
            </a:r>
          </a:p>
        </p:txBody>
      </p:sp>
      <p:sp>
        <p:nvSpPr>
          <p:cNvPr id="8" name="Rounded Rectangle 7"/>
          <p:cNvSpPr/>
          <p:nvPr/>
        </p:nvSpPr>
        <p:spPr>
          <a:xfrm>
            <a:off x="6400800" y="3017520"/>
            <a:ext cx="5303520" cy="1371600"/>
          </a:xfrm>
          <a:prstGeom prst="roundRect">
            <a:avLst/>
          </a:prstGeom>
          <a:solidFill>
            <a:srgbClr val="FFFFFF"/>
          </a:solidFill>
          <a:ln w="190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2400">
                <a:solidFill>
                  <a:srgbClr val="333333"/>
                </a:solidFill>
                <a:latin typeface="Avenir Next"/>
              </a:defRPr>
            </a:pPr>
            <a:r>
              <a:t>Gesamtschule</a:t>
            </a:r>
          </a:p>
          <a:p>
            <a:pPr>
              <a:defRPr sz="1700">
                <a:solidFill>
                  <a:srgbClr val="333333"/>
                </a:solidFill>
                <a:latin typeface="Avenir Next"/>
              </a:defRPr>
            </a:pPr>
            <a:r>
              <a:t>längeres gemeinsames Lernen mit Kurssystemen</a:t>
            </a:r>
          </a:p>
        </p:txBody>
      </p:sp>
      <p:sp>
        <p:nvSpPr>
          <p:cNvPr id="9" name="Rounded Rectangle 8"/>
          <p:cNvSpPr/>
          <p:nvPr/>
        </p:nvSpPr>
        <p:spPr>
          <a:xfrm>
            <a:off x="822960" y="4663440"/>
            <a:ext cx="5303520" cy="1371600"/>
          </a:xfrm>
          <a:prstGeom prst="roundRect">
            <a:avLst/>
          </a:prstGeom>
          <a:solidFill>
            <a:srgbClr val="D8F1D2"/>
          </a:solidFill>
          <a:ln w="190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2400">
                <a:solidFill>
                  <a:srgbClr val="333333"/>
                </a:solidFill>
                <a:latin typeface="Avenir Next"/>
              </a:defRPr>
            </a:pPr>
            <a:r>
              <a:t>Berufliche Schule</a:t>
            </a:r>
          </a:p>
          <a:p>
            <a:pPr>
              <a:defRPr sz="1700">
                <a:solidFill>
                  <a:srgbClr val="333333"/>
                </a:solidFill>
                <a:latin typeface="Avenir Next"/>
              </a:defRPr>
            </a:pPr>
            <a:r>
              <a:t>duales System aus Betrieb und Schule</a:t>
            </a:r>
          </a:p>
        </p:txBody>
      </p:sp>
    </p:spTree>
  </p:cSld>
  <p:clrMapOvr>
    <a:masterClrMapping/>
  </p:clrMapOvr>
  <p:transition advClick="1">
    <p:push/>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692640" y="5394960"/>
            <a:ext cx="2194560" cy="1097280"/>
          </a:xfrm>
          <a:prstGeom prst="roundRect">
            <a:avLst/>
          </a:prstGeom>
          <a:solidFill>
            <a:srgbClr val="FFF7C7"/>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28600" y="182880"/>
            <a:ext cx="2560320" cy="1097280"/>
          </a:xfrm>
          <a:prstGeom prst="roundRect">
            <a:avLst/>
          </a:prstGeom>
          <a:solidFill>
            <a:srgbClr val="CFEFFF"/>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10789920" cy="914400"/>
          </a:xfrm>
          <a:prstGeom prst="rect">
            <a:avLst/>
          </a:prstGeom>
          <a:noFill/>
        </p:spPr>
        <p:txBody>
          <a:bodyPr wrap="none">
            <a:spAutoFit/>
          </a:bodyPr>
          <a:lstStyle/>
          <a:p>
            <a:pPr>
              <a:defRPr b="1" sz="4400">
                <a:solidFill>
                  <a:srgbClr val="333333"/>
                </a:solidFill>
                <a:latin typeface="Avenir Next"/>
              </a:defRPr>
            </a:pPr>
            <a:r>
              <a:t>Leistungsdruck und Wohlbefinden</a:t>
            </a:r>
          </a:p>
        </p:txBody>
      </p:sp>
      <p:sp>
        <p:nvSpPr>
          <p:cNvPr id="5" name="Rounded Rectangle 4"/>
          <p:cNvSpPr/>
          <p:nvPr/>
        </p:nvSpPr>
        <p:spPr>
          <a:xfrm>
            <a:off x="822960" y="1554480"/>
            <a:ext cx="5303520" cy="3840480"/>
          </a:xfrm>
          <a:prstGeom prst="roundRect">
            <a:avLst/>
          </a:prstGeom>
          <a:solidFill>
            <a:srgbClr val="CFEFFF"/>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defRPr b="1" sz="2800">
                <a:solidFill>
                  <a:srgbClr val="333333"/>
                </a:solidFill>
                <a:latin typeface="Avenir Next"/>
              </a:defRPr>
            </a:pPr>
            <a:r>
              <a:t>Leistungsdruck</a:t>
            </a:r>
          </a:p>
          <a:p>
            <a:pPr>
              <a:defRPr b="0" sz="2300">
                <a:solidFill>
                  <a:srgbClr val="333333"/>
                </a:solidFill>
                <a:latin typeface="Avenir Next"/>
              </a:defRPr>
            </a:pPr>
            <a:r>
              <a:t>• Noten</a:t>
            </a:r>
          </a:p>
          <a:p>
            <a:pPr>
              <a:defRPr b="0" sz="2300">
                <a:solidFill>
                  <a:srgbClr val="333333"/>
                </a:solidFill>
                <a:latin typeface="Avenir Next"/>
              </a:defRPr>
            </a:pPr>
            <a:r>
              <a:t>• Prüfungen</a:t>
            </a:r>
          </a:p>
          <a:p>
            <a:pPr>
              <a:defRPr b="0" sz="2300">
                <a:solidFill>
                  <a:srgbClr val="333333"/>
                </a:solidFill>
                <a:latin typeface="Avenir Next"/>
              </a:defRPr>
            </a:pPr>
            <a:r>
              <a:t>• Konkurrenz</a:t>
            </a:r>
          </a:p>
          <a:p>
            <a:pPr>
              <a:defRPr b="0" sz="2300">
                <a:solidFill>
                  <a:srgbClr val="333333"/>
                </a:solidFill>
                <a:latin typeface="Avenir Next"/>
              </a:defRPr>
            </a:pPr>
            <a:r>
              <a:t>• Erwartungen</a:t>
            </a:r>
          </a:p>
        </p:txBody>
      </p:sp>
      <p:sp>
        <p:nvSpPr>
          <p:cNvPr id="6" name="Rounded Rectangle 5"/>
          <p:cNvSpPr/>
          <p:nvPr/>
        </p:nvSpPr>
        <p:spPr>
          <a:xfrm>
            <a:off x="6309360" y="1554480"/>
            <a:ext cx="5029200" cy="3840480"/>
          </a:xfrm>
          <a:prstGeom prst="roundRect">
            <a:avLst/>
          </a:prstGeom>
          <a:solidFill>
            <a:srgbClr val="FFD9E8"/>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defRPr b="1" sz="2800">
                <a:solidFill>
                  <a:srgbClr val="333333"/>
                </a:solidFill>
                <a:latin typeface="Avenir Next"/>
              </a:defRPr>
            </a:pPr>
            <a:r>
              <a:t>Folgen</a:t>
            </a:r>
          </a:p>
          <a:p>
            <a:pPr>
              <a:defRPr b="0" sz="2300">
                <a:solidFill>
                  <a:srgbClr val="333333"/>
                </a:solidFill>
                <a:latin typeface="Avenir Next"/>
              </a:defRPr>
            </a:pPr>
            <a:r>
              <a:t>• Stress</a:t>
            </a:r>
          </a:p>
          <a:p>
            <a:pPr>
              <a:defRPr b="0" sz="2300">
                <a:solidFill>
                  <a:srgbClr val="333333"/>
                </a:solidFill>
                <a:latin typeface="Avenir Next"/>
              </a:defRPr>
            </a:pPr>
            <a:r>
              <a:t>• Schlafprobleme</a:t>
            </a:r>
          </a:p>
          <a:p>
            <a:pPr>
              <a:defRPr b="0" sz="2300">
                <a:solidFill>
                  <a:srgbClr val="333333"/>
                </a:solidFill>
                <a:latin typeface="Avenir Next"/>
              </a:defRPr>
            </a:pPr>
            <a:r>
              <a:t>• Unsicherheit</a:t>
            </a:r>
          </a:p>
          <a:p>
            <a:pPr>
              <a:defRPr b="0" sz="2300">
                <a:solidFill>
                  <a:srgbClr val="333333"/>
                </a:solidFill>
                <a:latin typeface="Avenir Next"/>
              </a:defRPr>
            </a:pPr>
            <a:r>
              <a:t>• geringeres Selbstwertgefühl</a:t>
            </a:r>
          </a:p>
        </p:txBody>
      </p:sp>
      <p:sp>
        <p:nvSpPr>
          <p:cNvPr id="7" name="Rounded Rectangle 6"/>
          <p:cNvSpPr/>
          <p:nvPr/>
        </p:nvSpPr>
        <p:spPr>
          <a:xfrm>
            <a:off x="822960" y="5623560"/>
            <a:ext cx="10515600" cy="822960"/>
          </a:xfrm>
          <a:prstGeom prst="roundRect">
            <a:avLst/>
          </a:prstGeom>
          <a:solidFill>
            <a:srgbClr val="FFF7C7"/>
          </a:solidFill>
          <a:ln w="190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333333"/>
                </a:solidFill>
                <a:latin typeface="Avenir Next"/>
              </a:defRPr>
            </a:pPr>
            <a:r>
              <a:t>Leistungsdruck kann Motivation fördern, aber auch das Wohlbefinden beeinträchtigen.</a:t>
            </a:r>
          </a:p>
        </p:txBody>
      </p:sp>
    </p:spTree>
  </p:cSld>
  <p:clrMapOvr>
    <a:masterClrMapping/>
  </p:clrMapOvr>
  <p:transition advClick="1">
    <p:split/>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0058400" y="5303520"/>
            <a:ext cx="1737360" cy="1005840"/>
          </a:xfrm>
          <a:prstGeom prst="roundRect">
            <a:avLst/>
          </a:prstGeom>
          <a:solidFill>
            <a:srgbClr val="FFD9E8"/>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82880" y="137160"/>
            <a:ext cx="1828800" cy="1005840"/>
          </a:xfrm>
          <a:prstGeom prst="roundRect">
            <a:avLst/>
          </a:prstGeom>
          <a:solidFill>
            <a:srgbClr val="FFF7C7"/>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10789920" cy="914400"/>
          </a:xfrm>
          <a:prstGeom prst="rect">
            <a:avLst/>
          </a:prstGeom>
          <a:noFill/>
        </p:spPr>
        <p:txBody>
          <a:bodyPr wrap="none">
            <a:spAutoFit/>
          </a:bodyPr>
          <a:lstStyle/>
          <a:p>
            <a:pPr>
              <a:defRPr b="1" sz="4400">
                <a:solidFill>
                  <a:srgbClr val="333333"/>
                </a:solidFill>
                <a:latin typeface="Avenir Next"/>
              </a:defRPr>
            </a:pPr>
            <a:r>
              <a:t>Schulklima</a:t>
            </a:r>
          </a:p>
        </p:txBody>
      </p:sp>
      <p:sp>
        <p:nvSpPr>
          <p:cNvPr id="5" name="Rounded Rectangle 4"/>
          <p:cNvSpPr/>
          <p:nvPr/>
        </p:nvSpPr>
        <p:spPr>
          <a:xfrm>
            <a:off x="731520" y="1554480"/>
            <a:ext cx="3657600" cy="4480560"/>
          </a:xfrm>
          <a:prstGeom prst="roundRect">
            <a:avLst/>
          </a:prstGeom>
          <a:solidFill>
            <a:srgbClr val="CFEFFF"/>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2400">
                <a:solidFill>
                  <a:srgbClr val="333333"/>
                </a:solidFill>
                <a:latin typeface="Avenir Next"/>
              </a:defRPr>
            </a:pPr>
            <a:r>
              <a:t>Lehrer-Schüler-Verhältnis</a:t>
            </a:r>
          </a:p>
          <a:p>
            <a:pPr>
              <a:defRPr sz="1700">
                <a:solidFill>
                  <a:srgbClr val="333333"/>
                </a:solidFill>
                <a:latin typeface="Avenir Next"/>
              </a:defRPr>
            </a:pPr>
            <a:r>
              <a:t>• respektvolle Beziehung stärkt Vertrauen</a:t>
            </a:r>
          </a:p>
          <a:p>
            <a:pPr>
              <a:defRPr sz="1700">
                <a:solidFill>
                  <a:srgbClr val="333333"/>
                </a:solidFill>
                <a:latin typeface="Avenir Next"/>
              </a:defRPr>
            </a:pPr>
            <a:r>
              <a:t>• Unterstützung reduziert Stress</a:t>
            </a:r>
          </a:p>
          <a:p>
            <a:pPr>
              <a:defRPr sz="1700">
                <a:solidFill>
                  <a:srgbClr val="333333"/>
                </a:solidFill>
                <a:latin typeface="Avenir Next"/>
              </a:defRPr>
            </a:pPr>
            <a:r>
              <a:t>• Ungerechtigkeit belastet deutlich</a:t>
            </a:r>
          </a:p>
        </p:txBody>
      </p:sp>
      <p:sp>
        <p:nvSpPr>
          <p:cNvPr id="6" name="Rounded Rectangle 5"/>
          <p:cNvSpPr/>
          <p:nvPr/>
        </p:nvSpPr>
        <p:spPr>
          <a:xfrm>
            <a:off x="4617720" y="1554480"/>
            <a:ext cx="3657600" cy="4480560"/>
          </a:xfrm>
          <a:prstGeom prst="roundRect">
            <a:avLst/>
          </a:prstGeom>
          <a:solidFill>
            <a:srgbClr val="FFD9E8"/>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2400">
                <a:solidFill>
                  <a:srgbClr val="333333"/>
                </a:solidFill>
                <a:latin typeface="Avenir Next"/>
              </a:defRPr>
            </a:pPr>
            <a:r>
              <a:t>Mitbestimmung</a:t>
            </a:r>
          </a:p>
          <a:p>
            <a:pPr>
              <a:defRPr sz="1700">
                <a:solidFill>
                  <a:srgbClr val="333333"/>
                </a:solidFill>
                <a:latin typeface="Avenir Next"/>
              </a:defRPr>
            </a:pPr>
            <a:r>
              <a:t>• Schülervertretung und Klassenrat</a:t>
            </a:r>
          </a:p>
          <a:p>
            <a:pPr>
              <a:defRPr sz="1700">
                <a:solidFill>
                  <a:srgbClr val="333333"/>
                </a:solidFill>
                <a:latin typeface="Avenir Next"/>
              </a:defRPr>
            </a:pPr>
            <a:r>
              <a:t>• Beteiligung stärkt Selbstwirksamkeit</a:t>
            </a:r>
          </a:p>
          <a:p>
            <a:pPr>
              <a:defRPr sz="1700">
                <a:solidFill>
                  <a:srgbClr val="333333"/>
                </a:solidFill>
                <a:latin typeface="Avenir Next"/>
              </a:defRPr>
            </a:pPr>
            <a:r>
              <a:t>• Meinung zählt im Schulalltag</a:t>
            </a:r>
          </a:p>
        </p:txBody>
      </p:sp>
      <p:sp>
        <p:nvSpPr>
          <p:cNvPr id="7" name="Rounded Rectangle 6"/>
          <p:cNvSpPr/>
          <p:nvPr/>
        </p:nvSpPr>
        <p:spPr>
          <a:xfrm>
            <a:off x="8503920" y="1554480"/>
            <a:ext cx="3657600" cy="4480560"/>
          </a:xfrm>
          <a:prstGeom prst="roundRect">
            <a:avLst/>
          </a:prstGeom>
          <a:solidFill>
            <a:srgbClr val="FFF7C7"/>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2400">
                <a:solidFill>
                  <a:srgbClr val="333333"/>
                </a:solidFill>
                <a:latin typeface="Avenir Next"/>
              </a:defRPr>
            </a:pPr>
            <a:r>
              <a:t>Feedbackkultur</a:t>
            </a:r>
          </a:p>
          <a:p>
            <a:pPr>
              <a:defRPr sz="1700">
                <a:solidFill>
                  <a:srgbClr val="333333"/>
                </a:solidFill>
                <a:latin typeface="Avenir Next"/>
              </a:defRPr>
            </a:pPr>
            <a:r>
              <a:t>• nicht nur Noten, auch qualitative Rückmeldung</a:t>
            </a:r>
          </a:p>
          <a:p>
            <a:pPr>
              <a:defRPr sz="1700">
                <a:solidFill>
                  <a:srgbClr val="333333"/>
                </a:solidFill>
                <a:latin typeface="Avenir Next"/>
              </a:defRPr>
            </a:pPr>
            <a:r>
              <a:t>• formative Begleitung von Lernprozessen</a:t>
            </a:r>
          </a:p>
          <a:p>
            <a:pPr>
              <a:defRPr sz="1700">
                <a:solidFill>
                  <a:srgbClr val="333333"/>
                </a:solidFill>
                <a:latin typeface="Avenir Next"/>
              </a:defRPr>
            </a:pPr>
            <a:r>
              <a:t>• Stärken gezielt entwickeln</a:t>
            </a:r>
          </a:p>
        </p:txBody>
      </p:sp>
    </p:spTree>
  </p:cSld>
  <p:clrMapOvr>
    <a:masterClrMapping/>
  </p:clrMapOvr>
  <p:transition advClick="1">
    <p:push/>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966960" y="182880"/>
            <a:ext cx="1920240" cy="1920240"/>
          </a:xfrm>
          <a:prstGeom prst="roundRect">
            <a:avLst/>
          </a:prstGeom>
          <a:solidFill>
            <a:srgbClr val="CFEFFF"/>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82880" y="5303520"/>
            <a:ext cx="2286000" cy="1188720"/>
          </a:xfrm>
          <a:prstGeom prst="roundRect">
            <a:avLst/>
          </a:prstGeom>
          <a:solidFill>
            <a:srgbClr val="FFD9E8"/>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40080"/>
            <a:ext cx="10789920" cy="914400"/>
          </a:xfrm>
          <a:prstGeom prst="rect">
            <a:avLst/>
          </a:prstGeom>
          <a:noFill/>
        </p:spPr>
        <p:txBody>
          <a:bodyPr wrap="none">
            <a:spAutoFit/>
          </a:bodyPr>
          <a:lstStyle/>
          <a:p>
            <a:pPr>
              <a:defRPr b="1" sz="4800">
                <a:solidFill>
                  <a:srgbClr val="333333"/>
                </a:solidFill>
                <a:latin typeface="Avenir Next"/>
              </a:defRPr>
            </a:pPr>
            <a:r>
              <a:t>Kurze Umfrage</a:t>
            </a:r>
          </a:p>
        </p:txBody>
      </p:sp>
      <p:sp>
        <p:nvSpPr>
          <p:cNvPr id="5" name="Rounded Rectangle 4"/>
          <p:cNvSpPr/>
          <p:nvPr/>
        </p:nvSpPr>
        <p:spPr>
          <a:xfrm>
            <a:off x="1005840" y="1600200"/>
            <a:ext cx="10149840" cy="1143000"/>
          </a:xfrm>
          <a:prstGeom prst="roundRect">
            <a:avLst/>
          </a:prstGeom>
          <a:solidFill>
            <a:srgbClr val="FFFFFF"/>
          </a:solidFill>
          <a:ln w="190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333333"/>
                </a:solidFill>
                <a:latin typeface="Avenir Next"/>
              </a:defRPr>
            </a:pPr>
            <a:r>
              <a:t>Was beeinflusst euer Wohlbefinden in der Schule am stärksten?</a:t>
            </a:r>
          </a:p>
        </p:txBody>
      </p:sp>
      <p:sp>
        <p:nvSpPr>
          <p:cNvPr id="6" name="Rounded Rectangle 5"/>
          <p:cNvSpPr/>
          <p:nvPr/>
        </p:nvSpPr>
        <p:spPr>
          <a:xfrm>
            <a:off x="1280160" y="3063240"/>
            <a:ext cx="4389120" cy="914400"/>
          </a:xfrm>
          <a:prstGeom prst="roundRect">
            <a:avLst/>
          </a:prstGeom>
          <a:solidFill>
            <a:srgbClr val="CFEFFF"/>
          </a:solidFill>
          <a:ln w="190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333333"/>
                </a:solidFill>
                <a:latin typeface="Avenir Next"/>
              </a:defRPr>
            </a:pPr>
            <a:r>
              <a:t>📚 Notendruck</a:t>
            </a:r>
          </a:p>
        </p:txBody>
      </p:sp>
      <p:sp>
        <p:nvSpPr>
          <p:cNvPr id="7" name="Rounded Rectangle 6"/>
          <p:cNvSpPr/>
          <p:nvPr/>
        </p:nvSpPr>
        <p:spPr>
          <a:xfrm>
            <a:off x="6583679" y="3063240"/>
            <a:ext cx="4389120" cy="914400"/>
          </a:xfrm>
          <a:prstGeom prst="roundRect">
            <a:avLst/>
          </a:prstGeom>
          <a:solidFill>
            <a:srgbClr val="FFD9E8"/>
          </a:solidFill>
          <a:ln w="190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333333"/>
                </a:solidFill>
                <a:latin typeface="Avenir Next"/>
              </a:defRPr>
            </a:pPr>
            <a:r>
              <a:t>👩‍🏫 Lehrkräfte</a:t>
            </a:r>
          </a:p>
        </p:txBody>
      </p:sp>
      <p:sp>
        <p:nvSpPr>
          <p:cNvPr id="8" name="Rounded Rectangle 7"/>
          <p:cNvSpPr/>
          <p:nvPr/>
        </p:nvSpPr>
        <p:spPr>
          <a:xfrm>
            <a:off x="1280160" y="4297680"/>
            <a:ext cx="4389120" cy="914400"/>
          </a:xfrm>
          <a:prstGeom prst="roundRect">
            <a:avLst/>
          </a:prstGeom>
          <a:solidFill>
            <a:srgbClr val="FFF7C7"/>
          </a:solidFill>
          <a:ln w="190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333333"/>
                </a:solidFill>
                <a:latin typeface="Avenir Next"/>
              </a:defRPr>
            </a:pPr>
            <a:r>
              <a:t>👥 Mitschüler</a:t>
            </a:r>
          </a:p>
        </p:txBody>
      </p:sp>
      <p:sp>
        <p:nvSpPr>
          <p:cNvPr id="9" name="Rounded Rectangle 8"/>
          <p:cNvSpPr/>
          <p:nvPr/>
        </p:nvSpPr>
        <p:spPr>
          <a:xfrm>
            <a:off x="6583679" y="4297680"/>
            <a:ext cx="4389120" cy="914400"/>
          </a:xfrm>
          <a:prstGeom prst="roundRect">
            <a:avLst/>
          </a:prstGeom>
          <a:solidFill>
            <a:srgbClr val="D8F1D2"/>
          </a:solidFill>
          <a:ln w="190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333333"/>
                </a:solidFill>
                <a:latin typeface="Avenir Next"/>
              </a:defRPr>
            </a:pPr>
            <a:r>
              <a:t>🕒 Zeitstress</a:t>
            </a:r>
          </a:p>
        </p:txBody>
      </p:sp>
      <p:sp>
        <p:nvSpPr>
          <p:cNvPr id="10" name="Rounded Rectangle 9"/>
          <p:cNvSpPr/>
          <p:nvPr/>
        </p:nvSpPr>
        <p:spPr>
          <a:xfrm>
            <a:off x="4663440" y="5577840"/>
            <a:ext cx="3017520" cy="50292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900" b="0">
                <a:solidFill>
                  <a:srgbClr val="333333"/>
                </a:solidFill>
                <a:latin typeface="Avenir Next"/>
              </a:defRPr>
            </a:pPr>
            <a:r>
              <a:t>Kurzes Handzeichen</a:t>
            </a:r>
          </a:p>
        </p:txBody>
      </p:sp>
      <p:sp>
        <p:nvSpPr>
          <p:cNvPr id="11" name="Rounded Rectangle 10"/>
          <p:cNvSpPr/>
          <p:nvPr/>
        </p:nvSpPr>
        <p:spPr>
          <a:xfrm>
            <a:off x="2103120" y="6035040"/>
            <a:ext cx="8046720" cy="548640"/>
          </a:xfrm>
          <a:prstGeom prst="roundRect">
            <a:avLst/>
          </a:prstGeom>
          <a:solidFill>
            <a:srgbClr val="FFFFFF"/>
          </a:solidFill>
          <a:ln>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100" b="1">
                <a:solidFill>
                  <a:srgbClr val="333333"/>
                </a:solidFill>
                <a:latin typeface="Avenir Next"/>
              </a:defRPr>
            </a:pPr>
            <a:r>
              <a:t>Alle Faktoren spielen laut Facharbeit eine wichtige Rolle.</a:t>
            </a:r>
          </a:p>
        </p:txBody>
      </p:sp>
    </p:spTree>
  </p:cSld>
  <p:clrMapOvr>
    <a:masterClrMapping/>
  </p:clrMapOvr>
  <p:transition advClick="1">
    <p:dissolv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692640" y="5394960"/>
            <a:ext cx="2194560" cy="1097280"/>
          </a:xfrm>
          <a:prstGeom prst="roundRect">
            <a:avLst/>
          </a:prstGeom>
          <a:solidFill>
            <a:srgbClr val="FFF7C7"/>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28600" y="182880"/>
            <a:ext cx="2560320" cy="1097280"/>
          </a:xfrm>
          <a:prstGeom prst="roundRect">
            <a:avLst/>
          </a:prstGeom>
          <a:solidFill>
            <a:srgbClr val="CFEFFF"/>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10789920" cy="914400"/>
          </a:xfrm>
          <a:prstGeom prst="rect">
            <a:avLst/>
          </a:prstGeom>
          <a:noFill/>
        </p:spPr>
        <p:txBody>
          <a:bodyPr wrap="none">
            <a:spAutoFit/>
          </a:bodyPr>
          <a:lstStyle/>
          <a:p>
            <a:pPr>
              <a:defRPr b="1" sz="4400">
                <a:solidFill>
                  <a:srgbClr val="333333"/>
                </a:solidFill>
                <a:latin typeface="Avenir Next"/>
              </a:defRPr>
            </a:pPr>
            <a:r>
              <a:t>Internationaler Vergleich</a:t>
            </a:r>
          </a:p>
        </p:txBody>
      </p:sp>
      <p:sp>
        <p:nvSpPr>
          <p:cNvPr id="5" name="Rounded Rectangle 4"/>
          <p:cNvSpPr/>
          <p:nvPr/>
        </p:nvSpPr>
        <p:spPr>
          <a:xfrm>
            <a:off x="822960" y="1645920"/>
            <a:ext cx="3611880" cy="4114800"/>
          </a:xfrm>
          <a:prstGeom prst="roundRect">
            <a:avLst/>
          </a:prstGeom>
          <a:solidFill>
            <a:srgbClr val="CFEFFF"/>
          </a:solidFill>
          <a:ln w="190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2400">
                <a:solidFill>
                  <a:srgbClr val="333333"/>
                </a:solidFill>
                <a:latin typeface="Avenir Next"/>
              </a:defRPr>
            </a:pPr>
            <a:r>
              <a:t>Deutschland</a:t>
            </a:r>
          </a:p>
          <a:p>
            <a:pPr>
              <a:defRPr sz="2000">
                <a:solidFill>
                  <a:srgbClr val="333333"/>
                </a:solidFill>
                <a:latin typeface="Avenir Next"/>
              </a:defRPr>
            </a:pPr>
            <a:r>
              <a:t>• frühe Aufteilung</a:t>
            </a:r>
          </a:p>
          <a:p>
            <a:pPr>
              <a:defRPr sz="2000">
                <a:solidFill>
                  <a:srgbClr val="333333"/>
                </a:solidFill>
                <a:latin typeface="Avenir Next"/>
              </a:defRPr>
            </a:pPr>
            <a:r>
              <a:t>• viele Noten</a:t>
            </a:r>
          </a:p>
        </p:txBody>
      </p:sp>
      <p:sp>
        <p:nvSpPr>
          <p:cNvPr id="6" name="Rounded Rectangle 5"/>
          <p:cNvSpPr/>
          <p:nvPr/>
        </p:nvSpPr>
        <p:spPr>
          <a:xfrm>
            <a:off x="4617720" y="1645920"/>
            <a:ext cx="3611880" cy="4114800"/>
          </a:xfrm>
          <a:prstGeom prst="roundRect">
            <a:avLst/>
          </a:prstGeom>
          <a:solidFill>
            <a:srgbClr val="FFD9E8"/>
          </a:solidFill>
          <a:ln w="190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2400">
                <a:solidFill>
                  <a:srgbClr val="333333"/>
                </a:solidFill>
                <a:latin typeface="Avenir Next"/>
              </a:defRPr>
            </a:pPr>
            <a:r>
              <a:t>Finnland</a:t>
            </a:r>
          </a:p>
          <a:p>
            <a:pPr>
              <a:defRPr sz="2000">
                <a:solidFill>
                  <a:srgbClr val="333333"/>
                </a:solidFill>
                <a:latin typeface="Avenir Next"/>
              </a:defRPr>
            </a:pPr>
            <a:r>
              <a:t>• längeres gemeinsames Lernen</a:t>
            </a:r>
          </a:p>
          <a:p>
            <a:pPr>
              <a:defRPr sz="2000">
                <a:solidFill>
                  <a:srgbClr val="333333"/>
                </a:solidFill>
                <a:latin typeface="Avenir Next"/>
              </a:defRPr>
            </a:pPr>
            <a:r>
              <a:t>• spätere Leistungsdifferenzierung</a:t>
            </a:r>
          </a:p>
        </p:txBody>
      </p:sp>
      <p:sp>
        <p:nvSpPr>
          <p:cNvPr id="7" name="Rounded Rectangle 6"/>
          <p:cNvSpPr/>
          <p:nvPr/>
        </p:nvSpPr>
        <p:spPr>
          <a:xfrm>
            <a:off x="8412480" y="1645920"/>
            <a:ext cx="3611880" cy="4114800"/>
          </a:xfrm>
          <a:prstGeom prst="roundRect">
            <a:avLst/>
          </a:prstGeom>
          <a:solidFill>
            <a:srgbClr val="FFF7C7"/>
          </a:solidFill>
          <a:ln w="190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2400">
                <a:solidFill>
                  <a:srgbClr val="333333"/>
                </a:solidFill>
                <a:latin typeface="Avenir Next"/>
              </a:defRPr>
            </a:pPr>
            <a:r>
              <a:t>angelsächsische Systeme</a:t>
            </a:r>
          </a:p>
          <a:p>
            <a:pPr>
              <a:defRPr sz="2000">
                <a:solidFill>
                  <a:srgbClr val="333333"/>
                </a:solidFill>
                <a:latin typeface="Avenir Next"/>
              </a:defRPr>
            </a:pPr>
            <a:r>
              <a:t>• mehr Praxis</a:t>
            </a:r>
          </a:p>
          <a:p>
            <a:pPr>
              <a:defRPr sz="2000">
                <a:solidFill>
                  <a:srgbClr val="333333"/>
                </a:solidFill>
                <a:latin typeface="Avenir Next"/>
              </a:defRPr>
            </a:pPr>
            <a:r>
              <a:t>• mehr Wahlmöglichkeiten</a:t>
            </a:r>
          </a:p>
        </p:txBody>
      </p:sp>
      <p:sp>
        <p:nvSpPr>
          <p:cNvPr id="8" name="Rounded Rectangle 7"/>
          <p:cNvSpPr/>
          <p:nvPr/>
        </p:nvSpPr>
        <p:spPr>
          <a:xfrm>
            <a:off x="3246120" y="5897880"/>
            <a:ext cx="5669280" cy="731520"/>
          </a:xfrm>
          <a:prstGeom prst="roundRect">
            <a:avLst/>
          </a:prstGeom>
          <a:solidFill>
            <a:srgbClr val="FFFFFF"/>
          </a:solidFill>
          <a:ln w="190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2400">
                <a:solidFill>
                  <a:srgbClr val="333333"/>
                </a:solidFill>
                <a:latin typeface="Avenir Next"/>
              </a:defRPr>
            </a:pPr>
            <a:r>
              <a:t>Kein System ist perfekt.</a:t>
            </a:r>
          </a:p>
        </p:txBody>
      </p:sp>
    </p:spTree>
  </p:cSld>
  <p:clrMapOvr>
    <a:masterClrMapping/>
  </p:clrMapOvr>
  <p:transition advClick="1">
    <p:randomBar/>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0058400" y="5303520"/>
            <a:ext cx="1737360" cy="1005840"/>
          </a:xfrm>
          <a:prstGeom prst="roundRect">
            <a:avLst/>
          </a:prstGeom>
          <a:solidFill>
            <a:srgbClr val="FFD9E8"/>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82880" y="137160"/>
            <a:ext cx="1828800" cy="1005840"/>
          </a:xfrm>
          <a:prstGeom prst="roundRect">
            <a:avLst/>
          </a:prstGeom>
          <a:solidFill>
            <a:srgbClr val="FFF7C7"/>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10789920" cy="914400"/>
          </a:xfrm>
          <a:prstGeom prst="rect">
            <a:avLst/>
          </a:prstGeom>
          <a:noFill/>
        </p:spPr>
        <p:txBody>
          <a:bodyPr wrap="none">
            <a:spAutoFit/>
          </a:bodyPr>
          <a:lstStyle/>
          <a:p>
            <a:pPr>
              <a:defRPr b="1" sz="4400">
                <a:solidFill>
                  <a:srgbClr val="333333"/>
                </a:solidFill>
                <a:latin typeface="Avenir Next"/>
              </a:defRPr>
            </a:pPr>
            <a:r>
              <a:t>Stärken und Schwächen</a:t>
            </a:r>
          </a:p>
        </p:txBody>
      </p:sp>
      <p:sp>
        <p:nvSpPr>
          <p:cNvPr id="5" name="Rounded Rectangle 4"/>
          <p:cNvSpPr/>
          <p:nvPr/>
        </p:nvSpPr>
        <p:spPr>
          <a:xfrm>
            <a:off x="822960" y="1554480"/>
            <a:ext cx="5303520" cy="4389120"/>
          </a:xfrm>
          <a:prstGeom prst="roundRect">
            <a:avLst/>
          </a:prstGeom>
          <a:solidFill>
            <a:srgbClr val="D8F1D2"/>
          </a:solidFill>
          <a:ln w="190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defRPr b="1" sz="3100">
                <a:solidFill>
                  <a:srgbClr val="333333"/>
                </a:solidFill>
                <a:latin typeface="Avenir Next"/>
              </a:defRPr>
            </a:pPr>
            <a:r>
              <a:t>Stärken</a:t>
            </a:r>
          </a:p>
          <a:p>
            <a:pPr>
              <a:defRPr b="0" sz="2400">
                <a:solidFill>
                  <a:srgbClr val="333333"/>
                </a:solidFill>
                <a:latin typeface="Avenir Next"/>
              </a:defRPr>
            </a:pPr>
            <a:r>
              <a:t>• verschiedene Bildungswege</a:t>
            </a:r>
          </a:p>
          <a:p>
            <a:pPr>
              <a:defRPr b="0" sz="2400">
                <a:solidFill>
                  <a:srgbClr val="333333"/>
                </a:solidFill>
                <a:latin typeface="Avenir Next"/>
              </a:defRPr>
            </a:pPr>
            <a:r>
              <a:t>• duales Ausbildungssystem</a:t>
            </a:r>
          </a:p>
          <a:p>
            <a:pPr>
              <a:defRPr b="0" sz="2400">
                <a:solidFill>
                  <a:srgbClr val="333333"/>
                </a:solidFill>
                <a:latin typeface="Avenir Next"/>
              </a:defRPr>
            </a:pPr>
            <a:r>
              <a:t>• hohe akademische Standards</a:t>
            </a:r>
          </a:p>
        </p:txBody>
      </p:sp>
      <p:sp>
        <p:nvSpPr>
          <p:cNvPr id="6" name="Rounded Rectangle 5"/>
          <p:cNvSpPr/>
          <p:nvPr/>
        </p:nvSpPr>
        <p:spPr>
          <a:xfrm>
            <a:off x="6355080" y="1554480"/>
            <a:ext cx="4937760" cy="4389120"/>
          </a:xfrm>
          <a:prstGeom prst="roundRect">
            <a:avLst/>
          </a:prstGeom>
          <a:solidFill>
            <a:srgbClr val="FFD9E8"/>
          </a:solidFill>
          <a:ln w="190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defRPr b="1" sz="3100">
                <a:solidFill>
                  <a:srgbClr val="333333"/>
                </a:solidFill>
                <a:latin typeface="Avenir Next"/>
              </a:defRPr>
            </a:pPr>
            <a:r>
              <a:t>Schwächen</a:t>
            </a:r>
          </a:p>
          <a:p>
            <a:pPr>
              <a:defRPr b="0" sz="2400">
                <a:solidFill>
                  <a:srgbClr val="333333"/>
                </a:solidFill>
                <a:latin typeface="Avenir Next"/>
              </a:defRPr>
            </a:pPr>
            <a:r>
              <a:t>• frühe Selektion</a:t>
            </a:r>
          </a:p>
          <a:p>
            <a:pPr>
              <a:defRPr b="0" sz="2400">
                <a:solidFill>
                  <a:srgbClr val="333333"/>
                </a:solidFill>
                <a:latin typeface="Avenir Next"/>
              </a:defRPr>
            </a:pPr>
            <a:r>
              <a:t>• Leistungsdruck</a:t>
            </a:r>
          </a:p>
          <a:p>
            <a:pPr>
              <a:defRPr b="0" sz="2400">
                <a:solidFill>
                  <a:srgbClr val="333333"/>
                </a:solidFill>
                <a:latin typeface="Avenir Next"/>
              </a:defRPr>
            </a:pPr>
            <a:r>
              <a:t>• soziale Ungleichheiten</a:t>
            </a:r>
          </a:p>
        </p:txBody>
      </p:sp>
    </p:spTree>
  </p:cSld>
  <p:clrMapOvr>
    <a:masterClrMapping/>
  </p:clrMapOvr>
  <p:transition advClick="1">
    <p:wip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966960" y="182880"/>
            <a:ext cx="1920240" cy="1920240"/>
          </a:xfrm>
          <a:prstGeom prst="roundRect">
            <a:avLst/>
          </a:prstGeom>
          <a:solidFill>
            <a:srgbClr val="CFEFFF"/>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82880" y="5303520"/>
            <a:ext cx="2286000" cy="1188720"/>
          </a:xfrm>
          <a:prstGeom prst="roundRect">
            <a:avLst/>
          </a:prstGeom>
          <a:solidFill>
            <a:srgbClr val="FFD9E8"/>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10789920" cy="914400"/>
          </a:xfrm>
          <a:prstGeom prst="rect">
            <a:avLst/>
          </a:prstGeom>
          <a:noFill/>
        </p:spPr>
        <p:txBody>
          <a:bodyPr wrap="none">
            <a:spAutoFit/>
          </a:bodyPr>
          <a:lstStyle/>
          <a:p>
            <a:pPr>
              <a:defRPr b="1" sz="4400">
                <a:solidFill>
                  <a:srgbClr val="333333"/>
                </a:solidFill>
                <a:latin typeface="Avenir Next"/>
              </a:defRPr>
            </a:pPr>
            <a:r>
              <a:t>Reformansätze</a:t>
            </a:r>
          </a:p>
        </p:txBody>
      </p:sp>
      <p:sp>
        <p:nvSpPr>
          <p:cNvPr id="5" name="Oval 4"/>
          <p:cNvSpPr/>
          <p:nvPr/>
        </p:nvSpPr>
        <p:spPr>
          <a:xfrm>
            <a:off x="822960" y="1645920"/>
            <a:ext cx="3474720" cy="3474720"/>
          </a:xfrm>
          <a:prstGeom prst="ellipse">
            <a:avLst/>
          </a:prstGeom>
          <a:solidFill>
            <a:srgbClr val="CFEFFF"/>
          </a:solidFill>
          <a:ln w="190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2100">
                <a:solidFill>
                  <a:srgbClr val="333333"/>
                </a:solidFill>
                <a:latin typeface="Avenir Next"/>
              </a:defRPr>
            </a:pPr>
            <a:r>
              <a:t>Mehr Lebens-</a:t>
            </a:r>
            <a:br/>
            <a:r>
              <a:t>kompetenzen</a:t>
            </a:r>
          </a:p>
          <a:p>
            <a:pPr algn="ctr">
              <a:defRPr sz="1400">
                <a:solidFill>
                  <a:srgbClr val="333333"/>
                </a:solidFill>
                <a:latin typeface="Avenir Next"/>
              </a:defRPr>
            </a:pPr>
            <a:r>
              <a:t>z. B. finanzielle Grundbildung,</a:t>
            </a:r>
            <a:br/>
            <a:r>
              <a:t>Medienkompetenz, Alltagskompetenzen</a:t>
            </a:r>
          </a:p>
        </p:txBody>
      </p:sp>
      <p:sp>
        <p:nvSpPr>
          <p:cNvPr id="6" name="Oval 5"/>
          <p:cNvSpPr/>
          <p:nvPr/>
        </p:nvSpPr>
        <p:spPr>
          <a:xfrm>
            <a:off x="4617720" y="1645920"/>
            <a:ext cx="3474720" cy="3474720"/>
          </a:xfrm>
          <a:prstGeom prst="ellipse">
            <a:avLst/>
          </a:prstGeom>
          <a:solidFill>
            <a:srgbClr val="FFD9E8"/>
          </a:solidFill>
          <a:ln w="190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2100">
                <a:solidFill>
                  <a:srgbClr val="333333"/>
                </a:solidFill>
                <a:latin typeface="Avenir Next"/>
              </a:defRPr>
            </a:pPr>
            <a:r>
              <a:t>Spätere Leistungs-</a:t>
            </a:r>
            <a:br/>
            <a:r>
              <a:t>differenzierung</a:t>
            </a:r>
          </a:p>
          <a:p>
            <a:pPr algn="ctr">
              <a:defRPr sz="1400">
                <a:solidFill>
                  <a:srgbClr val="333333"/>
                </a:solidFill>
                <a:latin typeface="Avenir Next"/>
              </a:defRPr>
            </a:pPr>
            <a:r>
              <a:t>längeres gemeinsames Lernen,</a:t>
            </a:r>
            <a:br/>
            <a:r>
              <a:t>mehr Zeit für Entwicklung</a:t>
            </a:r>
          </a:p>
        </p:txBody>
      </p:sp>
      <p:sp>
        <p:nvSpPr>
          <p:cNvPr id="7" name="Oval 6"/>
          <p:cNvSpPr/>
          <p:nvPr/>
        </p:nvSpPr>
        <p:spPr>
          <a:xfrm>
            <a:off x="8412480" y="1645920"/>
            <a:ext cx="3474720" cy="3474720"/>
          </a:xfrm>
          <a:prstGeom prst="ellipse">
            <a:avLst/>
          </a:prstGeom>
          <a:solidFill>
            <a:srgbClr val="FFF7C7"/>
          </a:solidFill>
          <a:ln w="190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2100">
                <a:solidFill>
                  <a:srgbClr val="333333"/>
                </a:solidFill>
                <a:latin typeface="Avenir Next"/>
              </a:defRPr>
            </a:pPr>
            <a:r>
              <a:t>Alternative</a:t>
            </a:r>
            <a:br/>
            <a:r>
              <a:t>Bewertungsformen</a:t>
            </a:r>
          </a:p>
          <a:p>
            <a:pPr algn="ctr">
              <a:defRPr sz="1400">
                <a:solidFill>
                  <a:srgbClr val="333333"/>
                </a:solidFill>
                <a:latin typeface="Avenir Next"/>
              </a:defRPr>
            </a:pPr>
            <a:r>
              <a:t>mehr Lernfeedback,</a:t>
            </a:r>
            <a:br/>
            <a:r>
              <a:t>Portfolio- oder projektbasierte Bewertung</a:t>
            </a:r>
          </a:p>
        </p:txBody>
      </p:sp>
      <p:sp>
        <p:nvSpPr>
          <p:cNvPr id="8" name="Rounded Rectangle 7"/>
          <p:cNvSpPr/>
          <p:nvPr/>
        </p:nvSpPr>
        <p:spPr>
          <a:xfrm>
            <a:off x="5349240" y="5577840"/>
            <a:ext cx="1645920" cy="731520"/>
          </a:xfrm>
          <a:prstGeom prst="roundRect">
            <a:avLst/>
          </a:prstGeom>
          <a:solidFill>
            <a:srgbClr val="FFFFFF"/>
          </a:solidFill>
          <a:ln>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333333"/>
                </a:solidFill>
                <a:latin typeface="Avenir Next"/>
              </a:defRPr>
            </a:pPr>
            <a:r>
              <a:t>→ Zukunft</a:t>
            </a:r>
          </a:p>
        </p:txBody>
      </p:sp>
    </p:spTree>
  </p:cSld>
  <p:clrMapOvr>
    <a:masterClrMapping/>
  </p:clrMapOvr>
  <p:transition advClick="1">
    <p:wheel/>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692640" y="5394960"/>
            <a:ext cx="2194560" cy="1097280"/>
          </a:xfrm>
          <a:prstGeom prst="roundRect">
            <a:avLst/>
          </a:prstGeom>
          <a:solidFill>
            <a:srgbClr val="FFF7C7"/>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28600" y="182880"/>
            <a:ext cx="2560320" cy="1097280"/>
          </a:xfrm>
          <a:prstGeom prst="roundRect">
            <a:avLst/>
          </a:prstGeom>
          <a:solidFill>
            <a:srgbClr val="CFEFFF"/>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789920" cy="914400"/>
          </a:xfrm>
          <a:prstGeom prst="rect">
            <a:avLst/>
          </a:prstGeom>
          <a:noFill/>
        </p:spPr>
        <p:txBody>
          <a:bodyPr wrap="none">
            <a:spAutoFit/>
          </a:bodyPr>
          <a:lstStyle/>
          <a:p>
            <a:pPr>
              <a:defRPr b="1" sz="5000">
                <a:solidFill>
                  <a:srgbClr val="333333"/>
                </a:solidFill>
                <a:latin typeface="Avenir Next"/>
              </a:defRPr>
            </a:pPr>
            <a:r>
              <a:t>Schule beeinflusst mehr als nur Noten.</a:t>
            </a:r>
          </a:p>
        </p:txBody>
      </p:sp>
      <p:sp>
        <p:nvSpPr>
          <p:cNvPr id="5" name="Rounded Rectangle 4"/>
          <p:cNvSpPr/>
          <p:nvPr/>
        </p:nvSpPr>
        <p:spPr>
          <a:xfrm>
            <a:off x="914400" y="1828800"/>
            <a:ext cx="10241280" cy="3291840"/>
          </a:xfrm>
          <a:prstGeom prst="roundRect">
            <a:avLst/>
          </a:prstGeom>
          <a:solidFill>
            <a:srgbClr val="FFFFFF"/>
          </a:solidFill>
          <a:ln w="190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defRPr sz="3100" b="1">
                <a:solidFill>
                  <a:srgbClr val="333333"/>
                </a:solidFill>
                <a:latin typeface="Avenir Next"/>
              </a:defRPr>
            </a:pPr>
            <a:r>
              <a:t>✓ Strukturen wirken auf das Wohlbefinden.</a:t>
            </a:r>
          </a:p>
          <a:p>
            <a:pPr>
              <a:defRPr sz="3100" b="1">
                <a:solidFill>
                  <a:srgbClr val="333333"/>
                </a:solidFill>
                <a:latin typeface="Avenir Next"/>
              </a:defRPr>
            </a:pPr>
            <a:r>
              <a:t>✓ Leistungsdruck und Schulklima spielen eine zentrale Rolle.</a:t>
            </a:r>
          </a:p>
          <a:p>
            <a:pPr>
              <a:defRPr sz="3100" b="1">
                <a:solidFill>
                  <a:srgbClr val="333333"/>
                </a:solidFill>
                <a:latin typeface="Avenir Next"/>
              </a:defRPr>
            </a:pPr>
            <a:r>
              <a:t>✓ Reformen könnten Bildung und Glück stärker miteinander verbinden.</a:t>
            </a:r>
          </a:p>
        </p:txBody>
      </p:sp>
      <p:sp>
        <p:nvSpPr>
          <p:cNvPr id="6" name="Rounded Rectangle 5"/>
          <p:cNvSpPr/>
          <p:nvPr/>
        </p:nvSpPr>
        <p:spPr>
          <a:xfrm>
            <a:off x="3520440" y="5715000"/>
            <a:ext cx="5120640" cy="822960"/>
          </a:xfrm>
          <a:prstGeom prst="roundRect">
            <a:avLst/>
          </a:prstGeom>
          <a:solidFill>
            <a:srgbClr val="CFEFFF"/>
          </a:solidFill>
          <a:ln>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000" b="1">
                <a:solidFill>
                  <a:srgbClr val="333333"/>
                </a:solidFill>
                <a:latin typeface="Avenir Next"/>
              </a:defRPr>
            </a:pPr>
            <a:r>
              <a:t>Danke für eure Aufmerksamkeit!</a:t>
            </a:r>
          </a:p>
        </p:txBody>
      </p:sp>
    </p:spTree>
  </p:cSld>
  <p:clrMapOvr>
    <a:masterClrMapping/>
  </p:clrMapOvr>
  <p:transition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