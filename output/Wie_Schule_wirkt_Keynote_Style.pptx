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möchte heute zeigen, wie Schule nicht nur Leistungen, sondern auch das Wohlbefinden von Schülerinnen und Schülern prägt. Ausgangspunkt meiner Facharbeit war die Beobachtung, dass Schule einerseits Wissen vermittelt und Zukunftschancen eröffnet, andererseits aber auch Druck, Vergleiche und Unsicherheit erzeugen kann. Gerade im Seminarfachkurs Glück ist das spannend, weil Wohlbefinden nicht nur von individuellen Eigenschaften abhängt, sondern auch von den Strukturen, in denen Jugendliche lernen. Deshalb richte ich den Blick heute auf das Schulsystem selbst. Im Zentrum steht die Frage, welche Wirkungen Schulformen, Bewertungen und schulische Rahmenbedingungen auf das Erleben von Schule haben. Warum dieses Thema so relevant ist, zeige ich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Thema ist wichtig, weil Schule ein zentraler Lebensraum für Kinder und Jugendliche ist. Ein großer Teil des Alltags spielt sich dort ab, und schulische Erfahrungen wirken auf Selbstbild, Motivation und Zukunftsperspektiven. In der Facharbeit wird außerdem deutlich, dass die öffentliche Diskussion über Leistungsdruck und psychische Belastungen zunimmt. Bildung ist zugleich entscheidend für soziale Teilhabe, berufliche Chancen und demokratische Stabilität. Deshalb reicht es nicht, nur auf Leistungen zu schauen. Wenn Bildung erfolgreich sein soll, muss auch das Wohlbefinden mitgedacht werden. Aus genau diesem Spannungsfeld ergibt sich die Leitfrage meiner Arbeit, die ich unten hervorgehoben habe und die den roten Faden für die gesamte Präsentation bildet.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ich auf das deutsche Schulsystem eingehe, müssen drei Grundbegriffe geklärt werden. Erstens meint Strukturmerkmale die institutionellen Rahmenbedingungen von Schule, also zum Beispiel Schulformen, Notensystem, Versetzungsordnungen und Abschlüsse. Zweitens umfasst Wohlbefinden laut Facharbeit nicht nur gute Laune, sondern psychische Gesundheit, soziale Beziehungen und Lebenszufriedenheit. Es geht also darum, wie sicher, eingebunden und belastet sich Jugendliche in Schule fühlen. Drittens ist Bildungsgerechtigkeit die Frage, ob Bildungszugang und Bildungschancen fair verteilt sind und nicht zu stark von sozialer Herkunft abhängen. Diese drei Begriffe gehören zusammen und bilden die Grundlage für alle späteren Bewertungen. Mit diesem Begriffsrahmen können wir jetzt auf die Struktur des deutschen Systems schauen.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sieht man die wichtigsten Schulformen, die in der Arbeit miteinander verglichen werden. Das Gymnasium ist am stärksten akademisch ausgerichtet und führt zum Abitur. Die Realschule nimmt eine mittlere Position ein und verbindet Allgemeinbildung mit mehr Praxisbezug. Die Hauptschule war traditionell auf praktische und berufliche Wege ausgerichtet, wird aber heute auch wegen Stigmatisierung und sozialer Segregation kritisch gesehen. Die Gesamtschule soll längeres gemeinsames Lernen ermöglichen und verschiedene Abschlüsse unter einem Dach verbinden. Berufliche Schulen sind schließlich eng mit dem dualen Ausbildungssystem verbunden und gelten international als besondere Stärke Deutschlands. Mit diesen Unterschieden im Hinterkopf wird deutlicher, warum Schulstruktur nicht neutral ist, sondern Erfahrungen und Anforderungen verändert.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zentrales Ergebnis der Facharbeit ist, dass Leistungsdruck das Wohlbefinden stark beeinflussen kann. Dieser Druck entsteht vor allem durch Noten, Prüfungen, Konkurrenz und Erwartungen von Eltern, Lehrkräften oder Gesellschaft. Solche Anforderungen müssen nicht grundsätzlich negativ sein. Für manche Schülerinnen und Schüler wirken sie sogar motivierend. Problematisch wird es dann, wenn aus Leistungsanforderungen dauerhafter Stress wird. In der Arbeit werden als mögliche Folgen zum Beispiel Schlafprobleme, Unsicherheit, psychosomatische Beschwerden und ein geringeres Selbstwertgefühl beschrieben. Entscheidend ist also nicht nur, dass Leistung bewertet wird, sondern wie stark Erfolg und Misserfolg mit dem eigenen Wert verbunden werden. Nach dem Leistungsdruck kommt nun ein zweiter wichtiger Faktor: das Schulklima.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Neben Leistung wirkt vor allem das soziale Klima der Schule auf das Wohlbefinden. Die Facharbeit nennt dabei drei Bereiche. Erstens ist das Lehrer-Schüler-Verhältnis wichtig: Wer sich ernst genommen fühlt und Unterstützung erlebt, empfindet Schule meist als weniger belastend. Zweitens spielt Mitbestimmung eine Rolle. Wenn Jugendliche an Entscheidungen beteiligt werden, stärkt das ihre Selbstwirksamkeit und das Gefühl, dass ihre Meinung zählt. Drittens kommt es auf die Feedbackkultur an. Qualitative Rückmeldungen können Lernprozesse begleiten und individuelle Entwicklung sichtbarer machen als reine Noten. Zusammengefasst zeigt sich: Schule wird dann eher als förderlicher Ort erlebt, wenn Beziehungen, Beteiligung und Feedback stimmen. Genau deshalb lohnt sich jetzt ein kurzer Blick auf eure eigene Wahrnehmung.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dieser Stelle würde ich das Publikum kurz einbinden. Die Frage lautet: Was beeinflusst euer Wohlbefinden in der Schule am stärksten? Die vier Antwortmöglichkeiten greifen zentrale Punkte aus der Facharbeit auf: Notendruck, Lehrkräfte, Mitschüler und Zeitstress. Ein kurzes Handzeichen reicht hier vollkommen aus. Wichtig ist für meine Auswertung vor allem die Erkenntnis, dass diese Faktoren nicht isoliert auftreten. Die Facharbeit zeigt vielmehr, dass Wohlbefinden immer aus einem Zusammenspiel von schulischen Anforderungen, sozialen Beziehungen und institutionellen Rahmenbedingungen entsteht. Diese kleine Umfrage schafft also einen guten Übergang zur nächsten Folie, auf der ich zeige, dass andere Bildungssysteme manche dieser Faktoren anders gestalten.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internationale Vergleich hilft dabei, das deutsche System besser einzuordnen. In Deutschland fallen vor allem die frühe Aufteilung und die starke Bedeutung von Noten und Prüfungen auf. Finnland steht in der Arbeit beispielhaft für ein Modell mit längerem gemeinsamen Lernen und späterer Leistungsdifferenzierung. In den frühen Schuljahren stehen dort individuelle Lernfortschritte und qualitative Rückmeldungen stärker im Vordergrund. Angelsächsische Systeme werden wiederum mit mehr Wahlmöglichkeiten, projektorientiertem Lernen und größerer Praxisnähe verbunden. Gleichzeitig macht die Facharbeit klar, dass es kein perfektes Bildungssystem gibt. Jedes System hat eigene Stärken und Herausforderungen. Genau deshalb ist es sinnvoll, den deutschen Fall nun ausgewogen nach Stärken und Schwächen zu bewerten.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Facharbeit bewertet das deutsche Schulsystem bewusst differenziert. Zu den Stärken gehören die verschiedenen Bildungswege, das duale Ausbildungssystem und die hohen akademischen Standards, besonders im Gymnasium. Diese Strukturen können gezielte Förderung ermöglichen und den Übergang in Studium oder Beruf gut vorbereiten. Gleichzeitig gibt es klare Schwächen. Besonders kritisch sind die frühe Selektion, der Leistungsdruck und die fortbestehenden sozialen Ungleichheiten. Die Arbeit zeigt, dass gerade die frühe Aufteilung nach der Grundschule Bildungswege sehr früh festlegt und dass der Bildungserfolg in Deutschland vergleichsweise stark mit sozialer Herkunft zusammenhängt. Aus dieser doppelten Perspektive ergeben sich auch die Reformansätze, die ich als Nächstes vorstelle.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 den beschriebenen Problemen leitet die Facharbeit drei zentrale Reformansätze ab. Erstens soll Schule mehr Lebenskompetenzen vermitteln, also zum Beispiel finanzielle Grundbildung, Medienkompetenz und alltagsrelevante Fähigkeiten. Zweitens wird eine spätere Leistungsdifferenzierung diskutiert, damit Jugendliche mehr Zeit haben, ihre Stärken zu entwickeln und fundiertere Bildungsentscheidungen zu treffen. Drittens geht es um alternative Bewertungsformen. Ausführliche Lernfeedbacks, Portfolioarbeit oder projektbasierte Bewertung könnten Lernprozesse stärker in den Mittelpunkt rücken als reine Prüfungsergebnisse. Diese Reformen würden das System nicht vollständig neu erfinden, aber sie könnten Bildung und Wohlbefinden besser miteinander verbinden. Damit komme ich zum abschließenden Fazit.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Fazit lässt sich die Leitfrage klar beantworten: Strukturelle Unterschiede im deutschen Schulsystem beeinflussen das Wohlbefinden von Schülerinnen und Schülern in erheblichem Maße. Entscheidend sind dabei nicht nur Unterrichtsinhalte, sondern vor allem die Schulstruktur, Leistungsbewertung und das soziale Klima. Leistungsdruck und Konkurrenz können motivierend sein, aber ebenso Stress und Unsicherheit auslösen. Gleichzeitig zeigt die Arbeit, dass ein positives Schulklima, Mitbestimmung und gute Feedbackkultur entlastend wirken können. Der Blick ins Ausland macht außerdem deutlich, dass andere Wege möglich sind. Schule beeinflusst also mehr als nur Noten - sie wirkt auf Chancen, Selbstbild und Lebenszufriedenheit. Damit bedanke ich mich für eure Aufmerksamkeit und freue mich auf Fragen oder Rückmeldungen.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PASTEL">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3AF"/>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AA3AF"/>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ns3="http://schemas.microsoft.com/office/drawing/2016/SVG/main" xmlns:p="http://schemas.openxmlformats.org/presentationml/2006/main" xmlns:r="http://schemas.openxmlformats.org/officeDocument/2006/relationships">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2377440" cy="1828800"/>
          </a:xfrm>
          <a:prstGeom prst="ellipse">
            <a:avLst/>
          </a:prstGeom>
          <a:solidFill>
            <a:srgbClr val="CFEFFF">
              <a:alpha val="90000"/>
            </a:srgbClr>
          </a:solidFill>
          <a:ln w="12700">
            <a:solidFill>
              <a:srgbClr val="CFEFFF">
                <a:alpha val="0"/>
              </a:srgbClr>
            </a:solidFill>
            <a:prstDash val="solid"/>
          </a:ln>
        </p:spPr>
      </p:sp>
      <p:sp>
        <p:nvSpPr>
          <p:cNvPr id="3" name="Shape 1"/>
          <p:cNvSpPr/>
          <p:nvPr/>
        </p:nvSpPr>
        <p:spPr>
          <a:xfrm>
            <a:off x="9692640" y="-182880"/>
            <a:ext cx="1828800" cy="1554480"/>
          </a:xfrm>
          <a:prstGeom prst="ellipse">
            <a:avLst/>
          </a:prstGeom>
          <a:solidFill>
            <a:srgbClr val="FFF7C7">
              <a:alpha val="94000"/>
            </a:srgbClr>
          </a:solidFill>
          <a:ln w="12700">
            <a:solidFill>
              <a:srgbClr val="FFF7C7">
                <a:alpha val="0"/>
              </a:srgbClr>
            </a:solidFill>
            <a:prstDash val="solid"/>
          </a:ln>
        </p:spPr>
      </p:sp>
      <p:sp>
        <p:nvSpPr>
          <p:cNvPr id="4" name="Shape 2"/>
          <p:cNvSpPr/>
          <p:nvPr/>
        </p:nvSpPr>
        <p:spPr>
          <a:xfrm>
            <a:off x="9601200" y="4937760"/>
            <a:ext cx="2468880" cy="2011680"/>
          </a:xfrm>
          <a:prstGeom prst="ellipse">
            <a:avLst/>
          </a:prstGeom>
          <a:solidFill>
            <a:srgbClr val="FFD9E8">
              <a:alpha val="92000"/>
            </a:srgbClr>
          </a:solidFill>
          <a:ln w="12700">
            <a:solidFill>
              <a:srgbClr val="FFD9E8">
                <a:alpha val="0"/>
              </a:srgbClr>
            </a:solidFill>
            <a:prstDash val="solid"/>
          </a:ln>
        </p:spPr>
      </p:sp>
      <p:sp>
        <p:nvSpPr>
          <p:cNvPr id="5" name="Shape 3"/>
          <p:cNvSpPr/>
          <p:nvPr/>
        </p:nvSpPr>
        <p:spPr>
          <a:xfrm>
            <a:off x="640080" y="475488"/>
            <a:ext cx="210312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548640"/>
            <a:ext cx="182880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Seminarfachkurs Glück</a:t>
            </a:r>
            <a:endParaRPr lang="en-US" sz="1100" dirty="0"/>
          </a:p>
        </p:txBody>
      </p:sp>
      <p:sp>
        <p:nvSpPr>
          <p:cNvPr id="7" name="Text 5"/>
          <p:cNvSpPr/>
          <p:nvPr/>
        </p:nvSpPr>
        <p:spPr>
          <a:xfrm>
            <a:off x="640080" y="1143000"/>
            <a:ext cx="5212080" cy="640080"/>
          </a:xfrm>
          <a:prstGeom prst="rect">
            <a:avLst/>
          </a:prstGeom>
          <a:noFill/>
          <a:ln/>
        </p:spPr>
        <p:txBody>
          <a:bodyPr wrap="square" lIns="0" tIns="0" rIns="0" bIns="0" rtlCol="0" anchor="ct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Wie Schule wirkt:</a:t>
            </a:r>
            <a:endParaRPr lang="en-US" sz="2400" dirty="0"/>
          </a:p>
        </p:txBody>
      </p:sp>
      <p:sp>
        <p:nvSpPr>
          <p:cNvPr id="8" name="Text 6"/>
          <p:cNvSpPr/>
          <p:nvPr/>
        </p:nvSpPr>
        <p:spPr>
          <a:xfrm>
            <a:off x="640080" y="1691640"/>
            <a:ext cx="5394960" cy="164592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Strukturelle Unterschiede</a:t>
            </a:r>
            <a:endParaRPr lang="en-US" sz="2400" dirty="0"/>
          </a:p>
          <a:p>
            <a:pPr indent="0" marL="0">
              <a:buNone/>
            </a:pPr>
            <a:r>
              <a:rPr lang="en-US" sz="2400" b="1" dirty="0">
                <a:solidFill>
                  <a:srgbClr val="3A3D46"/>
                </a:solidFill>
                <a:latin typeface="Aptos Display" pitchFamily="34" charset="0"/>
                <a:ea typeface="Aptos Display" pitchFamily="34" charset="-122"/>
                <a:cs typeface="Aptos Display" pitchFamily="34" charset="-120"/>
              </a:rPr>
              <a:t>und ihr Effekt auf das Wohlbefinden</a:t>
            </a:r>
            <a:endParaRPr lang="en-US" sz="2400" dirty="0"/>
          </a:p>
          <a:p>
            <a:pPr indent="0" marL="0">
              <a:buNone/>
            </a:pPr>
            <a:r>
              <a:rPr lang="en-US" sz="2400" b="1" dirty="0">
                <a:solidFill>
                  <a:srgbClr val="3A3D46"/>
                </a:solidFill>
                <a:latin typeface="Aptos Display" pitchFamily="34" charset="0"/>
                <a:ea typeface="Aptos Display" pitchFamily="34" charset="-122"/>
                <a:cs typeface="Aptos Display" pitchFamily="34" charset="-120"/>
              </a:rPr>
              <a:t>von Schülerinnen und Schülern</a:t>
            </a:r>
            <a:endParaRPr lang="en-US" sz="2400" dirty="0"/>
          </a:p>
        </p:txBody>
      </p:sp>
      <p:sp>
        <p:nvSpPr>
          <p:cNvPr id="9" name="Text 7"/>
          <p:cNvSpPr/>
          <p:nvPr/>
        </p:nvSpPr>
        <p:spPr>
          <a:xfrm>
            <a:off x="640080" y="3703320"/>
            <a:ext cx="3017520" cy="320040"/>
          </a:xfrm>
          <a:prstGeom prst="rect">
            <a:avLst/>
          </a:prstGeom>
          <a:noFill/>
          <a:ln/>
        </p:spPr>
        <p:txBody>
          <a:bodyPr wrap="square" lIns="0" tIns="0" rIns="0" bIns="0" rtlCol="0" anchor="ctr"/>
          <a:lstStyle/>
          <a:p>
            <a:pPr indent="0" marL="0">
              <a:buNone/>
            </a:pPr>
            <a:r>
              <a:rPr lang="en-US" sz="1400" dirty="0">
                <a:solidFill>
                  <a:srgbClr val="6B7280"/>
                </a:solidFill>
                <a:latin typeface="Aptos" pitchFamily="34" charset="0"/>
                <a:ea typeface="Aptos" pitchFamily="34" charset="-122"/>
                <a:cs typeface="Aptos" pitchFamily="34" charset="-120"/>
              </a:rPr>
              <a:t>Seminarfachkurs Glück</a:t>
            </a:r>
            <a:endParaRPr lang="en-US" sz="1400" dirty="0"/>
          </a:p>
        </p:txBody>
      </p:sp>
      <p:sp>
        <p:nvSpPr>
          <p:cNvPr id="10" name="Shape 8"/>
          <p:cNvSpPr/>
          <p:nvPr/>
        </p:nvSpPr>
        <p:spPr>
          <a:xfrm>
            <a:off x="6446520" y="877824"/>
            <a:ext cx="5074920" cy="5212080"/>
          </a:xfrm>
          <a:prstGeom prst="roundRect">
            <a:avLst>
              <a:gd name="adj" fmla="val 3964"/>
            </a:avLst>
          </a:prstGeom>
          <a:solidFill>
            <a:srgbClr val="3A3D46">
              <a:alpha val="8000"/>
            </a:srgbClr>
          </a:solidFill>
          <a:ln w="12700">
            <a:solidFill>
              <a:srgbClr val="D8DEE8">
                <a:alpha val="0"/>
              </a:srgbClr>
            </a:solidFill>
            <a:prstDash val="solid"/>
          </a:ln>
        </p:spPr>
      </p:sp>
      <p:sp>
        <p:nvSpPr>
          <p:cNvPr id="11" name="Shape 9"/>
          <p:cNvSpPr/>
          <p:nvPr/>
        </p:nvSpPr>
        <p:spPr>
          <a:xfrm>
            <a:off x="6400800" y="822960"/>
            <a:ext cx="5074920" cy="5212080"/>
          </a:xfrm>
          <a:prstGeom prst="roundRect">
            <a:avLst>
              <a:gd name="adj" fmla="val 3964"/>
            </a:avLst>
          </a:prstGeom>
          <a:solidFill>
            <a:srgbClr val="FFFFFF"/>
          </a:solidFill>
          <a:ln w="12700">
            <a:solidFill>
              <a:srgbClr val="E8EDF2"/>
            </a:solidFill>
            <a:prstDash val="solid"/>
          </a:ln>
        </p:spPr>
      </p:sp>
      <p:sp>
        <p:nvSpPr>
          <p:cNvPr id="12" name="Shape 10"/>
          <p:cNvSpPr/>
          <p:nvPr/>
        </p:nvSpPr>
        <p:spPr>
          <a:xfrm>
            <a:off x="6565392" y="987552"/>
            <a:ext cx="4745736" cy="4882896"/>
          </a:xfrm>
          <a:prstGeom prst="roundRect">
            <a:avLst>
              <a:gd name="adj" fmla="val 3468"/>
            </a:avLst>
          </a:prstGeom>
          <a:solidFill>
            <a:srgbClr val="CFEFFF">
              <a:alpha val="90000"/>
            </a:srgbClr>
          </a:solidFill>
          <a:ln w="12700">
            <a:solidFill>
              <a:srgbClr val="CFEFFF">
                <a:alpha val="0"/>
              </a:srgbClr>
            </a:solidFill>
            <a:prstDash val="solid"/>
          </a:ln>
        </p:spPr>
      </p:sp>
      <p:pic>
        <p:nvPicPr>
          <p:cNvPr id="13" name="Image 0" descr="/workspace/assets/generated/title-school-illustration.svg">    </p:cNvPr>
          <p:cNvPicPr>
            <a:picLocks noChangeAspect="1"/>
          </p:cNvPicPr>
          <p:nvPr/>
        </p:nvPicPr>
        <p:blipFill>
          <a:blip r:embed="rId1">
            <a:extLst>
              <a:ext uri="{96DAC541-7B7A-43D3-8B79-37D633B846F1}">
                <ns3:svgBlip r:embed="rId2"/>
              </a:ext>
            </a:extLst>
          </a:blip>
          <a:stretch>
            <a:fillRect/>
          </a:stretch>
        </p:blipFill>
        <p:spPr>
          <a:xfrm>
            <a:off x="6565392" y="987552"/>
            <a:ext cx="4745736" cy="4882896"/>
          </a:xfrm>
          <a:prstGeom prst="rect">
            <a:avLst/>
          </a:prstGeom>
        </p:spPr>
      </p:pic>
      <p:sp>
        <p:nvSpPr>
          <p:cNvPr id="14" name="Text 11"/>
          <p:cNvSpPr/>
          <p:nvPr/>
        </p:nvSpPr>
        <p:spPr>
          <a:xfrm>
            <a:off x="640080" y="4572000"/>
            <a:ext cx="4937760" cy="548640"/>
          </a:xfrm>
          <a:prstGeom prst="rect">
            <a:avLst/>
          </a:prstGeom>
          <a:noFill/>
          <a:ln/>
        </p:spPr>
        <p:txBody>
          <a:bodyPr wrap="square" lIns="0" tIns="0" rIns="0" bIns="0" rtlCol="0" anchor="ctr">
            <a:normAutofit/>
          </a:bodyPr>
          <a:lstStyle/>
          <a:p>
            <a:pPr indent="0" marL="0">
              <a:buNone/>
            </a:pPr>
            <a:r>
              <a:rPr lang="en-US" sz="1600" b="1" dirty="0">
                <a:solidFill>
                  <a:srgbClr val="3A3D46"/>
                </a:solidFill>
                <a:latin typeface="Aptos" pitchFamily="34" charset="0"/>
                <a:ea typeface="Aptos" pitchFamily="34" charset="-122"/>
                <a:cs typeface="Aptos" pitchFamily="34" charset="-120"/>
              </a:rPr>
              <a:t>Schule als Lebensraum zwischen Chance, Druck und Wohlbefinden</a:t>
            </a:r>
            <a:endParaRPr lang="en-US" sz="1600" dirty="0"/>
          </a:p>
        </p:txBody>
      </p:sp>
      <p:sp>
        <p:nvSpPr>
          <p:cNvPr id="15" name="Shape 12"/>
          <p:cNvSpPr/>
          <p:nvPr/>
        </p:nvSpPr>
        <p:spPr>
          <a:xfrm>
            <a:off x="640080" y="5166360"/>
            <a:ext cx="4206240" cy="0"/>
          </a:xfrm>
          <a:prstGeom prst="line">
            <a:avLst/>
          </a:prstGeom>
          <a:noFill/>
          <a:ln w="12700">
            <a:solidFill>
              <a:srgbClr val="E8EDF2"/>
            </a:solidFill>
            <a:prstDash val="solid"/>
          </a:ln>
        </p:spPr>
      </p:sp>
    </p:spTree>
  </p:cSld>
  <p:clrMapOvr>
    <a:masterClrMapping/>
  </p:clrMapOvr>
  <p:transition spd="slow">
    <p:fade/>
  </p:transition>
  <p:timing>
    <p:bldLst>
      <p:bldP spid="6" grpId="0" build="p" advAuto="250"/>
      <p:bldP spid="7" grpId="1" build="p" advAuto="250"/>
      <p:bldP spid="9" grpId="2" build="p" advAuto="250"/>
    </p:bldLst>
  </p:timing>
</p:sld>
</file>

<file path=ppt/slides/slide2.xml><?xml version="1.0" encoding="utf-8"?>
<p:sld xmlns:a="http://schemas.openxmlformats.org/drawingml/2006/main" xmlns:ns3="http://schemas.microsoft.com/office/drawing/2016/SVG/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4800600"/>
            <a:ext cx="2560320" cy="1920240"/>
          </a:xfrm>
          <a:prstGeom prst="ellipse">
            <a:avLst/>
          </a:prstGeom>
          <a:solidFill>
            <a:srgbClr val="FFD9E8">
              <a:alpha val="88000"/>
            </a:srgbClr>
          </a:solidFill>
          <a:ln w="12700">
            <a:solidFill>
              <a:srgbClr val="FFD9E8">
                <a:alpha val="0"/>
              </a:srgbClr>
            </a:solidFill>
            <a:prstDash val="solid"/>
          </a:ln>
        </p:spPr>
      </p:sp>
      <p:sp>
        <p:nvSpPr>
          <p:cNvPr id="3" name="Shape 1"/>
          <p:cNvSpPr/>
          <p:nvPr/>
        </p:nvSpPr>
        <p:spPr>
          <a:xfrm>
            <a:off x="9784080" y="-228600"/>
            <a:ext cx="1645920" cy="1280160"/>
          </a:xfrm>
          <a:prstGeom prst="ellipse">
            <a:avLst/>
          </a:prstGeom>
          <a:solidFill>
            <a:srgbClr val="CFEFFF">
              <a:alpha val="90000"/>
            </a:srgbClr>
          </a:solidFill>
          <a:ln w="12700">
            <a:solidFill>
              <a:srgbClr val="CFEFFF">
                <a:alpha val="0"/>
              </a:srgbClr>
            </a:solidFill>
            <a:prstDash val="solid"/>
          </a:ln>
        </p:spPr>
      </p:sp>
      <p:sp>
        <p:nvSpPr>
          <p:cNvPr id="4" name="Shape 2"/>
          <p:cNvSpPr/>
          <p:nvPr/>
        </p:nvSpPr>
        <p:spPr>
          <a:xfrm>
            <a:off x="8046720" y="5120640"/>
            <a:ext cx="1920240" cy="1463040"/>
          </a:xfrm>
          <a:prstGeom prst="ellipse">
            <a:avLst/>
          </a:prstGeom>
          <a:solidFill>
            <a:srgbClr val="FFF7C7">
              <a:alpha val="92000"/>
            </a:srgbClr>
          </a:solidFill>
          <a:ln w="12700">
            <a:solidFill>
              <a:srgbClr val="FFF7C7">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Relevanz des Themas</a:t>
            </a:r>
            <a:endParaRPr lang="en-US" sz="1100" dirty="0"/>
          </a:p>
        </p:txBody>
      </p:sp>
      <p:sp>
        <p:nvSpPr>
          <p:cNvPr id="7" name="Text 5"/>
          <p:cNvSpPr/>
          <p:nvPr/>
        </p:nvSpPr>
        <p:spPr>
          <a:xfrm>
            <a:off x="640080" y="914400"/>
            <a:ext cx="512064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Warum ist das Thema wichtig?</a:t>
            </a:r>
            <a:endParaRPr lang="en-US" sz="2400" dirty="0"/>
          </a:p>
        </p:txBody>
      </p:sp>
      <p:sp>
        <p:nvSpPr>
          <p:cNvPr id="8" name="Text 6"/>
          <p:cNvSpPr/>
          <p:nvPr/>
        </p:nvSpPr>
        <p:spPr>
          <a:xfrm>
            <a:off x="822960" y="1783080"/>
            <a:ext cx="4937760" cy="2560320"/>
          </a:xfrm>
          <a:prstGeom prst="rect">
            <a:avLst/>
          </a:prstGeom>
          <a:noFill/>
          <a:ln/>
        </p:spPr>
        <p:txBody>
          <a:bodyPr wrap="square" lIns="0" tIns="0" rIns="0" bIns="0" rtlCol="0" anchor="t"/>
          <a:lstStyle/>
          <a:p>
            <a:pPr marL="228600" indent="-228600">
              <a:buSzPct val="100000"/>
              <a:buChar char="•"/>
            </a:pPr>
            <a:r>
              <a:rPr lang="en-US" sz="1800" dirty="0">
                <a:solidFill>
                  <a:srgbClr val="3A3D46"/>
                </a:solidFill>
              </a:rPr>
              <a:t>Schule prägt den Alltag von Kindern und Jugendlichen.</a:t>
            </a:r>
            <a:endParaRPr lang="en-US" sz="1800" dirty="0"/>
          </a:p>
          <a:p>
            <a:pPr marL="228600" indent="-228600">
              <a:buSzPct val="100000"/>
              <a:buChar char="•"/>
            </a:pPr>
            <a:r>
              <a:rPr lang="en-US" sz="1800" dirty="0">
                <a:solidFill>
                  <a:srgbClr val="3A3D46"/>
                </a:solidFill>
              </a:rPr>
              <a:t>Leistungsdruck und psychische Belastungen werden intensiver diskutiert.</a:t>
            </a:r>
            <a:endParaRPr lang="en-US" sz="1800" dirty="0"/>
          </a:p>
          <a:p>
            <a:pPr marL="228600" indent="-228600">
              <a:buSzPct val="100000"/>
              <a:buChar char="•"/>
            </a:pPr>
            <a:r>
              <a:rPr lang="en-US" sz="1800" dirty="0">
                <a:solidFill>
                  <a:srgbClr val="3A3D46"/>
                </a:solidFill>
              </a:rPr>
              <a:t>Bildung beeinflusst Teilhabe, Berufschancen und Zukunftsperspektiven.</a:t>
            </a:r>
            <a:endParaRPr lang="en-US" sz="1800" dirty="0"/>
          </a:p>
          <a:p>
            <a:pPr marL="228600" indent="-228600">
              <a:buSzPct val="100000"/>
              <a:buChar char="•"/>
            </a:pPr>
            <a:r>
              <a:rPr lang="en-US" sz="1800" dirty="0">
                <a:solidFill>
                  <a:srgbClr val="3A3D46"/>
                </a:solidFill>
              </a:rPr>
              <a:t>Erfolgreiche Bildung braucht auch Wohlbefinden.</a:t>
            </a:r>
            <a:endParaRPr lang="en-US" sz="1800" dirty="0"/>
          </a:p>
        </p:txBody>
      </p:sp>
      <p:sp>
        <p:nvSpPr>
          <p:cNvPr id="9" name="Shape 7"/>
          <p:cNvSpPr/>
          <p:nvPr/>
        </p:nvSpPr>
        <p:spPr>
          <a:xfrm>
            <a:off x="6537960" y="1152144"/>
            <a:ext cx="4617720" cy="3383280"/>
          </a:xfrm>
          <a:prstGeom prst="roundRect">
            <a:avLst>
              <a:gd name="adj" fmla="val 5946"/>
            </a:avLst>
          </a:prstGeom>
          <a:solidFill>
            <a:srgbClr val="3A3D46">
              <a:alpha val="8000"/>
            </a:srgbClr>
          </a:solidFill>
          <a:ln w="12700">
            <a:solidFill>
              <a:srgbClr val="D8DEE8">
                <a:alpha val="0"/>
              </a:srgbClr>
            </a:solidFill>
            <a:prstDash val="solid"/>
          </a:ln>
        </p:spPr>
      </p:sp>
      <p:sp>
        <p:nvSpPr>
          <p:cNvPr id="10" name="Shape 8"/>
          <p:cNvSpPr/>
          <p:nvPr/>
        </p:nvSpPr>
        <p:spPr>
          <a:xfrm>
            <a:off x="6492240" y="1097280"/>
            <a:ext cx="4617720" cy="3383280"/>
          </a:xfrm>
          <a:prstGeom prst="roundRect">
            <a:avLst>
              <a:gd name="adj" fmla="val 5946"/>
            </a:avLst>
          </a:prstGeom>
          <a:solidFill>
            <a:srgbClr val="FFFFFF"/>
          </a:solidFill>
          <a:ln w="12700">
            <a:solidFill>
              <a:srgbClr val="E8EDF2"/>
            </a:solidFill>
            <a:prstDash val="solid"/>
          </a:ln>
        </p:spPr>
      </p:sp>
      <p:sp>
        <p:nvSpPr>
          <p:cNvPr id="11" name="Shape 9"/>
          <p:cNvSpPr/>
          <p:nvPr/>
        </p:nvSpPr>
        <p:spPr>
          <a:xfrm>
            <a:off x="6656832" y="1261872"/>
            <a:ext cx="4288536" cy="3054096"/>
          </a:xfrm>
          <a:prstGeom prst="roundRect">
            <a:avLst>
              <a:gd name="adj" fmla="val 5389"/>
            </a:avLst>
          </a:prstGeom>
          <a:solidFill>
            <a:srgbClr val="FFF7C7">
              <a:alpha val="90000"/>
            </a:srgbClr>
          </a:solidFill>
          <a:ln w="12700">
            <a:solidFill>
              <a:srgbClr val="FFF7C7">
                <a:alpha val="0"/>
              </a:srgbClr>
            </a:solidFill>
            <a:prstDash val="solid"/>
          </a:ln>
        </p:spPr>
      </p:sp>
      <p:pic>
        <p:nvPicPr>
          <p:cNvPr id="12" name="Image 0" descr="/workspace/assets/generated/balance-education-wellbeing.svg">    </p:cNvPr>
          <p:cNvPicPr>
            <a:picLocks noChangeAspect="1"/>
          </p:cNvPicPr>
          <p:nvPr/>
        </p:nvPicPr>
        <p:blipFill>
          <a:blip r:embed="rId1">
            <a:extLst>
              <a:ext uri="{96DAC541-7B7A-43D3-8B79-37D633B846F1}">
                <ns3:svgBlip r:embed="rId2"/>
              </a:ext>
            </a:extLst>
          </a:blip>
          <a:stretch>
            <a:fillRect/>
          </a:stretch>
        </p:blipFill>
        <p:spPr>
          <a:xfrm>
            <a:off x="6656832" y="1261872"/>
            <a:ext cx="4288536" cy="3054096"/>
          </a:xfrm>
          <a:prstGeom prst="rect">
            <a:avLst/>
          </a:prstGeom>
        </p:spPr>
      </p:pic>
      <p:sp>
        <p:nvSpPr>
          <p:cNvPr id="13" name="Shape 10"/>
          <p:cNvSpPr/>
          <p:nvPr/>
        </p:nvSpPr>
        <p:spPr>
          <a:xfrm>
            <a:off x="704088" y="4764024"/>
            <a:ext cx="10835640" cy="1051560"/>
          </a:xfrm>
          <a:prstGeom prst="roundRect">
            <a:avLst>
              <a:gd name="adj" fmla="val 19130"/>
            </a:avLst>
          </a:prstGeom>
          <a:solidFill>
            <a:srgbClr val="3A3D46">
              <a:alpha val="8000"/>
            </a:srgbClr>
          </a:solidFill>
          <a:ln w="12700">
            <a:solidFill>
              <a:srgbClr val="D8DEE8">
                <a:alpha val="0"/>
              </a:srgbClr>
            </a:solidFill>
            <a:prstDash val="solid"/>
          </a:ln>
        </p:spPr>
      </p:sp>
      <p:sp>
        <p:nvSpPr>
          <p:cNvPr id="14" name="Shape 11"/>
          <p:cNvSpPr/>
          <p:nvPr/>
        </p:nvSpPr>
        <p:spPr>
          <a:xfrm>
            <a:off x="658368" y="4709160"/>
            <a:ext cx="10835640" cy="1051560"/>
          </a:xfrm>
          <a:prstGeom prst="roundRect">
            <a:avLst>
              <a:gd name="adj" fmla="val 19130"/>
            </a:avLst>
          </a:prstGeom>
          <a:solidFill>
            <a:srgbClr val="CFEFFF"/>
          </a:solidFill>
          <a:ln w="12700">
            <a:solidFill>
              <a:srgbClr val="E8EDF2"/>
            </a:solidFill>
            <a:prstDash val="solid"/>
          </a:ln>
        </p:spPr>
      </p:sp>
      <p:sp>
        <p:nvSpPr>
          <p:cNvPr id="15" name="Text 12"/>
          <p:cNvSpPr/>
          <p:nvPr/>
        </p:nvSpPr>
        <p:spPr>
          <a:xfrm>
            <a:off x="877824" y="4855464"/>
            <a:ext cx="10396728" cy="758952"/>
          </a:xfrm>
          <a:prstGeom prst="rect">
            <a:avLst/>
          </a:prstGeom>
          <a:noFill/>
          <a:ln/>
        </p:spPr>
        <p:txBody>
          <a:bodyPr wrap="square" lIns="0" tIns="0" rIns="0" bIns="0" rtlCol="0" anchor="ctr">
            <a:normAutofit/>
          </a:bodyPr>
          <a:lstStyle/>
          <a:p>
            <a:pPr algn="ctr" indent="0" marL="0">
              <a:buNone/>
            </a:pPr>
            <a:r>
              <a:rPr lang="en-US" sz="1700" b="1" i="1" dirty="0">
                <a:solidFill>
                  <a:srgbClr val="3A3D46"/>
                </a:solidFill>
                <a:latin typeface="Aptos" pitchFamily="34" charset="0"/>
                <a:ea typeface="Aptos" pitchFamily="34" charset="-122"/>
                <a:cs typeface="Aptos" pitchFamily="34" charset="-120"/>
              </a:rPr>
              <a:t>Inwiefern beeinflussen strukturelle Unterschiede im deutschen Schulsystem das Wohlbefinden von Schülerinnen und Schülern?</a:t>
            </a:r>
            <a:endParaRPr lang="en-US" sz="1700" dirty="0"/>
          </a:p>
        </p:txBody>
      </p:sp>
    </p:spTree>
  </p:cSld>
  <p:clrMapOvr>
    <a:masterClrMapping/>
  </p:clrMapOvr>
  <p:transition spd="slow">
    <p:zoom/>
  </p:transition>
  <p:timing>
    <p:bldLst>
      <p:bldP spid="8" grpId="0" build="p" advAuto="250"/>
      <p:bldP spid="15" grpId="1" build="p" advAuto="250"/>
    </p:bldLst>
  </p:timing>
</p:sld>
</file>

<file path=ppt/slides/slide3.xml><?xml version="1.0" encoding="utf-8"?>
<p:sld xmlns:a="http://schemas.openxmlformats.org/drawingml/2006/main"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0040"/>
            <a:ext cx="2011680" cy="1645920"/>
          </a:xfrm>
          <a:prstGeom prst="ellipse">
            <a:avLst/>
          </a:prstGeom>
          <a:solidFill>
            <a:srgbClr val="FFF7C7">
              <a:alpha val="92000"/>
            </a:srgbClr>
          </a:solidFill>
          <a:ln w="12700">
            <a:solidFill>
              <a:srgbClr val="FFF7C7">
                <a:alpha val="0"/>
              </a:srgbClr>
            </a:solidFill>
            <a:prstDash val="solid"/>
          </a:ln>
        </p:spPr>
      </p:sp>
      <p:sp>
        <p:nvSpPr>
          <p:cNvPr id="3" name="Shape 1"/>
          <p:cNvSpPr/>
          <p:nvPr/>
        </p:nvSpPr>
        <p:spPr>
          <a:xfrm>
            <a:off x="9692640" y="45720"/>
            <a:ext cx="2103120" cy="1554480"/>
          </a:xfrm>
          <a:prstGeom prst="ellipse">
            <a:avLst/>
          </a:prstGeom>
          <a:solidFill>
            <a:srgbClr val="FFD9E8">
              <a:alpha val="90000"/>
            </a:srgbClr>
          </a:solidFill>
          <a:ln w="12700">
            <a:solidFill>
              <a:srgbClr val="FFD9E8">
                <a:alpha val="0"/>
              </a:srgbClr>
            </a:solidFill>
            <a:prstDash val="solid"/>
          </a:ln>
        </p:spPr>
      </p:sp>
      <p:sp>
        <p:nvSpPr>
          <p:cNvPr id="4" name="Shape 2"/>
          <p:cNvSpPr/>
          <p:nvPr/>
        </p:nvSpPr>
        <p:spPr>
          <a:xfrm>
            <a:off x="8961120" y="4983480"/>
            <a:ext cx="2651760" cy="1920240"/>
          </a:xfrm>
          <a:prstGeom prst="ellipse">
            <a:avLst/>
          </a:prstGeom>
          <a:solidFill>
            <a:srgbClr val="CFEFFF">
              <a:alpha val="90000"/>
            </a:srgbClr>
          </a:solidFill>
          <a:ln w="12700">
            <a:solidFill>
              <a:srgbClr val="CFEFFF">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Theoretische Grundlagen</a:t>
            </a:r>
            <a:endParaRPr lang="en-US" sz="1100" dirty="0"/>
          </a:p>
        </p:txBody>
      </p:sp>
      <p:sp>
        <p:nvSpPr>
          <p:cNvPr id="7" name="Text 5"/>
          <p:cNvSpPr/>
          <p:nvPr/>
        </p:nvSpPr>
        <p:spPr>
          <a:xfrm>
            <a:off x="640080" y="914400"/>
            <a:ext cx="320040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Grundlagen</a:t>
            </a:r>
            <a:endParaRPr lang="en-US" sz="2400" dirty="0"/>
          </a:p>
        </p:txBody>
      </p:sp>
      <p:sp>
        <p:nvSpPr>
          <p:cNvPr id="8" name="Shape 6"/>
          <p:cNvSpPr/>
          <p:nvPr/>
        </p:nvSpPr>
        <p:spPr>
          <a:xfrm>
            <a:off x="4681728" y="2176272"/>
            <a:ext cx="1828800" cy="1143000"/>
          </a:xfrm>
          <a:prstGeom prst="ellipse">
            <a:avLst/>
          </a:prstGeom>
          <a:solidFill>
            <a:srgbClr val="FFFFFF"/>
          </a:solidFill>
          <a:ln w="12700">
            <a:solidFill>
              <a:srgbClr val="E8EDF2"/>
            </a:solidFill>
            <a:prstDash val="solid"/>
          </a:ln>
        </p:spPr>
      </p:sp>
      <p:sp>
        <p:nvSpPr>
          <p:cNvPr id="9" name="Text 7"/>
          <p:cNvSpPr/>
          <p:nvPr/>
        </p:nvSpPr>
        <p:spPr>
          <a:xfrm>
            <a:off x="4956048" y="2514600"/>
            <a:ext cx="1280160" cy="274320"/>
          </a:xfrm>
          <a:prstGeom prst="rect">
            <a:avLst/>
          </a:prstGeom>
          <a:noFill/>
          <a:ln/>
        </p:spPr>
        <p:txBody>
          <a:bodyPr wrap="square" lIns="0" tIns="0" rIns="0" bIns="0" rtlCol="0" anchor="ctr"/>
          <a:lstStyle/>
          <a:p>
            <a:pPr algn="ctr" indent="0" marL="0">
              <a:buNone/>
            </a:pPr>
            <a:r>
              <a:rPr lang="en-US" sz="1900" b="1" dirty="0">
                <a:solidFill>
                  <a:srgbClr val="3A3D46"/>
                </a:solidFill>
                <a:latin typeface="Aptos Display" pitchFamily="34" charset="0"/>
                <a:ea typeface="Aptos Display" pitchFamily="34" charset="-122"/>
                <a:cs typeface="Aptos Display" pitchFamily="34" charset="-120"/>
              </a:rPr>
              <a:t>Schule</a:t>
            </a:r>
            <a:endParaRPr lang="en-US" sz="1900" dirty="0"/>
          </a:p>
        </p:txBody>
      </p:sp>
      <p:sp>
        <p:nvSpPr>
          <p:cNvPr id="10" name="Shape 8"/>
          <p:cNvSpPr/>
          <p:nvPr/>
        </p:nvSpPr>
        <p:spPr>
          <a:xfrm>
            <a:off x="3794760" y="2697480"/>
            <a:ext cx="1051560" cy="-685800"/>
          </a:xfrm>
          <a:prstGeom prst="line">
            <a:avLst/>
          </a:prstGeom>
          <a:noFill/>
          <a:ln w="12700">
            <a:solidFill>
              <a:srgbClr val="E8EDF2"/>
            </a:solidFill>
            <a:prstDash val="solid"/>
          </a:ln>
        </p:spPr>
      </p:sp>
      <p:sp>
        <p:nvSpPr>
          <p:cNvPr id="11" name="Shape 9"/>
          <p:cNvSpPr/>
          <p:nvPr/>
        </p:nvSpPr>
        <p:spPr>
          <a:xfrm>
            <a:off x="6400800" y="2697480"/>
            <a:ext cx="1097280" cy="-685800"/>
          </a:xfrm>
          <a:prstGeom prst="line">
            <a:avLst/>
          </a:prstGeom>
          <a:noFill/>
          <a:ln w="12700">
            <a:solidFill>
              <a:srgbClr val="E8EDF2"/>
            </a:solidFill>
            <a:prstDash val="solid"/>
          </a:ln>
        </p:spPr>
      </p:sp>
      <p:sp>
        <p:nvSpPr>
          <p:cNvPr id="12" name="Shape 10"/>
          <p:cNvSpPr/>
          <p:nvPr/>
        </p:nvSpPr>
        <p:spPr>
          <a:xfrm>
            <a:off x="5596128" y="3310128"/>
            <a:ext cx="0" cy="914400"/>
          </a:xfrm>
          <a:prstGeom prst="line">
            <a:avLst/>
          </a:prstGeom>
          <a:noFill/>
          <a:ln w="12700">
            <a:solidFill>
              <a:srgbClr val="E8EDF2"/>
            </a:solidFill>
            <a:prstDash val="solid"/>
          </a:ln>
        </p:spPr>
      </p:sp>
      <p:sp>
        <p:nvSpPr>
          <p:cNvPr id="13" name="Shape 11"/>
          <p:cNvSpPr/>
          <p:nvPr/>
        </p:nvSpPr>
        <p:spPr>
          <a:xfrm>
            <a:off x="822960" y="1627632"/>
            <a:ext cx="2971800" cy="1828800"/>
          </a:xfrm>
          <a:prstGeom prst="roundRect">
            <a:avLst>
              <a:gd name="adj" fmla="val 11000"/>
            </a:avLst>
          </a:prstGeom>
          <a:solidFill>
            <a:srgbClr val="3A3D46">
              <a:alpha val="8000"/>
            </a:srgbClr>
          </a:solidFill>
          <a:ln w="12700">
            <a:solidFill>
              <a:srgbClr val="D8DEE8">
                <a:alpha val="0"/>
              </a:srgbClr>
            </a:solidFill>
            <a:prstDash val="solid"/>
          </a:ln>
        </p:spPr>
      </p:sp>
      <p:sp>
        <p:nvSpPr>
          <p:cNvPr id="14" name="Shape 12"/>
          <p:cNvSpPr/>
          <p:nvPr/>
        </p:nvSpPr>
        <p:spPr>
          <a:xfrm>
            <a:off x="777240" y="1572768"/>
            <a:ext cx="2971800" cy="1828800"/>
          </a:xfrm>
          <a:prstGeom prst="roundRect">
            <a:avLst>
              <a:gd name="adj" fmla="val 11000"/>
            </a:avLst>
          </a:prstGeom>
          <a:solidFill>
            <a:srgbClr val="CFEFFF"/>
          </a:solidFill>
          <a:ln w="12700">
            <a:solidFill>
              <a:srgbClr val="E8EDF2"/>
            </a:solidFill>
            <a:prstDash val="solid"/>
          </a:ln>
        </p:spPr>
      </p:sp>
      <p:sp>
        <p:nvSpPr>
          <p:cNvPr id="15" name="Text 13"/>
          <p:cNvSpPr/>
          <p:nvPr/>
        </p:nvSpPr>
        <p:spPr>
          <a:xfrm>
            <a:off x="941832" y="1792224"/>
            <a:ext cx="264261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Strukturmerkmale</a:t>
            </a:r>
            <a:endParaRPr lang="en-US" sz="1700" dirty="0"/>
          </a:p>
        </p:txBody>
      </p:sp>
      <p:sp>
        <p:nvSpPr>
          <p:cNvPr id="16" name="Text 14"/>
          <p:cNvSpPr/>
          <p:nvPr/>
        </p:nvSpPr>
        <p:spPr>
          <a:xfrm>
            <a:off x="941832" y="2231136"/>
            <a:ext cx="2642616" cy="102412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Schulformen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Notensystem</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Versetzungen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Abschlüsse</a:t>
            </a:r>
            <a:endParaRPr lang="en-US" sz="1350" dirty="0"/>
          </a:p>
        </p:txBody>
      </p:sp>
      <p:sp>
        <p:nvSpPr>
          <p:cNvPr id="17" name="Shape 15"/>
          <p:cNvSpPr/>
          <p:nvPr/>
        </p:nvSpPr>
        <p:spPr>
          <a:xfrm>
            <a:off x="7589520" y="1627632"/>
            <a:ext cx="2971800" cy="1828800"/>
          </a:xfrm>
          <a:prstGeom prst="roundRect">
            <a:avLst>
              <a:gd name="adj" fmla="val 11000"/>
            </a:avLst>
          </a:prstGeom>
          <a:solidFill>
            <a:srgbClr val="3A3D46">
              <a:alpha val="8000"/>
            </a:srgbClr>
          </a:solidFill>
          <a:ln w="12700">
            <a:solidFill>
              <a:srgbClr val="D8DEE8">
                <a:alpha val="0"/>
              </a:srgbClr>
            </a:solidFill>
            <a:prstDash val="solid"/>
          </a:ln>
        </p:spPr>
      </p:sp>
      <p:sp>
        <p:nvSpPr>
          <p:cNvPr id="18" name="Shape 16"/>
          <p:cNvSpPr/>
          <p:nvPr/>
        </p:nvSpPr>
        <p:spPr>
          <a:xfrm>
            <a:off x="7543800" y="1572768"/>
            <a:ext cx="2971800" cy="1828800"/>
          </a:xfrm>
          <a:prstGeom prst="roundRect">
            <a:avLst>
              <a:gd name="adj" fmla="val 11000"/>
            </a:avLst>
          </a:prstGeom>
          <a:solidFill>
            <a:srgbClr val="FFD9E8"/>
          </a:solidFill>
          <a:ln w="12700">
            <a:solidFill>
              <a:srgbClr val="E8EDF2"/>
            </a:solidFill>
            <a:prstDash val="solid"/>
          </a:ln>
        </p:spPr>
      </p:sp>
      <p:sp>
        <p:nvSpPr>
          <p:cNvPr id="19" name="Text 17"/>
          <p:cNvSpPr/>
          <p:nvPr/>
        </p:nvSpPr>
        <p:spPr>
          <a:xfrm>
            <a:off x="7708392" y="1792224"/>
            <a:ext cx="264261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Wohlbefinden</a:t>
            </a:r>
            <a:endParaRPr lang="en-US" sz="1700" dirty="0"/>
          </a:p>
        </p:txBody>
      </p:sp>
      <p:sp>
        <p:nvSpPr>
          <p:cNvPr id="20" name="Text 18"/>
          <p:cNvSpPr/>
          <p:nvPr/>
        </p:nvSpPr>
        <p:spPr>
          <a:xfrm>
            <a:off x="7708392" y="2231136"/>
            <a:ext cx="2642616" cy="102412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psychische Gesundheit</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soziale Beziehungen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Lebenszufriedenheit</a:t>
            </a:r>
            <a:endParaRPr lang="en-US" sz="1350" dirty="0"/>
          </a:p>
        </p:txBody>
      </p:sp>
      <p:sp>
        <p:nvSpPr>
          <p:cNvPr id="21" name="Shape 19"/>
          <p:cNvSpPr/>
          <p:nvPr/>
        </p:nvSpPr>
        <p:spPr>
          <a:xfrm>
            <a:off x="3749040" y="3941064"/>
            <a:ext cx="3794760" cy="1554480"/>
          </a:xfrm>
          <a:prstGeom prst="roundRect">
            <a:avLst>
              <a:gd name="adj" fmla="val 12941"/>
            </a:avLst>
          </a:prstGeom>
          <a:solidFill>
            <a:srgbClr val="3A3D46">
              <a:alpha val="8000"/>
            </a:srgbClr>
          </a:solidFill>
          <a:ln w="12700">
            <a:solidFill>
              <a:srgbClr val="D8DEE8">
                <a:alpha val="0"/>
              </a:srgbClr>
            </a:solidFill>
            <a:prstDash val="solid"/>
          </a:ln>
        </p:spPr>
      </p:sp>
      <p:sp>
        <p:nvSpPr>
          <p:cNvPr id="22" name="Shape 20"/>
          <p:cNvSpPr/>
          <p:nvPr/>
        </p:nvSpPr>
        <p:spPr>
          <a:xfrm>
            <a:off x="3703320" y="3886200"/>
            <a:ext cx="3794760" cy="1554480"/>
          </a:xfrm>
          <a:prstGeom prst="roundRect">
            <a:avLst>
              <a:gd name="adj" fmla="val 12941"/>
            </a:avLst>
          </a:prstGeom>
          <a:solidFill>
            <a:srgbClr val="FFF7C7"/>
          </a:solidFill>
          <a:ln w="12700">
            <a:solidFill>
              <a:srgbClr val="E8EDF2"/>
            </a:solidFill>
            <a:prstDash val="solid"/>
          </a:ln>
        </p:spPr>
      </p:sp>
      <p:sp>
        <p:nvSpPr>
          <p:cNvPr id="23" name="Text 21"/>
          <p:cNvSpPr/>
          <p:nvPr/>
        </p:nvSpPr>
        <p:spPr>
          <a:xfrm>
            <a:off x="3867912" y="4105656"/>
            <a:ext cx="346557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Bildungsgerechtigkeit</a:t>
            </a:r>
            <a:endParaRPr lang="en-US" sz="1700" dirty="0"/>
          </a:p>
        </p:txBody>
      </p:sp>
      <p:sp>
        <p:nvSpPr>
          <p:cNvPr id="24" name="Text 22"/>
          <p:cNvSpPr/>
          <p:nvPr/>
        </p:nvSpPr>
        <p:spPr>
          <a:xfrm>
            <a:off x="3867912" y="4544568"/>
            <a:ext cx="3465576" cy="74980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faire Chancen unabhängig von sozialer Herkunft</a:t>
            </a:r>
            <a:endParaRPr lang="en-US" sz="1350" dirty="0"/>
          </a:p>
        </p:txBody>
      </p:sp>
    </p:spTree>
  </p:cSld>
  <p:clrMapOvr>
    <a:masterClrMapping/>
  </p:clrMapOvr>
  <p:transition spd="slow">
    <p:wipe/>
  </p:transition>
  <p:timing>
    <p:bldLst>
      <p:bldP spid="15" grpId="0" build="p" advAuto="250"/>
      <p:bldP spid="19" grpId="1" build="p" advAuto="250"/>
      <p:bldP spid="23" grpId="2" build="p" advAuto="250"/>
    </p:bldLst>
  </p:timing>
</p:sld>
</file>

<file path=ppt/slides/slide4.xml><?xml version="1.0" encoding="utf-8"?>
<p:sld xmlns:a="http://schemas.openxmlformats.org/drawingml/2006/main"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2377440" cy="1828800"/>
          </a:xfrm>
          <a:prstGeom prst="ellipse">
            <a:avLst/>
          </a:prstGeom>
          <a:solidFill>
            <a:srgbClr val="CFEFFF">
              <a:alpha val="90000"/>
            </a:srgbClr>
          </a:solidFill>
          <a:ln w="12700">
            <a:solidFill>
              <a:srgbClr val="CFEFFF">
                <a:alpha val="0"/>
              </a:srgbClr>
            </a:solidFill>
            <a:prstDash val="solid"/>
          </a:ln>
        </p:spPr>
      </p:sp>
      <p:sp>
        <p:nvSpPr>
          <p:cNvPr id="3" name="Shape 1"/>
          <p:cNvSpPr/>
          <p:nvPr/>
        </p:nvSpPr>
        <p:spPr>
          <a:xfrm>
            <a:off x="9692640" y="-182880"/>
            <a:ext cx="1828800" cy="1554480"/>
          </a:xfrm>
          <a:prstGeom prst="ellipse">
            <a:avLst/>
          </a:prstGeom>
          <a:solidFill>
            <a:srgbClr val="FFF7C7">
              <a:alpha val="94000"/>
            </a:srgbClr>
          </a:solidFill>
          <a:ln w="12700">
            <a:solidFill>
              <a:srgbClr val="FFF7C7">
                <a:alpha val="0"/>
              </a:srgbClr>
            </a:solidFill>
            <a:prstDash val="solid"/>
          </a:ln>
        </p:spPr>
      </p:sp>
      <p:sp>
        <p:nvSpPr>
          <p:cNvPr id="4" name="Shape 2"/>
          <p:cNvSpPr/>
          <p:nvPr/>
        </p:nvSpPr>
        <p:spPr>
          <a:xfrm>
            <a:off x="9601200" y="4937760"/>
            <a:ext cx="2468880" cy="2011680"/>
          </a:xfrm>
          <a:prstGeom prst="ellipse">
            <a:avLst/>
          </a:prstGeom>
          <a:solidFill>
            <a:srgbClr val="FFD9E8">
              <a:alpha val="92000"/>
            </a:srgbClr>
          </a:solidFill>
          <a:ln w="12700">
            <a:solidFill>
              <a:srgbClr val="FFD9E8">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Strukturelle Unterschiede</a:t>
            </a:r>
            <a:endParaRPr lang="en-US" sz="1100" dirty="0"/>
          </a:p>
        </p:txBody>
      </p:sp>
      <p:sp>
        <p:nvSpPr>
          <p:cNvPr id="7" name="Text 5"/>
          <p:cNvSpPr/>
          <p:nvPr/>
        </p:nvSpPr>
        <p:spPr>
          <a:xfrm>
            <a:off x="640080" y="914400"/>
            <a:ext cx="475488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Das deutsche Schulsystem</a:t>
            </a:r>
            <a:endParaRPr lang="en-US" sz="2400" dirty="0"/>
          </a:p>
        </p:txBody>
      </p:sp>
      <p:sp>
        <p:nvSpPr>
          <p:cNvPr id="8" name="Text 6"/>
          <p:cNvSpPr/>
          <p:nvPr/>
        </p:nvSpPr>
        <p:spPr>
          <a:xfrm>
            <a:off x="640080" y="1389888"/>
            <a:ext cx="3840480" cy="256032"/>
          </a:xfrm>
          <a:prstGeom prst="rect">
            <a:avLst/>
          </a:prstGeom>
          <a:noFill/>
          <a:ln/>
        </p:spPr>
        <p:txBody>
          <a:bodyPr wrap="square" lIns="0" tIns="0" rIns="0" bIns="0" rtlCol="0" anchor="ctr"/>
          <a:lstStyle/>
          <a:p>
            <a:pPr indent="0" marL="0">
              <a:buNone/>
            </a:pPr>
            <a:r>
              <a:rPr lang="en-US" sz="1300" dirty="0">
                <a:solidFill>
                  <a:srgbClr val="6B7280"/>
                </a:solidFill>
                <a:latin typeface="Aptos" pitchFamily="34" charset="0"/>
                <a:ea typeface="Aptos" pitchFamily="34" charset="-122"/>
                <a:cs typeface="Aptos" pitchFamily="34" charset="-120"/>
              </a:rPr>
              <a:t>Fünf Schulformen im knappen Vergleich</a:t>
            </a:r>
            <a:endParaRPr lang="en-US" sz="1300" dirty="0"/>
          </a:p>
        </p:txBody>
      </p:sp>
      <p:sp>
        <p:nvSpPr>
          <p:cNvPr id="9" name="Shape 7"/>
          <p:cNvSpPr/>
          <p:nvPr/>
        </p:nvSpPr>
        <p:spPr>
          <a:xfrm>
            <a:off x="822960" y="1837944"/>
            <a:ext cx="3383280" cy="1234440"/>
          </a:xfrm>
          <a:prstGeom prst="roundRect">
            <a:avLst>
              <a:gd name="adj" fmla="val 16296"/>
            </a:avLst>
          </a:prstGeom>
          <a:solidFill>
            <a:srgbClr val="3A3D46">
              <a:alpha val="8000"/>
            </a:srgbClr>
          </a:solidFill>
          <a:ln w="12700">
            <a:solidFill>
              <a:srgbClr val="D8DEE8">
                <a:alpha val="0"/>
              </a:srgbClr>
            </a:solidFill>
            <a:prstDash val="solid"/>
          </a:ln>
        </p:spPr>
      </p:sp>
      <p:sp>
        <p:nvSpPr>
          <p:cNvPr id="10" name="Shape 8"/>
          <p:cNvSpPr/>
          <p:nvPr/>
        </p:nvSpPr>
        <p:spPr>
          <a:xfrm>
            <a:off x="777240" y="1783080"/>
            <a:ext cx="3383280" cy="1234440"/>
          </a:xfrm>
          <a:prstGeom prst="roundRect">
            <a:avLst>
              <a:gd name="adj" fmla="val 16296"/>
            </a:avLst>
          </a:prstGeom>
          <a:solidFill>
            <a:srgbClr val="CFEFFF"/>
          </a:solidFill>
          <a:ln w="12700">
            <a:solidFill>
              <a:srgbClr val="E8EDF2"/>
            </a:solidFill>
            <a:prstDash val="solid"/>
          </a:ln>
        </p:spPr>
      </p:sp>
      <p:sp>
        <p:nvSpPr>
          <p:cNvPr id="11" name="Text 9"/>
          <p:cNvSpPr/>
          <p:nvPr/>
        </p:nvSpPr>
        <p:spPr>
          <a:xfrm>
            <a:off x="941832" y="2002536"/>
            <a:ext cx="305409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 Gymnasium</a:t>
            </a:r>
            <a:endParaRPr lang="en-US" sz="1700" dirty="0"/>
          </a:p>
        </p:txBody>
      </p:sp>
      <p:sp>
        <p:nvSpPr>
          <p:cNvPr id="12" name="Text 10"/>
          <p:cNvSpPr/>
          <p:nvPr/>
        </p:nvSpPr>
        <p:spPr>
          <a:xfrm>
            <a:off x="941832" y="2441448"/>
            <a:ext cx="3054096" cy="4297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Abitur</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hohe akademische Anforderungen</a:t>
            </a:r>
            <a:endParaRPr lang="en-US" sz="1350" dirty="0"/>
          </a:p>
        </p:txBody>
      </p:sp>
      <p:sp>
        <p:nvSpPr>
          <p:cNvPr id="13" name="Shape 11"/>
          <p:cNvSpPr/>
          <p:nvPr/>
        </p:nvSpPr>
        <p:spPr>
          <a:xfrm>
            <a:off x="4617720" y="1837944"/>
            <a:ext cx="3383280" cy="1234440"/>
          </a:xfrm>
          <a:prstGeom prst="roundRect">
            <a:avLst>
              <a:gd name="adj" fmla="val 16296"/>
            </a:avLst>
          </a:prstGeom>
          <a:solidFill>
            <a:srgbClr val="3A3D46">
              <a:alpha val="8000"/>
            </a:srgbClr>
          </a:solidFill>
          <a:ln w="12700">
            <a:solidFill>
              <a:srgbClr val="D8DEE8">
                <a:alpha val="0"/>
              </a:srgbClr>
            </a:solidFill>
            <a:prstDash val="solid"/>
          </a:ln>
        </p:spPr>
      </p:sp>
      <p:sp>
        <p:nvSpPr>
          <p:cNvPr id="14" name="Shape 12"/>
          <p:cNvSpPr/>
          <p:nvPr/>
        </p:nvSpPr>
        <p:spPr>
          <a:xfrm>
            <a:off x="4572000" y="1783080"/>
            <a:ext cx="3383280" cy="1234440"/>
          </a:xfrm>
          <a:prstGeom prst="roundRect">
            <a:avLst>
              <a:gd name="adj" fmla="val 16296"/>
            </a:avLst>
          </a:prstGeom>
          <a:solidFill>
            <a:srgbClr val="FFFFFF"/>
          </a:solidFill>
          <a:ln w="12700">
            <a:solidFill>
              <a:srgbClr val="E8EDF2"/>
            </a:solidFill>
            <a:prstDash val="solid"/>
          </a:ln>
        </p:spPr>
      </p:sp>
      <p:sp>
        <p:nvSpPr>
          <p:cNvPr id="15" name="Text 13"/>
          <p:cNvSpPr/>
          <p:nvPr/>
        </p:nvSpPr>
        <p:spPr>
          <a:xfrm>
            <a:off x="4736592" y="2002536"/>
            <a:ext cx="305409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 Realschule</a:t>
            </a:r>
            <a:endParaRPr lang="en-US" sz="1700" dirty="0"/>
          </a:p>
        </p:txBody>
      </p:sp>
      <p:sp>
        <p:nvSpPr>
          <p:cNvPr id="16" name="Text 14"/>
          <p:cNvSpPr/>
          <p:nvPr/>
        </p:nvSpPr>
        <p:spPr>
          <a:xfrm>
            <a:off x="4736592" y="2441448"/>
            <a:ext cx="3054096" cy="4297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mittlerer Abschluss</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Allgemeinbildung und Praxis</a:t>
            </a:r>
            <a:endParaRPr lang="en-US" sz="1350" dirty="0"/>
          </a:p>
        </p:txBody>
      </p:sp>
      <p:sp>
        <p:nvSpPr>
          <p:cNvPr id="17" name="Shape 15"/>
          <p:cNvSpPr/>
          <p:nvPr/>
        </p:nvSpPr>
        <p:spPr>
          <a:xfrm>
            <a:off x="822960" y="3346704"/>
            <a:ext cx="3383280" cy="1234440"/>
          </a:xfrm>
          <a:prstGeom prst="roundRect">
            <a:avLst>
              <a:gd name="adj" fmla="val 16296"/>
            </a:avLst>
          </a:prstGeom>
          <a:solidFill>
            <a:srgbClr val="3A3D46">
              <a:alpha val="8000"/>
            </a:srgbClr>
          </a:solidFill>
          <a:ln w="12700">
            <a:solidFill>
              <a:srgbClr val="D8DEE8">
                <a:alpha val="0"/>
              </a:srgbClr>
            </a:solidFill>
            <a:prstDash val="solid"/>
          </a:ln>
        </p:spPr>
      </p:sp>
      <p:sp>
        <p:nvSpPr>
          <p:cNvPr id="18" name="Shape 16"/>
          <p:cNvSpPr/>
          <p:nvPr/>
        </p:nvSpPr>
        <p:spPr>
          <a:xfrm>
            <a:off x="777240" y="3291840"/>
            <a:ext cx="3383280" cy="1234440"/>
          </a:xfrm>
          <a:prstGeom prst="roundRect">
            <a:avLst>
              <a:gd name="adj" fmla="val 16296"/>
            </a:avLst>
          </a:prstGeom>
          <a:solidFill>
            <a:srgbClr val="FFF7C7"/>
          </a:solidFill>
          <a:ln w="12700">
            <a:solidFill>
              <a:srgbClr val="E8EDF2"/>
            </a:solidFill>
            <a:prstDash val="solid"/>
          </a:ln>
        </p:spPr>
      </p:sp>
      <p:sp>
        <p:nvSpPr>
          <p:cNvPr id="19" name="Text 17"/>
          <p:cNvSpPr/>
          <p:nvPr/>
        </p:nvSpPr>
        <p:spPr>
          <a:xfrm>
            <a:off x="941832" y="3511296"/>
            <a:ext cx="305409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 Hauptschule</a:t>
            </a:r>
            <a:endParaRPr lang="en-US" sz="1700" dirty="0"/>
          </a:p>
        </p:txBody>
      </p:sp>
      <p:sp>
        <p:nvSpPr>
          <p:cNvPr id="20" name="Text 18"/>
          <p:cNvSpPr/>
          <p:nvPr/>
        </p:nvSpPr>
        <p:spPr>
          <a:xfrm>
            <a:off x="941832" y="3950208"/>
            <a:ext cx="3054096" cy="4297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praktisch ausgerichtet</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Risiko von Stigmatisierung</a:t>
            </a:r>
            <a:endParaRPr lang="en-US" sz="1350" dirty="0"/>
          </a:p>
        </p:txBody>
      </p:sp>
      <p:sp>
        <p:nvSpPr>
          <p:cNvPr id="21" name="Shape 19"/>
          <p:cNvSpPr/>
          <p:nvPr/>
        </p:nvSpPr>
        <p:spPr>
          <a:xfrm>
            <a:off x="4617720" y="3346704"/>
            <a:ext cx="3383280" cy="1234440"/>
          </a:xfrm>
          <a:prstGeom prst="roundRect">
            <a:avLst>
              <a:gd name="adj" fmla="val 16296"/>
            </a:avLst>
          </a:prstGeom>
          <a:solidFill>
            <a:srgbClr val="3A3D46">
              <a:alpha val="8000"/>
            </a:srgbClr>
          </a:solidFill>
          <a:ln w="12700">
            <a:solidFill>
              <a:srgbClr val="D8DEE8">
                <a:alpha val="0"/>
              </a:srgbClr>
            </a:solidFill>
            <a:prstDash val="solid"/>
          </a:ln>
        </p:spPr>
      </p:sp>
      <p:sp>
        <p:nvSpPr>
          <p:cNvPr id="22" name="Shape 20"/>
          <p:cNvSpPr/>
          <p:nvPr/>
        </p:nvSpPr>
        <p:spPr>
          <a:xfrm>
            <a:off x="4572000" y="3291840"/>
            <a:ext cx="3383280" cy="1234440"/>
          </a:xfrm>
          <a:prstGeom prst="roundRect">
            <a:avLst>
              <a:gd name="adj" fmla="val 16296"/>
            </a:avLst>
          </a:prstGeom>
          <a:solidFill>
            <a:srgbClr val="FFD9E8"/>
          </a:solidFill>
          <a:ln w="12700">
            <a:solidFill>
              <a:srgbClr val="E8EDF2"/>
            </a:solidFill>
            <a:prstDash val="solid"/>
          </a:ln>
        </p:spPr>
      </p:sp>
      <p:sp>
        <p:nvSpPr>
          <p:cNvPr id="23" name="Text 21"/>
          <p:cNvSpPr/>
          <p:nvPr/>
        </p:nvSpPr>
        <p:spPr>
          <a:xfrm>
            <a:off x="4736592" y="3511296"/>
            <a:ext cx="305409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 Gesamtschule</a:t>
            </a:r>
            <a:endParaRPr lang="en-US" sz="1700" dirty="0"/>
          </a:p>
        </p:txBody>
      </p:sp>
      <p:sp>
        <p:nvSpPr>
          <p:cNvPr id="24" name="Text 22"/>
          <p:cNvSpPr/>
          <p:nvPr/>
        </p:nvSpPr>
        <p:spPr>
          <a:xfrm>
            <a:off x="4736592" y="3950208"/>
            <a:ext cx="3054096" cy="4297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länger gemeinsam lernen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mehrere Abschlüsse möglich</a:t>
            </a:r>
            <a:endParaRPr lang="en-US" sz="1350" dirty="0"/>
          </a:p>
        </p:txBody>
      </p:sp>
      <p:sp>
        <p:nvSpPr>
          <p:cNvPr id="25" name="Shape 23"/>
          <p:cNvSpPr/>
          <p:nvPr/>
        </p:nvSpPr>
        <p:spPr>
          <a:xfrm>
            <a:off x="2724912" y="6318504"/>
            <a:ext cx="3383280" cy="1234440"/>
          </a:xfrm>
          <a:prstGeom prst="roundRect">
            <a:avLst>
              <a:gd name="adj" fmla="val 16296"/>
            </a:avLst>
          </a:prstGeom>
          <a:solidFill>
            <a:srgbClr val="3A3D46">
              <a:alpha val="8000"/>
            </a:srgbClr>
          </a:solidFill>
          <a:ln w="12700">
            <a:solidFill>
              <a:srgbClr val="D8DEE8">
                <a:alpha val="0"/>
              </a:srgbClr>
            </a:solidFill>
            <a:prstDash val="solid"/>
          </a:ln>
        </p:spPr>
      </p:sp>
      <p:sp>
        <p:nvSpPr>
          <p:cNvPr id="26" name="Shape 24"/>
          <p:cNvSpPr/>
          <p:nvPr/>
        </p:nvSpPr>
        <p:spPr>
          <a:xfrm>
            <a:off x="2679192" y="6263640"/>
            <a:ext cx="3383280" cy="1234440"/>
          </a:xfrm>
          <a:prstGeom prst="roundRect">
            <a:avLst>
              <a:gd name="adj" fmla="val 16296"/>
            </a:avLst>
          </a:prstGeom>
          <a:solidFill>
            <a:srgbClr val="FFFFFF"/>
          </a:solidFill>
          <a:ln w="12700">
            <a:solidFill>
              <a:srgbClr val="E8EDF2"/>
            </a:solidFill>
            <a:prstDash val="solid"/>
          </a:ln>
        </p:spPr>
      </p:sp>
      <p:sp>
        <p:nvSpPr>
          <p:cNvPr id="27" name="Text 25"/>
          <p:cNvSpPr/>
          <p:nvPr/>
        </p:nvSpPr>
        <p:spPr>
          <a:xfrm>
            <a:off x="2843784" y="6483096"/>
            <a:ext cx="305409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 Berufliche Schulen</a:t>
            </a:r>
            <a:endParaRPr lang="en-US" sz="1700" dirty="0"/>
          </a:p>
        </p:txBody>
      </p:sp>
      <p:sp>
        <p:nvSpPr>
          <p:cNvPr id="28" name="Text 26"/>
          <p:cNvSpPr/>
          <p:nvPr/>
        </p:nvSpPr>
        <p:spPr>
          <a:xfrm>
            <a:off x="2843784" y="6922008"/>
            <a:ext cx="3054096" cy="4297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duales System</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Schule und Betrieb verbunden</a:t>
            </a:r>
            <a:endParaRPr lang="en-US" sz="1350" dirty="0"/>
          </a:p>
        </p:txBody>
      </p:sp>
      <p:sp>
        <p:nvSpPr>
          <p:cNvPr id="29" name="Shape 27"/>
          <p:cNvSpPr/>
          <p:nvPr/>
        </p:nvSpPr>
        <p:spPr>
          <a:xfrm>
            <a:off x="5989320" y="2395728"/>
            <a:ext cx="0" cy="2542032"/>
          </a:xfrm>
          <a:prstGeom prst="line">
            <a:avLst/>
          </a:prstGeom>
          <a:noFill/>
          <a:ln w="12700">
            <a:solidFill>
              <a:srgbClr val="E8EDF2"/>
            </a:solidFill>
            <a:prstDash val="solid"/>
          </a:ln>
        </p:spPr>
      </p:sp>
    </p:spTree>
  </p:cSld>
  <p:clrMapOvr>
    <a:masterClrMapping/>
  </p:clrMapOvr>
  <p:transition spd="slow">
    <p:cover/>
  </p:transition>
  <p:timing>
    <p:bldLst>
      <p:bldP spid="11" grpId="0" build="p" advAuto="250"/>
      <p:bldP spid="15" grpId="1" build="p" advAuto="250"/>
      <p:bldP spid="19" grpId="2" build="p" advAuto="250"/>
      <p:bldP spid="23" grpId="3" build="p" advAuto="250"/>
      <p:bldP spid="27" grpId="4" build="p" advAuto="250"/>
    </p:bldLst>
  </p:timing>
</p:sld>
</file>

<file path=ppt/slides/slide5.xml><?xml version="1.0" encoding="utf-8"?>
<p:sld xmlns:a="http://schemas.openxmlformats.org/drawingml/2006/main" xmlns:ns3="http://schemas.microsoft.com/office/drawing/2016/SVG/main" xmlns:p="http://schemas.openxmlformats.org/presentationml/2006/main" xmlns:r="http://schemas.openxmlformats.org/officeDocument/2006/relationships">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4800600"/>
            <a:ext cx="2560320" cy="1920240"/>
          </a:xfrm>
          <a:prstGeom prst="ellipse">
            <a:avLst/>
          </a:prstGeom>
          <a:solidFill>
            <a:srgbClr val="FFD9E8">
              <a:alpha val="88000"/>
            </a:srgbClr>
          </a:solidFill>
          <a:ln w="12700">
            <a:solidFill>
              <a:srgbClr val="FFD9E8">
                <a:alpha val="0"/>
              </a:srgbClr>
            </a:solidFill>
            <a:prstDash val="solid"/>
          </a:ln>
        </p:spPr>
      </p:sp>
      <p:sp>
        <p:nvSpPr>
          <p:cNvPr id="3" name="Shape 1"/>
          <p:cNvSpPr/>
          <p:nvPr/>
        </p:nvSpPr>
        <p:spPr>
          <a:xfrm>
            <a:off x="9784080" y="-228600"/>
            <a:ext cx="1645920" cy="1280160"/>
          </a:xfrm>
          <a:prstGeom prst="ellipse">
            <a:avLst/>
          </a:prstGeom>
          <a:solidFill>
            <a:srgbClr val="CFEFFF">
              <a:alpha val="90000"/>
            </a:srgbClr>
          </a:solidFill>
          <a:ln w="12700">
            <a:solidFill>
              <a:srgbClr val="CFEFFF">
                <a:alpha val="0"/>
              </a:srgbClr>
            </a:solidFill>
            <a:prstDash val="solid"/>
          </a:ln>
        </p:spPr>
      </p:sp>
      <p:sp>
        <p:nvSpPr>
          <p:cNvPr id="4" name="Shape 2"/>
          <p:cNvSpPr/>
          <p:nvPr/>
        </p:nvSpPr>
        <p:spPr>
          <a:xfrm>
            <a:off x="8046720" y="5120640"/>
            <a:ext cx="1920240" cy="1463040"/>
          </a:xfrm>
          <a:prstGeom prst="ellipse">
            <a:avLst/>
          </a:prstGeom>
          <a:solidFill>
            <a:srgbClr val="FFF7C7">
              <a:alpha val="92000"/>
            </a:srgbClr>
          </a:solidFill>
          <a:ln w="12700">
            <a:solidFill>
              <a:srgbClr val="FFF7C7">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Schule und Wohlbefinden</a:t>
            </a:r>
            <a:endParaRPr lang="en-US" sz="1100" dirty="0"/>
          </a:p>
        </p:txBody>
      </p:sp>
      <p:sp>
        <p:nvSpPr>
          <p:cNvPr id="7" name="Text 5"/>
          <p:cNvSpPr/>
          <p:nvPr/>
        </p:nvSpPr>
        <p:spPr>
          <a:xfrm>
            <a:off x="640080" y="914400"/>
            <a:ext cx="5669280" cy="59436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Leistungsdruck und Wohlbefinden</a:t>
            </a:r>
            <a:endParaRPr lang="en-US" sz="2400" dirty="0"/>
          </a:p>
        </p:txBody>
      </p:sp>
      <p:sp>
        <p:nvSpPr>
          <p:cNvPr id="8" name="Shape 6"/>
          <p:cNvSpPr/>
          <p:nvPr/>
        </p:nvSpPr>
        <p:spPr>
          <a:xfrm>
            <a:off x="7635240" y="969264"/>
            <a:ext cx="3749040" cy="2788920"/>
          </a:xfrm>
          <a:prstGeom prst="roundRect">
            <a:avLst>
              <a:gd name="adj" fmla="val 7213"/>
            </a:avLst>
          </a:prstGeom>
          <a:solidFill>
            <a:srgbClr val="3A3D46">
              <a:alpha val="8000"/>
            </a:srgbClr>
          </a:solidFill>
          <a:ln w="12700">
            <a:solidFill>
              <a:srgbClr val="D8DEE8">
                <a:alpha val="0"/>
              </a:srgbClr>
            </a:solidFill>
            <a:prstDash val="solid"/>
          </a:ln>
        </p:spPr>
      </p:sp>
      <p:sp>
        <p:nvSpPr>
          <p:cNvPr id="9" name="Shape 7"/>
          <p:cNvSpPr/>
          <p:nvPr/>
        </p:nvSpPr>
        <p:spPr>
          <a:xfrm>
            <a:off x="7589520" y="914400"/>
            <a:ext cx="3749040" cy="2788920"/>
          </a:xfrm>
          <a:prstGeom prst="roundRect">
            <a:avLst>
              <a:gd name="adj" fmla="val 7213"/>
            </a:avLst>
          </a:prstGeom>
          <a:solidFill>
            <a:srgbClr val="FFFFFF"/>
          </a:solidFill>
          <a:ln w="12700">
            <a:solidFill>
              <a:srgbClr val="E8EDF2"/>
            </a:solidFill>
            <a:prstDash val="solid"/>
          </a:ln>
        </p:spPr>
      </p:sp>
      <p:sp>
        <p:nvSpPr>
          <p:cNvPr id="10" name="Shape 8"/>
          <p:cNvSpPr/>
          <p:nvPr/>
        </p:nvSpPr>
        <p:spPr>
          <a:xfrm>
            <a:off x="7754112" y="1078992"/>
            <a:ext cx="3419856" cy="2459736"/>
          </a:xfrm>
          <a:prstGeom prst="roundRect">
            <a:avLst>
              <a:gd name="adj" fmla="val 6691"/>
            </a:avLst>
          </a:prstGeom>
          <a:solidFill>
            <a:srgbClr val="FFD9E8">
              <a:alpha val="90000"/>
            </a:srgbClr>
          </a:solidFill>
          <a:ln w="12700">
            <a:solidFill>
              <a:srgbClr val="FFD9E8">
                <a:alpha val="0"/>
              </a:srgbClr>
            </a:solidFill>
            <a:prstDash val="solid"/>
          </a:ln>
        </p:spPr>
      </p:sp>
      <p:pic>
        <p:nvPicPr>
          <p:cNvPr id="11" name="Image 0" descr="/workspace/assets/generated/stressed-student.svg">    </p:cNvPr>
          <p:cNvPicPr>
            <a:picLocks noChangeAspect="1"/>
          </p:cNvPicPr>
          <p:nvPr/>
        </p:nvPicPr>
        <p:blipFill>
          <a:blip r:embed="rId1">
            <a:extLst>
              <a:ext uri="{96DAC541-7B7A-43D3-8B79-37D633B846F1}">
                <ns3:svgBlip r:embed="rId2"/>
              </a:ext>
            </a:extLst>
          </a:blip>
          <a:stretch>
            <a:fillRect/>
          </a:stretch>
        </p:blipFill>
        <p:spPr>
          <a:xfrm>
            <a:off x="7754112" y="1078992"/>
            <a:ext cx="3419856" cy="2459736"/>
          </a:xfrm>
          <a:prstGeom prst="rect">
            <a:avLst/>
          </a:prstGeom>
        </p:spPr>
      </p:pic>
      <p:sp>
        <p:nvSpPr>
          <p:cNvPr id="12" name="Shape 9"/>
          <p:cNvSpPr/>
          <p:nvPr/>
        </p:nvSpPr>
        <p:spPr>
          <a:xfrm>
            <a:off x="822960" y="1837944"/>
            <a:ext cx="2926080" cy="2514600"/>
          </a:xfrm>
          <a:prstGeom prst="roundRect">
            <a:avLst>
              <a:gd name="adj" fmla="val 8000"/>
            </a:avLst>
          </a:prstGeom>
          <a:solidFill>
            <a:srgbClr val="3A3D46">
              <a:alpha val="8000"/>
            </a:srgbClr>
          </a:solidFill>
          <a:ln w="12700">
            <a:solidFill>
              <a:srgbClr val="D8DEE8">
                <a:alpha val="0"/>
              </a:srgbClr>
            </a:solidFill>
            <a:prstDash val="solid"/>
          </a:ln>
        </p:spPr>
      </p:sp>
      <p:sp>
        <p:nvSpPr>
          <p:cNvPr id="13" name="Shape 10"/>
          <p:cNvSpPr/>
          <p:nvPr/>
        </p:nvSpPr>
        <p:spPr>
          <a:xfrm>
            <a:off x="777240" y="1783080"/>
            <a:ext cx="2926080" cy="2514600"/>
          </a:xfrm>
          <a:prstGeom prst="roundRect">
            <a:avLst>
              <a:gd name="adj" fmla="val 8000"/>
            </a:avLst>
          </a:prstGeom>
          <a:solidFill>
            <a:srgbClr val="FFFFFF"/>
          </a:solidFill>
          <a:ln w="12700">
            <a:solidFill>
              <a:srgbClr val="E8EDF2"/>
            </a:solidFill>
            <a:prstDash val="solid"/>
          </a:ln>
        </p:spPr>
      </p:sp>
      <p:sp>
        <p:nvSpPr>
          <p:cNvPr id="14" name="Shape 11"/>
          <p:cNvSpPr/>
          <p:nvPr/>
        </p:nvSpPr>
        <p:spPr>
          <a:xfrm>
            <a:off x="960120" y="1965960"/>
            <a:ext cx="1554480" cy="329184"/>
          </a:xfrm>
          <a:prstGeom prst="roundRect">
            <a:avLst>
              <a:gd name="adj" fmla="val 50000"/>
            </a:avLst>
          </a:prstGeom>
          <a:solidFill>
            <a:srgbClr val="CFEFFF"/>
          </a:solidFill>
          <a:ln w="12700">
            <a:solidFill>
              <a:srgbClr val="CFEFFF">
                <a:alpha val="0"/>
              </a:srgbClr>
            </a:solidFill>
            <a:prstDash val="solid"/>
          </a:ln>
        </p:spPr>
      </p:sp>
      <p:sp>
        <p:nvSpPr>
          <p:cNvPr id="15" name="Text 12"/>
          <p:cNvSpPr/>
          <p:nvPr/>
        </p:nvSpPr>
        <p:spPr>
          <a:xfrm>
            <a:off x="1069848" y="2029968"/>
            <a:ext cx="1335024" cy="182880"/>
          </a:xfrm>
          <a:prstGeom prst="rect">
            <a:avLst/>
          </a:prstGeom>
          <a:noFill/>
          <a:ln/>
        </p:spPr>
        <p:txBody>
          <a:bodyPr wrap="square" lIns="0" tIns="0" rIns="0" bIns="0" rtlCol="0" anchor="ctr"/>
          <a:lstStyle/>
          <a:p>
            <a:pPr algn="ctr" indent="0" marL="0">
              <a:buNone/>
            </a:pPr>
            <a:r>
              <a:rPr lang="en-US" sz="1050" b="1" dirty="0">
                <a:solidFill>
                  <a:srgbClr val="3A3D46"/>
                </a:solidFill>
                <a:latin typeface="Aptos" pitchFamily="34" charset="0"/>
                <a:ea typeface="Aptos" pitchFamily="34" charset="-122"/>
                <a:cs typeface="Aptos" pitchFamily="34" charset="-120"/>
              </a:rPr>
              <a:t>Leistungsdruck</a:t>
            </a:r>
            <a:endParaRPr lang="en-US" sz="1050" dirty="0"/>
          </a:p>
        </p:txBody>
      </p:sp>
      <p:sp>
        <p:nvSpPr>
          <p:cNvPr id="16" name="Text 13"/>
          <p:cNvSpPr/>
          <p:nvPr/>
        </p:nvSpPr>
        <p:spPr>
          <a:xfrm>
            <a:off x="1005840" y="2487168"/>
            <a:ext cx="2377440" cy="1325880"/>
          </a:xfrm>
          <a:prstGeom prst="rect">
            <a:avLst/>
          </a:prstGeom>
          <a:noFill/>
          <a:ln/>
        </p:spPr>
        <p:txBody>
          <a:bodyPr wrap="square" lIns="0" tIns="0" rIns="0" bIns="0" rtlCol="0" anchor="ctr"/>
          <a:lstStyle/>
          <a:p>
            <a:pPr indent="0" marL="0">
              <a:buNone/>
            </a:pPr>
            <a:r>
              <a:rPr lang="en-US" sz="1700" dirty="0">
                <a:solidFill>
                  <a:srgbClr val="3A3D46"/>
                </a:solidFill>
              </a:rPr>
              <a:t>Noten</a:t>
            </a:r>
            <a:pPr indent="0" marL="0">
              <a:buNone/>
            </a:pPr>
            <a:r>
              <a:rPr lang="en-US" sz="1700" dirty="0">
                <a:solidFill>
                  <a:srgbClr val="3A3D46"/>
                </a:solidFill>
              </a:rPr>
              <a:t>Prüfungen</a:t>
            </a:r>
            <a:endParaRPr lang="en-US" sz="1700" dirty="0"/>
          </a:p>
          <a:p>
            <a:pPr indent="0" marL="0">
              <a:buNone/>
            </a:pPr>
            <a:r>
              <a:rPr lang="en-US" sz="1700" dirty="0">
                <a:solidFill>
                  <a:srgbClr val="3A3D46"/>
                </a:solidFill>
              </a:rPr>
              <a:t>Konkurrenz</a:t>
            </a:r>
            <a:endParaRPr lang="en-US" sz="1700" dirty="0"/>
          </a:p>
          <a:p>
            <a:pPr indent="0" marL="0">
              <a:buNone/>
            </a:pPr>
            <a:r>
              <a:rPr lang="en-US" sz="1700" dirty="0">
                <a:solidFill>
                  <a:srgbClr val="3A3D46"/>
                </a:solidFill>
              </a:rPr>
              <a:t>Erwartungen</a:t>
            </a:r>
            <a:endParaRPr lang="en-US" sz="1700" dirty="0"/>
          </a:p>
        </p:txBody>
      </p:sp>
      <p:sp>
        <p:nvSpPr>
          <p:cNvPr id="17" name="Shape 14"/>
          <p:cNvSpPr/>
          <p:nvPr/>
        </p:nvSpPr>
        <p:spPr>
          <a:xfrm>
            <a:off x="4023360" y="1837944"/>
            <a:ext cx="2926080" cy="2514600"/>
          </a:xfrm>
          <a:prstGeom prst="roundRect">
            <a:avLst>
              <a:gd name="adj" fmla="val 8000"/>
            </a:avLst>
          </a:prstGeom>
          <a:solidFill>
            <a:srgbClr val="3A3D46">
              <a:alpha val="8000"/>
            </a:srgbClr>
          </a:solidFill>
          <a:ln w="12700">
            <a:solidFill>
              <a:srgbClr val="D8DEE8">
                <a:alpha val="0"/>
              </a:srgbClr>
            </a:solidFill>
            <a:prstDash val="solid"/>
          </a:ln>
        </p:spPr>
      </p:sp>
      <p:sp>
        <p:nvSpPr>
          <p:cNvPr id="18" name="Shape 15"/>
          <p:cNvSpPr/>
          <p:nvPr/>
        </p:nvSpPr>
        <p:spPr>
          <a:xfrm>
            <a:off x="3977640" y="1783080"/>
            <a:ext cx="2926080" cy="2514600"/>
          </a:xfrm>
          <a:prstGeom prst="roundRect">
            <a:avLst>
              <a:gd name="adj" fmla="val 8000"/>
            </a:avLst>
          </a:prstGeom>
          <a:solidFill>
            <a:srgbClr val="FFFFFF"/>
          </a:solidFill>
          <a:ln w="12700">
            <a:solidFill>
              <a:srgbClr val="E8EDF2"/>
            </a:solidFill>
            <a:prstDash val="solid"/>
          </a:ln>
        </p:spPr>
      </p:sp>
      <p:sp>
        <p:nvSpPr>
          <p:cNvPr id="19" name="Shape 16"/>
          <p:cNvSpPr/>
          <p:nvPr/>
        </p:nvSpPr>
        <p:spPr>
          <a:xfrm>
            <a:off x="4160520" y="1965960"/>
            <a:ext cx="914400" cy="329184"/>
          </a:xfrm>
          <a:prstGeom prst="roundRect">
            <a:avLst>
              <a:gd name="adj" fmla="val 50000"/>
            </a:avLst>
          </a:prstGeom>
          <a:solidFill>
            <a:srgbClr val="FFD9E8"/>
          </a:solidFill>
          <a:ln w="12700">
            <a:solidFill>
              <a:srgbClr val="FFD9E8">
                <a:alpha val="0"/>
              </a:srgbClr>
            </a:solidFill>
            <a:prstDash val="solid"/>
          </a:ln>
        </p:spPr>
      </p:sp>
      <p:sp>
        <p:nvSpPr>
          <p:cNvPr id="20" name="Text 17"/>
          <p:cNvSpPr/>
          <p:nvPr/>
        </p:nvSpPr>
        <p:spPr>
          <a:xfrm>
            <a:off x="4270248" y="2029968"/>
            <a:ext cx="694944" cy="182880"/>
          </a:xfrm>
          <a:prstGeom prst="rect">
            <a:avLst/>
          </a:prstGeom>
          <a:noFill/>
          <a:ln/>
        </p:spPr>
        <p:txBody>
          <a:bodyPr wrap="square" lIns="0" tIns="0" rIns="0" bIns="0" rtlCol="0" anchor="ctr"/>
          <a:lstStyle/>
          <a:p>
            <a:pPr algn="ctr" indent="0" marL="0">
              <a:buNone/>
            </a:pPr>
            <a:r>
              <a:rPr lang="en-US" sz="1050" b="1" dirty="0">
                <a:solidFill>
                  <a:srgbClr val="3A3D46"/>
                </a:solidFill>
                <a:latin typeface="Aptos" pitchFamily="34" charset="0"/>
                <a:ea typeface="Aptos" pitchFamily="34" charset="-122"/>
                <a:cs typeface="Aptos" pitchFamily="34" charset="-120"/>
              </a:rPr>
              <a:t>Folgen</a:t>
            </a:r>
            <a:endParaRPr lang="en-US" sz="1050" dirty="0"/>
          </a:p>
        </p:txBody>
      </p:sp>
      <p:sp>
        <p:nvSpPr>
          <p:cNvPr id="21" name="Text 18"/>
          <p:cNvSpPr/>
          <p:nvPr/>
        </p:nvSpPr>
        <p:spPr>
          <a:xfrm>
            <a:off x="4206240" y="2487168"/>
            <a:ext cx="2331720" cy="1463040"/>
          </a:xfrm>
          <a:prstGeom prst="rect">
            <a:avLst/>
          </a:prstGeom>
          <a:noFill/>
          <a:ln/>
        </p:spPr>
        <p:txBody>
          <a:bodyPr wrap="square" lIns="0" tIns="0" rIns="0" bIns="0" rtlCol="0" anchor="ctr">
            <a:normAutofit/>
          </a:bodyPr>
          <a:lstStyle/>
          <a:p>
            <a:pPr indent="0" marL="0">
              <a:buNone/>
            </a:pPr>
            <a:r>
              <a:rPr lang="en-US" sz="1700" dirty="0">
                <a:solidFill>
                  <a:srgbClr val="3A3D46"/>
                </a:solidFill>
              </a:rPr>
              <a:t>Stress</a:t>
            </a:r>
            <a:pPr indent="0" marL="0">
              <a:buNone/>
            </a:pPr>
            <a:r>
              <a:rPr lang="en-US" sz="1700" dirty="0">
                <a:solidFill>
                  <a:srgbClr val="3A3D46"/>
                </a:solidFill>
              </a:rPr>
              <a:t>Schlafprobleme</a:t>
            </a:r>
            <a:endParaRPr lang="en-US" sz="1700" dirty="0"/>
          </a:p>
          <a:p>
            <a:pPr indent="0" marL="0">
              <a:buNone/>
            </a:pPr>
            <a:r>
              <a:rPr lang="en-US" sz="1700" dirty="0">
                <a:solidFill>
                  <a:srgbClr val="3A3D46"/>
                </a:solidFill>
              </a:rPr>
              <a:t>Unsicherheit</a:t>
            </a:r>
            <a:endParaRPr lang="en-US" sz="1700" dirty="0"/>
          </a:p>
          <a:p>
            <a:pPr indent="0" marL="0">
              <a:buNone/>
            </a:pPr>
            <a:r>
              <a:rPr lang="en-US" sz="1700" dirty="0">
                <a:solidFill>
                  <a:srgbClr val="3A3D46"/>
                </a:solidFill>
              </a:rPr>
              <a:t>geringeres Selbstwertgefühl</a:t>
            </a:r>
            <a:endParaRPr lang="en-US" sz="1700" dirty="0"/>
          </a:p>
        </p:txBody>
      </p:sp>
      <p:sp>
        <p:nvSpPr>
          <p:cNvPr id="22" name="Shape 19"/>
          <p:cNvSpPr/>
          <p:nvPr/>
        </p:nvSpPr>
        <p:spPr>
          <a:xfrm>
            <a:off x="822960" y="4718304"/>
            <a:ext cx="10561320" cy="868680"/>
          </a:xfrm>
          <a:prstGeom prst="roundRect">
            <a:avLst>
              <a:gd name="adj" fmla="val 23158"/>
            </a:avLst>
          </a:prstGeom>
          <a:solidFill>
            <a:srgbClr val="3A3D46">
              <a:alpha val="8000"/>
            </a:srgbClr>
          </a:solidFill>
          <a:ln w="12700">
            <a:solidFill>
              <a:srgbClr val="D8DEE8">
                <a:alpha val="0"/>
              </a:srgbClr>
            </a:solidFill>
            <a:prstDash val="solid"/>
          </a:ln>
        </p:spPr>
      </p:sp>
      <p:sp>
        <p:nvSpPr>
          <p:cNvPr id="23" name="Shape 20"/>
          <p:cNvSpPr/>
          <p:nvPr/>
        </p:nvSpPr>
        <p:spPr>
          <a:xfrm>
            <a:off x="777240" y="4663440"/>
            <a:ext cx="10561320" cy="868680"/>
          </a:xfrm>
          <a:prstGeom prst="roundRect">
            <a:avLst>
              <a:gd name="adj" fmla="val 23158"/>
            </a:avLst>
          </a:prstGeom>
          <a:solidFill>
            <a:srgbClr val="FFF7C7"/>
          </a:solidFill>
          <a:ln w="12700">
            <a:solidFill>
              <a:srgbClr val="E8EDF2"/>
            </a:solidFill>
            <a:prstDash val="solid"/>
          </a:ln>
        </p:spPr>
      </p:sp>
      <p:sp>
        <p:nvSpPr>
          <p:cNvPr id="24" name="Text 21"/>
          <p:cNvSpPr/>
          <p:nvPr/>
        </p:nvSpPr>
        <p:spPr>
          <a:xfrm>
            <a:off x="996696" y="4809744"/>
            <a:ext cx="10122408" cy="576072"/>
          </a:xfrm>
          <a:prstGeom prst="rect">
            <a:avLst/>
          </a:prstGeom>
          <a:noFill/>
          <a:ln/>
        </p:spPr>
        <p:txBody>
          <a:bodyPr wrap="square" lIns="0" tIns="0" rIns="0" bIns="0" rtlCol="0" anchor="ctr">
            <a:normAutofit/>
          </a:bodyPr>
          <a:lstStyle/>
          <a:p>
            <a:pPr algn="ctr" indent="0" marL="0">
              <a:buNone/>
            </a:pPr>
            <a:r>
              <a:rPr lang="en-US" sz="1700" b="1" i="1" dirty="0">
                <a:solidFill>
                  <a:srgbClr val="3A3D46"/>
                </a:solidFill>
                <a:latin typeface="Aptos" pitchFamily="34" charset="0"/>
                <a:ea typeface="Aptos" pitchFamily="34" charset="-122"/>
                <a:cs typeface="Aptos" pitchFamily="34" charset="-120"/>
              </a:rPr>
              <a:t>Leistungsdruck kann Motivation fördern, aber auch das Wohlbefinden beeinträchtigen.</a:t>
            </a:r>
            <a:endParaRPr lang="en-US" sz="1700" dirty="0"/>
          </a:p>
        </p:txBody>
      </p:sp>
    </p:spTree>
  </p:cSld>
  <p:clrMapOvr>
    <a:masterClrMapping/>
  </p:clrMapOvr>
  <p:transition spd="slow">
    <p:circle/>
  </p:transition>
  <p:timing>
    <p:bldLst>
      <p:bldP spid="16" grpId="0" build="p" advAuto="250"/>
      <p:bldP spid="21" grpId="1" build="p" advAuto="250"/>
      <p:bldP spid="24" grpId="2" build="p" advAuto="250"/>
    </p:bldLst>
  </p:timing>
</p:sld>
</file>

<file path=ppt/slides/slide6.xml><?xml version="1.0" encoding="utf-8"?>
<p:sld xmlns:a="http://schemas.openxmlformats.org/drawingml/2006/main" xmlns:ns3="http://schemas.microsoft.com/office/drawing/2016/SVG/main" xmlns:p="http://schemas.openxmlformats.org/presentationml/2006/main" xmlns:r="http://schemas.openxmlformats.org/officeDocument/2006/relationships">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0040"/>
            <a:ext cx="2011680" cy="1645920"/>
          </a:xfrm>
          <a:prstGeom prst="ellipse">
            <a:avLst/>
          </a:prstGeom>
          <a:solidFill>
            <a:srgbClr val="FFF7C7">
              <a:alpha val="92000"/>
            </a:srgbClr>
          </a:solidFill>
          <a:ln w="12700">
            <a:solidFill>
              <a:srgbClr val="FFF7C7">
                <a:alpha val="0"/>
              </a:srgbClr>
            </a:solidFill>
            <a:prstDash val="solid"/>
          </a:ln>
        </p:spPr>
      </p:sp>
      <p:sp>
        <p:nvSpPr>
          <p:cNvPr id="3" name="Shape 1"/>
          <p:cNvSpPr/>
          <p:nvPr/>
        </p:nvSpPr>
        <p:spPr>
          <a:xfrm>
            <a:off x="9692640" y="45720"/>
            <a:ext cx="2103120" cy="1554480"/>
          </a:xfrm>
          <a:prstGeom prst="ellipse">
            <a:avLst/>
          </a:prstGeom>
          <a:solidFill>
            <a:srgbClr val="FFD9E8">
              <a:alpha val="90000"/>
            </a:srgbClr>
          </a:solidFill>
          <a:ln w="12700">
            <a:solidFill>
              <a:srgbClr val="FFD9E8">
                <a:alpha val="0"/>
              </a:srgbClr>
            </a:solidFill>
            <a:prstDash val="solid"/>
          </a:ln>
        </p:spPr>
      </p:sp>
      <p:sp>
        <p:nvSpPr>
          <p:cNvPr id="4" name="Shape 2"/>
          <p:cNvSpPr/>
          <p:nvPr/>
        </p:nvSpPr>
        <p:spPr>
          <a:xfrm>
            <a:off x="8961120" y="4983480"/>
            <a:ext cx="2651760" cy="1920240"/>
          </a:xfrm>
          <a:prstGeom prst="ellipse">
            <a:avLst/>
          </a:prstGeom>
          <a:solidFill>
            <a:srgbClr val="CFEFFF">
              <a:alpha val="90000"/>
            </a:srgbClr>
          </a:solidFill>
          <a:ln w="12700">
            <a:solidFill>
              <a:srgbClr val="CFEFFF">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Beziehungsebene</a:t>
            </a:r>
            <a:endParaRPr lang="en-US" sz="1100" dirty="0"/>
          </a:p>
        </p:txBody>
      </p:sp>
      <p:sp>
        <p:nvSpPr>
          <p:cNvPr id="7" name="Text 5"/>
          <p:cNvSpPr/>
          <p:nvPr/>
        </p:nvSpPr>
        <p:spPr>
          <a:xfrm>
            <a:off x="640080" y="914400"/>
            <a:ext cx="274320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Schulklima</a:t>
            </a:r>
            <a:endParaRPr lang="en-US" sz="2400" dirty="0"/>
          </a:p>
        </p:txBody>
      </p:sp>
      <p:sp>
        <p:nvSpPr>
          <p:cNvPr id="8" name="Shape 6"/>
          <p:cNvSpPr/>
          <p:nvPr/>
        </p:nvSpPr>
        <p:spPr>
          <a:xfrm>
            <a:off x="7360920" y="923544"/>
            <a:ext cx="4023360" cy="2651760"/>
          </a:xfrm>
          <a:prstGeom prst="roundRect">
            <a:avLst>
              <a:gd name="adj" fmla="val 7586"/>
            </a:avLst>
          </a:prstGeom>
          <a:solidFill>
            <a:srgbClr val="3A3D46">
              <a:alpha val="8000"/>
            </a:srgbClr>
          </a:solidFill>
          <a:ln w="12700">
            <a:solidFill>
              <a:srgbClr val="D8DEE8">
                <a:alpha val="0"/>
              </a:srgbClr>
            </a:solidFill>
            <a:prstDash val="solid"/>
          </a:ln>
        </p:spPr>
      </p:sp>
      <p:sp>
        <p:nvSpPr>
          <p:cNvPr id="9" name="Shape 7"/>
          <p:cNvSpPr/>
          <p:nvPr/>
        </p:nvSpPr>
        <p:spPr>
          <a:xfrm>
            <a:off x="7315200" y="868680"/>
            <a:ext cx="4023360" cy="2651760"/>
          </a:xfrm>
          <a:prstGeom prst="roundRect">
            <a:avLst>
              <a:gd name="adj" fmla="val 7586"/>
            </a:avLst>
          </a:prstGeom>
          <a:solidFill>
            <a:srgbClr val="FFFFFF"/>
          </a:solidFill>
          <a:ln w="12700">
            <a:solidFill>
              <a:srgbClr val="E8EDF2"/>
            </a:solidFill>
            <a:prstDash val="solid"/>
          </a:ln>
        </p:spPr>
      </p:sp>
      <p:sp>
        <p:nvSpPr>
          <p:cNvPr id="10" name="Shape 8"/>
          <p:cNvSpPr/>
          <p:nvPr/>
        </p:nvSpPr>
        <p:spPr>
          <a:xfrm>
            <a:off x="7479792" y="1033272"/>
            <a:ext cx="3694176" cy="2322576"/>
          </a:xfrm>
          <a:prstGeom prst="roundRect">
            <a:avLst>
              <a:gd name="adj" fmla="val 7087"/>
            </a:avLst>
          </a:prstGeom>
          <a:solidFill>
            <a:srgbClr val="CFEFFF">
              <a:alpha val="90000"/>
            </a:srgbClr>
          </a:solidFill>
          <a:ln w="12700">
            <a:solidFill>
              <a:srgbClr val="CFEFFF">
                <a:alpha val="0"/>
              </a:srgbClr>
            </a:solidFill>
            <a:prstDash val="solid"/>
          </a:ln>
        </p:spPr>
      </p:sp>
      <p:pic>
        <p:nvPicPr>
          <p:cNvPr id="11" name="Image 0" descr="/workspace/assets/generated/teacher-student-conversation.svg">    </p:cNvPr>
          <p:cNvPicPr>
            <a:picLocks noChangeAspect="1"/>
          </p:cNvPicPr>
          <p:nvPr/>
        </p:nvPicPr>
        <p:blipFill>
          <a:blip r:embed="rId1">
            <a:extLst>
              <a:ext uri="{96DAC541-7B7A-43D3-8B79-37D633B846F1}">
                <ns3:svgBlip r:embed="rId2"/>
              </a:ext>
            </a:extLst>
          </a:blip>
          <a:stretch>
            <a:fillRect/>
          </a:stretch>
        </p:blipFill>
        <p:spPr>
          <a:xfrm>
            <a:off x="7479792" y="1033272"/>
            <a:ext cx="3694176" cy="2322576"/>
          </a:xfrm>
          <a:prstGeom prst="rect">
            <a:avLst/>
          </a:prstGeom>
        </p:spPr>
      </p:pic>
      <p:sp>
        <p:nvSpPr>
          <p:cNvPr id="12" name="Shape 9"/>
          <p:cNvSpPr/>
          <p:nvPr/>
        </p:nvSpPr>
        <p:spPr>
          <a:xfrm>
            <a:off x="822960" y="1883664"/>
            <a:ext cx="3246120" cy="2560320"/>
          </a:xfrm>
          <a:prstGeom prst="roundRect">
            <a:avLst>
              <a:gd name="adj" fmla="val 7857"/>
            </a:avLst>
          </a:prstGeom>
          <a:solidFill>
            <a:srgbClr val="3A3D46">
              <a:alpha val="8000"/>
            </a:srgbClr>
          </a:solidFill>
          <a:ln w="12700">
            <a:solidFill>
              <a:srgbClr val="D8DEE8">
                <a:alpha val="0"/>
              </a:srgbClr>
            </a:solidFill>
            <a:prstDash val="solid"/>
          </a:ln>
        </p:spPr>
      </p:sp>
      <p:sp>
        <p:nvSpPr>
          <p:cNvPr id="13" name="Shape 10"/>
          <p:cNvSpPr/>
          <p:nvPr/>
        </p:nvSpPr>
        <p:spPr>
          <a:xfrm>
            <a:off x="777240" y="1828800"/>
            <a:ext cx="3246120" cy="2560320"/>
          </a:xfrm>
          <a:prstGeom prst="roundRect">
            <a:avLst>
              <a:gd name="adj" fmla="val 7857"/>
            </a:avLst>
          </a:prstGeom>
          <a:solidFill>
            <a:srgbClr val="CFEFFF"/>
          </a:solidFill>
          <a:ln w="12700">
            <a:solidFill>
              <a:srgbClr val="E8EDF2"/>
            </a:solidFill>
            <a:prstDash val="solid"/>
          </a:ln>
        </p:spPr>
      </p:sp>
      <p:sp>
        <p:nvSpPr>
          <p:cNvPr id="14" name="Text 11"/>
          <p:cNvSpPr/>
          <p:nvPr/>
        </p:nvSpPr>
        <p:spPr>
          <a:xfrm>
            <a:off x="941832" y="204825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Lehrer-Schüler-Verhältnis</a:t>
            </a:r>
            <a:endParaRPr lang="en-US" sz="1700" dirty="0"/>
          </a:p>
        </p:txBody>
      </p:sp>
      <p:sp>
        <p:nvSpPr>
          <p:cNvPr id="15" name="Text 12"/>
          <p:cNvSpPr/>
          <p:nvPr/>
        </p:nvSpPr>
        <p:spPr>
          <a:xfrm>
            <a:off x="941832" y="2487168"/>
            <a:ext cx="2916936" cy="175564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Unterstützung und Respekt können Stress reduzieren.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Positive Beziehungen fördern Motivation und Orientierung.</a:t>
            </a:r>
            <a:endParaRPr lang="en-US" sz="1350" dirty="0"/>
          </a:p>
        </p:txBody>
      </p:sp>
      <p:sp>
        <p:nvSpPr>
          <p:cNvPr id="16" name="Shape 13"/>
          <p:cNvSpPr/>
          <p:nvPr/>
        </p:nvSpPr>
        <p:spPr>
          <a:xfrm>
            <a:off x="4389120" y="1883664"/>
            <a:ext cx="3246120" cy="2560320"/>
          </a:xfrm>
          <a:prstGeom prst="roundRect">
            <a:avLst>
              <a:gd name="adj" fmla="val 7857"/>
            </a:avLst>
          </a:prstGeom>
          <a:solidFill>
            <a:srgbClr val="3A3D46">
              <a:alpha val="8000"/>
            </a:srgbClr>
          </a:solidFill>
          <a:ln w="12700">
            <a:solidFill>
              <a:srgbClr val="D8DEE8">
                <a:alpha val="0"/>
              </a:srgbClr>
            </a:solidFill>
            <a:prstDash val="solid"/>
          </a:ln>
        </p:spPr>
      </p:sp>
      <p:sp>
        <p:nvSpPr>
          <p:cNvPr id="17" name="Shape 14"/>
          <p:cNvSpPr/>
          <p:nvPr/>
        </p:nvSpPr>
        <p:spPr>
          <a:xfrm>
            <a:off x="4343400" y="1828800"/>
            <a:ext cx="3246120" cy="2560320"/>
          </a:xfrm>
          <a:prstGeom prst="roundRect">
            <a:avLst>
              <a:gd name="adj" fmla="val 7857"/>
            </a:avLst>
          </a:prstGeom>
          <a:solidFill>
            <a:srgbClr val="FFF7C7"/>
          </a:solidFill>
          <a:ln w="12700">
            <a:solidFill>
              <a:srgbClr val="E8EDF2"/>
            </a:solidFill>
            <a:prstDash val="solid"/>
          </a:ln>
        </p:spPr>
      </p:sp>
      <p:sp>
        <p:nvSpPr>
          <p:cNvPr id="18" name="Text 15"/>
          <p:cNvSpPr/>
          <p:nvPr/>
        </p:nvSpPr>
        <p:spPr>
          <a:xfrm>
            <a:off x="4507992" y="204825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Mitbestimmung</a:t>
            </a:r>
            <a:endParaRPr lang="en-US" sz="1700" dirty="0"/>
          </a:p>
        </p:txBody>
      </p:sp>
      <p:sp>
        <p:nvSpPr>
          <p:cNvPr id="19" name="Text 16"/>
          <p:cNvSpPr/>
          <p:nvPr/>
        </p:nvSpPr>
        <p:spPr>
          <a:xfrm>
            <a:off x="4507992" y="2487168"/>
            <a:ext cx="2916936" cy="175564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Beteiligung am Schulalltag stärkt Selbstwirksamkeit.</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Schule wird eher als Ort erlebt, an dem die eigene Meinung zählt.</a:t>
            </a:r>
            <a:endParaRPr lang="en-US" sz="1350" dirty="0"/>
          </a:p>
        </p:txBody>
      </p:sp>
      <p:sp>
        <p:nvSpPr>
          <p:cNvPr id="20" name="Shape 17"/>
          <p:cNvSpPr/>
          <p:nvPr/>
        </p:nvSpPr>
        <p:spPr>
          <a:xfrm>
            <a:off x="7955280" y="3803904"/>
            <a:ext cx="3246120" cy="1691640"/>
          </a:xfrm>
          <a:prstGeom prst="roundRect">
            <a:avLst>
              <a:gd name="adj" fmla="val 11892"/>
            </a:avLst>
          </a:prstGeom>
          <a:solidFill>
            <a:srgbClr val="3A3D46">
              <a:alpha val="8000"/>
            </a:srgbClr>
          </a:solidFill>
          <a:ln w="12700">
            <a:solidFill>
              <a:srgbClr val="D8DEE8">
                <a:alpha val="0"/>
              </a:srgbClr>
            </a:solidFill>
            <a:prstDash val="solid"/>
          </a:ln>
        </p:spPr>
      </p:sp>
      <p:sp>
        <p:nvSpPr>
          <p:cNvPr id="21" name="Shape 18"/>
          <p:cNvSpPr/>
          <p:nvPr/>
        </p:nvSpPr>
        <p:spPr>
          <a:xfrm>
            <a:off x="7909560" y="3749040"/>
            <a:ext cx="3246120" cy="1691640"/>
          </a:xfrm>
          <a:prstGeom prst="roundRect">
            <a:avLst>
              <a:gd name="adj" fmla="val 11892"/>
            </a:avLst>
          </a:prstGeom>
          <a:solidFill>
            <a:srgbClr val="FFD9E8"/>
          </a:solidFill>
          <a:ln w="12700">
            <a:solidFill>
              <a:srgbClr val="E8EDF2"/>
            </a:solidFill>
            <a:prstDash val="solid"/>
          </a:ln>
        </p:spPr>
      </p:sp>
      <p:sp>
        <p:nvSpPr>
          <p:cNvPr id="22" name="Text 19"/>
          <p:cNvSpPr/>
          <p:nvPr/>
        </p:nvSpPr>
        <p:spPr>
          <a:xfrm>
            <a:off x="8074152" y="396849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Feedbackkultur</a:t>
            </a:r>
            <a:endParaRPr lang="en-US" sz="1700" dirty="0"/>
          </a:p>
        </p:txBody>
      </p:sp>
      <p:sp>
        <p:nvSpPr>
          <p:cNvPr id="23" name="Text 20"/>
          <p:cNvSpPr/>
          <p:nvPr/>
        </p:nvSpPr>
        <p:spPr>
          <a:xfrm>
            <a:off x="8074152" y="4407408"/>
            <a:ext cx="2916936" cy="88696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Qualitative Rückmeldungen begleiten Lernprozesse und machen Entwicklung sichtbarer.</a:t>
            </a:r>
            <a:endParaRPr lang="en-US" sz="1350" dirty="0"/>
          </a:p>
        </p:txBody>
      </p:sp>
    </p:spTree>
  </p:cSld>
  <p:clrMapOvr>
    <a:masterClrMapping/>
  </p:clrMapOvr>
  <p:transition spd="slow">
    <p:push/>
  </p:transition>
  <p:timing>
    <p:bldLst>
      <p:bldP spid="14" grpId="0" build="p" advAuto="250"/>
      <p:bldP spid="18" grpId="1" build="p" advAuto="250"/>
      <p:bldP spid="22" grpId="2" build="p" advAuto="250"/>
    </p:bldLst>
  </p:timing>
</p:sld>
</file>

<file path=ppt/slides/slide7.xml><?xml version="1.0" encoding="utf-8"?>
<p:sld xmlns:a="http://schemas.openxmlformats.org/drawingml/2006/main"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2377440" cy="1828800"/>
          </a:xfrm>
          <a:prstGeom prst="ellipse">
            <a:avLst/>
          </a:prstGeom>
          <a:solidFill>
            <a:srgbClr val="CFEFFF">
              <a:alpha val="90000"/>
            </a:srgbClr>
          </a:solidFill>
          <a:ln w="12700">
            <a:solidFill>
              <a:srgbClr val="CFEFFF">
                <a:alpha val="0"/>
              </a:srgbClr>
            </a:solidFill>
            <a:prstDash val="solid"/>
          </a:ln>
        </p:spPr>
      </p:sp>
      <p:sp>
        <p:nvSpPr>
          <p:cNvPr id="3" name="Shape 1"/>
          <p:cNvSpPr/>
          <p:nvPr/>
        </p:nvSpPr>
        <p:spPr>
          <a:xfrm>
            <a:off x="9692640" y="-182880"/>
            <a:ext cx="1828800" cy="1554480"/>
          </a:xfrm>
          <a:prstGeom prst="ellipse">
            <a:avLst/>
          </a:prstGeom>
          <a:solidFill>
            <a:srgbClr val="FFF7C7">
              <a:alpha val="94000"/>
            </a:srgbClr>
          </a:solidFill>
          <a:ln w="12700">
            <a:solidFill>
              <a:srgbClr val="FFF7C7">
                <a:alpha val="0"/>
              </a:srgbClr>
            </a:solidFill>
            <a:prstDash val="solid"/>
          </a:ln>
        </p:spPr>
      </p:sp>
      <p:sp>
        <p:nvSpPr>
          <p:cNvPr id="4" name="Shape 2"/>
          <p:cNvSpPr/>
          <p:nvPr/>
        </p:nvSpPr>
        <p:spPr>
          <a:xfrm>
            <a:off x="9601200" y="4937760"/>
            <a:ext cx="2468880" cy="2011680"/>
          </a:xfrm>
          <a:prstGeom prst="ellipse">
            <a:avLst/>
          </a:prstGeom>
          <a:solidFill>
            <a:srgbClr val="FFD9E8">
              <a:alpha val="92000"/>
            </a:srgbClr>
          </a:solidFill>
          <a:ln w="12700">
            <a:solidFill>
              <a:srgbClr val="FFD9E8">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Publikum einbinden</a:t>
            </a:r>
            <a:endParaRPr lang="en-US" sz="1100" dirty="0"/>
          </a:p>
        </p:txBody>
      </p:sp>
      <p:sp>
        <p:nvSpPr>
          <p:cNvPr id="7" name="Text 5"/>
          <p:cNvSpPr/>
          <p:nvPr/>
        </p:nvSpPr>
        <p:spPr>
          <a:xfrm>
            <a:off x="640080" y="914400"/>
            <a:ext cx="320040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Kurze Umfrage</a:t>
            </a:r>
            <a:endParaRPr lang="en-US" sz="2400" dirty="0"/>
          </a:p>
        </p:txBody>
      </p:sp>
      <p:sp>
        <p:nvSpPr>
          <p:cNvPr id="8" name="Shape 6"/>
          <p:cNvSpPr/>
          <p:nvPr/>
        </p:nvSpPr>
        <p:spPr>
          <a:xfrm>
            <a:off x="960120" y="1563624"/>
            <a:ext cx="10195560" cy="1828800"/>
          </a:xfrm>
          <a:prstGeom prst="roundRect">
            <a:avLst>
              <a:gd name="adj" fmla="val 11000"/>
            </a:avLst>
          </a:prstGeom>
          <a:solidFill>
            <a:srgbClr val="3A3D46">
              <a:alpha val="8000"/>
            </a:srgbClr>
          </a:solidFill>
          <a:ln w="12700">
            <a:solidFill>
              <a:srgbClr val="D8DEE8">
                <a:alpha val="0"/>
              </a:srgbClr>
            </a:solidFill>
            <a:prstDash val="solid"/>
          </a:ln>
        </p:spPr>
      </p:sp>
      <p:sp>
        <p:nvSpPr>
          <p:cNvPr id="9" name="Shape 7"/>
          <p:cNvSpPr/>
          <p:nvPr/>
        </p:nvSpPr>
        <p:spPr>
          <a:xfrm>
            <a:off x="914400" y="1508760"/>
            <a:ext cx="10195560" cy="1828800"/>
          </a:xfrm>
          <a:prstGeom prst="roundRect">
            <a:avLst>
              <a:gd name="adj" fmla="val 11000"/>
            </a:avLst>
          </a:prstGeom>
          <a:solidFill>
            <a:srgbClr val="FFFFFF"/>
          </a:solidFill>
          <a:ln w="12700">
            <a:solidFill>
              <a:srgbClr val="E8EDF2"/>
            </a:solidFill>
            <a:prstDash val="solid"/>
          </a:ln>
        </p:spPr>
      </p:sp>
      <p:sp>
        <p:nvSpPr>
          <p:cNvPr id="10" name="Text 8"/>
          <p:cNvSpPr/>
          <p:nvPr/>
        </p:nvSpPr>
        <p:spPr>
          <a:xfrm>
            <a:off x="1417320" y="2029968"/>
            <a:ext cx="9144000" cy="731520"/>
          </a:xfrm>
          <a:prstGeom prst="rect">
            <a:avLst/>
          </a:prstGeom>
          <a:noFill/>
          <a:ln/>
        </p:spPr>
        <p:txBody>
          <a:bodyPr wrap="square" lIns="0" tIns="0" rIns="0" bIns="0" rtlCol="0" anchor="ctr">
            <a:normAutofit/>
          </a:bodyPr>
          <a:lstStyle/>
          <a:p>
            <a:pPr algn="ctr" indent="0" marL="0">
              <a:buNone/>
            </a:pPr>
            <a:r>
              <a:rPr lang="en-US" sz="2500" b="1" dirty="0">
                <a:solidFill>
                  <a:srgbClr val="3A3D46"/>
                </a:solidFill>
                <a:latin typeface="Aptos Display" pitchFamily="34" charset="0"/>
                <a:ea typeface="Aptos Display" pitchFamily="34" charset="-122"/>
                <a:cs typeface="Aptos Display" pitchFamily="34" charset="-120"/>
              </a:rPr>
              <a:t>Was beeinflusst euer Wohlbefinden in der Schule am stärksten?</a:t>
            </a:r>
            <a:endParaRPr lang="en-US" sz="2500" dirty="0"/>
          </a:p>
        </p:txBody>
      </p:sp>
      <p:sp>
        <p:nvSpPr>
          <p:cNvPr id="11" name="Shape 9"/>
          <p:cNvSpPr/>
          <p:nvPr/>
        </p:nvSpPr>
        <p:spPr>
          <a:xfrm>
            <a:off x="960120" y="3840480"/>
            <a:ext cx="1828800" cy="658368"/>
          </a:xfrm>
          <a:prstGeom prst="roundRect">
            <a:avLst>
              <a:gd name="adj" fmla="val 33333"/>
            </a:avLst>
          </a:prstGeom>
          <a:solidFill>
            <a:srgbClr val="CFEFFF"/>
          </a:solidFill>
          <a:ln w="12700">
            <a:solidFill>
              <a:srgbClr val="CFEFFF">
                <a:alpha val="0"/>
              </a:srgbClr>
            </a:solidFill>
            <a:prstDash val="solid"/>
          </a:ln>
        </p:spPr>
      </p:sp>
      <p:sp>
        <p:nvSpPr>
          <p:cNvPr id="12" name="Text 10"/>
          <p:cNvSpPr/>
          <p:nvPr/>
        </p:nvSpPr>
        <p:spPr>
          <a:xfrm>
            <a:off x="1051560" y="4014216"/>
            <a:ext cx="1645920" cy="228600"/>
          </a:xfrm>
          <a:prstGeom prst="rect">
            <a:avLst/>
          </a:prstGeom>
          <a:noFill/>
          <a:ln/>
        </p:spPr>
        <p:txBody>
          <a:bodyPr wrap="square" lIns="0" tIns="0" rIns="0" bIns="0" rtlCol="0" anchor="ctr">
            <a:normAutofit/>
          </a:bodyPr>
          <a:lstStyle/>
          <a:p>
            <a:pPr algn="ctr" indent="0" marL="0">
              <a:buNone/>
            </a:pPr>
            <a:r>
              <a:rPr lang="en-US" sz="1200" b="1" dirty="0">
                <a:solidFill>
                  <a:srgbClr val="3A3D46"/>
                </a:solidFill>
                <a:latin typeface="Aptos" pitchFamily="34" charset="0"/>
                <a:ea typeface="Aptos" pitchFamily="34" charset="-122"/>
                <a:cs typeface="Aptos" pitchFamily="34" charset="-120"/>
              </a:rPr>
              <a:t>📚 Notendruck</a:t>
            </a:r>
            <a:endParaRPr lang="en-US" sz="1200" dirty="0"/>
          </a:p>
        </p:txBody>
      </p:sp>
      <p:sp>
        <p:nvSpPr>
          <p:cNvPr id="13" name="Shape 11"/>
          <p:cNvSpPr/>
          <p:nvPr/>
        </p:nvSpPr>
        <p:spPr>
          <a:xfrm>
            <a:off x="3794760" y="3840480"/>
            <a:ext cx="1828800" cy="658368"/>
          </a:xfrm>
          <a:prstGeom prst="roundRect">
            <a:avLst>
              <a:gd name="adj" fmla="val 33333"/>
            </a:avLst>
          </a:prstGeom>
          <a:solidFill>
            <a:srgbClr val="FFD9E8"/>
          </a:solidFill>
          <a:ln w="12700">
            <a:solidFill>
              <a:srgbClr val="FFD9E8">
                <a:alpha val="0"/>
              </a:srgbClr>
            </a:solidFill>
            <a:prstDash val="solid"/>
          </a:ln>
        </p:spPr>
      </p:sp>
      <p:sp>
        <p:nvSpPr>
          <p:cNvPr id="14" name="Text 12"/>
          <p:cNvSpPr/>
          <p:nvPr/>
        </p:nvSpPr>
        <p:spPr>
          <a:xfrm>
            <a:off x="3886200" y="4014216"/>
            <a:ext cx="1645920" cy="228600"/>
          </a:xfrm>
          <a:prstGeom prst="rect">
            <a:avLst/>
          </a:prstGeom>
          <a:noFill/>
          <a:ln/>
        </p:spPr>
        <p:txBody>
          <a:bodyPr wrap="square" lIns="0" tIns="0" rIns="0" bIns="0" rtlCol="0" anchor="ctr">
            <a:normAutofit/>
          </a:bodyPr>
          <a:lstStyle/>
          <a:p>
            <a:pPr algn="ctr" indent="0" marL="0">
              <a:buNone/>
            </a:pPr>
            <a:r>
              <a:rPr lang="en-US" sz="1200" b="1" dirty="0">
                <a:solidFill>
                  <a:srgbClr val="3A3D46"/>
                </a:solidFill>
                <a:latin typeface="Aptos" pitchFamily="34" charset="0"/>
                <a:ea typeface="Aptos" pitchFamily="34" charset="-122"/>
                <a:cs typeface="Aptos" pitchFamily="34" charset="-120"/>
              </a:rPr>
              <a:t>👩‍🏫 Lehrkräfte</a:t>
            </a:r>
            <a:endParaRPr lang="en-US" sz="1200" dirty="0"/>
          </a:p>
        </p:txBody>
      </p:sp>
      <p:sp>
        <p:nvSpPr>
          <p:cNvPr id="15" name="Shape 13"/>
          <p:cNvSpPr/>
          <p:nvPr/>
        </p:nvSpPr>
        <p:spPr>
          <a:xfrm>
            <a:off x="6629400" y="3840480"/>
            <a:ext cx="1828800" cy="658368"/>
          </a:xfrm>
          <a:prstGeom prst="roundRect">
            <a:avLst>
              <a:gd name="adj" fmla="val 33333"/>
            </a:avLst>
          </a:prstGeom>
          <a:solidFill>
            <a:srgbClr val="FFF7C7"/>
          </a:solidFill>
          <a:ln w="12700">
            <a:solidFill>
              <a:srgbClr val="FFF7C7">
                <a:alpha val="0"/>
              </a:srgbClr>
            </a:solidFill>
            <a:prstDash val="solid"/>
          </a:ln>
        </p:spPr>
      </p:sp>
      <p:sp>
        <p:nvSpPr>
          <p:cNvPr id="16" name="Text 14"/>
          <p:cNvSpPr/>
          <p:nvPr/>
        </p:nvSpPr>
        <p:spPr>
          <a:xfrm>
            <a:off x="6720840" y="4014216"/>
            <a:ext cx="1645920" cy="228600"/>
          </a:xfrm>
          <a:prstGeom prst="rect">
            <a:avLst/>
          </a:prstGeom>
          <a:noFill/>
          <a:ln/>
        </p:spPr>
        <p:txBody>
          <a:bodyPr wrap="square" lIns="0" tIns="0" rIns="0" bIns="0" rtlCol="0" anchor="ctr">
            <a:normAutofit/>
          </a:bodyPr>
          <a:lstStyle/>
          <a:p>
            <a:pPr algn="ctr" indent="0" marL="0">
              <a:buNone/>
            </a:pPr>
            <a:r>
              <a:rPr lang="en-US" sz="1200" b="1" dirty="0">
                <a:solidFill>
                  <a:srgbClr val="3A3D46"/>
                </a:solidFill>
                <a:latin typeface="Aptos" pitchFamily="34" charset="0"/>
                <a:ea typeface="Aptos" pitchFamily="34" charset="-122"/>
                <a:cs typeface="Aptos" pitchFamily="34" charset="-120"/>
              </a:rPr>
              <a:t>👥 Mitschüler</a:t>
            </a:r>
            <a:endParaRPr lang="en-US" sz="1200" dirty="0"/>
          </a:p>
        </p:txBody>
      </p:sp>
      <p:sp>
        <p:nvSpPr>
          <p:cNvPr id="17" name="Shape 15"/>
          <p:cNvSpPr/>
          <p:nvPr/>
        </p:nvSpPr>
        <p:spPr>
          <a:xfrm>
            <a:off x="9464040" y="3840480"/>
            <a:ext cx="1828800" cy="658368"/>
          </a:xfrm>
          <a:prstGeom prst="roundRect">
            <a:avLst>
              <a:gd name="adj" fmla="val 33333"/>
            </a:avLst>
          </a:prstGeom>
          <a:solidFill>
            <a:srgbClr val="CFEFFF"/>
          </a:solidFill>
          <a:ln w="12700">
            <a:solidFill>
              <a:srgbClr val="CFEFFF">
                <a:alpha val="0"/>
              </a:srgbClr>
            </a:solidFill>
            <a:prstDash val="solid"/>
          </a:ln>
        </p:spPr>
      </p:sp>
      <p:sp>
        <p:nvSpPr>
          <p:cNvPr id="18" name="Text 16"/>
          <p:cNvSpPr/>
          <p:nvPr/>
        </p:nvSpPr>
        <p:spPr>
          <a:xfrm>
            <a:off x="9555480" y="4014216"/>
            <a:ext cx="1645920" cy="228600"/>
          </a:xfrm>
          <a:prstGeom prst="rect">
            <a:avLst/>
          </a:prstGeom>
          <a:noFill/>
          <a:ln/>
        </p:spPr>
        <p:txBody>
          <a:bodyPr wrap="square" lIns="0" tIns="0" rIns="0" bIns="0" rtlCol="0" anchor="ctr">
            <a:normAutofit/>
          </a:bodyPr>
          <a:lstStyle/>
          <a:p>
            <a:pPr algn="ctr" indent="0" marL="0">
              <a:buNone/>
            </a:pPr>
            <a:r>
              <a:rPr lang="en-US" sz="1200" b="1" dirty="0">
                <a:solidFill>
                  <a:srgbClr val="3A3D46"/>
                </a:solidFill>
                <a:latin typeface="Aptos" pitchFamily="34" charset="0"/>
                <a:ea typeface="Aptos" pitchFamily="34" charset="-122"/>
                <a:cs typeface="Aptos" pitchFamily="34" charset="-120"/>
              </a:rPr>
              <a:t>🕒 Zeitstress</a:t>
            </a:r>
            <a:endParaRPr lang="en-US" sz="1200" dirty="0"/>
          </a:p>
        </p:txBody>
      </p:sp>
      <p:sp>
        <p:nvSpPr>
          <p:cNvPr id="19" name="Text 17"/>
          <p:cNvSpPr/>
          <p:nvPr/>
        </p:nvSpPr>
        <p:spPr>
          <a:xfrm>
            <a:off x="4251960" y="4754880"/>
            <a:ext cx="3657600" cy="256032"/>
          </a:xfrm>
          <a:prstGeom prst="rect">
            <a:avLst/>
          </a:prstGeom>
          <a:noFill/>
          <a:ln/>
        </p:spPr>
        <p:txBody>
          <a:bodyPr wrap="square" lIns="0" tIns="0" rIns="0" bIns="0" rtlCol="0" anchor="ctr"/>
          <a:lstStyle/>
          <a:p>
            <a:pPr algn="ctr" indent="0" marL="0">
              <a:buNone/>
            </a:pPr>
            <a:r>
              <a:rPr lang="en-US" sz="1400" b="1" dirty="0">
                <a:solidFill>
                  <a:srgbClr val="6B7280"/>
                </a:solidFill>
                <a:latin typeface="Aptos" pitchFamily="34" charset="0"/>
                <a:ea typeface="Aptos" pitchFamily="34" charset="-122"/>
                <a:cs typeface="Aptos" pitchFamily="34" charset="-120"/>
              </a:rPr>
              <a:t>Kurzes Handzeichen</a:t>
            </a:r>
            <a:endParaRPr lang="en-US" sz="1400" dirty="0"/>
          </a:p>
        </p:txBody>
      </p:sp>
      <p:sp>
        <p:nvSpPr>
          <p:cNvPr id="20" name="Shape 18"/>
          <p:cNvSpPr/>
          <p:nvPr/>
        </p:nvSpPr>
        <p:spPr>
          <a:xfrm>
            <a:off x="2057400" y="5221224"/>
            <a:ext cx="8183880" cy="694944"/>
          </a:xfrm>
          <a:prstGeom prst="roundRect">
            <a:avLst>
              <a:gd name="adj" fmla="val 28947"/>
            </a:avLst>
          </a:prstGeom>
          <a:solidFill>
            <a:srgbClr val="3A3D46">
              <a:alpha val="8000"/>
            </a:srgbClr>
          </a:solidFill>
          <a:ln w="12700">
            <a:solidFill>
              <a:srgbClr val="D8DEE8">
                <a:alpha val="0"/>
              </a:srgbClr>
            </a:solidFill>
            <a:prstDash val="solid"/>
          </a:ln>
        </p:spPr>
      </p:sp>
      <p:sp>
        <p:nvSpPr>
          <p:cNvPr id="21" name="Shape 19"/>
          <p:cNvSpPr/>
          <p:nvPr/>
        </p:nvSpPr>
        <p:spPr>
          <a:xfrm>
            <a:off x="2011680" y="5166360"/>
            <a:ext cx="8183880" cy="694944"/>
          </a:xfrm>
          <a:prstGeom prst="roundRect">
            <a:avLst>
              <a:gd name="adj" fmla="val 28947"/>
            </a:avLst>
          </a:prstGeom>
          <a:solidFill>
            <a:srgbClr val="FFD9E8"/>
          </a:solidFill>
          <a:ln w="12700">
            <a:solidFill>
              <a:srgbClr val="E8EDF2"/>
            </a:solidFill>
            <a:prstDash val="solid"/>
          </a:ln>
        </p:spPr>
      </p:sp>
      <p:sp>
        <p:nvSpPr>
          <p:cNvPr id="22" name="Text 20"/>
          <p:cNvSpPr/>
          <p:nvPr/>
        </p:nvSpPr>
        <p:spPr>
          <a:xfrm>
            <a:off x="2231136" y="5312664"/>
            <a:ext cx="7744968" cy="402336"/>
          </a:xfrm>
          <a:prstGeom prst="rect">
            <a:avLst/>
          </a:prstGeom>
          <a:noFill/>
          <a:ln/>
        </p:spPr>
        <p:txBody>
          <a:bodyPr wrap="square" lIns="0" tIns="0" rIns="0" bIns="0" rtlCol="0" anchor="ctr">
            <a:normAutofit/>
          </a:bodyPr>
          <a:lstStyle/>
          <a:p>
            <a:pPr algn="ctr" indent="0" marL="0">
              <a:buNone/>
            </a:pPr>
            <a:r>
              <a:rPr lang="en-US" sz="1700" b="1" i="1" dirty="0">
                <a:solidFill>
                  <a:srgbClr val="3A3D46"/>
                </a:solidFill>
                <a:latin typeface="Aptos" pitchFamily="34" charset="0"/>
                <a:ea typeface="Aptos" pitchFamily="34" charset="-122"/>
                <a:cs typeface="Aptos" pitchFamily="34" charset="-120"/>
              </a:rPr>
              <a:t>Alle Faktoren spielen laut Facharbeit eine wichtige Rolle.</a:t>
            </a:r>
            <a:endParaRPr lang="en-US" sz="1700" dirty="0"/>
          </a:p>
        </p:txBody>
      </p:sp>
    </p:spTree>
  </p:cSld>
  <p:clrMapOvr>
    <a:masterClrMapping/>
  </p:clrMapOvr>
  <p:transition spd="slow">
    <p:dissolve/>
  </p:transition>
  <p:timing>
    <p:bldLst>
      <p:bldP spid="10" grpId="0" build="p" advAuto="250"/>
      <p:bldP spid="22" grpId="1" build="p" advAuto="250"/>
    </p:bldLst>
  </p:timing>
</p:sld>
</file>

<file path=ppt/slides/slide8.xml><?xml version="1.0" encoding="utf-8"?>
<p:sld xmlns:a="http://schemas.openxmlformats.org/drawingml/2006/main"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4800600"/>
            <a:ext cx="2560320" cy="1920240"/>
          </a:xfrm>
          <a:prstGeom prst="ellipse">
            <a:avLst/>
          </a:prstGeom>
          <a:solidFill>
            <a:srgbClr val="FFD9E8">
              <a:alpha val="88000"/>
            </a:srgbClr>
          </a:solidFill>
          <a:ln w="12700">
            <a:solidFill>
              <a:srgbClr val="FFD9E8">
                <a:alpha val="0"/>
              </a:srgbClr>
            </a:solidFill>
            <a:prstDash val="solid"/>
          </a:ln>
        </p:spPr>
      </p:sp>
      <p:sp>
        <p:nvSpPr>
          <p:cNvPr id="3" name="Shape 1"/>
          <p:cNvSpPr/>
          <p:nvPr/>
        </p:nvSpPr>
        <p:spPr>
          <a:xfrm>
            <a:off x="9784080" y="-228600"/>
            <a:ext cx="1645920" cy="1280160"/>
          </a:xfrm>
          <a:prstGeom prst="ellipse">
            <a:avLst/>
          </a:prstGeom>
          <a:solidFill>
            <a:srgbClr val="CFEFFF">
              <a:alpha val="90000"/>
            </a:srgbClr>
          </a:solidFill>
          <a:ln w="12700">
            <a:solidFill>
              <a:srgbClr val="CFEFFF">
                <a:alpha val="0"/>
              </a:srgbClr>
            </a:solidFill>
            <a:prstDash val="solid"/>
          </a:ln>
        </p:spPr>
      </p:sp>
      <p:sp>
        <p:nvSpPr>
          <p:cNvPr id="4" name="Shape 2"/>
          <p:cNvSpPr/>
          <p:nvPr/>
        </p:nvSpPr>
        <p:spPr>
          <a:xfrm>
            <a:off x="8046720" y="5120640"/>
            <a:ext cx="1920240" cy="1463040"/>
          </a:xfrm>
          <a:prstGeom prst="ellipse">
            <a:avLst/>
          </a:prstGeom>
          <a:solidFill>
            <a:srgbClr val="FFF7C7">
              <a:alpha val="92000"/>
            </a:srgbClr>
          </a:solidFill>
          <a:ln w="12700">
            <a:solidFill>
              <a:srgbClr val="FFF7C7">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Internationaler Vergleich</a:t>
            </a:r>
            <a:endParaRPr lang="en-US" sz="1100" dirty="0"/>
          </a:p>
        </p:txBody>
      </p:sp>
      <p:sp>
        <p:nvSpPr>
          <p:cNvPr id="7" name="Text 5"/>
          <p:cNvSpPr/>
          <p:nvPr/>
        </p:nvSpPr>
        <p:spPr>
          <a:xfrm>
            <a:off x="640080" y="914400"/>
            <a:ext cx="8046720" cy="548640"/>
          </a:xfrm>
          <a:prstGeom prst="rect">
            <a:avLst/>
          </a:prstGeom>
          <a:noFill/>
          <a:ln/>
        </p:spPr>
        <p:txBody>
          <a:bodyPr wrap="square" lIns="0" tIns="0" rIns="0" bIns="0" rtlCol="0" anchor="ctr">
            <a:normAutofit/>
          </a:bodyPr>
          <a:lstStyle/>
          <a:p>
            <a:pPr indent="0" marL="0">
              <a:buNone/>
            </a:pPr>
            <a:r>
              <a:rPr lang="en-US" sz="2200" b="1" dirty="0">
                <a:solidFill>
                  <a:srgbClr val="3A3D46"/>
                </a:solidFill>
                <a:latin typeface="Aptos Display" pitchFamily="34" charset="0"/>
                <a:ea typeface="Aptos Display" pitchFamily="34" charset="-122"/>
                <a:cs typeface="Aptos Display" pitchFamily="34" charset="-120"/>
              </a:rPr>
              <a:t>Deutschland - Finnland - angelsächsische Systeme</a:t>
            </a:r>
            <a:endParaRPr lang="en-US" sz="2200" dirty="0"/>
          </a:p>
        </p:txBody>
      </p:sp>
      <p:sp>
        <p:nvSpPr>
          <p:cNvPr id="8" name="Shape 6"/>
          <p:cNvSpPr/>
          <p:nvPr/>
        </p:nvSpPr>
        <p:spPr>
          <a:xfrm>
            <a:off x="822960" y="1883664"/>
            <a:ext cx="3246120" cy="2468880"/>
          </a:xfrm>
          <a:prstGeom prst="roundRect">
            <a:avLst>
              <a:gd name="adj" fmla="val 8148"/>
            </a:avLst>
          </a:prstGeom>
          <a:solidFill>
            <a:srgbClr val="3A3D46">
              <a:alpha val="8000"/>
            </a:srgbClr>
          </a:solidFill>
          <a:ln w="12700">
            <a:solidFill>
              <a:srgbClr val="D8DEE8">
                <a:alpha val="0"/>
              </a:srgbClr>
            </a:solidFill>
            <a:prstDash val="solid"/>
          </a:ln>
        </p:spPr>
      </p:sp>
      <p:sp>
        <p:nvSpPr>
          <p:cNvPr id="9" name="Shape 7"/>
          <p:cNvSpPr/>
          <p:nvPr/>
        </p:nvSpPr>
        <p:spPr>
          <a:xfrm>
            <a:off x="777240" y="1828800"/>
            <a:ext cx="3246120" cy="2468880"/>
          </a:xfrm>
          <a:prstGeom prst="roundRect">
            <a:avLst>
              <a:gd name="adj" fmla="val 8148"/>
            </a:avLst>
          </a:prstGeom>
          <a:solidFill>
            <a:srgbClr val="CFEFFF"/>
          </a:solidFill>
          <a:ln w="12700">
            <a:solidFill>
              <a:srgbClr val="E8EDF2"/>
            </a:solidFill>
            <a:prstDash val="solid"/>
          </a:ln>
        </p:spPr>
      </p:sp>
      <p:sp>
        <p:nvSpPr>
          <p:cNvPr id="10" name="Text 8"/>
          <p:cNvSpPr/>
          <p:nvPr/>
        </p:nvSpPr>
        <p:spPr>
          <a:xfrm>
            <a:off x="941832" y="204825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Deutschland</a:t>
            </a:r>
            <a:endParaRPr lang="en-US" sz="1700" dirty="0"/>
          </a:p>
        </p:txBody>
      </p:sp>
      <p:sp>
        <p:nvSpPr>
          <p:cNvPr id="11" name="Text 9"/>
          <p:cNvSpPr/>
          <p:nvPr/>
        </p:nvSpPr>
        <p:spPr>
          <a:xfrm>
            <a:off x="941832" y="2487168"/>
            <a:ext cx="2916936" cy="166420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frühe Aufteilung</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Noten und Prüfungen zentral</a:t>
            </a:r>
            <a:endParaRPr lang="en-US" sz="1350" dirty="0"/>
          </a:p>
        </p:txBody>
      </p:sp>
      <p:sp>
        <p:nvSpPr>
          <p:cNvPr id="12" name="Shape 10"/>
          <p:cNvSpPr/>
          <p:nvPr/>
        </p:nvSpPr>
        <p:spPr>
          <a:xfrm>
            <a:off x="4526280" y="1609344"/>
            <a:ext cx="3246120" cy="2743200"/>
          </a:xfrm>
          <a:prstGeom prst="roundRect">
            <a:avLst>
              <a:gd name="adj" fmla="val 7333"/>
            </a:avLst>
          </a:prstGeom>
          <a:solidFill>
            <a:srgbClr val="3A3D46">
              <a:alpha val="8000"/>
            </a:srgbClr>
          </a:solidFill>
          <a:ln w="12700">
            <a:solidFill>
              <a:srgbClr val="D8DEE8">
                <a:alpha val="0"/>
              </a:srgbClr>
            </a:solidFill>
            <a:prstDash val="solid"/>
          </a:ln>
        </p:spPr>
      </p:sp>
      <p:sp>
        <p:nvSpPr>
          <p:cNvPr id="13" name="Shape 11"/>
          <p:cNvSpPr/>
          <p:nvPr/>
        </p:nvSpPr>
        <p:spPr>
          <a:xfrm>
            <a:off x="4480560" y="1554480"/>
            <a:ext cx="3246120" cy="2743200"/>
          </a:xfrm>
          <a:prstGeom prst="roundRect">
            <a:avLst>
              <a:gd name="adj" fmla="val 7333"/>
            </a:avLst>
          </a:prstGeom>
          <a:solidFill>
            <a:srgbClr val="FFF7C7"/>
          </a:solidFill>
          <a:ln w="12700">
            <a:solidFill>
              <a:srgbClr val="E8EDF2"/>
            </a:solidFill>
            <a:prstDash val="solid"/>
          </a:ln>
        </p:spPr>
      </p:sp>
      <p:sp>
        <p:nvSpPr>
          <p:cNvPr id="14" name="Text 12"/>
          <p:cNvSpPr/>
          <p:nvPr/>
        </p:nvSpPr>
        <p:spPr>
          <a:xfrm>
            <a:off x="4645152" y="177393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Finnland</a:t>
            </a:r>
            <a:endParaRPr lang="en-US" sz="1700" dirty="0"/>
          </a:p>
        </p:txBody>
      </p:sp>
      <p:sp>
        <p:nvSpPr>
          <p:cNvPr id="15" name="Text 13"/>
          <p:cNvSpPr/>
          <p:nvPr/>
        </p:nvSpPr>
        <p:spPr>
          <a:xfrm>
            <a:off x="4645152" y="2212848"/>
            <a:ext cx="2916936" cy="193852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längeres gemeinsames Lernen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spätere Leistungsdifferenzierung</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individuelle Lernfortschritte stärker im Blick</a:t>
            </a:r>
            <a:endParaRPr lang="en-US" sz="1350" dirty="0"/>
          </a:p>
        </p:txBody>
      </p:sp>
      <p:sp>
        <p:nvSpPr>
          <p:cNvPr id="16" name="Shape 14"/>
          <p:cNvSpPr/>
          <p:nvPr/>
        </p:nvSpPr>
        <p:spPr>
          <a:xfrm>
            <a:off x="8229600" y="1883664"/>
            <a:ext cx="3246120" cy="2468880"/>
          </a:xfrm>
          <a:prstGeom prst="roundRect">
            <a:avLst>
              <a:gd name="adj" fmla="val 8148"/>
            </a:avLst>
          </a:prstGeom>
          <a:solidFill>
            <a:srgbClr val="3A3D46">
              <a:alpha val="8000"/>
            </a:srgbClr>
          </a:solidFill>
          <a:ln w="12700">
            <a:solidFill>
              <a:srgbClr val="D8DEE8">
                <a:alpha val="0"/>
              </a:srgbClr>
            </a:solidFill>
            <a:prstDash val="solid"/>
          </a:ln>
        </p:spPr>
      </p:sp>
      <p:sp>
        <p:nvSpPr>
          <p:cNvPr id="17" name="Shape 15"/>
          <p:cNvSpPr/>
          <p:nvPr/>
        </p:nvSpPr>
        <p:spPr>
          <a:xfrm>
            <a:off x="8183880" y="1828800"/>
            <a:ext cx="3246120" cy="2468880"/>
          </a:xfrm>
          <a:prstGeom prst="roundRect">
            <a:avLst>
              <a:gd name="adj" fmla="val 8148"/>
            </a:avLst>
          </a:prstGeom>
          <a:solidFill>
            <a:srgbClr val="FFD9E8"/>
          </a:solidFill>
          <a:ln w="12700">
            <a:solidFill>
              <a:srgbClr val="E8EDF2"/>
            </a:solidFill>
            <a:prstDash val="solid"/>
          </a:ln>
        </p:spPr>
      </p:sp>
      <p:sp>
        <p:nvSpPr>
          <p:cNvPr id="18" name="Text 16"/>
          <p:cNvSpPr/>
          <p:nvPr/>
        </p:nvSpPr>
        <p:spPr>
          <a:xfrm>
            <a:off x="8348472" y="2048256"/>
            <a:ext cx="2916936" cy="411480"/>
          </a:xfrm>
          <a:prstGeom prst="rect">
            <a:avLst/>
          </a:prstGeom>
          <a:noFill/>
          <a:ln/>
        </p:spPr>
        <p:txBody>
          <a:bodyPr wrap="square" lIns="0" tIns="0" rIns="0" bIns="0" rtlCol="0" anchor="ctr">
            <a:normAutofit/>
          </a:bodyPr>
          <a:lstStyle/>
          <a:p>
            <a:pPr indent="0" marL="0">
              <a:buNone/>
            </a:pPr>
            <a:r>
              <a:rPr lang="en-US" sz="1700" b="1" dirty="0">
                <a:solidFill>
                  <a:srgbClr val="3A3D46"/>
                </a:solidFill>
                <a:latin typeface="Aptos Display" pitchFamily="34" charset="0"/>
                <a:ea typeface="Aptos Display" pitchFamily="34" charset="-122"/>
                <a:cs typeface="Aptos Display" pitchFamily="34" charset="-120"/>
              </a:rPr>
              <a:t>Angelsächsische Systeme</a:t>
            </a:r>
            <a:endParaRPr lang="en-US" sz="1700" dirty="0"/>
          </a:p>
        </p:txBody>
      </p:sp>
      <p:sp>
        <p:nvSpPr>
          <p:cNvPr id="19" name="Text 17"/>
          <p:cNvSpPr/>
          <p:nvPr/>
        </p:nvSpPr>
        <p:spPr>
          <a:xfrm>
            <a:off x="8348472" y="2487168"/>
            <a:ext cx="2916936" cy="1664208"/>
          </a:xfrm>
          <a:prstGeom prst="rect">
            <a:avLst/>
          </a:prstGeom>
          <a:noFill/>
          <a:ln/>
        </p:spPr>
        <p:txBody>
          <a:bodyPr wrap="square" lIns="0" tIns="0" rIns="0" bIns="0" rtlCol="0" anchor="ctr">
            <a:normAutofit/>
          </a:bodyPr>
          <a:lstStyle/>
          <a:p>
            <a:pPr indent="0" marL="0">
              <a:buNone/>
            </a:pPr>
            <a:r>
              <a:rPr lang="en-US" sz="1350" dirty="0">
                <a:solidFill>
                  <a:srgbClr val="6B7280"/>
                </a:solidFill>
                <a:latin typeface="Aptos" pitchFamily="34" charset="0"/>
                <a:ea typeface="Aptos" pitchFamily="34" charset="-122"/>
                <a:cs typeface="Aptos" pitchFamily="34" charset="-120"/>
              </a:rPr>
              <a:t>mehr Praxisnähe</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mehr Wahlmöglichkeiten</a:t>
            </a:r>
            <a:endParaRPr lang="en-US" sz="1350" dirty="0"/>
          </a:p>
          <a:p>
            <a:pPr indent="0" marL="0">
              <a:buNone/>
            </a:pPr>
            <a:r>
              <a:rPr lang="en-US" sz="1350" dirty="0">
                <a:solidFill>
                  <a:srgbClr val="6B7280"/>
                </a:solidFill>
                <a:latin typeface="Aptos" pitchFamily="34" charset="0"/>
                <a:ea typeface="Aptos" pitchFamily="34" charset="-122"/>
                <a:cs typeface="Aptos" pitchFamily="34" charset="-120"/>
              </a:rPr>
              <a:t>häufig projektorientiertes Lernen</a:t>
            </a:r>
            <a:endParaRPr lang="en-US" sz="1350" dirty="0"/>
          </a:p>
        </p:txBody>
      </p:sp>
      <p:sp>
        <p:nvSpPr>
          <p:cNvPr id="20" name="Shape 18"/>
          <p:cNvSpPr/>
          <p:nvPr/>
        </p:nvSpPr>
        <p:spPr>
          <a:xfrm>
            <a:off x="5303520" y="4526280"/>
            <a:ext cx="1645920" cy="502920"/>
          </a:xfrm>
          <a:prstGeom prst="chevron">
            <a:avLst/>
          </a:prstGeom>
          <a:solidFill>
            <a:srgbClr val="CFEFFF">
              <a:alpha val="80000"/>
            </a:srgbClr>
          </a:solidFill>
          <a:ln w="12700">
            <a:solidFill>
              <a:srgbClr val="E8EDF2">
                <a:alpha val="0"/>
              </a:srgbClr>
            </a:solidFill>
            <a:prstDash val="solid"/>
          </a:ln>
        </p:spPr>
      </p:sp>
      <p:sp>
        <p:nvSpPr>
          <p:cNvPr id="21" name="Shape 19"/>
          <p:cNvSpPr/>
          <p:nvPr/>
        </p:nvSpPr>
        <p:spPr>
          <a:xfrm>
            <a:off x="3749040" y="5129784"/>
            <a:ext cx="4800600" cy="694944"/>
          </a:xfrm>
          <a:prstGeom prst="roundRect">
            <a:avLst>
              <a:gd name="adj" fmla="val 28947"/>
            </a:avLst>
          </a:prstGeom>
          <a:solidFill>
            <a:srgbClr val="3A3D46">
              <a:alpha val="8000"/>
            </a:srgbClr>
          </a:solidFill>
          <a:ln w="12700">
            <a:solidFill>
              <a:srgbClr val="D8DEE8">
                <a:alpha val="0"/>
              </a:srgbClr>
            </a:solidFill>
            <a:prstDash val="solid"/>
          </a:ln>
        </p:spPr>
      </p:sp>
      <p:sp>
        <p:nvSpPr>
          <p:cNvPr id="22" name="Shape 20"/>
          <p:cNvSpPr/>
          <p:nvPr/>
        </p:nvSpPr>
        <p:spPr>
          <a:xfrm>
            <a:off x="3703320" y="5074920"/>
            <a:ext cx="4800600" cy="694944"/>
          </a:xfrm>
          <a:prstGeom prst="roundRect">
            <a:avLst>
              <a:gd name="adj" fmla="val 28947"/>
            </a:avLst>
          </a:prstGeom>
          <a:solidFill>
            <a:srgbClr val="FFFFFF"/>
          </a:solidFill>
          <a:ln w="12700">
            <a:solidFill>
              <a:srgbClr val="E8EDF2"/>
            </a:solidFill>
            <a:prstDash val="solid"/>
          </a:ln>
        </p:spPr>
      </p:sp>
      <p:sp>
        <p:nvSpPr>
          <p:cNvPr id="23" name="Text 21"/>
          <p:cNvSpPr/>
          <p:nvPr/>
        </p:nvSpPr>
        <p:spPr>
          <a:xfrm>
            <a:off x="3922776" y="5221224"/>
            <a:ext cx="4361688" cy="402336"/>
          </a:xfrm>
          <a:prstGeom prst="rect">
            <a:avLst/>
          </a:prstGeom>
          <a:noFill/>
          <a:ln/>
        </p:spPr>
        <p:txBody>
          <a:bodyPr wrap="square" lIns="0" tIns="0" rIns="0" bIns="0" rtlCol="0" anchor="ctr">
            <a:normAutofit/>
          </a:bodyPr>
          <a:lstStyle/>
          <a:p>
            <a:pPr algn="ctr" indent="0" marL="0">
              <a:buNone/>
            </a:pPr>
            <a:r>
              <a:rPr lang="en-US" sz="1700" b="1" i="1" dirty="0">
                <a:solidFill>
                  <a:srgbClr val="3A3D46"/>
                </a:solidFill>
                <a:latin typeface="Aptos" pitchFamily="34" charset="0"/>
                <a:ea typeface="Aptos" pitchFamily="34" charset="-122"/>
                <a:cs typeface="Aptos" pitchFamily="34" charset="-120"/>
              </a:rPr>
              <a:t>Kein System ist perfekt.</a:t>
            </a:r>
            <a:endParaRPr lang="en-US" sz="1700" dirty="0"/>
          </a:p>
        </p:txBody>
      </p:sp>
    </p:spTree>
  </p:cSld>
  <p:clrMapOvr>
    <a:masterClrMapping/>
  </p:clrMapOvr>
  <p:transition spd="slow">
    <p:plus/>
  </p:transition>
  <p:timing>
    <p:bldLst>
      <p:bldP spid="7" grpId="0" build="p" advAuto="250"/>
      <p:bldP spid="10" grpId="1" build="p" advAuto="250"/>
      <p:bldP spid="14" grpId="2" build="p" advAuto="250"/>
      <p:bldP spid="18" grpId="3" build="p" advAuto="250"/>
      <p:bldP spid="23" grpId="4" build="p" advAuto="250"/>
    </p:bldLst>
  </p:timing>
</p:sld>
</file>

<file path=ppt/slides/slide9.xml><?xml version="1.0" encoding="utf-8"?>
<p:sld xmlns:a="http://schemas.openxmlformats.org/drawingml/2006/main"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20040"/>
            <a:ext cx="2011680" cy="1645920"/>
          </a:xfrm>
          <a:prstGeom prst="ellipse">
            <a:avLst/>
          </a:prstGeom>
          <a:solidFill>
            <a:srgbClr val="FFF7C7">
              <a:alpha val="92000"/>
            </a:srgbClr>
          </a:solidFill>
          <a:ln w="12700">
            <a:solidFill>
              <a:srgbClr val="FFF7C7">
                <a:alpha val="0"/>
              </a:srgbClr>
            </a:solidFill>
            <a:prstDash val="solid"/>
          </a:ln>
        </p:spPr>
      </p:sp>
      <p:sp>
        <p:nvSpPr>
          <p:cNvPr id="3" name="Shape 1"/>
          <p:cNvSpPr/>
          <p:nvPr/>
        </p:nvSpPr>
        <p:spPr>
          <a:xfrm>
            <a:off x="9692640" y="45720"/>
            <a:ext cx="2103120" cy="1554480"/>
          </a:xfrm>
          <a:prstGeom prst="ellipse">
            <a:avLst/>
          </a:prstGeom>
          <a:solidFill>
            <a:srgbClr val="FFD9E8">
              <a:alpha val="90000"/>
            </a:srgbClr>
          </a:solidFill>
          <a:ln w="12700">
            <a:solidFill>
              <a:srgbClr val="FFD9E8">
                <a:alpha val="0"/>
              </a:srgbClr>
            </a:solidFill>
            <a:prstDash val="solid"/>
          </a:ln>
        </p:spPr>
      </p:sp>
      <p:sp>
        <p:nvSpPr>
          <p:cNvPr id="4" name="Shape 2"/>
          <p:cNvSpPr/>
          <p:nvPr/>
        </p:nvSpPr>
        <p:spPr>
          <a:xfrm>
            <a:off x="8961120" y="4983480"/>
            <a:ext cx="2651760" cy="1920240"/>
          </a:xfrm>
          <a:prstGeom prst="ellipse">
            <a:avLst/>
          </a:prstGeom>
          <a:solidFill>
            <a:srgbClr val="CFEFFF">
              <a:alpha val="90000"/>
            </a:srgbClr>
          </a:solidFill>
          <a:ln w="12700">
            <a:solidFill>
              <a:srgbClr val="CFEFFF">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Kritische Bewertung</a:t>
            </a:r>
            <a:endParaRPr lang="en-US" sz="1100" dirty="0"/>
          </a:p>
        </p:txBody>
      </p:sp>
      <p:sp>
        <p:nvSpPr>
          <p:cNvPr id="7" name="Text 5"/>
          <p:cNvSpPr/>
          <p:nvPr/>
        </p:nvSpPr>
        <p:spPr>
          <a:xfrm>
            <a:off x="640080" y="914400"/>
            <a:ext cx="484632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Stärken und Schwächen</a:t>
            </a:r>
            <a:endParaRPr lang="en-US" sz="2400" dirty="0"/>
          </a:p>
        </p:txBody>
      </p:sp>
      <p:sp>
        <p:nvSpPr>
          <p:cNvPr id="8" name="Shape 6"/>
          <p:cNvSpPr/>
          <p:nvPr/>
        </p:nvSpPr>
        <p:spPr>
          <a:xfrm>
            <a:off x="868680" y="1746504"/>
            <a:ext cx="5074920" cy="3566160"/>
          </a:xfrm>
          <a:prstGeom prst="roundRect">
            <a:avLst>
              <a:gd name="adj" fmla="val 5641"/>
            </a:avLst>
          </a:prstGeom>
          <a:solidFill>
            <a:srgbClr val="3A3D46">
              <a:alpha val="8000"/>
            </a:srgbClr>
          </a:solidFill>
          <a:ln w="12700">
            <a:solidFill>
              <a:srgbClr val="D8DEE8">
                <a:alpha val="0"/>
              </a:srgbClr>
            </a:solidFill>
            <a:prstDash val="solid"/>
          </a:ln>
        </p:spPr>
      </p:sp>
      <p:sp>
        <p:nvSpPr>
          <p:cNvPr id="9" name="Shape 7"/>
          <p:cNvSpPr/>
          <p:nvPr/>
        </p:nvSpPr>
        <p:spPr>
          <a:xfrm>
            <a:off x="822960" y="1691640"/>
            <a:ext cx="5074920" cy="3566160"/>
          </a:xfrm>
          <a:prstGeom prst="roundRect">
            <a:avLst>
              <a:gd name="adj" fmla="val 5641"/>
            </a:avLst>
          </a:prstGeom>
          <a:solidFill>
            <a:srgbClr val="CFEFFF"/>
          </a:solidFill>
          <a:ln w="12700">
            <a:solidFill>
              <a:srgbClr val="E8EDF2"/>
            </a:solidFill>
            <a:prstDash val="solid"/>
          </a:ln>
        </p:spPr>
      </p:sp>
      <p:sp>
        <p:nvSpPr>
          <p:cNvPr id="10" name="Shape 8"/>
          <p:cNvSpPr/>
          <p:nvPr/>
        </p:nvSpPr>
        <p:spPr>
          <a:xfrm>
            <a:off x="6336792" y="1746504"/>
            <a:ext cx="5074920" cy="3566160"/>
          </a:xfrm>
          <a:prstGeom prst="roundRect">
            <a:avLst>
              <a:gd name="adj" fmla="val 5641"/>
            </a:avLst>
          </a:prstGeom>
          <a:solidFill>
            <a:srgbClr val="3A3D46">
              <a:alpha val="8000"/>
            </a:srgbClr>
          </a:solidFill>
          <a:ln w="12700">
            <a:solidFill>
              <a:srgbClr val="D8DEE8">
                <a:alpha val="0"/>
              </a:srgbClr>
            </a:solidFill>
            <a:prstDash val="solid"/>
          </a:ln>
        </p:spPr>
      </p:sp>
      <p:sp>
        <p:nvSpPr>
          <p:cNvPr id="11" name="Shape 9"/>
          <p:cNvSpPr/>
          <p:nvPr/>
        </p:nvSpPr>
        <p:spPr>
          <a:xfrm>
            <a:off x="6291072" y="1691640"/>
            <a:ext cx="5074920" cy="3566160"/>
          </a:xfrm>
          <a:prstGeom prst="roundRect">
            <a:avLst>
              <a:gd name="adj" fmla="val 5641"/>
            </a:avLst>
          </a:prstGeom>
          <a:solidFill>
            <a:srgbClr val="FFD9E8"/>
          </a:solidFill>
          <a:ln w="12700">
            <a:solidFill>
              <a:srgbClr val="E8EDF2"/>
            </a:solidFill>
            <a:prstDash val="solid"/>
          </a:ln>
        </p:spPr>
      </p:sp>
      <p:sp>
        <p:nvSpPr>
          <p:cNvPr id="12" name="Text 10"/>
          <p:cNvSpPr/>
          <p:nvPr/>
        </p:nvSpPr>
        <p:spPr>
          <a:xfrm>
            <a:off x="1078992" y="1965960"/>
            <a:ext cx="2103120" cy="320040"/>
          </a:xfrm>
          <a:prstGeom prst="rect">
            <a:avLst/>
          </a:prstGeom>
          <a:noFill/>
          <a:ln/>
        </p:spPr>
        <p:txBody>
          <a:bodyPr wrap="square" lIns="0" tIns="0" rIns="0" bIns="0" rtlCol="0" anchor="ctr"/>
          <a:lstStyle/>
          <a:p>
            <a:pPr indent="0" marL="0">
              <a:buNone/>
            </a:pPr>
            <a:r>
              <a:rPr lang="en-US" sz="2200" b="1" dirty="0">
                <a:solidFill>
                  <a:srgbClr val="3A3D46"/>
                </a:solidFill>
                <a:latin typeface="Aptos Display" pitchFamily="34" charset="0"/>
                <a:ea typeface="Aptos Display" pitchFamily="34" charset="-122"/>
                <a:cs typeface="Aptos Display" pitchFamily="34" charset="-120"/>
              </a:rPr>
              <a:t>Stärken</a:t>
            </a:r>
            <a:endParaRPr lang="en-US" sz="2200" dirty="0"/>
          </a:p>
        </p:txBody>
      </p:sp>
      <p:sp>
        <p:nvSpPr>
          <p:cNvPr id="13" name="Text 11"/>
          <p:cNvSpPr/>
          <p:nvPr/>
        </p:nvSpPr>
        <p:spPr>
          <a:xfrm>
            <a:off x="1078992" y="2560320"/>
            <a:ext cx="4251960" cy="1417320"/>
          </a:xfrm>
          <a:prstGeom prst="rect">
            <a:avLst/>
          </a:prstGeom>
          <a:noFill/>
          <a:ln/>
        </p:spPr>
        <p:txBody>
          <a:bodyPr wrap="square" lIns="0" tIns="0" rIns="0" bIns="0" rtlCol="0" anchor="ctr"/>
          <a:lstStyle/>
          <a:p>
            <a:pPr indent="0" marL="0">
              <a:buNone/>
            </a:pPr>
            <a:r>
              <a:rPr lang="en-US" sz="1800" dirty="0">
                <a:solidFill>
                  <a:srgbClr val="3A3D46"/>
                </a:solidFill>
              </a:rPr>
              <a:t>verschiedene Bildungswege</a:t>
            </a:r>
            <a:pPr indent="0" marL="0">
              <a:buNone/>
            </a:pPr>
            <a:r>
              <a:rPr lang="en-US" sz="1800" dirty="0">
                <a:solidFill>
                  <a:srgbClr val="3A3D46"/>
                </a:solidFill>
              </a:rPr>
              <a:t>duales Ausbildungssystem</a:t>
            </a:r>
            <a:endParaRPr lang="en-US" sz="1800" dirty="0"/>
          </a:p>
          <a:p>
            <a:pPr indent="0" marL="0">
              <a:buNone/>
            </a:pPr>
            <a:r>
              <a:rPr lang="en-US" sz="1800" dirty="0">
                <a:solidFill>
                  <a:srgbClr val="3A3D46"/>
                </a:solidFill>
              </a:rPr>
              <a:t>hohe akademische Standards</a:t>
            </a:r>
            <a:endParaRPr lang="en-US" sz="1800" dirty="0"/>
          </a:p>
        </p:txBody>
      </p:sp>
      <p:sp>
        <p:nvSpPr>
          <p:cNvPr id="14" name="Text 12"/>
          <p:cNvSpPr/>
          <p:nvPr/>
        </p:nvSpPr>
        <p:spPr>
          <a:xfrm>
            <a:off x="6547104" y="1965960"/>
            <a:ext cx="2286000" cy="320040"/>
          </a:xfrm>
          <a:prstGeom prst="rect">
            <a:avLst/>
          </a:prstGeom>
          <a:noFill/>
          <a:ln/>
        </p:spPr>
        <p:txBody>
          <a:bodyPr wrap="square" lIns="0" tIns="0" rIns="0" bIns="0" rtlCol="0" anchor="ctr"/>
          <a:lstStyle/>
          <a:p>
            <a:pPr indent="0" marL="0">
              <a:buNone/>
            </a:pPr>
            <a:r>
              <a:rPr lang="en-US" sz="2200" b="1" dirty="0">
                <a:solidFill>
                  <a:srgbClr val="3A3D46"/>
                </a:solidFill>
                <a:latin typeface="Aptos Display" pitchFamily="34" charset="0"/>
                <a:ea typeface="Aptos Display" pitchFamily="34" charset="-122"/>
                <a:cs typeface="Aptos Display" pitchFamily="34" charset="-120"/>
              </a:rPr>
              <a:t>Schwächen</a:t>
            </a:r>
            <a:endParaRPr lang="en-US" sz="2200" dirty="0"/>
          </a:p>
        </p:txBody>
      </p:sp>
      <p:sp>
        <p:nvSpPr>
          <p:cNvPr id="15" name="Text 13"/>
          <p:cNvSpPr/>
          <p:nvPr/>
        </p:nvSpPr>
        <p:spPr>
          <a:xfrm>
            <a:off x="6547104" y="2560320"/>
            <a:ext cx="4297680" cy="1417320"/>
          </a:xfrm>
          <a:prstGeom prst="rect">
            <a:avLst/>
          </a:prstGeom>
          <a:noFill/>
          <a:ln/>
        </p:spPr>
        <p:txBody>
          <a:bodyPr wrap="square" lIns="0" tIns="0" rIns="0" bIns="0" rtlCol="0" anchor="ctr"/>
          <a:lstStyle/>
          <a:p>
            <a:pPr indent="0" marL="0">
              <a:buNone/>
            </a:pPr>
            <a:r>
              <a:rPr lang="en-US" sz="1800" dirty="0">
                <a:solidFill>
                  <a:srgbClr val="3A3D46"/>
                </a:solidFill>
              </a:rPr>
              <a:t>frühe Selektion</a:t>
            </a:r>
            <a:pPr indent="0" marL="0">
              <a:buNone/>
            </a:pPr>
            <a:r>
              <a:rPr lang="en-US" sz="1800" dirty="0">
                <a:solidFill>
                  <a:srgbClr val="3A3D46"/>
                </a:solidFill>
              </a:rPr>
              <a:t>Leistungsdruck</a:t>
            </a:r>
            <a:endParaRPr lang="en-US" sz="1800" dirty="0"/>
          </a:p>
          <a:p>
            <a:pPr indent="0" marL="0">
              <a:buNone/>
            </a:pPr>
            <a:r>
              <a:rPr lang="en-US" sz="1800" dirty="0">
                <a:solidFill>
                  <a:srgbClr val="3A3D46"/>
                </a:solidFill>
              </a:rPr>
              <a:t>soziale Ungleichheiten</a:t>
            </a:r>
            <a:endParaRPr lang="en-US" sz="1800" dirty="0"/>
          </a:p>
        </p:txBody>
      </p:sp>
      <p:sp>
        <p:nvSpPr>
          <p:cNvPr id="16" name="Text 14"/>
          <p:cNvSpPr/>
          <p:nvPr/>
        </p:nvSpPr>
        <p:spPr>
          <a:xfrm>
            <a:off x="1078992" y="4617720"/>
            <a:ext cx="9875520" cy="329184"/>
          </a:xfrm>
          <a:prstGeom prst="rect">
            <a:avLst/>
          </a:prstGeom>
          <a:noFill/>
          <a:ln/>
        </p:spPr>
        <p:txBody>
          <a:bodyPr wrap="square" lIns="0" tIns="0" rIns="0" bIns="0" rtlCol="0" anchor="ctr"/>
          <a:lstStyle/>
          <a:p>
            <a:pPr algn="ctr" indent="0" marL="0">
              <a:buNone/>
            </a:pPr>
            <a:r>
              <a:rPr lang="en-US" sz="1400" b="1" dirty="0">
                <a:solidFill>
                  <a:srgbClr val="6B7280"/>
                </a:solidFill>
                <a:latin typeface="Aptos" pitchFamily="34" charset="0"/>
                <a:ea typeface="Aptos" pitchFamily="34" charset="-122"/>
                <a:cs typeface="Aptos" pitchFamily="34" charset="-120"/>
              </a:rPr>
              <a:t>Das deutsche System verbindet Qualität und Differenzierung - aber nicht für alle gleich entlastend.</a:t>
            </a:r>
            <a:endParaRPr lang="en-US" sz="1400" dirty="0"/>
          </a:p>
        </p:txBody>
      </p:sp>
    </p:spTree>
  </p:cSld>
  <p:clrMapOvr>
    <a:masterClrMapping/>
  </p:clrMapOvr>
  <p:transition spd="slow">
    <p:split/>
  </p:transition>
  <p:timing>
    <p:bldLst>
      <p:bldP spid="7" grpId="0" build="p" advAuto="250"/>
      <p:bldP spid="12" grpId="1" build="p" advAuto="250"/>
      <p:bldP spid="14" grpId="2" build="p" advAuto="250"/>
    </p:bldLst>
  </p:timing>
</p:sld>
</file>

<file path=ppt/slides/slide10.xml><?xml version="1.0" encoding="utf-8"?>
<p:sld xmlns:a="http://schemas.openxmlformats.org/drawingml/2006/main"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2377440" cy="1828800"/>
          </a:xfrm>
          <a:prstGeom prst="ellipse">
            <a:avLst/>
          </a:prstGeom>
          <a:solidFill>
            <a:srgbClr val="CFEFFF">
              <a:alpha val="90000"/>
            </a:srgbClr>
          </a:solidFill>
          <a:ln w="12700">
            <a:solidFill>
              <a:srgbClr val="CFEFFF">
                <a:alpha val="0"/>
              </a:srgbClr>
            </a:solidFill>
            <a:prstDash val="solid"/>
          </a:ln>
        </p:spPr>
      </p:sp>
      <p:sp>
        <p:nvSpPr>
          <p:cNvPr id="3" name="Shape 1"/>
          <p:cNvSpPr/>
          <p:nvPr/>
        </p:nvSpPr>
        <p:spPr>
          <a:xfrm>
            <a:off x="9692640" y="-182880"/>
            <a:ext cx="1828800" cy="1554480"/>
          </a:xfrm>
          <a:prstGeom prst="ellipse">
            <a:avLst/>
          </a:prstGeom>
          <a:solidFill>
            <a:srgbClr val="FFF7C7">
              <a:alpha val="94000"/>
            </a:srgbClr>
          </a:solidFill>
          <a:ln w="12700">
            <a:solidFill>
              <a:srgbClr val="FFF7C7">
                <a:alpha val="0"/>
              </a:srgbClr>
            </a:solidFill>
            <a:prstDash val="solid"/>
          </a:ln>
        </p:spPr>
      </p:sp>
      <p:sp>
        <p:nvSpPr>
          <p:cNvPr id="4" name="Shape 2"/>
          <p:cNvSpPr/>
          <p:nvPr/>
        </p:nvSpPr>
        <p:spPr>
          <a:xfrm>
            <a:off x="9601200" y="4937760"/>
            <a:ext cx="2468880" cy="2011680"/>
          </a:xfrm>
          <a:prstGeom prst="ellipse">
            <a:avLst/>
          </a:prstGeom>
          <a:solidFill>
            <a:srgbClr val="FFD9E8">
              <a:alpha val="92000"/>
            </a:srgbClr>
          </a:solidFill>
          <a:ln w="12700">
            <a:solidFill>
              <a:srgbClr val="FFD9E8">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Reformansätze</a:t>
            </a:r>
            <a:endParaRPr lang="en-US" sz="1100" dirty="0"/>
          </a:p>
        </p:txBody>
      </p:sp>
      <p:sp>
        <p:nvSpPr>
          <p:cNvPr id="7" name="Text 5"/>
          <p:cNvSpPr/>
          <p:nvPr/>
        </p:nvSpPr>
        <p:spPr>
          <a:xfrm>
            <a:off x="640080" y="914400"/>
            <a:ext cx="4572000" cy="548640"/>
          </a:xfrm>
          <a:prstGeom prst="rect">
            <a:avLst/>
          </a:prstGeom>
          <a:noFill/>
          <a:ln/>
        </p:spPr>
        <p:txBody>
          <a:bodyPr wrap="square" lIns="0" tIns="0" rIns="0" bIns="0" rtlCol="0" anchor="ctr">
            <a:normAutofit/>
          </a:bodyPr>
          <a:lstStyle/>
          <a:p>
            <a:pPr indent="0" marL="0">
              <a:buNone/>
            </a:pPr>
            <a:r>
              <a:rPr lang="en-US" sz="2400" b="1" dirty="0">
                <a:solidFill>
                  <a:srgbClr val="3A3D46"/>
                </a:solidFill>
                <a:latin typeface="Aptos Display" pitchFamily="34" charset="0"/>
                <a:ea typeface="Aptos Display" pitchFamily="34" charset="-122"/>
                <a:cs typeface="Aptos Display" pitchFamily="34" charset="-120"/>
              </a:rPr>
              <a:t>Pfeil in Richtung Zukunft</a:t>
            </a:r>
            <a:endParaRPr lang="en-US" sz="2400" dirty="0"/>
          </a:p>
        </p:txBody>
      </p:sp>
      <p:sp>
        <p:nvSpPr>
          <p:cNvPr id="8" name="Shape 6"/>
          <p:cNvSpPr/>
          <p:nvPr/>
        </p:nvSpPr>
        <p:spPr>
          <a:xfrm>
            <a:off x="1143000" y="4343400"/>
            <a:ext cx="9829800" cy="640080"/>
          </a:xfrm>
          <a:prstGeom prst="chevron">
            <a:avLst/>
          </a:prstGeom>
          <a:solidFill>
            <a:srgbClr val="CFEFFF">
              <a:alpha val="74000"/>
            </a:srgbClr>
          </a:solidFill>
          <a:ln w="12700">
            <a:solidFill>
              <a:srgbClr val="CFEFFF">
                <a:alpha val="0"/>
              </a:srgbClr>
            </a:solidFill>
            <a:prstDash val="solid"/>
          </a:ln>
        </p:spPr>
      </p:sp>
      <p:sp>
        <p:nvSpPr>
          <p:cNvPr id="9" name="Shape 7"/>
          <p:cNvSpPr/>
          <p:nvPr/>
        </p:nvSpPr>
        <p:spPr>
          <a:xfrm>
            <a:off x="1051560" y="1737360"/>
            <a:ext cx="2377440" cy="2377440"/>
          </a:xfrm>
          <a:prstGeom prst="ellipse">
            <a:avLst/>
          </a:prstGeom>
          <a:solidFill>
            <a:srgbClr val="CFEFFF"/>
          </a:solidFill>
          <a:ln w="12700">
            <a:solidFill>
              <a:srgbClr val="E8EDF2"/>
            </a:solidFill>
            <a:prstDash val="solid"/>
          </a:ln>
        </p:spPr>
      </p:sp>
      <p:sp>
        <p:nvSpPr>
          <p:cNvPr id="10" name="Text 8"/>
          <p:cNvSpPr/>
          <p:nvPr/>
        </p:nvSpPr>
        <p:spPr>
          <a:xfrm>
            <a:off x="1307592" y="2240280"/>
            <a:ext cx="1865376" cy="640080"/>
          </a:xfrm>
          <a:prstGeom prst="rect">
            <a:avLst/>
          </a:prstGeom>
          <a:noFill/>
          <a:ln/>
        </p:spPr>
        <p:txBody>
          <a:bodyPr wrap="square" lIns="0" tIns="0" rIns="0" bIns="0" rtlCol="0" anchor="ctr">
            <a:normAutofit/>
          </a:bodyPr>
          <a:lstStyle/>
          <a:p>
            <a:pPr algn="ctr" indent="0" marL="0">
              <a:buNone/>
            </a:pPr>
            <a:r>
              <a:rPr lang="en-US" sz="1700" b="1" dirty="0">
                <a:solidFill>
                  <a:srgbClr val="3A3D46"/>
                </a:solidFill>
                <a:latin typeface="Aptos Display" pitchFamily="34" charset="0"/>
                <a:ea typeface="Aptos Display" pitchFamily="34" charset="-122"/>
                <a:cs typeface="Aptos Display" pitchFamily="34" charset="-120"/>
              </a:rPr>
              <a:t>Mehr Lebenskompetenzen</a:t>
            </a:r>
            <a:endParaRPr lang="en-US" sz="1700" dirty="0"/>
          </a:p>
        </p:txBody>
      </p:sp>
      <p:sp>
        <p:nvSpPr>
          <p:cNvPr id="11" name="Text 9"/>
          <p:cNvSpPr/>
          <p:nvPr/>
        </p:nvSpPr>
        <p:spPr>
          <a:xfrm>
            <a:off x="1216152" y="4343400"/>
            <a:ext cx="2057400" cy="914400"/>
          </a:xfrm>
          <a:prstGeom prst="rect">
            <a:avLst/>
          </a:prstGeom>
          <a:noFill/>
          <a:ln/>
        </p:spPr>
        <p:txBody>
          <a:bodyPr wrap="square" lIns="0" tIns="0" rIns="0" bIns="0" rtlCol="0" anchor="ctr">
            <a:normAutofit/>
          </a:bodyPr>
          <a:lstStyle/>
          <a:p>
            <a:pPr algn="ctr" indent="0" marL="0">
              <a:buNone/>
            </a:pPr>
            <a:r>
              <a:rPr lang="en-US" sz="1300" dirty="0">
                <a:solidFill>
                  <a:srgbClr val="6B7280"/>
                </a:solidFill>
                <a:latin typeface="Aptos" pitchFamily="34" charset="0"/>
                <a:ea typeface="Aptos" pitchFamily="34" charset="-122"/>
                <a:cs typeface="Aptos" pitchFamily="34" charset="-120"/>
              </a:rPr>
              <a:t>finanzielle Grundbildung, Medienkompetenz und alltagsrelevante Fähigkeiten stärker integrieren</a:t>
            </a:r>
            <a:endParaRPr lang="en-US" sz="1300" dirty="0"/>
          </a:p>
        </p:txBody>
      </p:sp>
      <p:sp>
        <p:nvSpPr>
          <p:cNvPr id="12" name="Shape 10"/>
          <p:cNvSpPr/>
          <p:nvPr/>
        </p:nvSpPr>
        <p:spPr>
          <a:xfrm>
            <a:off x="4507992" y="1737360"/>
            <a:ext cx="2377440" cy="2377440"/>
          </a:xfrm>
          <a:prstGeom prst="ellipse">
            <a:avLst/>
          </a:prstGeom>
          <a:solidFill>
            <a:srgbClr val="FFF7C7"/>
          </a:solidFill>
          <a:ln w="12700">
            <a:solidFill>
              <a:srgbClr val="E8EDF2"/>
            </a:solidFill>
            <a:prstDash val="solid"/>
          </a:ln>
        </p:spPr>
      </p:sp>
      <p:sp>
        <p:nvSpPr>
          <p:cNvPr id="13" name="Text 11"/>
          <p:cNvSpPr/>
          <p:nvPr/>
        </p:nvSpPr>
        <p:spPr>
          <a:xfrm>
            <a:off x="4764024" y="2240280"/>
            <a:ext cx="1865376" cy="640080"/>
          </a:xfrm>
          <a:prstGeom prst="rect">
            <a:avLst/>
          </a:prstGeom>
          <a:noFill/>
          <a:ln/>
        </p:spPr>
        <p:txBody>
          <a:bodyPr wrap="square" lIns="0" tIns="0" rIns="0" bIns="0" rtlCol="0" anchor="ctr">
            <a:normAutofit/>
          </a:bodyPr>
          <a:lstStyle/>
          <a:p>
            <a:pPr algn="ctr" indent="0" marL="0">
              <a:buNone/>
            </a:pPr>
            <a:r>
              <a:rPr lang="en-US" sz="1700" b="1" dirty="0">
                <a:solidFill>
                  <a:srgbClr val="3A3D46"/>
                </a:solidFill>
                <a:latin typeface="Aptos Display" pitchFamily="34" charset="0"/>
                <a:ea typeface="Aptos Display" pitchFamily="34" charset="-122"/>
                <a:cs typeface="Aptos Display" pitchFamily="34" charset="-120"/>
              </a:rPr>
              <a:t>Spätere Leistungsdifferenzierung</a:t>
            </a:r>
            <a:endParaRPr lang="en-US" sz="1700" dirty="0"/>
          </a:p>
        </p:txBody>
      </p:sp>
      <p:sp>
        <p:nvSpPr>
          <p:cNvPr id="14" name="Text 12"/>
          <p:cNvSpPr/>
          <p:nvPr/>
        </p:nvSpPr>
        <p:spPr>
          <a:xfrm>
            <a:off x="4672584" y="4343400"/>
            <a:ext cx="2057400" cy="914400"/>
          </a:xfrm>
          <a:prstGeom prst="rect">
            <a:avLst/>
          </a:prstGeom>
          <a:noFill/>
          <a:ln/>
        </p:spPr>
        <p:txBody>
          <a:bodyPr wrap="square" lIns="0" tIns="0" rIns="0" bIns="0" rtlCol="0" anchor="ctr">
            <a:normAutofit/>
          </a:bodyPr>
          <a:lstStyle/>
          <a:p>
            <a:pPr algn="ctr" indent="0" marL="0">
              <a:buNone/>
            </a:pPr>
            <a:r>
              <a:rPr lang="en-US" sz="1300" dirty="0">
                <a:solidFill>
                  <a:srgbClr val="6B7280"/>
                </a:solidFill>
                <a:latin typeface="Aptos" pitchFamily="34" charset="0"/>
                <a:ea typeface="Aptos" pitchFamily="34" charset="-122"/>
                <a:cs typeface="Aptos" pitchFamily="34" charset="-120"/>
              </a:rPr>
              <a:t>mehr Zeit für Entwicklung und fundiertere Bildungsentscheidungen geben</a:t>
            </a:r>
            <a:endParaRPr lang="en-US" sz="1300" dirty="0"/>
          </a:p>
        </p:txBody>
      </p:sp>
      <p:sp>
        <p:nvSpPr>
          <p:cNvPr id="15" name="Shape 13"/>
          <p:cNvSpPr/>
          <p:nvPr/>
        </p:nvSpPr>
        <p:spPr>
          <a:xfrm>
            <a:off x="7964424" y="1737360"/>
            <a:ext cx="2377440" cy="2377440"/>
          </a:xfrm>
          <a:prstGeom prst="ellipse">
            <a:avLst/>
          </a:prstGeom>
          <a:solidFill>
            <a:srgbClr val="FFD9E8"/>
          </a:solidFill>
          <a:ln w="12700">
            <a:solidFill>
              <a:srgbClr val="E8EDF2"/>
            </a:solidFill>
            <a:prstDash val="solid"/>
          </a:ln>
        </p:spPr>
      </p:sp>
      <p:sp>
        <p:nvSpPr>
          <p:cNvPr id="16" name="Text 14"/>
          <p:cNvSpPr/>
          <p:nvPr/>
        </p:nvSpPr>
        <p:spPr>
          <a:xfrm>
            <a:off x="8220456" y="2240280"/>
            <a:ext cx="1865376" cy="640080"/>
          </a:xfrm>
          <a:prstGeom prst="rect">
            <a:avLst/>
          </a:prstGeom>
          <a:noFill/>
          <a:ln/>
        </p:spPr>
        <p:txBody>
          <a:bodyPr wrap="square" lIns="0" tIns="0" rIns="0" bIns="0" rtlCol="0" anchor="ctr">
            <a:normAutofit/>
          </a:bodyPr>
          <a:lstStyle/>
          <a:p>
            <a:pPr algn="ctr" indent="0" marL="0">
              <a:buNone/>
            </a:pPr>
            <a:r>
              <a:rPr lang="en-US" sz="1700" b="1" dirty="0">
                <a:solidFill>
                  <a:srgbClr val="3A3D46"/>
                </a:solidFill>
                <a:latin typeface="Aptos Display" pitchFamily="34" charset="0"/>
                <a:ea typeface="Aptos Display" pitchFamily="34" charset="-122"/>
                <a:cs typeface="Aptos Display" pitchFamily="34" charset="-120"/>
              </a:rPr>
              <a:t>Alternative Bewertungsformen</a:t>
            </a:r>
            <a:endParaRPr lang="en-US" sz="1700" dirty="0"/>
          </a:p>
        </p:txBody>
      </p:sp>
      <p:sp>
        <p:nvSpPr>
          <p:cNvPr id="17" name="Text 15"/>
          <p:cNvSpPr/>
          <p:nvPr/>
        </p:nvSpPr>
        <p:spPr>
          <a:xfrm>
            <a:off x="8129016" y="4343400"/>
            <a:ext cx="2057400" cy="914400"/>
          </a:xfrm>
          <a:prstGeom prst="rect">
            <a:avLst/>
          </a:prstGeom>
          <a:noFill/>
          <a:ln/>
        </p:spPr>
        <p:txBody>
          <a:bodyPr wrap="square" lIns="0" tIns="0" rIns="0" bIns="0" rtlCol="0" anchor="ctr">
            <a:normAutofit/>
          </a:bodyPr>
          <a:lstStyle/>
          <a:p>
            <a:pPr algn="ctr" indent="0" marL="0">
              <a:buNone/>
            </a:pPr>
            <a:r>
              <a:rPr lang="en-US" sz="1300" dirty="0">
                <a:solidFill>
                  <a:srgbClr val="6B7280"/>
                </a:solidFill>
                <a:latin typeface="Aptos" pitchFamily="34" charset="0"/>
                <a:ea typeface="Aptos" pitchFamily="34" charset="-122"/>
                <a:cs typeface="Aptos" pitchFamily="34" charset="-120"/>
              </a:rPr>
              <a:t>Lernfeedback, Portfolioarbeit und projektbasierte Bewertung ergänzen klassische Noten</a:t>
            </a:r>
            <a:endParaRPr lang="en-US" sz="1300" dirty="0"/>
          </a:p>
        </p:txBody>
      </p:sp>
    </p:spTree>
  </p:cSld>
  <p:clrMapOvr>
    <a:masterClrMapping/>
  </p:clrMapOvr>
  <p:transition spd="slow">
    <p:wheel/>
  </p:transition>
  <p:timing>
    <p:bldLst>
      <p:bldP spid="10" grpId="0" build="p" advAuto="250"/>
      <p:bldP spid="13" grpId="1" build="p" advAuto="250"/>
      <p:bldP spid="16" grpId="2" build="p" advAuto="250"/>
    </p:bldLst>
  </p:timing>
</p:sld>
</file>

<file path=ppt/slides/slide11.xml><?xml version="1.0" encoding="utf-8"?>
<p:sld xmlns:a="http://schemas.openxmlformats.org/drawingml/2006/main" xmlns:ns3="http://schemas.microsoft.com/office/drawing/2016/SVG/main" xmlns:p="http://schemas.openxmlformats.org/presentationml/2006/main" xmlns:r="http://schemas.openxmlformats.org/officeDocument/2006/relationships">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0" y="4800600"/>
            <a:ext cx="2560320" cy="1920240"/>
          </a:xfrm>
          <a:prstGeom prst="ellipse">
            <a:avLst/>
          </a:prstGeom>
          <a:solidFill>
            <a:srgbClr val="FFD9E8">
              <a:alpha val="88000"/>
            </a:srgbClr>
          </a:solidFill>
          <a:ln w="12700">
            <a:solidFill>
              <a:srgbClr val="FFD9E8">
                <a:alpha val="0"/>
              </a:srgbClr>
            </a:solidFill>
            <a:prstDash val="solid"/>
          </a:ln>
        </p:spPr>
      </p:sp>
      <p:sp>
        <p:nvSpPr>
          <p:cNvPr id="3" name="Shape 1"/>
          <p:cNvSpPr/>
          <p:nvPr/>
        </p:nvSpPr>
        <p:spPr>
          <a:xfrm>
            <a:off x="9784080" y="-228600"/>
            <a:ext cx="1645920" cy="1280160"/>
          </a:xfrm>
          <a:prstGeom prst="ellipse">
            <a:avLst/>
          </a:prstGeom>
          <a:solidFill>
            <a:srgbClr val="CFEFFF">
              <a:alpha val="90000"/>
            </a:srgbClr>
          </a:solidFill>
          <a:ln w="12700">
            <a:solidFill>
              <a:srgbClr val="CFEFFF">
                <a:alpha val="0"/>
              </a:srgbClr>
            </a:solidFill>
            <a:prstDash val="solid"/>
          </a:ln>
        </p:spPr>
      </p:sp>
      <p:sp>
        <p:nvSpPr>
          <p:cNvPr id="4" name="Shape 2"/>
          <p:cNvSpPr/>
          <p:nvPr/>
        </p:nvSpPr>
        <p:spPr>
          <a:xfrm>
            <a:off x="8046720" y="5120640"/>
            <a:ext cx="1920240" cy="1463040"/>
          </a:xfrm>
          <a:prstGeom prst="ellipse">
            <a:avLst/>
          </a:prstGeom>
          <a:solidFill>
            <a:srgbClr val="FFF7C7">
              <a:alpha val="92000"/>
            </a:srgbClr>
          </a:solidFill>
          <a:ln w="12700">
            <a:solidFill>
              <a:srgbClr val="FFF7C7">
                <a:alpha val="0"/>
              </a:srgbClr>
            </a:solidFill>
            <a:prstDash val="solid"/>
          </a:ln>
        </p:spPr>
      </p:sp>
      <p:sp>
        <p:nvSpPr>
          <p:cNvPr id="5" name="Shape 3"/>
          <p:cNvSpPr/>
          <p:nvPr/>
        </p:nvSpPr>
        <p:spPr>
          <a:xfrm>
            <a:off x="640080" y="411480"/>
            <a:ext cx="2926080" cy="384048"/>
          </a:xfrm>
          <a:prstGeom prst="roundRect">
            <a:avLst>
              <a:gd name="adj" fmla="val 47619"/>
            </a:avLst>
          </a:prstGeom>
          <a:solidFill>
            <a:srgbClr val="FFFFFF"/>
          </a:solidFill>
          <a:ln w="12700">
            <a:solidFill>
              <a:srgbClr val="E8EDF2"/>
            </a:solidFill>
            <a:prstDash val="solid"/>
          </a:ln>
        </p:spPr>
      </p:sp>
      <p:sp>
        <p:nvSpPr>
          <p:cNvPr id="6" name="Text 4"/>
          <p:cNvSpPr/>
          <p:nvPr/>
        </p:nvSpPr>
        <p:spPr>
          <a:xfrm>
            <a:off x="786384" y="484632"/>
            <a:ext cx="2651760" cy="201168"/>
          </a:xfrm>
          <a:prstGeom prst="rect">
            <a:avLst/>
          </a:prstGeom>
          <a:noFill/>
          <a:ln/>
        </p:spPr>
        <p:txBody>
          <a:bodyPr wrap="square" lIns="0" tIns="0" rIns="0" bIns="0" rtlCol="0" anchor="ctr"/>
          <a:lstStyle/>
          <a:p>
            <a:pPr indent="0" marL="0">
              <a:buNone/>
            </a:pPr>
            <a:r>
              <a:rPr lang="en-US" sz="1100" b="1" dirty="0">
                <a:solidFill>
                  <a:srgbClr val="6B7280"/>
                </a:solidFill>
                <a:latin typeface="Aptos" pitchFamily="34" charset="0"/>
                <a:ea typeface="Aptos" pitchFamily="34" charset="-122"/>
                <a:cs typeface="Aptos" pitchFamily="34" charset="-120"/>
              </a:rPr>
              <a:t>Fazit</a:t>
            </a:r>
            <a:endParaRPr lang="en-US" sz="1100" dirty="0"/>
          </a:p>
        </p:txBody>
      </p:sp>
      <p:sp>
        <p:nvSpPr>
          <p:cNvPr id="7" name="Text 5"/>
          <p:cNvSpPr/>
          <p:nvPr/>
        </p:nvSpPr>
        <p:spPr>
          <a:xfrm>
            <a:off x="640080" y="1005840"/>
            <a:ext cx="5852160" cy="868680"/>
          </a:xfrm>
          <a:prstGeom prst="rect">
            <a:avLst/>
          </a:prstGeom>
          <a:noFill/>
          <a:ln/>
        </p:spPr>
        <p:txBody>
          <a:bodyPr wrap="square" lIns="0" tIns="0" rIns="0" bIns="0" rtlCol="0" anchor="ctr">
            <a:normAutofit/>
          </a:bodyPr>
          <a:lstStyle/>
          <a:p>
            <a:pPr indent="0" marL="0">
              <a:buNone/>
            </a:pPr>
            <a:r>
              <a:rPr lang="en-US" sz="2700" b="1" dirty="0">
                <a:solidFill>
                  <a:srgbClr val="3A3D46"/>
                </a:solidFill>
                <a:latin typeface="Aptos Display" pitchFamily="34" charset="0"/>
                <a:ea typeface="Aptos Display" pitchFamily="34" charset="-122"/>
                <a:cs typeface="Aptos Display" pitchFamily="34" charset="-120"/>
              </a:rPr>
              <a:t>Schule beeinflusst mehr als nur Noten.</a:t>
            </a:r>
            <a:endParaRPr lang="en-US" sz="2700" dirty="0"/>
          </a:p>
        </p:txBody>
      </p:sp>
      <p:sp>
        <p:nvSpPr>
          <p:cNvPr id="8" name="Text 6"/>
          <p:cNvSpPr/>
          <p:nvPr/>
        </p:nvSpPr>
        <p:spPr>
          <a:xfrm>
            <a:off x="868680" y="2148840"/>
            <a:ext cx="5303520" cy="1920240"/>
          </a:xfrm>
          <a:prstGeom prst="rect">
            <a:avLst/>
          </a:prstGeom>
          <a:noFill/>
          <a:ln/>
        </p:spPr>
        <p:txBody>
          <a:bodyPr wrap="square" lIns="0" tIns="0" rIns="0" bIns="0" rtlCol="0" anchor="ctr"/>
          <a:lstStyle/>
          <a:p>
            <a:pPr marL="228600" indent="-228600">
              <a:buSzPct val="100000"/>
              <a:buChar char="•"/>
            </a:pPr>
            <a:r>
              <a:rPr lang="en-US" sz="2000" dirty="0">
                <a:solidFill>
                  <a:srgbClr val="3A3D46"/>
                </a:solidFill>
              </a:rPr>
              <a:t>Strukturen wirken auf das Wohlbefinden.</a:t>
            </a:r>
            <a:endParaRPr lang="en-US" sz="2000" dirty="0"/>
          </a:p>
          <a:p>
            <a:pPr marL="228600" indent="-228600">
              <a:buSzPct val="100000"/>
              <a:buChar char="•"/>
            </a:pPr>
            <a:r>
              <a:rPr lang="en-US" sz="2000" dirty="0">
                <a:solidFill>
                  <a:srgbClr val="3A3D46"/>
                </a:solidFill>
              </a:rPr>
              <a:t>Leistungsdruck und Schulklima spielen eine zentrale Rolle.</a:t>
            </a:r>
            <a:endParaRPr lang="en-US" sz="2000" dirty="0"/>
          </a:p>
          <a:p>
            <a:pPr marL="228600" indent="-228600">
              <a:buSzPct val="100000"/>
              <a:buChar char="•"/>
            </a:pPr>
            <a:r>
              <a:rPr lang="en-US" sz="2000" dirty="0">
                <a:solidFill>
                  <a:srgbClr val="3A3D46"/>
                </a:solidFill>
              </a:rPr>
              <a:t>Reformen könnten Bildung und Glück stärker miteinander verbinden.</a:t>
            </a:r>
            <a:endParaRPr lang="en-US" sz="2000" dirty="0"/>
          </a:p>
        </p:txBody>
      </p:sp>
      <p:sp>
        <p:nvSpPr>
          <p:cNvPr id="9" name="Text 7"/>
          <p:cNvSpPr/>
          <p:nvPr/>
        </p:nvSpPr>
        <p:spPr>
          <a:xfrm>
            <a:off x="868680" y="4754880"/>
            <a:ext cx="4480560" cy="384048"/>
          </a:xfrm>
          <a:prstGeom prst="rect">
            <a:avLst/>
          </a:prstGeom>
          <a:noFill/>
          <a:ln/>
        </p:spPr>
        <p:txBody>
          <a:bodyPr wrap="square" lIns="0" tIns="0" rIns="0" bIns="0" rtlCol="0" anchor="ctr"/>
          <a:lstStyle/>
          <a:p>
            <a:pPr indent="0" marL="0">
              <a:buNone/>
            </a:pPr>
            <a:r>
              <a:rPr lang="en-US" sz="1800" b="1" dirty="0">
                <a:solidFill>
                  <a:srgbClr val="3A3D46"/>
                </a:solidFill>
                <a:latin typeface="Aptos" pitchFamily="34" charset="0"/>
                <a:ea typeface="Aptos" pitchFamily="34" charset="-122"/>
                <a:cs typeface="Aptos" pitchFamily="34" charset="-120"/>
              </a:rPr>
              <a:t>Danke für eure Aufmerksamkeit!</a:t>
            </a:r>
            <a:endParaRPr lang="en-US" sz="1800" dirty="0"/>
          </a:p>
        </p:txBody>
      </p:sp>
      <p:sp>
        <p:nvSpPr>
          <p:cNvPr id="10" name="Shape 8"/>
          <p:cNvSpPr/>
          <p:nvPr/>
        </p:nvSpPr>
        <p:spPr>
          <a:xfrm>
            <a:off x="6492240" y="1380744"/>
            <a:ext cx="4892040" cy="4343400"/>
          </a:xfrm>
          <a:prstGeom prst="roundRect">
            <a:avLst>
              <a:gd name="adj" fmla="val 4632"/>
            </a:avLst>
          </a:prstGeom>
          <a:solidFill>
            <a:srgbClr val="3A3D46">
              <a:alpha val="8000"/>
            </a:srgbClr>
          </a:solidFill>
          <a:ln w="12700">
            <a:solidFill>
              <a:srgbClr val="D8DEE8">
                <a:alpha val="0"/>
              </a:srgbClr>
            </a:solidFill>
            <a:prstDash val="solid"/>
          </a:ln>
        </p:spPr>
      </p:sp>
      <p:sp>
        <p:nvSpPr>
          <p:cNvPr id="11" name="Shape 9"/>
          <p:cNvSpPr/>
          <p:nvPr/>
        </p:nvSpPr>
        <p:spPr>
          <a:xfrm>
            <a:off x="6446520" y="1325880"/>
            <a:ext cx="4892040" cy="4343400"/>
          </a:xfrm>
          <a:prstGeom prst="roundRect">
            <a:avLst>
              <a:gd name="adj" fmla="val 4632"/>
            </a:avLst>
          </a:prstGeom>
          <a:solidFill>
            <a:srgbClr val="FFFFFF"/>
          </a:solidFill>
          <a:ln w="12700">
            <a:solidFill>
              <a:srgbClr val="E8EDF2"/>
            </a:solidFill>
            <a:prstDash val="solid"/>
          </a:ln>
        </p:spPr>
      </p:sp>
      <p:sp>
        <p:nvSpPr>
          <p:cNvPr id="12" name="Shape 10"/>
          <p:cNvSpPr/>
          <p:nvPr/>
        </p:nvSpPr>
        <p:spPr>
          <a:xfrm>
            <a:off x="6611112" y="1490472"/>
            <a:ext cx="4562856" cy="4014216"/>
          </a:xfrm>
          <a:prstGeom prst="roundRect">
            <a:avLst>
              <a:gd name="adj" fmla="val 4100"/>
            </a:avLst>
          </a:prstGeom>
          <a:solidFill>
            <a:srgbClr val="FFF7C7">
              <a:alpha val="90000"/>
            </a:srgbClr>
          </a:solidFill>
          <a:ln w="12700">
            <a:solidFill>
              <a:srgbClr val="FFF7C7">
                <a:alpha val="0"/>
              </a:srgbClr>
            </a:solidFill>
            <a:prstDash val="solid"/>
          </a:ln>
        </p:spPr>
      </p:sp>
      <p:pic>
        <p:nvPicPr>
          <p:cNvPr id="13" name="Image 0" descr="/workspace/assets/generated/calm-future-school.svg">    </p:cNvPr>
          <p:cNvPicPr>
            <a:picLocks noChangeAspect="1"/>
          </p:cNvPicPr>
          <p:nvPr/>
        </p:nvPicPr>
        <p:blipFill>
          <a:blip r:embed="rId1">
            <a:extLst>
              <a:ext uri="{96DAC541-7B7A-43D3-8B79-37D633B846F1}">
                <ns3:svgBlip r:embed="rId2"/>
              </a:ext>
            </a:extLst>
          </a:blip>
          <a:stretch>
            <a:fillRect/>
          </a:stretch>
        </p:blipFill>
        <p:spPr>
          <a:xfrm>
            <a:off x="6611112" y="1490472"/>
            <a:ext cx="4562856" cy="4014216"/>
          </a:xfrm>
          <a:prstGeom prst="rect">
            <a:avLst/>
          </a:prstGeom>
        </p:spPr>
      </p:pic>
    </p:spTree>
  </p:cSld>
  <p:clrMapOvr>
    <a:masterClrMapping/>
  </p:clrMapOvr>
  <p:transition spd="slow">
    <p:fade/>
  </p:transition>
  <p:timing>
    <p:bldLst>
      <p:bldP spid="7" grpId="0" build="p" advAuto="250"/>
      <p:bldP spid="8" grpId="1" build="p" advAuto="250"/>
      <p:bldP spid="9" grpId="2" build="p" advAuto="25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Cursor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Wie Schule wirkt</dc:title>
  <dc:subject>Präsentation zur Facharbeit im Seminarfachkurs Glück</dc:subject>
  <dc:creator>Cursor</dc:creator>
  <cp:lastModifiedBy>Cursor</cp:lastModifiedBy>
  <cp:revision>1</cp:revision>
  <dcterms:created xsi:type="dcterms:W3CDTF">2026-06-14T14:46:52Z</dcterms:created>
  <dcterms:modified xsi:type="dcterms:W3CDTF">2026-06-14T14:46:52Z</dcterms:modified>
</cp:coreProperties>
</file>