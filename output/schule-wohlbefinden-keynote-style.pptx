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stelle heute meine Facharbeit mit dem Titel "Wie Schule wirkt" vor. Im Mittelpunkt steht die Frage, wie strukturelle Unterschiede im deutschen Schulsystem das Wohlbefinden von Schülerinnen und Schülern beeinflussen. Dabei geht es also nicht nur um Noten oder Abschlüsse, sondern auch um Stress, Motivation, Selbstwertgefühl und die Frage, wie Schule im Alltag erlebt wird. Meine Arbeit zeigt, dass Schule zugleich Bildungsort und Lebensraum ist. Genau deshalb lohnt es sich, Schulstrukturen nicht nur aus der Perspektive von Leistung zu betrachten, sondern auch mit Blick auf psychische und soziale Folgen. Im Vortrag gehe ich deshalb zuerst auf die Relevanz des Themas ein, dann auf zentrale Begriffe, anschließend auf das deutsche Schulsystem, Belastungsfaktoren, internationale Vergleiche und mögliche Reformansätze. So lässt sich am Ende die Leitfrage klar beantworten. Damit beginne ich jetzt mit der Frage, warum dieses Thema überhaupt so wichtig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Thema ist wichtig, weil Schule einen großen Teil des Alltags von Kindern und Jugendlichen bestimmt. In meiner Facharbeit wird deutlich, dass Schule nicht nur Wissen vermittelt, sondern auch Bildungs- und Berufswege beeinflusst. Gleichzeitig erleben viele Jugendliche schulische Anforderungen als Belastung. Die Arbeit verweist dabei auf Leistungsdruck, Prüfungsstress und soziale Vergleichsprozesse als wichtige Stressfaktoren. Genau deshalb spielt Wohlbefinden in der Schule eine zentrale Rolle: Wer sich dauerhaft unter Druck, unsicher oder wenig unterstützt fühlt, lernt unter anderen Bedingungen als jemand, der Schule als sicheren und motivierenden Ort erlebt. Das Wohlbefinden ist also kein Nebenaspekt, sondern eng mit Motivation, Lernprozessen und Entwicklung verbunden. Aus dieser Relevanz ergibt sich die Leitfrage meiner Facharbeit: Inwiefern beeinflussen strukturelle Unterschiede im deutschen Schulsystem das Wohlbefinden von Schülerinnen und Schülern? Um diese Frage beantworten zu können, müssen zuerst einige grundlegende Begriffe geklärt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die Facharbeit waren drei Grundbegriffe besonders wichtig. Erstens die Strukturmerkmale von Schule: Dazu gehören zum Beispiel die verschiedenen Schulformen, das Notensystem, Versetzungsregelungen und Abschlüsse. Diese Rahmenbedingungen prägen den schulischen Alltag und beeinflussen Bildungswege. Zweitens das Wohlbefinden. In der Arbeit wird es als psychische und soziale Größe verstanden, also etwa als Lebenszufriedenheit, emotionale Sicherheit, soziale Einbindung und psychische Gesundheit. Es geht damit deutlich über reine Leistung hinaus. Drittens die Bildungsgerechtigkeit. Damit ist gemeint, dass Bildungszugänge und Chancen fair verteilt sein sollten und nicht stark von der sozialen Herkunft abhängen. Genau hier zeigt sich ein wichtiger Zusammenhang: Wenn Strukturen sozial selektiv wirken, beeinflussen sie nicht nur Erfolgschancen, sondern oft auch das Selbstbild und das Wohlbefinden. Mit diesen Begriffen im Hintergrund kann man nun das deutsche Schulsystem gezielter betrachten.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deutsche Schulsystem ist traditionell mehrgliedrig. Nach der Grundschule werden Schülerinnen und Schüler in verschiedene Bildungswege aufgeteilt. Das Gymnasium ist stärker akademisch ausgerichtet und führt zum Abitur, bringt aber oft auch hohe Leistungsanforderungen mit sich. Die Realschule verbindet allgemeinbildende Inhalte mit mehr Praxisorientierung und eröffnet unterschiedliche Anschlussmöglichkeiten. Die Hauptschule war besonders auf praktische und berufliche Wege ausgerichtet, wird heute aber häufig kritisch gesehen, unter anderem wegen möglicher Stigmatisierung. Die Gesamtschule setzt auf längeres gemeinsames Lernen und versucht, Unterschiede stärker innerhalb einer Schule auszugleichen. Dazu kommen berufliche Schulen, die im dualen System eng mit Betrieben zusammenarbeiten. In meiner Facharbeit wird deutlich, dass diese Struktur sowohl Chancen als auch Probleme mit sich bringt. Besonders wichtig ist nun die Frage, wie sich diese Organisation auf Druck und Wohlbefinden im Schulalltag auswirkt.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zentrales Ergebnis meiner Facharbeit ist, dass Leistungsdruck das Wohlbefinden deutlich beeinflussen kann. Auslöser sind vor allem Noten, Prüfungen, Konkurrenzsituationen und hohe Erwartungen von außen. Schulische Leistungen sind eng mit Bildungs- und Berufschancen verbunden, deshalb werden Anforderungen oft als besonders folgenreich erlebt. Gleichzeitig zeigt die Arbeit, dass die Folgen sehr unterschiedlich ausfallen können. Häufig genannt werden Stress, Schlafprobleme, Unsicherheit und ein geringeres Selbstwertgefühl. Besonders problematisch wird es, wenn schulischer Erfolg stark mit persönlichem Wert verknüpft wird oder Misserfolge sich wiederholen. Wichtig ist aber auch: Leistungsanforderungen werden nicht nur negativ erlebt. Manche Schülerinnen und Schüler empfinden sie durchaus als motivierend. Genau deshalb lautet der Merksatz auf dieser Folie, dass Leistungsdruck Motivation fördern kann, aber eben auch das Wohlbefinden beeinträchtigt. Neben Druck spielt jedoch noch ein zweiter großer Faktor eine Rolle: das Schulklima.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Neben Leistungsanforderungen ist das soziale Umfeld der Schule entscheidend. In der Facharbeit wird das Schulklima als Qualität der Beziehungen, als Atmosphäre und als Gefühl von Sicherheit und Zugehörigkeit beschrieben. Besonders wichtig ist das Lehrer-Schüler-Verhältnis. Wenn Lehrkräfte respektvoll, unterstützend und verlässlich handeln, kann das Stress reduzieren und Lernmotivation fördern. Ein weiterer Punkt ist die Mitbestimmung. Beteiligungsmöglichkeiten wie Schülervertretungen, Klassenräte oder Projekte stärken das Gefühl, selbst etwas bewirken zu können. Das ist für die Selbstwirksamkeit von Schülerinnen und Schülern sehr bedeutsam. Hinzu kommt die Feedbackkultur. Die Arbeit zeigt, dass nicht nur Noten wichtig sind, sondern auch qualitative Rückmeldungen, die Lernfortschritte sichtbar machen und individuelle Entwicklung stärker berücksichtigen. Ein positives Schulklima kann das Wohlbefinden also aktiv fördern. Nachdem wir nun Druck und Beziehungen betrachtet haben, möchte ich euch kurz direkt einbeziehen.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dieser Stelle würde ich gern kurz die Runde einbeziehen. Die Frage lautet: Was beeinflusst euer Wohlbefinden in der Schule am stärksten? Ist es eher der Notendruck, sind es die Lehrkräfte, die Mitschülerinnen und Mitschüler oder der allgemeine Zeitstress? Hier würde ich kurz um ein Handzeichen bitten. Diese kleine Umfrage passt gut zur Facharbeit, weil dort deutlich wird, dass sich Wohlbefinden nie nur aus einem einzigen Faktor ergibt. Vielmehr wirken mehrere Aspekte zusammen. Leistungsdruck, Schulklima, soziale Beziehungen und schulische Anforderungen greifen ineinander. Genau deshalb ist die Frage nach Schulstruktur so spannend: Strukturen formen nicht nur Unterricht, sondern auch Erfahrungen. Nach dieser kurzen Aktivierung schaue ich im nächsten Schritt auf andere Länder. Der internationale Vergleich hilft dabei, das deutsche System besser einzuordnen und mögliche Alternativen sichtbar zu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internationale Vergleich zeigt, dass es auch andere Wege gibt, Schule zu organisieren. Deutschland ist durch eine frühe Aufteilung und eine starke Rolle von Noten und Prüfungen geprägt. Finnland setzt dagegen auf längeres gemeinsames Lernen und eine spätere Leistungsdifferenzierung. In der Facharbeit wird hervorgehoben, dass dadurch soziale Unterschiede teilweise geringer ausfallen können. Angelsächsische Systeme arbeiten häufig mit gemeinsamen Schulen, mehr Wahlmöglichkeiten und stärkerer Praxisorientierung. Dabei können Schülerinnen und Schüler zum Teil früher eigene Schwerpunkte setzen. Gleichzeitig macht die Arbeit aber auch klar, dass kein System perfekt ist. Jedes Bildungssystem muss unterschiedliche gesellschaftliche Anforderungen erfüllen. Entscheidend ist also nicht, ein Land einfach zu kopieren, sondern zu verstehen, welche strukturellen Entscheidungen das Wohlbefinden eher fördern und welche eher Druck verstärken. Mit diesem Vergleich im Blick lassen sich die Stärken und Schwächen des deutschen Systems nun genauer bewerten.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der kritischen Bewertung meiner Facharbeit zeigt sich ein gemischtes Bild. Zu den Stärken des deutschen Bildungssystems gehört, dass es verschiedene Bildungswege gibt. Dadurch können unterschiedliche Fähigkeiten und Interessen grundsätzlich berücksichtigt werden. Besonders positiv wird außerdem das duale Ausbildungssystem bewertet, weil es schulische Bildung mit praktischer Ausbildung verbindet und den Übergang in den Arbeitsmarkt erleichtert. Auch die hohen akademischen Standards, vor allem im Gymnasium, werden als Stärke genannt. Dem stehen jedoch deutliche Schwächen gegenüber. Kritisch ist vor allem die frühe Selektion, weil Bildungsentscheidungen in einem Alter getroffen werden, in dem soziale Einflüsse sehr stark wirken. Hinzu kommen Leistungsdruck und soziale Ungleichheiten. Die Arbeit zeigt also: Das System ist nicht einfach gut oder schlecht, sondern widersprüchlich. Genau daraus leitet sich die Frage ab, welche Reformen denkbar wären, um Bildungsqualität und Wohlbefinden besser zusammenzubringen.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Facharbeit diskutiert drei zentrale Reformansätze. Erstens mehr Lebenskompetenzen im Curriculum. Gemeint sind zum Beispiel finanzielle Grundbildung, Medienkompetenz und praktische Alltagsfähigkeiten. Solche Inhalte könnten Schule für viele Jugendliche lebensnäher machen. Zweitens eine spätere Leistungsdifferenzierung. Wenn Schülerinnen und Schüler länger gemeinsam lernen, hätten sie mehr Zeit, Fähigkeiten zu entwickeln und fundiertere Bildungsentscheidungen zu treffen. Drittens alternative Bewertungsformen. Neben klassischen Noten könnten ausführlichere Lernfeedbacks, Portfolioarbeit oder projektbasierte Bewertungen stärker genutzt werden. Der gemeinsame Gedanke hinter allen drei Ansätzen ist, Lernen weniger eng auf Prüfungsergebnisse zu verengen und individuelle Entwicklung stärker mitzudenken. Reformen sollen also nicht Leistung abschaffen, sondern Schule ausgewogener gestalten. Damit komme ich zum Schluss und zur eigentlichen Antwort auf die Leitfrage meiner Facharbeit.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Zusammenfassend lässt sich sagen: Schule beeinflusst deutlich mehr als nur Noten. Erstens wirken schulische Strukturen unmittelbar auf das Wohlbefinden, weil sie Lernbedingungen, Vergleichssituationen und Bildungswege mitbestimmen. Zweitens spielen Leistungsdruck und Schulklima eine besonders zentrale Rolle. Sie entscheiden oft darüber, ob Schule als motivierender oder belastender Raum erlebt wird. Drittens zeigen die diskutierten Reformansätze, dass Bildung und Wohlbefinden stärker zusammengedacht werden könnten. Die Leitfrage meiner Facharbeit lässt sich also so beantworten: Strukturelle Unterschiede im deutschen Schulsystem beeinflussen das Wohlbefinden von Schülerinnen und Schülern in erheblichem Maß, sowohl durch frühe Selektion und Leistungsbewertung als auch durch Schulklima und Beteiligungsmöglichkeiten. Damit bin ich am Ende meiner Präsentation. Vielen Dank für eure Aufmerksamkeit.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0" y="-228600"/>
            <a:ext cx="2651760" cy="1280160"/>
          </a:xfrm>
          <a:prstGeom prst="ellipse">
            <a:avLst/>
          </a:prstGeom>
          <a:solidFill>
            <a:srgbClr val="CFEFFF">
              <a:alpha val="95000"/>
            </a:srgbClr>
          </a:solidFill>
          <a:ln w="12700">
            <a:solidFill>
              <a:srgbClr val="CFEFFF">
                <a:alpha val="0"/>
              </a:srgbClr>
            </a:solidFill>
            <a:prstDash val="solid"/>
          </a:ln>
        </p:spPr>
      </p:sp>
      <p:sp>
        <p:nvSpPr>
          <p:cNvPr id="3" name="Shape 1"/>
          <p:cNvSpPr/>
          <p:nvPr/>
        </p:nvSpPr>
        <p:spPr>
          <a:xfrm>
            <a:off x="10149840" y="5303520"/>
            <a:ext cx="2286000" cy="1005840"/>
          </a:xfrm>
          <a:prstGeom prst="ellipse">
            <a:avLst/>
          </a:prstGeom>
          <a:solidFill>
            <a:srgbClr val="FFD9E8">
              <a:alpha val="75000"/>
            </a:srgbClr>
          </a:solidFill>
          <a:ln w="12700">
            <a:solidFill>
              <a:srgbClr val="FFD9E8">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01</a:t>
            </a:r>
            <a:endParaRPr lang="en-US" sz="1000" dirty="0"/>
          </a:p>
        </p:txBody>
      </p:sp>
      <p:sp>
        <p:nvSpPr>
          <p:cNvPr id="6" name="Text 4"/>
          <p:cNvSpPr/>
          <p:nvPr/>
        </p:nvSpPr>
        <p:spPr>
          <a:xfrm>
            <a:off x="713232" y="566928"/>
            <a:ext cx="1737360"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Seminarfachkurs Glück</a:t>
            </a:r>
            <a:endParaRPr lang="en-US" sz="1050" dirty="0"/>
          </a:p>
        </p:txBody>
      </p:sp>
      <p:sp>
        <p:nvSpPr>
          <p:cNvPr id="7" name="Text 5"/>
          <p:cNvSpPr/>
          <p:nvPr/>
        </p:nvSpPr>
        <p:spPr>
          <a:xfrm>
            <a:off x="731520" y="1097280"/>
            <a:ext cx="5303520" cy="640080"/>
          </a:xfrm>
          <a:prstGeom prst="rect">
            <a:avLst/>
          </a:prstGeom>
          <a:noFill/>
          <a:ln/>
        </p:spPr>
        <p:txBody>
          <a:bodyPr wrap="square" lIns="0" tIns="0" rIns="0" bIns="0" rtlCol="0" anchor="ctr"/>
          <a:lstStyle/>
          <a:p>
            <a:pPr indent="0" marL="0">
              <a:buNone/>
            </a:pPr>
            <a:r>
              <a:rPr lang="en-US" sz="2700" b="1" dirty="0">
                <a:solidFill>
                  <a:srgbClr val="424242"/>
                </a:solidFill>
                <a:latin typeface="Avenir Next" pitchFamily="34" charset="0"/>
                <a:ea typeface="Avenir Next" pitchFamily="34" charset="-122"/>
                <a:cs typeface="Avenir Next" pitchFamily="34" charset="-120"/>
              </a:rPr>
              <a:t>Wie Schule wirkt:</a:t>
            </a:r>
            <a:endParaRPr lang="en-US" sz="2700" dirty="0"/>
          </a:p>
        </p:txBody>
      </p:sp>
      <p:sp>
        <p:nvSpPr>
          <p:cNvPr id="8" name="Text 6"/>
          <p:cNvSpPr/>
          <p:nvPr/>
        </p:nvSpPr>
        <p:spPr>
          <a:xfrm>
            <a:off x="731520" y="1737360"/>
            <a:ext cx="5394960" cy="1645920"/>
          </a:xfrm>
          <a:prstGeom prst="rect">
            <a:avLst/>
          </a:prstGeom>
          <a:noFill/>
          <a:ln/>
        </p:spPr>
        <p:txBody>
          <a:bodyPr wrap="square" lIns="0" tIns="0" rIns="0" bIns="0" rtlCol="0" anchor="ctr">
            <a:normAutofit/>
          </a:bodyPr>
          <a:lstStyle/>
          <a:p>
            <a:pPr indent="0" marL="0">
              <a:buNone/>
            </a:pPr>
            <a:r>
              <a:rPr lang="en-US" sz="2000" b="1" dirty="0">
                <a:solidFill>
                  <a:srgbClr val="424242"/>
                </a:solidFill>
                <a:latin typeface="Avenir Next" pitchFamily="34" charset="0"/>
                <a:ea typeface="Avenir Next" pitchFamily="34" charset="-122"/>
                <a:cs typeface="Avenir Next" pitchFamily="34" charset="-120"/>
              </a:rPr>
              <a:t>Strukturelle Unterschiede und ihr Effekt auf das Wohlbefinden von Schülerinnen und Schülern</a:t>
            </a:r>
            <a:endParaRPr lang="en-US" sz="2000" dirty="0"/>
          </a:p>
        </p:txBody>
      </p:sp>
      <p:sp>
        <p:nvSpPr>
          <p:cNvPr id="9" name="Text 7"/>
          <p:cNvSpPr/>
          <p:nvPr/>
        </p:nvSpPr>
        <p:spPr>
          <a:xfrm>
            <a:off x="731520" y="3429000"/>
            <a:ext cx="4297680" cy="329184"/>
          </a:xfrm>
          <a:prstGeom prst="rect">
            <a:avLst/>
          </a:prstGeom>
          <a:noFill/>
          <a:ln/>
        </p:spPr>
        <p:txBody>
          <a:bodyPr wrap="square" lIns="0" tIns="0" rIns="0" bIns="0" rtlCol="0" anchor="ctr"/>
          <a:lstStyle/>
          <a:p>
            <a:pPr indent="0" marL="0">
              <a:buNone/>
            </a:pPr>
            <a:r>
              <a:rPr lang="en-US" sz="1250" dirty="0">
                <a:solidFill>
                  <a:srgbClr val="6B7280"/>
                </a:solidFill>
                <a:latin typeface="Avenir Next" pitchFamily="34" charset="0"/>
                <a:ea typeface="Avenir Next" pitchFamily="34" charset="-122"/>
                <a:cs typeface="Avenir Next" pitchFamily="34" charset="-120"/>
              </a:rPr>
              <a:t>Präsentation auf Grundlage der Facharbeit</a:t>
            </a:r>
            <a:endParaRPr lang="en-US" sz="1250" dirty="0"/>
          </a:p>
        </p:txBody>
      </p:sp>
      <p:pic>
        <p:nvPicPr>
          <p:cNvPr id="10" name="Image 0" descr="/workspace/assets/generated/slide1-school-her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80760" y="713232"/>
            <a:ext cx="5349240" cy="5440680"/>
          </a:xfrm>
          <a:prstGeom prst="rect">
            <a:avLst/>
          </a:prstGeom>
        </p:spPr>
      </p:pic>
    </p:spTree>
  </p:cSld>
  <p:transition spd="slow">
    <p:fade/>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p:cTn id="9" dur="450" fill="hold"/>
                                        <p:tgtEl>
                                          <p:spTgt spid="6"/>
                                        </p:tgtEl>
                                        <p:attrNameLst>
                                          <p:attrName>ppt_w</p:attrName>
                                        </p:attrNameLst>
                                      </p:cBhvr>
                                      <p:tavLst>
                                        <p:tav tm="0">
                                          <p:val>
                                            <p:fltVal val="0"/>
                                          </p:val>
                                        </p:tav>
                                        <p:tav tm="100000">
                                          <p:val>
                                            <p:strVal val="#ppt_w"/>
                                          </p:val>
                                        </p:tav>
                                      </p:tavLst>
                                    </p:anim>
                                    <p:anim calcmode="lin" valueType="num">
                                      <p:cBhvr>
                                        <p:cTn id="10" dur="450" fill="hold"/>
                                        <p:tgtEl>
                                          <p:spTgt spid="6"/>
                                        </p:tgtEl>
                                        <p:attrNameLst>
                                          <p:attrName>ppt_h</p:attrName>
                                        </p:attrNameLst>
                                      </p:cBhvr>
                                      <p:tavLst>
                                        <p:tav tm="0">
                                          <p:val>
                                            <p:fltVal val="0"/>
                                          </p:val>
                                        </p:tav>
                                        <p:tav tm="100000">
                                          <p:val>
                                            <p:strVal val="#ppt_h"/>
                                          </p:val>
                                        </p:tav>
                                      </p:tavLst>
                                    </p:anim>
                                    <p:animEffect transition="in" filter="fade">
                                      <p:cBhvr>
                                        <p:cTn id="11"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10" presetClass="entr" presetSubtype="0"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450"/>
                                        <p:tgtEl>
                                          <p:spTgt spid="9"/>
                                        </p:tgtEl>
                                      </p:cBhvr>
                                    </p:animEffect>
                                  </p:childTnLst>
                                </p:cTn>
                              </p:par>
                            </p:childTnLst>
                          </p:cTn>
                        </p:par>
                        <p:par>
                          <p:cTn id="48" fill="hold">
                            <p:stCondLst>
                              <p:cond delay="2160"/>
                            </p:stCondLst>
                            <p:childTnLst>
                              <p:par>
                                <p:cTn id="49" presetID="53" presetClass="entr" presetSubtype="16"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 calcmode="lin" valueType="num">
                                      <p:cBhvr>
                                        <p:cTn id="53" dur="700" fill="hold"/>
                                        <p:tgtEl>
                                          <p:spTgt spid="10"/>
                                        </p:tgtEl>
                                        <p:attrNameLst>
                                          <p:attrName>ppt_w</p:attrName>
                                        </p:attrNameLst>
                                      </p:cBhvr>
                                      <p:tavLst>
                                        <p:tav tm="0">
                                          <p:val>
                                            <p:fltVal val="0"/>
                                          </p:val>
                                        </p:tav>
                                        <p:tav tm="100000">
                                          <p:val>
                                            <p:strVal val="#ppt_w"/>
                                          </p:val>
                                        </p:tav>
                                      </p:tavLst>
                                    </p:anim>
                                    <p:anim calcmode="lin" valueType="num">
                                      <p:cBhvr>
                                        <p:cTn id="54" dur="700" fill="hold"/>
                                        <p:tgtEl>
                                          <p:spTgt spid="10"/>
                                        </p:tgtEl>
                                        <p:attrNameLst>
                                          <p:attrName>ppt_h</p:attrName>
                                        </p:attrNameLst>
                                      </p:cBhvr>
                                      <p:tavLst>
                                        <p:tav tm="0">
                                          <p:val>
                                            <p:fltVal val="0"/>
                                          </p:val>
                                        </p:tav>
                                        <p:tav tm="100000">
                                          <p:val>
                                            <p:strVal val="#ppt_h"/>
                                          </p:val>
                                        </p:tav>
                                      </p:tavLst>
                                    </p:anim>
                                    <p:animEffect transition="in" filter="fade">
                                      <p:cBhvr>
                                        <p:cTn id="55" dur="7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75520" y="-182880"/>
            <a:ext cx="2377440" cy="1188720"/>
          </a:xfrm>
          <a:prstGeom prst="ellipse">
            <a:avLst/>
          </a:prstGeom>
          <a:solidFill>
            <a:srgbClr val="FFF7C7">
              <a:alpha val="90000"/>
            </a:srgbClr>
          </a:solidFill>
          <a:ln w="12700">
            <a:solidFill>
              <a:srgbClr val="FFF7C7">
                <a:alpha val="0"/>
              </a:srgbClr>
            </a:solidFill>
            <a:prstDash val="solid"/>
          </a:ln>
        </p:spPr>
      </p:sp>
      <p:sp>
        <p:nvSpPr>
          <p:cNvPr id="3" name="Shape 1"/>
          <p:cNvSpPr/>
          <p:nvPr/>
        </p:nvSpPr>
        <p:spPr>
          <a:xfrm>
            <a:off x="-365760" y="5257800"/>
            <a:ext cx="2651760" cy="1143000"/>
          </a:xfrm>
          <a:prstGeom prst="ellipse">
            <a:avLst/>
          </a:prstGeom>
          <a:solidFill>
            <a:srgbClr val="CFEFFF">
              <a:alpha val="75000"/>
            </a:srgbClr>
          </a:solidFill>
          <a:ln w="12700">
            <a:solidFill>
              <a:srgbClr val="CFEFFF">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02</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Relevanz</a:t>
            </a:r>
            <a:endParaRPr lang="en-US" sz="1100" dirty="0"/>
          </a:p>
        </p:txBody>
      </p:sp>
      <p:sp>
        <p:nvSpPr>
          <p:cNvPr id="7" name="Text 5"/>
          <p:cNvSpPr/>
          <p:nvPr/>
        </p:nvSpPr>
        <p:spPr>
          <a:xfrm>
            <a:off x="731520" y="786384"/>
            <a:ext cx="512064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Warum ist das Thema wichtig?</a:t>
            </a:r>
            <a:endParaRPr lang="en-US" sz="2400" dirty="0"/>
          </a:p>
        </p:txBody>
      </p:sp>
      <p:sp>
        <p:nvSpPr>
          <p:cNvPr id="8" name="Shape 6"/>
          <p:cNvSpPr/>
          <p:nvPr/>
        </p:nvSpPr>
        <p:spPr>
          <a:xfrm>
            <a:off x="731520" y="1417320"/>
            <a:ext cx="4800600" cy="2907792"/>
          </a:xfrm>
          <a:prstGeom prst="roundRect">
            <a:avLst>
              <a:gd name="adj" fmla="val 3774"/>
            </a:avLst>
          </a:prstGeom>
          <a:solidFill>
            <a:srgbClr val="FFFFFF"/>
          </a:solidFill>
          <a:ln w="12700">
            <a:solidFill>
              <a:srgbClr val="EEF0F5"/>
            </a:solidFill>
            <a:prstDash val="solid"/>
          </a:ln>
        </p:spPr>
      </p:sp>
      <p:sp>
        <p:nvSpPr>
          <p:cNvPr id="9" name="Text 7"/>
          <p:cNvSpPr/>
          <p:nvPr/>
        </p:nvSpPr>
        <p:spPr>
          <a:xfrm>
            <a:off x="987552" y="1783080"/>
            <a:ext cx="42062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Schule prägt den Alltag junger Menschen.</a:t>
            </a:r>
            <a:endParaRPr lang="en-US" sz="1500" dirty="0"/>
          </a:p>
        </p:txBody>
      </p:sp>
      <p:sp>
        <p:nvSpPr>
          <p:cNvPr id="10" name="Text 8"/>
          <p:cNvSpPr/>
          <p:nvPr/>
        </p:nvSpPr>
        <p:spPr>
          <a:xfrm>
            <a:off x="987552" y="2313432"/>
            <a:ext cx="42062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Bildung beeinflusst Bildungs- und Berufswege.</a:t>
            </a:r>
            <a:endParaRPr lang="en-US" sz="1500" dirty="0"/>
          </a:p>
        </p:txBody>
      </p:sp>
      <p:sp>
        <p:nvSpPr>
          <p:cNvPr id="11" name="Text 9"/>
          <p:cNvSpPr/>
          <p:nvPr/>
        </p:nvSpPr>
        <p:spPr>
          <a:xfrm>
            <a:off x="987552" y="2843784"/>
            <a:ext cx="42062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Leistungsdruck und Anforderungen werden oft als Belastung erlebt.</a:t>
            </a:r>
            <a:endParaRPr lang="en-US" sz="1500" dirty="0"/>
          </a:p>
        </p:txBody>
      </p:sp>
      <p:sp>
        <p:nvSpPr>
          <p:cNvPr id="12" name="Text 10"/>
          <p:cNvSpPr/>
          <p:nvPr/>
        </p:nvSpPr>
        <p:spPr>
          <a:xfrm>
            <a:off x="987552" y="3374136"/>
            <a:ext cx="42062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Wohlbefinden ist eng mit Motivation, Lernen und Entwicklung verbunden.</a:t>
            </a:r>
            <a:endParaRPr lang="en-US" sz="1500" dirty="0"/>
          </a:p>
        </p:txBody>
      </p:sp>
      <p:pic>
        <p:nvPicPr>
          <p:cNvPr id="13" name="Image 0" descr="/workspace/assets/generated/slide2-balance.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46520" y="1097280"/>
            <a:ext cx="4663440" cy="3383280"/>
          </a:xfrm>
          <a:prstGeom prst="rect">
            <a:avLst/>
          </a:prstGeom>
        </p:spPr>
      </p:pic>
      <p:sp>
        <p:nvSpPr>
          <p:cNvPr id="14" name="Shape 11"/>
          <p:cNvSpPr/>
          <p:nvPr/>
        </p:nvSpPr>
        <p:spPr>
          <a:xfrm>
            <a:off x="868680" y="4800600"/>
            <a:ext cx="10469880" cy="1078992"/>
          </a:xfrm>
          <a:prstGeom prst="roundRect">
            <a:avLst>
              <a:gd name="adj" fmla="val 10169"/>
            </a:avLst>
          </a:prstGeom>
          <a:solidFill>
            <a:srgbClr val="CFEFFF"/>
          </a:solidFill>
          <a:ln w="12700">
            <a:solidFill>
              <a:srgbClr val="CFEFFF"/>
            </a:solidFill>
            <a:prstDash val="solid"/>
          </a:ln>
        </p:spPr>
      </p:sp>
      <p:sp>
        <p:nvSpPr>
          <p:cNvPr id="15" name="Text 12"/>
          <p:cNvSpPr/>
          <p:nvPr/>
        </p:nvSpPr>
        <p:spPr>
          <a:xfrm>
            <a:off x="1143000" y="5047488"/>
            <a:ext cx="9966960" cy="502920"/>
          </a:xfrm>
          <a:prstGeom prst="rect">
            <a:avLst/>
          </a:prstGeom>
          <a:noFill/>
          <a:ln/>
        </p:spPr>
        <p:txBody>
          <a:bodyPr wrap="square" lIns="0" tIns="0" rIns="0" bIns="0" rtlCol="0" anchor="t">
            <a:normAutofit/>
          </a:bodyPr>
          <a:lstStyle/>
          <a:p>
            <a:pPr algn="ctr" indent="0" marL="0">
              <a:buNone/>
            </a:pPr>
            <a:r>
              <a:rPr lang="en-US" sz="1700" b="1" dirty="0">
                <a:solidFill>
                  <a:srgbClr val="424242"/>
                </a:solidFill>
                <a:latin typeface="Avenir Next" pitchFamily="34" charset="0"/>
                <a:ea typeface="Avenir Next" pitchFamily="34" charset="-122"/>
                <a:cs typeface="Avenir Next" pitchFamily="34" charset="-120"/>
              </a:rPr>
              <a:t>Inwiefern beeinflussen strukturelle Unterschiede im deutschen Schulsystem das Wohlbefinden von Schülerinnen und Schülern?</a:t>
            </a:r>
            <a:endParaRPr lang="en-US" sz="1700" dirty="0"/>
          </a:p>
        </p:txBody>
      </p:sp>
    </p:spTree>
  </p:cSld>
  <p:transition spd="med">
    <p:zoom dir="in"/>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10" presetClass="entr" presetSubtype="0"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450"/>
                                        <p:tgtEl>
                                          <p:spTgt spid="9"/>
                                        </p:tgtEl>
                                      </p:cBhvr>
                                    </p:animEffect>
                                  </p:childTnLst>
                                </p:cTn>
                              </p:par>
                            </p:childTnLst>
                          </p:cTn>
                        </p:par>
                        <p:par>
                          <p:cTn id="48" fill="hold">
                            <p:stCondLst>
                              <p:cond delay="2160"/>
                            </p:stCondLst>
                            <p:childTnLst>
                              <p:par>
                                <p:cTn id="49" presetID="10" presetClass="entr" presetSubtype="0"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childTnLst>
                          </p:cTn>
                        </p:par>
                        <p:par>
                          <p:cTn id="59" fill="hold">
                            <p:stCondLst>
                              <p:cond delay="2730"/>
                            </p:stCondLst>
                            <p:childTnLst>
                              <p:par>
                                <p:cTn id="60" presetID="10" presetClass="entr" presetSubtype="0"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par>
                          <p:cTn id="70" fill="hold">
                            <p:stCondLst>
                              <p:cond delay="3300"/>
                            </p:stCondLst>
                            <p:childTnLst>
                              <p:par>
                                <p:cTn id="71" presetID="10" presetClass="entr" presetSubtype="0"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450"/>
                                        <p:tgtEl>
                                          <p:spTgt spid="12"/>
                                        </p:tgtEl>
                                      </p:cBhvr>
                                    </p:animEffect>
                                  </p:childTnLst>
                                </p:cTn>
                              </p:par>
                            </p:childTnLst>
                          </p:cTn>
                        </p:par>
                        <p:par>
                          <p:cTn id="81" fill="hold">
                            <p:stCondLst>
                              <p:cond delay="3870"/>
                            </p:stCondLst>
                            <p:childTnLst>
                              <p:par>
                                <p:cTn id="82" presetID="53" presetClass="entr" presetSubtype="16"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 calcmode="lin" valueType="num">
                                      <p:cBhvr>
                                        <p:cTn id="86" dur="450" fill="hold"/>
                                        <p:tgtEl>
                                          <p:spTgt spid="13"/>
                                        </p:tgtEl>
                                        <p:attrNameLst>
                                          <p:attrName>ppt_w</p:attrName>
                                        </p:attrNameLst>
                                      </p:cBhvr>
                                      <p:tavLst>
                                        <p:tav tm="0">
                                          <p:val>
                                            <p:fltVal val="0"/>
                                          </p:val>
                                        </p:tav>
                                        <p:tav tm="100000">
                                          <p:val>
                                            <p:strVal val="#ppt_w"/>
                                          </p:val>
                                        </p:tav>
                                      </p:tavLst>
                                    </p:anim>
                                    <p:anim calcmode="lin" valueType="num">
                                      <p:cBhvr>
                                        <p:cTn id="87" dur="450" fill="hold"/>
                                        <p:tgtEl>
                                          <p:spTgt spid="13"/>
                                        </p:tgtEl>
                                        <p:attrNameLst>
                                          <p:attrName>ppt_h</p:attrName>
                                        </p:attrNameLst>
                                      </p:cBhvr>
                                      <p:tavLst>
                                        <p:tav tm="0">
                                          <p:val>
                                            <p:fltVal val="0"/>
                                          </p:val>
                                        </p:tav>
                                        <p:tav tm="100000">
                                          <p:val>
                                            <p:strVal val="#ppt_h"/>
                                          </p:val>
                                        </p:tav>
                                      </p:tavLst>
                                    </p:anim>
                                    <p:animEffect transition="in" filter="fade">
                                      <p:cBhvr>
                                        <p:cTn id="88" dur="450"/>
                                        <p:tgtEl>
                                          <p:spTgt spid="13"/>
                                        </p:tgtEl>
                                      </p:cBhvr>
                                    </p:animEffect>
                                  </p:childTnLst>
                                </p:cTn>
                              </p:par>
                            </p:childTnLst>
                          </p:cTn>
                        </p:par>
                        <p:par>
                          <p:cTn id="92" fill="hold">
                            <p:stCondLst>
                              <p:cond delay="4440"/>
                            </p:stCondLst>
                            <p:childTnLst>
                              <p:par>
                                <p:cTn id="93" presetID="22" presetClass="entr" presetSubtype="8"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Effect transition="in" filter="wipe(left)">
                                      <p:cBhvr>
                                        <p:cTn id="97" dur="450"/>
                                        <p:tgtEl>
                                          <p:spTgt spid="14"/>
                                        </p:tgtEl>
                                      </p:cBhvr>
                                    </p:animEffect>
                                  </p:childTnLst>
                                </p:cTn>
                              </p:par>
                            </p:childTnLst>
                          </p:cTn>
                        </p:par>
                        <p:par>
                          <p:cTn id="103" fill="hold">
                            <p:stCondLst>
                              <p:cond delay="5010"/>
                            </p:stCondLst>
                            <p:childTnLst>
                              <p:par>
                                <p:cTn id="104" presetID="10" presetClass="entr" presetSubtype="0"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228600"/>
            <a:ext cx="2194560" cy="1005840"/>
          </a:xfrm>
          <a:prstGeom prst="ellipse">
            <a:avLst/>
          </a:prstGeom>
          <a:solidFill>
            <a:srgbClr val="FFD9E8">
              <a:alpha val="90000"/>
            </a:srgbClr>
          </a:solidFill>
          <a:ln w="12700">
            <a:solidFill>
              <a:srgbClr val="FFD9E8">
                <a:alpha val="0"/>
              </a:srgbClr>
            </a:solidFill>
            <a:prstDash val="solid"/>
          </a:ln>
        </p:spPr>
      </p:sp>
      <p:sp>
        <p:nvSpPr>
          <p:cNvPr id="3" name="Shape 1"/>
          <p:cNvSpPr/>
          <p:nvPr/>
        </p:nvSpPr>
        <p:spPr>
          <a:xfrm>
            <a:off x="9966960" y="5486400"/>
            <a:ext cx="2011680" cy="868680"/>
          </a:xfrm>
          <a:prstGeom prst="ellipse">
            <a:avLst/>
          </a:prstGeom>
          <a:solidFill>
            <a:srgbClr val="FFF7C7">
              <a:alpha val="80000"/>
            </a:srgbClr>
          </a:solidFill>
          <a:ln w="12700">
            <a:solidFill>
              <a:srgbClr val="FFF7C7">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03</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Begriffsrahmen</a:t>
            </a:r>
            <a:endParaRPr lang="en-US" sz="1100" dirty="0"/>
          </a:p>
        </p:txBody>
      </p:sp>
      <p:sp>
        <p:nvSpPr>
          <p:cNvPr id="7" name="Text 5"/>
          <p:cNvSpPr/>
          <p:nvPr/>
        </p:nvSpPr>
        <p:spPr>
          <a:xfrm>
            <a:off x="731520" y="786384"/>
            <a:ext cx="457200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Grundlagen</a:t>
            </a:r>
            <a:endParaRPr lang="en-US" sz="2400" dirty="0"/>
          </a:p>
        </p:txBody>
      </p:sp>
      <p:sp>
        <p:nvSpPr>
          <p:cNvPr id="8" name="Text 6"/>
          <p:cNvSpPr/>
          <p:nvPr/>
        </p:nvSpPr>
        <p:spPr>
          <a:xfrm>
            <a:off x="731520" y="1536192"/>
            <a:ext cx="4572000" cy="594360"/>
          </a:xfrm>
          <a:prstGeom prst="rect">
            <a:avLst/>
          </a:prstGeom>
          <a:noFill/>
          <a:ln/>
        </p:spPr>
        <p:txBody>
          <a:bodyPr wrap="square" lIns="0" tIns="0" rIns="0" bIns="0" rtlCol="0" anchor="ctr">
            <a:normAutofit/>
          </a:bodyPr>
          <a:lstStyle/>
          <a:p>
            <a:pPr indent="0" marL="0">
              <a:buNone/>
            </a:pPr>
            <a:r>
              <a:rPr lang="en-US" sz="1250" dirty="0">
                <a:solidFill>
                  <a:srgbClr val="6B7280"/>
                </a:solidFill>
                <a:latin typeface="Avenir Next" pitchFamily="34" charset="0"/>
                <a:ea typeface="Avenir Next" pitchFamily="34" charset="-122"/>
                <a:cs typeface="Avenir Next" pitchFamily="34" charset="-120"/>
              </a:rPr>
              <a:t>Die Facharbeit arbeitet mit drei zentralen Begriffen.</a:t>
            </a:r>
            <a:endParaRPr lang="en-US" sz="1250" dirty="0"/>
          </a:p>
        </p:txBody>
      </p:sp>
      <p:sp>
        <p:nvSpPr>
          <p:cNvPr id="9" name="Shape 7"/>
          <p:cNvSpPr/>
          <p:nvPr/>
        </p:nvSpPr>
        <p:spPr>
          <a:xfrm>
            <a:off x="4754880" y="2240280"/>
            <a:ext cx="2697480" cy="1207008"/>
          </a:xfrm>
          <a:prstGeom prst="ellipse">
            <a:avLst/>
          </a:prstGeom>
          <a:solidFill>
            <a:srgbClr val="FFFFFF"/>
          </a:solidFill>
          <a:ln w="19050">
            <a:solidFill>
              <a:srgbClr val="E8EAF0"/>
            </a:solidFill>
            <a:prstDash val="solid"/>
          </a:ln>
        </p:spPr>
      </p:sp>
      <p:sp>
        <p:nvSpPr>
          <p:cNvPr id="10" name="Text 8"/>
          <p:cNvSpPr/>
          <p:nvPr/>
        </p:nvSpPr>
        <p:spPr>
          <a:xfrm>
            <a:off x="5120640" y="2587752"/>
            <a:ext cx="1920240" cy="256032"/>
          </a:xfrm>
          <a:prstGeom prst="rect">
            <a:avLst/>
          </a:prstGeom>
          <a:noFill/>
          <a:ln/>
        </p:spPr>
        <p:txBody>
          <a:bodyPr wrap="square" lIns="0" tIns="0" rIns="0" bIns="0" rtlCol="0" anchor="t">
            <a:normAutofit/>
          </a:bodyPr>
          <a:lstStyle/>
          <a:p>
            <a:pPr algn="ctr" indent="0" marL="0">
              <a:buNone/>
            </a:pPr>
            <a:r>
              <a:rPr lang="en-US" sz="1800" b="1" dirty="0">
                <a:solidFill>
                  <a:srgbClr val="424242"/>
                </a:solidFill>
                <a:latin typeface="Avenir Next" pitchFamily="34" charset="0"/>
                <a:ea typeface="Avenir Next" pitchFamily="34" charset="-122"/>
                <a:cs typeface="Avenir Next" pitchFamily="34" charset="-120"/>
              </a:rPr>
              <a:t>Wie Schule wirkt</a:t>
            </a:r>
            <a:endParaRPr lang="en-US" sz="1800" dirty="0"/>
          </a:p>
        </p:txBody>
      </p:sp>
      <p:sp>
        <p:nvSpPr>
          <p:cNvPr id="11" name="Shape 9"/>
          <p:cNvSpPr/>
          <p:nvPr/>
        </p:nvSpPr>
        <p:spPr>
          <a:xfrm>
            <a:off x="960120" y="1920240"/>
            <a:ext cx="2788920" cy="1965960"/>
          </a:xfrm>
          <a:prstGeom prst="roundRect">
            <a:avLst>
              <a:gd name="adj" fmla="val 5581"/>
            </a:avLst>
          </a:prstGeom>
          <a:solidFill>
            <a:srgbClr val="FFFFFF"/>
          </a:solidFill>
          <a:ln w="12700">
            <a:solidFill>
              <a:srgbClr val="EEF0F5"/>
            </a:solidFill>
            <a:prstDash val="solid"/>
          </a:ln>
        </p:spPr>
      </p:sp>
      <p:sp>
        <p:nvSpPr>
          <p:cNvPr id="12" name="Shape 10"/>
          <p:cNvSpPr/>
          <p:nvPr/>
        </p:nvSpPr>
        <p:spPr>
          <a:xfrm>
            <a:off x="1124712" y="2084832"/>
            <a:ext cx="1298448" cy="256032"/>
          </a:xfrm>
          <a:prstGeom prst="roundRect">
            <a:avLst>
              <a:gd name="adj" fmla="val 42857"/>
            </a:avLst>
          </a:prstGeom>
          <a:solidFill>
            <a:srgbClr val="CFEFFF"/>
          </a:solidFill>
          <a:ln w="12700">
            <a:solidFill>
              <a:srgbClr val="CFEFFF"/>
            </a:solidFill>
            <a:prstDash val="solid"/>
          </a:ln>
        </p:spPr>
      </p:sp>
      <p:sp>
        <p:nvSpPr>
          <p:cNvPr id="13" name="Text 11"/>
          <p:cNvSpPr/>
          <p:nvPr/>
        </p:nvSpPr>
        <p:spPr>
          <a:xfrm>
            <a:off x="1161288" y="2423160"/>
            <a:ext cx="2240280" cy="320040"/>
          </a:xfrm>
          <a:prstGeom prst="rect">
            <a:avLst/>
          </a:prstGeom>
          <a:noFill/>
          <a:ln/>
        </p:spPr>
        <p:txBody>
          <a:bodyPr wrap="square" lIns="0" tIns="0" rIns="0" bIns="0" rtlCol="0" anchor="t">
            <a:normAutofit/>
          </a:bodyPr>
          <a:lstStyle/>
          <a:p>
            <a:pPr algn="l" indent="0" marL="0">
              <a:buNone/>
            </a:pPr>
            <a:r>
              <a:rPr lang="en-US" sz="1550" b="1" dirty="0">
                <a:solidFill>
                  <a:srgbClr val="424242"/>
                </a:solidFill>
                <a:latin typeface="Avenir Next" pitchFamily="34" charset="0"/>
                <a:ea typeface="Avenir Next" pitchFamily="34" charset="-122"/>
                <a:cs typeface="Avenir Next" pitchFamily="34" charset="-120"/>
              </a:rPr>
              <a:t>Strukturmerkmale</a:t>
            </a:r>
            <a:endParaRPr lang="en-US" sz="1550" dirty="0"/>
          </a:p>
        </p:txBody>
      </p:sp>
      <p:sp>
        <p:nvSpPr>
          <p:cNvPr id="14" name="Text 12"/>
          <p:cNvSpPr/>
          <p:nvPr/>
        </p:nvSpPr>
        <p:spPr>
          <a:xfrm>
            <a:off x="1161288" y="2788920"/>
            <a:ext cx="2240280" cy="914400"/>
          </a:xfrm>
          <a:prstGeom prst="rect">
            <a:avLst/>
          </a:prstGeom>
          <a:noFill/>
          <a:ln/>
        </p:spPr>
        <p:txBody>
          <a:bodyPr wrap="square" lIns="0" tIns="0" rIns="0" bIns="0" rtlCol="0" anchor="t">
            <a:normAutofit/>
          </a:bodyPr>
          <a:lstStyle/>
          <a:p>
            <a:pPr algn="l" indent="0" marL="0">
              <a:buNone/>
            </a:pPr>
            <a:r>
              <a:rPr lang="en-US" sz="1220" dirty="0">
                <a:solidFill>
                  <a:srgbClr val="6B7280"/>
                </a:solidFill>
                <a:latin typeface="Avenir Next" pitchFamily="34" charset="0"/>
                <a:ea typeface="Avenir Next" pitchFamily="34" charset="-122"/>
                <a:cs typeface="Avenir Next" pitchFamily="34" charset="-120"/>
              </a:rPr>
              <a:t>Schulformen</a:t>
            </a:r>
            <a:endParaRPr lang="en-US" sz="1220" dirty="0"/>
          </a:p>
          <a:p>
            <a:pPr algn="l" indent="0" marL="0">
              <a:buNone/>
            </a:pPr>
            <a:r>
              <a:rPr lang="en-US" sz="1220" dirty="0">
                <a:solidFill>
                  <a:srgbClr val="6B7280"/>
                </a:solidFill>
                <a:latin typeface="Avenir Next" pitchFamily="34" charset="0"/>
                <a:ea typeface="Avenir Next" pitchFamily="34" charset="-122"/>
                <a:cs typeface="Avenir Next" pitchFamily="34" charset="-120"/>
              </a:rPr>
              <a:t>Notensystem</a:t>
            </a:r>
            <a:endParaRPr lang="en-US" sz="1220" dirty="0"/>
          </a:p>
          <a:p>
            <a:pPr algn="l" indent="0" marL="0">
              <a:buNone/>
            </a:pPr>
            <a:r>
              <a:rPr lang="en-US" sz="1220" dirty="0">
                <a:solidFill>
                  <a:srgbClr val="6B7280"/>
                </a:solidFill>
                <a:latin typeface="Avenir Next" pitchFamily="34" charset="0"/>
                <a:ea typeface="Avenir Next" pitchFamily="34" charset="-122"/>
                <a:cs typeface="Avenir Next" pitchFamily="34" charset="-120"/>
              </a:rPr>
              <a:t>Versetzungen</a:t>
            </a:r>
            <a:endParaRPr lang="en-US" sz="1220" dirty="0"/>
          </a:p>
          <a:p>
            <a:pPr algn="l" indent="0" marL="0">
              <a:buNone/>
            </a:pPr>
            <a:r>
              <a:rPr lang="en-US" sz="1220" dirty="0">
                <a:solidFill>
                  <a:srgbClr val="6B7280"/>
                </a:solidFill>
                <a:latin typeface="Avenir Next" pitchFamily="34" charset="0"/>
                <a:ea typeface="Avenir Next" pitchFamily="34" charset="-122"/>
                <a:cs typeface="Avenir Next" pitchFamily="34" charset="-120"/>
              </a:rPr>
              <a:t>Abschlüsse</a:t>
            </a:r>
            <a:endParaRPr lang="en-US" sz="1220" dirty="0"/>
          </a:p>
        </p:txBody>
      </p:sp>
      <p:sp>
        <p:nvSpPr>
          <p:cNvPr id="15" name="Shape 13"/>
          <p:cNvSpPr/>
          <p:nvPr/>
        </p:nvSpPr>
        <p:spPr>
          <a:xfrm>
            <a:off x="7909560" y="1737360"/>
            <a:ext cx="2788920" cy="1965960"/>
          </a:xfrm>
          <a:prstGeom prst="roundRect">
            <a:avLst>
              <a:gd name="adj" fmla="val 5581"/>
            </a:avLst>
          </a:prstGeom>
          <a:solidFill>
            <a:srgbClr val="FFFFFF"/>
          </a:solidFill>
          <a:ln w="12700">
            <a:solidFill>
              <a:srgbClr val="EEF0F5"/>
            </a:solidFill>
            <a:prstDash val="solid"/>
          </a:ln>
        </p:spPr>
      </p:sp>
      <p:sp>
        <p:nvSpPr>
          <p:cNvPr id="16" name="Shape 14"/>
          <p:cNvSpPr/>
          <p:nvPr/>
        </p:nvSpPr>
        <p:spPr>
          <a:xfrm>
            <a:off x="8074152" y="1901952"/>
            <a:ext cx="1298448" cy="256032"/>
          </a:xfrm>
          <a:prstGeom prst="roundRect">
            <a:avLst>
              <a:gd name="adj" fmla="val 42857"/>
            </a:avLst>
          </a:prstGeom>
          <a:solidFill>
            <a:srgbClr val="FFF7C7"/>
          </a:solidFill>
          <a:ln w="12700">
            <a:solidFill>
              <a:srgbClr val="FFF7C7"/>
            </a:solidFill>
            <a:prstDash val="solid"/>
          </a:ln>
        </p:spPr>
      </p:sp>
      <p:sp>
        <p:nvSpPr>
          <p:cNvPr id="17" name="Text 15"/>
          <p:cNvSpPr/>
          <p:nvPr/>
        </p:nvSpPr>
        <p:spPr>
          <a:xfrm>
            <a:off x="8110728" y="2240280"/>
            <a:ext cx="2240280" cy="320040"/>
          </a:xfrm>
          <a:prstGeom prst="rect">
            <a:avLst/>
          </a:prstGeom>
          <a:noFill/>
          <a:ln/>
        </p:spPr>
        <p:txBody>
          <a:bodyPr wrap="square" lIns="0" tIns="0" rIns="0" bIns="0" rtlCol="0" anchor="t">
            <a:normAutofit/>
          </a:bodyPr>
          <a:lstStyle/>
          <a:p>
            <a:pPr algn="l" indent="0" marL="0">
              <a:buNone/>
            </a:pPr>
            <a:r>
              <a:rPr lang="en-US" sz="1550" b="1" dirty="0">
                <a:solidFill>
                  <a:srgbClr val="424242"/>
                </a:solidFill>
                <a:latin typeface="Avenir Next" pitchFamily="34" charset="0"/>
                <a:ea typeface="Avenir Next" pitchFamily="34" charset="-122"/>
                <a:cs typeface="Avenir Next" pitchFamily="34" charset="-120"/>
              </a:rPr>
              <a:t>Wohlbefinden</a:t>
            </a:r>
            <a:endParaRPr lang="en-US" sz="1550" dirty="0"/>
          </a:p>
        </p:txBody>
      </p:sp>
      <p:sp>
        <p:nvSpPr>
          <p:cNvPr id="18" name="Text 16"/>
          <p:cNvSpPr/>
          <p:nvPr/>
        </p:nvSpPr>
        <p:spPr>
          <a:xfrm>
            <a:off x="8110728" y="2606040"/>
            <a:ext cx="2240280" cy="914400"/>
          </a:xfrm>
          <a:prstGeom prst="rect">
            <a:avLst/>
          </a:prstGeom>
          <a:noFill/>
          <a:ln/>
        </p:spPr>
        <p:txBody>
          <a:bodyPr wrap="square" lIns="0" tIns="0" rIns="0" bIns="0" rtlCol="0" anchor="t">
            <a:normAutofit/>
          </a:bodyPr>
          <a:lstStyle/>
          <a:p>
            <a:pPr algn="l" indent="0" marL="0">
              <a:buNone/>
            </a:pPr>
            <a:r>
              <a:rPr lang="en-US" sz="1220" dirty="0">
                <a:solidFill>
                  <a:srgbClr val="6B7280"/>
                </a:solidFill>
                <a:latin typeface="Avenir Next" pitchFamily="34" charset="0"/>
                <a:ea typeface="Avenir Next" pitchFamily="34" charset="-122"/>
                <a:cs typeface="Avenir Next" pitchFamily="34" charset="-120"/>
              </a:rPr>
              <a:t>psychische Gesundheit</a:t>
            </a:r>
            <a:endParaRPr lang="en-US" sz="1220" dirty="0"/>
          </a:p>
          <a:p>
            <a:pPr algn="l" indent="0" marL="0">
              <a:buNone/>
            </a:pPr>
            <a:r>
              <a:rPr lang="en-US" sz="1220" dirty="0">
                <a:solidFill>
                  <a:srgbClr val="6B7280"/>
                </a:solidFill>
                <a:latin typeface="Avenir Next" pitchFamily="34" charset="0"/>
                <a:ea typeface="Avenir Next" pitchFamily="34" charset="-122"/>
                <a:cs typeface="Avenir Next" pitchFamily="34" charset="-120"/>
              </a:rPr>
              <a:t>soziale Beziehungen</a:t>
            </a:r>
            <a:endParaRPr lang="en-US" sz="1220" dirty="0"/>
          </a:p>
          <a:p>
            <a:pPr algn="l" indent="0" marL="0">
              <a:buNone/>
            </a:pPr>
            <a:r>
              <a:rPr lang="en-US" sz="1220" dirty="0">
                <a:solidFill>
                  <a:srgbClr val="6B7280"/>
                </a:solidFill>
                <a:latin typeface="Avenir Next" pitchFamily="34" charset="0"/>
                <a:ea typeface="Avenir Next" pitchFamily="34" charset="-122"/>
                <a:cs typeface="Avenir Next" pitchFamily="34" charset="-120"/>
              </a:rPr>
              <a:t>Lebenszufriedenheit</a:t>
            </a:r>
            <a:endParaRPr lang="en-US" sz="1220" dirty="0"/>
          </a:p>
        </p:txBody>
      </p:sp>
      <p:sp>
        <p:nvSpPr>
          <p:cNvPr id="19" name="Shape 17"/>
          <p:cNvSpPr/>
          <p:nvPr/>
        </p:nvSpPr>
        <p:spPr>
          <a:xfrm>
            <a:off x="3840480" y="3977640"/>
            <a:ext cx="2788920" cy="1554480"/>
          </a:xfrm>
          <a:prstGeom prst="roundRect">
            <a:avLst>
              <a:gd name="adj" fmla="val 7059"/>
            </a:avLst>
          </a:prstGeom>
          <a:solidFill>
            <a:srgbClr val="FFFFFF"/>
          </a:solidFill>
          <a:ln w="12700">
            <a:solidFill>
              <a:srgbClr val="EEF0F5"/>
            </a:solidFill>
            <a:prstDash val="solid"/>
          </a:ln>
        </p:spPr>
      </p:sp>
      <p:sp>
        <p:nvSpPr>
          <p:cNvPr id="20" name="Shape 18"/>
          <p:cNvSpPr/>
          <p:nvPr/>
        </p:nvSpPr>
        <p:spPr>
          <a:xfrm>
            <a:off x="4005072" y="4142232"/>
            <a:ext cx="1298448" cy="256032"/>
          </a:xfrm>
          <a:prstGeom prst="roundRect">
            <a:avLst>
              <a:gd name="adj" fmla="val 42857"/>
            </a:avLst>
          </a:prstGeom>
          <a:solidFill>
            <a:srgbClr val="FFD9E8"/>
          </a:solidFill>
          <a:ln w="12700">
            <a:solidFill>
              <a:srgbClr val="FFD9E8"/>
            </a:solidFill>
            <a:prstDash val="solid"/>
          </a:ln>
        </p:spPr>
      </p:sp>
      <p:sp>
        <p:nvSpPr>
          <p:cNvPr id="21" name="Text 19"/>
          <p:cNvSpPr/>
          <p:nvPr/>
        </p:nvSpPr>
        <p:spPr>
          <a:xfrm>
            <a:off x="4041648" y="4480560"/>
            <a:ext cx="2240280" cy="320040"/>
          </a:xfrm>
          <a:prstGeom prst="rect">
            <a:avLst/>
          </a:prstGeom>
          <a:noFill/>
          <a:ln/>
        </p:spPr>
        <p:txBody>
          <a:bodyPr wrap="square" lIns="0" tIns="0" rIns="0" bIns="0" rtlCol="0" anchor="t">
            <a:normAutofit/>
          </a:bodyPr>
          <a:lstStyle/>
          <a:p>
            <a:pPr algn="l" indent="0" marL="0">
              <a:buNone/>
            </a:pPr>
            <a:r>
              <a:rPr lang="en-US" sz="1550" b="1" dirty="0">
                <a:solidFill>
                  <a:srgbClr val="424242"/>
                </a:solidFill>
                <a:latin typeface="Avenir Next" pitchFamily="34" charset="0"/>
                <a:ea typeface="Avenir Next" pitchFamily="34" charset="-122"/>
                <a:cs typeface="Avenir Next" pitchFamily="34" charset="-120"/>
              </a:rPr>
              <a:t>Bildungsgerechtigkeit</a:t>
            </a:r>
            <a:endParaRPr lang="en-US" sz="1550" dirty="0"/>
          </a:p>
        </p:txBody>
      </p:sp>
      <p:sp>
        <p:nvSpPr>
          <p:cNvPr id="22" name="Text 20"/>
          <p:cNvSpPr/>
          <p:nvPr/>
        </p:nvSpPr>
        <p:spPr>
          <a:xfrm>
            <a:off x="4041648" y="4846320"/>
            <a:ext cx="2240280" cy="914400"/>
          </a:xfrm>
          <a:prstGeom prst="rect">
            <a:avLst/>
          </a:prstGeom>
          <a:noFill/>
          <a:ln/>
        </p:spPr>
        <p:txBody>
          <a:bodyPr wrap="square" lIns="0" tIns="0" rIns="0" bIns="0" rtlCol="0" anchor="t">
            <a:normAutofit/>
          </a:bodyPr>
          <a:lstStyle/>
          <a:p>
            <a:pPr algn="l" indent="0" marL="0">
              <a:buNone/>
            </a:pPr>
            <a:r>
              <a:rPr lang="en-US" sz="1220" dirty="0">
                <a:solidFill>
                  <a:srgbClr val="6B7280"/>
                </a:solidFill>
                <a:latin typeface="Avenir Next" pitchFamily="34" charset="0"/>
                <a:ea typeface="Avenir Next" pitchFamily="34" charset="-122"/>
                <a:cs typeface="Avenir Next" pitchFamily="34" charset="-120"/>
              </a:rPr>
              <a:t>faire Chancen</a:t>
            </a:r>
            <a:endParaRPr lang="en-US" sz="1220" dirty="0"/>
          </a:p>
          <a:p>
            <a:pPr algn="l" indent="0" marL="0">
              <a:buNone/>
            </a:pPr>
            <a:r>
              <a:rPr lang="en-US" sz="1220" dirty="0">
                <a:solidFill>
                  <a:srgbClr val="6B7280"/>
                </a:solidFill>
                <a:latin typeface="Avenir Next" pitchFamily="34" charset="0"/>
                <a:ea typeface="Avenir Next" pitchFamily="34" charset="-122"/>
                <a:cs typeface="Avenir Next" pitchFamily="34" charset="-120"/>
              </a:rPr>
              <a:t>unabhängig von sozialer Herkunft</a:t>
            </a:r>
            <a:endParaRPr lang="en-US" sz="1220" dirty="0"/>
          </a:p>
        </p:txBody>
      </p:sp>
      <p:sp>
        <p:nvSpPr>
          <p:cNvPr id="23" name="Shape 21"/>
          <p:cNvSpPr/>
          <p:nvPr/>
        </p:nvSpPr>
        <p:spPr>
          <a:xfrm>
            <a:off x="3749040" y="2743200"/>
            <a:ext cx="987552" cy="0"/>
          </a:xfrm>
          <a:prstGeom prst="line">
            <a:avLst/>
          </a:prstGeom>
          <a:noFill/>
          <a:ln w="19050">
            <a:solidFill>
              <a:srgbClr val="E8EAF0"/>
            </a:solidFill>
            <a:prstDash val="solid"/>
          </a:ln>
        </p:spPr>
      </p:sp>
      <p:sp>
        <p:nvSpPr>
          <p:cNvPr id="24" name="Shape 22"/>
          <p:cNvSpPr/>
          <p:nvPr/>
        </p:nvSpPr>
        <p:spPr>
          <a:xfrm>
            <a:off x="7452360" y="2697480"/>
            <a:ext cx="438912" cy="-18288"/>
          </a:xfrm>
          <a:prstGeom prst="line">
            <a:avLst/>
          </a:prstGeom>
          <a:noFill/>
          <a:ln w="19050">
            <a:solidFill>
              <a:srgbClr val="E8EAF0"/>
            </a:solidFill>
            <a:prstDash val="solid"/>
          </a:ln>
        </p:spPr>
      </p:sp>
      <p:sp>
        <p:nvSpPr>
          <p:cNvPr id="25" name="Shape 23"/>
          <p:cNvSpPr/>
          <p:nvPr/>
        </p:nvSpPr>
        <p:spPr>
          <a:xfrm>
            <a:off x="6053328" y="3456432"/>
            <a:ext cx="-731520" cy="512064"/>
          </a:xfrm>
          <a:prstGeom prst="line">
            <a:avLst/>
          </a:prstGeom>
          <a:noFill/>
          <a:ln w="19050">
            <a:solidFill>
              <a:srgbClr val="E8EAF0"/>
            </a:solidFill>
            <a:prstDash val="solid"/>
          </a:ln>
        </p:spPr>
      </p:sp>
    </p:spTree>
  </p:cSld>
  <p:transition spd="med">
    <p:cover dir="r"/>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53" presetClass="entr" presetSubtype="16"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 calcmode="lin" valueType="num">
                                      <p:cBhvr>
                                        <p:cTn id="42" dur="450" fill="hold"/>
                                        <p:tgtEl>
                                          <p:spTgt spid="9"/>
                                        </p:tgtEl>
                                        <p:attrNameLst>
                                          <p:attrName>ppt_w</p:attrName>
                                        </p:attrNameLst>
                                      </p:cBhvr>
                                      <p:tavLst>
                                        <p:tav tm="0">
                                          <p:val>
                                            <p:fltVal val="0"/>
                                          </p:val>
                                        </p:tav>
                                        <p:tav tm="100000">
                                          <p:val>
                                            <p:strVal val="#ppt_w"/>
                                          </p:val>
                                        </p:tav>
                                      </p:tavLst>
                                    </p:anim>
                                    <p:anim calcmode="lin" valueType="num">
                                      <p:cBhvr>
                                        <p:cTn id="43" dur="450" fill="hold"/>
                                        <p:tgtEl>
                                          <p:spTgt spid="9"/>
                                        </p:tgtEl>
                                        <p:attrNameLst>
                                          <p:attrName>ppt_h</p:attrName>
                                        </p:attrNameLst>
                                      </p:cBhvr>
                                      <p:tavLst>
                                        <p:tav tm="0">
                                          <p:val>
                                            <p:fltVal val="0"/>
                                          </p:val>
                                        </p:tav>
                                        <p:tav tm="100000">
                                          <p:val>
                                            <p:strVal val="#ppt_h"/>
                                          </p:val>
                                        </p:tav>
                                      </p:tavLst>
                                    </p:anim>
                                    <p:animEffect transition="in" filter="fade">
                                      <p:cBhvr>
                                        <p:cTn id="44" dur="450"/>
                                        <p:tgtEl>
                                          <p:spTgt spid="9"/>
                                        </p:tgtEl>
                                      </p:cBhvr>
                                    </p:animEffect>
                                  </p:childTnLst>
                                </p:cTn>
                              </p:par>
                            </p:childTnLst>
                          </p:cTn>
                        </p:par>
                        <p:par>
                          <p:cTn id="48" fill="hold">
                            <p:stCondLst>
                              <p:cond delay="2160"/>
                            </p:stCondLst>
                            <p:childTnLst>
                              <p:par>
                                <p:cTn id="49" presetID="10" presetClass="entr" presetSubtype="0"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childTnLst>
                          </p:cTn>
                        </p:par>
                        <p:par>
                          <p:cTn id="59" fill="hold">
                            <p:stCondLst>
                              <p:cond delay="2730"/>
                            </p:stCondLst>
                            <p:childTnLst>
                              <p:par>
                                <p:cTn id="60" presetID="10" presetClass="entr" presetSubtype="0"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par>
                          <p:cTn id="70" fill="hold">
                            <p:stCondLst>
                              <p:cond delay="3300"/>
                            </p:stCondLst>
                            <p:childTnLst>
                              <p:par>
                                <p:cTn id="71" presetID="10" presetClass="entr" presetSubtype="0"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450"/>
                                        <p:tgtEl>
                                          <p:spTgt spid="12"/>
                                        </p:tgtEl>
                                      </p:cBhvr>
                                    </p:animEffect>
                                  </p:childTnLst>
                                </p:cTn>
                              </p:par>
                            </p:childTnLst>
                          </p:cTn>
                        </p:par>
                        <p:par>
                          <p:cTn id="81" fill="hold">
                            <p:stCondLst>
                              <p:cond delay="3870"/>
                            </p:stCondLst>
                            <p:childTnLst>
                              <p:par>
                                <p:cTn id="82" presetID="10" presetClass="entr" presetSubtype="0"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450"/>
                                        <p:tgtEl>
                                          <p:spTgt spid="13"/>
                                        </p:tgtEl>
                                      </p:cBhvr>
                                    </p:animEffect>
                                  </p:childTnLst>
                                </p:cTn>
                              </p:par>
                            </p:childTnLst>
                          </p:cTn>
                        </p:par>
                        <p:par>
                          <p:cTn id="92" fill="hold">
                            <p:stCondLst>
                              <p:cond delay="4440"/>
                            </p:stCondLst>
                            <p:childTnLst>
                              <p:par>
                                <p:cTn id="93" presetID="10" presetClass="entr" presetSubtype="0"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Effect transition="in" filter="fade">
                                      <p:cBhvr>
                                        <p:cTn id="97" dur="450"/>
                                        <p:tgtEl>
                                          <p:spTgt spid="14"/>
                                        </p:tgtEl>
                                      </p:cBhvr>
                                    </p:animEffect>
                                  </p:childTnLst>
                                </p:cTn>
                              </p:par>
                            </p:childTnLst>
                          </p:cTn>
                        </p:par>
                        <p:par>
                          <p:cTn id="103" fill="hold">
                            <p:stCondLst>
                              <p:cond delay="5010"/>
                            </p:stCondLst>
                            <p:childTnLst>
                              <p:par>
                                <p:cTn id="104" presetID="10" presetClass="entr" presetSubtype="0"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450"/>
                                        <p:tgtEl>
                                          <p:spTgt spid="15"/>
                                        </p:tgtEl>
                                      </p:cBhvr>
                                    </p:animEffect>
                                  </p:childTnLst>
                                </p:cTn>
                              </p:par>
                            </p:childTnLst>
                          </p:cTn>
                        </p:par>
                        <p:par>
                          <p:cTn id="114" fill="hold">
                            <p:stCondLst>
                              <p:cond delay="5580"/>
                            </p:stCondLst>
                            <p:childTnLst>
                              <p:par>
                                <p:cTn id="115" presetID="10" presetClass="entr" presetSubtype="0" fill="hold" grpId="0" nodeType="afterEffect">
                                  <p:stCondLst>
                                    <p:cond delay="120"/>
                                  </p:stCondLst>
                                  <p:childTnLst>
                                    <p:set>
                                      <p:cBhvr>
                                        <p:cTn id="118" dur="1" fill="hold">
                                          <p:stCondLst>
                                            <p:cond delay="0"/>
                                          </p:stCondLst>
                                        </p:cTn>
                                        <p:tgtEl>
                                          <p:spTgt spid="16"/>
                                        </p:tgtEl>
                                        <p:attrNameLst>
                                          <p:attrName>style.visibility</p:attrName>
                                        </p:attrNameLst>
                                      </p:cBhvr>
                                      <p:to>
                                        <p:strVal val="visible"/>
                                      </p:to>
                                    </p:set>
                                    <p:animEffect transition="in" filter="fade">
                                      <p:cBhvr>
                                        <p:cTn id="119" dur="450"/>
                                        <p:tgtEl>
                                          <p:spTgt spid="16"/>
                                        </p:tgtEl>
                                      </p:cBhvr>
                                    </p:animEffect>
                                  </p:childTnLst>
                                </p:cTn>
                              </p:par>
                            </p:childTnLst>
                          </p:cTn>
                        </p:par>
                        <p:par>
                          <p:cTn id="125" fill="hold">
                            <p:stCondLst>
                              <p:cond delay="6150"/>
                            </p:stCondLst>
                            <p:childTnLst>
                              <p:par>
                                <p:cTn id="126" presetID="10" presetClass="entr" presetSubtype="0" fill="hold" grpId="0" nodeType="afterEffect">
                                  <p:stCondLst>
                                    <p:cond delay="12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450"/>
                                        <p:tgtEl>
                                          <p:spTgt spid="17"/>
                                        </p:tgtEl>
                                      </p:cBhvr>
                                    </p:animEffect>
                                  </p:childTnLst>
                                </p:cTn>
                              </p:par>
                            </p:childTnLst>
                          </p:cTn>
                        </p:par>
                        <p:par>
                          <p:cTn id="136" fill="hold">
                            <p:stCondLst>
                              <p:cond delay="6720"/>
                            </p:stCondLst>
                            <p:childTnLst>
                              <p:par>
                                <p:cTn id="137" presetID="10" presetClass="entr" presetSubtype="0" fill="hold" grpId="0" nodeType="afterEffect">
                                  <p:stCondLst>
                                    <p:cond delay="120"/>
                                  </p:stCondLst>
                                  <p:childTnLst>
                                    <p:set>
                                      <p:cBhvr>
                                        <p:cTn id="140" dur="1" fill="hold">
                                          <p:stCondLst>
                                            <p:cond delay="0"/>
                                          </p:stCondLst>
                                        </p:cTn>
                                        <p:tgtEl>
                                          <p:spTgt spid="18"/>
                                        </p:tgtEl>
                                        <p:attrNameLst>
                                          <p:attrName>style.visibility</p:attrName>
                                        </p:attrNameLst>
                                      </p:cBhvr>
                                      <p:to>
                                        <p:strVal val="visible"/>
                                      </p:to>
                                    </p:set>
                                    <p:animEffect transition="in" filter="fade">
                                      <p:cBhvr>
                                        <p:cTn id="141" dur="450"/>
                                        <p:tgtEl>
                                          <p:spTgt spid="18"/>
                                        </p:tgtEl>
                                      </p:cBhvr>
                                    </p:animEffect>
                                  </p:childTnLst>
                                </p:cTn>
                              </p:par>
                            </p:childTnLst>
                          </p:cTn>
                        </p:par>
                        <p:par>
                          <p:cTn id="147" fill="hold">
                            <p:stCondLst>
                              <p:cond delay="7290"/>
                            </p:stCondLst>
                            <p:childTnLst>
                              <p:par>
                                <p:cTn id="148" presetID="10" presetClass="entr" presetSubtype="0" fill="hold" grpId="0" nodeType="afterEffect">
                                  <p:stCondLst>
                                    <p:cond delay="120"/>
                                  </p:stCondLst>
                                  <p:childTnLst>
                                    <p:set>
                                      <p:cBhvr>
                                        <p:cTn id="151" dur="1" fill="hold">
                                          <p:stCondLst>
                                            <p:cond delay="0"/>
                                          </p:stCondLst>
                                        </p:cTn>
                                        <p:tgtEl>
                                          <p:spTgt spid="19"/>
                                        </p:tgtEl>
                                        <p:attrNameLst>
                                          <p:attrName>style.visibility</p:attrName>
                                        </p:attrNameLst>
                                      </p:cBhvr>
                                      <p:to>
                                        <p:strVal val="visible"/>
                                      </p:to>
                                    </p:set>
                                    <p:animEffect transition="in" filter="fade">
                                      <p:cBhvr>
                                        <p:cTn id="152" dur="450"/>
                                        <p:tgtEl>
                                          <p:spTgt spid="19"/>
                                        </p:tgtEl>
                                      </p:cBhvr>
                                    </p:animEffect>
                                  </p:childTnLst>
                                </p:cTn>
                              </p:par>
                            </p:childTnLst>
                          </p:cTn>
                        </p:par>
                        <p:par>
                          <p:cTn id="158" fill="hold">
                            <p:stCondLst>
                              <p:cond delay="7860"/>
                            </p:stCondLst>
                            <p:childTnLst>
                              <p:par>
                                <p:cTn id="159" presetID="10" presetClass="entr" presetSubtype="0" fill="hold" grpId="0" nodeType="afterEffect">
                                  <p:stCondLst>
                                    <p:cond delay="120"/>
                                  </p:stCondLst>
                                  <p:childTnLst>
                                    <p:set>
                                      <p:cBhvr>
                                        <p:cTn id="162" dur="1" fill="hold">
                                          <p:stCondLst>
                                            <p:cond delay="0"/>
                                          </p:stCondLst>
                                        </p:cTn>
                                        <p:tgtEl>
                                          <p:spTgt spid="20"/>
                                        </p:tgtEl>
                                        <p:attrNameLst>
                                          <p:attrName>style.visibility</p:attrName>
                                        </p:attrNameLst>
                                      </p:cBhvr>
                                      <p:to>
                                        <p:strVal val="visible"/>
                                      </p:to>
                                    </p:set>
                                    <p:animEffect transition="in" filter="fade">
                                      <p:cBhvr>
                                        <p:cTn id="163" dur="450"/>
                                        <p:tgtEl>
                                          <p:spTgt spid="20"/>
                                        </p:tgtEl>
                                      </p:cBhvr>
                                    </p:animEffect>
                                  </p:childTnLst>
                                </p:cTn>
                              </p:par>
                            </p:childTnLst>
                          </p:cTn>
                        </p:par>
                        <p:par>
                          <p:cTn id="169" fill="hold">
                            <p:stCondLst>
                              <p:cond delay="8430"/>
                            </p:stCondLst>
                            <p:childTnLst>
                              <p:par>
                                <p:cTn id="170" presetID="10" presetClass="entr" presetSubtype="0" fill="hold" grpId="0" nodeType="afterEffect">
                                  <p:stCondLst>
                                    <p:cond delay="120"/>
                                  </p:stCondLst>
                                  <p:childTnLst>
                                    <p:set>
                                      <p:cBhvr>
                                        <p:cTn id="173" dur="1" fill="hold">
                                          <p:stCondLst>
                                            <p:cond delay="0"/>
                                          </p:stCondLst>
                                        </p:cTn>
                                        <p:tgtEl>
                                          <p:spTgt spid="21"/>
                                        </p:tgtEl>
                                        <p:attrNameLst>
                                          <p:attrName>style.visibility</p:attrName>
                                        </p:attrNameLst>
                                      </p:cBhvr>
                                      <p:to>
                                        <p:strVal val="visible"/>
                                      </p:to>
                                    </p:set>
                                    <p:animEffect transition="in" filter="fade">
                                      <p:cBhvr>
                                        <p:cTn id="174" dur="450"/>
                                        <p:tgtEl>
                                          <p:spTgt spid="21"/>
                                        </p:tgtEl>
                                      </p:cBhvr>
                                    </p:animEffect>
                                  </p:childTnLst>
                                </p:cTn>
                              </p:par>
                            </p:childTnLst>
                          </p:cTn>
                        </p:par>
                        <p:par>
                          <p:cTn id="180" fill="hold">
                            <p:stCondLst>
                              <p:cond delay="9000"/>
                            </p:stCondLst>
                            <p:childTnLst>
                              <p:par>
                                <p:cTn id="181" presetID="10" presetClass="entr" presetSubtype="0" fill="hold" grpId="0" nodeType="afterEffect">
                                  <p:stCondLst>
                                    <p:cond delay="120"/>
                                  </p:stCondLst>
                                  <p:childTnLst>
                                    <p:set>
                                      <p:cBhvr>
                                        <p:cTn id="184" dur="1" fill="hold">
                                          <p:stCondLst>
                                            <p:cond delay="0"/>
                                          </p:stCondLst>
                                        </p:cTn>
                                        <p:tgtEl>
                                          <p:spTgt spid="22"/>
                                        </p:tgtEl>
                                        <p:attrNameLst>
                                          <p:attrName>style.visibility</p:attrName>
                                        </p:attrNameLst>
                                      </p:cBhvr>
                                      <p:to>
                                        <p:strVal val="visible"/>
                                      </p:to>
                                    </p:set>
                                    <p:animEffect transition="in" filter="fade">
                                      <p:cBhvr>
                                        <p:cTn id="18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mc="http://schemas.openxmlformats.org/markup-compatibility/2006" xmlns:p15="http://schemas.microsoft.com/office/powerpoint/2015/09/main" xmlns:a="http://schemas.openxmlformats.org/drawingml/2006/main" xmlns:r="http://schemas.openxmlformats.org/officeDocument/2006/relationships" xmlns:p="http://schemas.openxmlformats.org/presentationml/2006/main" mc:Ignorable="p15">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0" y="-228600"/>
            <a:ext cx="2651760" cy="1280160"/>
          </a:xfrm>
          <a:prstGeom prst="ellipse">
            <a:avLst/>
          </a:prstGeom>
          <a:solidFill>
            <a:srgbClr val="CFEFFF">
              <a:alpha val="95000"/>
            </a:srgbClr>
          </a:solidFill>
          <a:ln w="12700">
            <a:solidFill>
              <a:srgbClr val="CFEFFF">
                <a:alpha val="0"/>
              </a:srgbClr>
            </a:solidFill>
            <a:prstDash val="solid"/>
          </a:ln>
        </p:spPr>
      </p:sp>
      <p:sp>
        <p:nvSpPr>
          <p:cNvPr id="3" name="Shape 1"/>
          <p:cNvSpPr/>
          <p:nvPr/>
        </p:nvSpPr>
        <p:spPr>
          <a:xfrm>
            <a:off x="10149840" y="5303520"/>
            <a:ext cx="2286000" cy="1005840"/>
          </a:xfrm>
          <a:prstGeom prst="ellipse">
            <a:avLst/>
          </a:prstGeom>
          <a:solidFill>
            <a:srgbClr val="FFD9E8">
              <a:alpha val="75000"/>
            </a:srgbClr>
          </a:solidFill>
          <a:ln w="12700">
            <a:solidFill>
              <a:srgbClr val="FFD9E8">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04</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Mehrgliedrigkeit</a:t>
            </a:r>
            <a:endParaRPr lang="en-US" sz="1100" dirty="0"/>
          </a:p>
        </p:txBody>
      </p:sp>
      <p:sp>
        <p:nvSpPr>
          <p:cNvPr id="7" name="Text 5"/>
          <p:cNvSpPr/>
          <p:nvPr/>
        </p:nvSpPr>
        <p:spPr>
          <a:xfrm>
            <a:off x="731520" y="786384"/>
            <a:ext cx="512064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Das deutsche Schulsystem</a:t>
            </a:r>
            <a:endParaRPr lang="en-US" sz="2400" dirty="0"/>
          </a:p>
        </p:txBody>
      </p:sp>
      <p:sp>
        <p:nvSpPr>
          <p:cNvPr id="8" name="Text 6"/>
          <p:cNvSpPr/>
          <p:nvPr/>
        </p:nvSpPr>
        <p:spPr>
          <a:xfrm>
            <a:off x="731520" y="1536192"/>
            <a:ext cx="5120640" cy="594360"/>
          </a:xfrm>
          <a:prstGeom prst="rect">
            <a:avLst/>
          </a:prstGeom>
          <a:noFill/>
          <a:ln/>
        </p:spPr>
        <p:txBody>
          <a:bodyPr wrap="square" lIns="0" tIns="0" rIns="0" bIns="0" rtlCol="0" anchor="ctr">
            <a:normAutofit/>
          </a:bodyPr>
          <a:lstStyle/>
          <a:p>
            <a:pPr indent="0" marL="0">
              <a:buNone/>
            </a:pPr>
            <a:r>
              <a:rPr lang="en-US" sz="1250" dirty="0">
                <a:solidFill>
                  <a:srgbClr val="6B7280"/>
                </a:solidFill>
                <a:latin typeface="Avenir Next" pitchFamily="34" charset="0"/>
                <a:ea typeface="Avenir Next" pitchFamily="34" charset="-122"/>
                <a:cs typeface="Avenir Next" pitchFamily="34" charset="-120"/>
              </a:rPr>
              <a:t>Fünf zentrale Schulformen im Überblick.</a:t>
            </a:r>
            <a:endParaRPr lang="en-US" sz="1250" dirty="0"/>
          </a:p>
        </p:txBody>
      </p:sp>
      <p:sp>
        <p:nvSpPr>
          <p:cNvPr id="9" name="Text 7"/>
          <p:cNvSpPr/>
          <p:nvPr/>
        </p:nvSpPr>
        <p:spPr>
          <a:xfrm>
            <a:off x="731520" y="1389888"/>
            <a:ext cx="2286000" cy="310896"/>
          </a:xfrm>
          <a:prstGeom prst="roundRect">
            <a:avLst>
              <a:gd name="adj" fmla="val 35294"/>
            </a:avLst>
          </a:prstGeom>
          <a:solidFill>
            <a:srgbClr val="FFF7C7"/>
          </a:solidFill>
          <a:ln w="12700">
            <a:solidFill>
              <a:srgbClr val="FFF7C7"/>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Aufteilung nach der Grundschule</a:t>
            </a:r>
            <a:endParaRPr lang="en-US" sz="1050" dirty="0"/>
          </a:p>
        </p:txBody>
      </p:sp>
      <p:sp>
        <p:nvSpPr>
          <p:cNvPr id="10" name="Shape 8"/>
          <p:cNvSpPr/>
          <p:nvPr/>
        </p:nvSpPr>
        <p:spPr>
          <a:xfrm>
            <a:off x="822960" y="1874520"/>
            <a:ext cx="2468880" cy="1783080"/>
          </a:xfrm>
          <a:prstGeom prst="roundRect">
            <a:avLst>
              <a:gd name="adj" fmla="val 6154"/>
            </a:avLst>
          </a:prstGeom>
          <a:solidFill>
            <a:srgbClr val="FFFFFF"/>
          </a:solidFill>
          <a:ln w="12700">
            <a:solidFill>
              <a:srgbClr val="EEF0F5"/>
            </a:solidFill>
            <a:prstDash val="solid"/>
          </a:ln>
        </p:spPr>
      </p:sp>
      <p:sp>
        <p:nvSpPr>
          <p:cNvPr id="11" name="Text 9"/>
          <p:cNvSpPr/>
          <p:nvPr/>
        </p:nvSpPr>
        <p:spPr>
          <a:xfrm>
            <a:off x="987552" y="2039112"/>
            <a:ext cx="384048"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a:t>
            </a:r>
            <a:endParaRPr lang="en-US" sz="1050" dirty="0"/>
          </a:p>
        </p:txBody>
      </p:sp>
      <p:sp>
        <p:nvSpPr>
          <p:cNvPr id="12" name="Text 10"/>
          <p:cNvSpPr/>
          <p:nvPr/>
        </p:nvSpPr>
        <p:spPr>
          <a:xfrm>
            <a:off x="987552" y="2496312"/>
            <a:ext cx="1938528" cy="310896"/>
          </a:xfrm>
          <a:prstGeom prst="rect">
            <a:avLst/>
          </a:prstGeom>
          <a:noFill/>
          <a:ln/>
        </p:spPr>
        <p:txBody>
          <a:bodyPr wrap="square" lIns="0" tIns="0" rIns="0" bIns="0" rtlCol="0" anchor="t">
            <a:normAutofit/>
          </a:bodyPr>
          <a:lstStyle/>
          <a:p>
            <a:pPr algn="l" indent="0" marL="0">
              <a:buNone/>
            </a:pPr>
            <a:r>
              <a:rPr lang="en-US" sz="1450" b="1" dirty="0">
                <a:solidFill>
                  <a:srgbClr val="424242"/>
                </a:solidFill>
                <a:latin typeface="Avenir Next" pitchFamily="34" charset="0"/>
                <a:ea typeface="Avenir Next" pitchFamily="34" charset="-122"/>
                <a:cs typeface="Avenir Next" pitchFamily="34" charset="-120"/>
              </a:rPr>
              <a:t>Gymnasium</a:t>
            </a:r>
            <a:endParaRPr lang="en-US" sz="1450" dirty="0"/>
          </a:p>
        </p:txBody>
      </p:sp>
      <p:sp>
        <p:nvSpPr>
          <p:cNvPr id="13" name="Text 11"/>
          <p:cNvSpPr/>
          <p:nvPr/>
        </p:nvSpPr>
        <p:spPr>
          <a:xfrm>
            <a:off x="987552" y="2834640"/>
            <a:ext cx="2057400" cy="594360"/>
          </a:xfrm>
          <a:prstGeom prst="rect">
            <a:avLst/>
          </a:prstGeom>
          <a:noFill/>
          <a:ln/>
        </p:spPr>
        <p:txBody>
          <a:bodyPr wrap="square" lIns="0" tIns="0" rIns="0" bIns="0" rtlCol="0" anchor="t">
            <a:normAutofit/>
          </a:bodyPr>
          <a:lstStyle/>
          <a:p>
            <a:pPr algn="l" indent="0" marL="0">
              <a:buNone/>
            </a:pPr>
            <a:r>
              <a:rPr lang="en-US" sz="1160" dirty="0">
                <a:solidFill>
                  <a:srgbClr val="6B7280"/>
                </a:solidFill>
                <a:latin typeface="Avenir Next" pitchFamily="34" charset="0"/>
                <a:ea typeface="Avenir Next" pitchFamily="34" charset="-122"/>
                <a:cs typeface="Avenir Next" pitchFamily="34" charset="-120"/>
              </a:rPr>
              <a:t>hohe akademische Anforderungen</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Abitur</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häufig hoher Prüfungsdruck</a:t>
            </a:r>
            <a:endParaRPr lang="en-US" sz="1160" dirty="0"/>
          </a:p>
        </p:txBody>
      </p:sp>
      <p:sp>
        <p:nvSpPr>
          <p:cNvPr id="14" name="Shape 12"/>
          <p:cNvSpPr/>
          <p:nvPr/>
        </p:nvSpPr>
        <p:spPr>
          <a:xfrm>
            <a:off x="3749040" y="1874520"/>
            <a:ext cx="2468880" cy="1783080"/>
          </a:xfrm>
          <a:prstGeom prst="roundRect">
            <a:avLst>
              <a:gd name="adj" fmla="val 6154"/>
            </a:avLst>
          </a:prstGeom>
          <a:solidFill>
            <a:srgbClr val="FFFFFF"/>
          </a:solidFill>
          <a:ln w="12700">
            <a:solidFill>
              <a:srgbClr val="EEF0F5"/>
            </a:solidFill>
            <a:prstDash val="solid"/>
          </a:ln>
        </p:spPr>
      </p:sp>
      <p:sp>
        <p:nvSpPr>
          <p:cNvPr id="15" name="Text 13"/>
          <p:cNvSpPr/>
          <p:nvPr/>
        </p:nvSpPr>
        <p:spPr>
          <a:xfrm>
            <a:off x="3913632" y="2039112"/>
            <a:ext cx="384048" cy="310896"/>
          </a:xfrm>
          <a:prstGeom prst="roundRect">
            <a:avLst>
              <a:gd name="adj" fmla="val 35294"/>
            </a:avLst>
          </a:prstGeom>
          <a:solidFill>
            <a:srgbClr val="FFF7C7"/>
          </a:solidFill>
          <a:ln w="12700">
            <a:solidFill>
              <a:srgbClr val="FFF7C7"/>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a:t>
            </a:r>
            <a:endParaRPr lang="en-US" sz="1050" dirty="0"/>
          </a:p>
        </p:txBody>
      </p:sp>
      <p:sp>
        <p:nvSpPr>
          <p:cNvPr id="16" name="Text 14"/>
          <p:cNvSpPr/>
          <p:nvPr/>
        </p:nvSpPr>
        <p:spPr>
          <a:xfrm>
            <a:off x="3913632" y="2496312"/>
            <a:ext cx="1938528" cy="310896"/>
          </a:xfrm>
          <a:prstGeom prst="rect">
            <a:avLst/>
          </a:prstGeom>
          <a:noFill/>
          <a:ln/>
        </p:spPr>
        <p:txBody>
          <a:bodyPr wrap="square" lIns="0" tIns="0" rIns="0" bIns="0" rtlCol="0" anchor="t">
            <a:normAutofit/>
          </a:bodyPr>
          <a:lstStyle/>
          <a:p>
            <a:pPr algn="l" indent="0" marL="0">
              <a:buNone/>
            </a:pPr>
            <a:r>
              <a:rPr lang="en-US" sz="1450" b="1" dirty="0">
                <a:solidFill>
                  <a:srgbClr val="424242"/>
                </a:solidFill>
                <a:latin typeface="Avenir Next" pitchFamily="34" charset="0"/>
                <a:ea typeface="Avenir Next" pitchFamily="34" charset="-122"/>
                <a:cs typeface="Avenir Next" pitchFamily="34" charset="-120"/>
              </a:rPr>
              <a:t>Realschule</a:t>
            </a:r>
            <a:endParaRPr lang="en-US" sz="1450" dirty="0"/>
          </a:p>
        </p:txBody>
      </p:sp>
      <p:sp>
        <p:nvSpPr>
          <p:cNvPr id="17" name="Text 15"/>
          <p:cNvSpPr/>
          <p:nvPr/>
        </p:nvSpPr>
        <p:spPr>
          <a:xfrm>
            <a:off x="3913632" y="2834640"/>
            <a:ext cx="2057400" cy="594360"/>
          </a:xfrm>
          <a:prstGeom prst="rect">
            <a:avLst/>
          </a:prstGeom>
          <a:noFill/>
          <a:ln/>
        </p:spPr>
        <p:txBody>
          <a:bodyPr wrap="square" lIns="0" tIns="0" rIns="0" bIns="0" rtlCol="0" anchor="t">
            <a:normAutofit/>
          </a:bodyPr>
          <a:lstStyle/>
          <a:p>
            <a:pPr algn="l" indent="0" marL="0">
              <a:buNone/>
            </a:pPr>
            <a:r>
              <a:rPr lang="en-US" sz="1160" dirty="0">
                <a:solidFill>
                  <a:srgbClr val="6B7280"/>
                </a:solidFill>
                <a:latin typeface="Avenir Next" pitchFamily="34" charset="0"/>
                <a:ea typeface="Avenir Next" pitchFamily="34" charset="-122"/>
                <a:cs typeface="Avenir Next" pitchFamily="34" charset="-120"/>
              </a:rPr>
              <a:t>mittlerer Abschluss</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mehr Praxisbezug</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verschiedene Anschlüsse</a:t>
            </a:r>
            <a:endParaRPr lang="en-US" sz="1160" dirty="0"/>
          </a:p>
        </p:txBody>
      </p:sp>
      <p:sp>
        <p:nvSpPr>
          <p:cNvPr id="18" name="Shape 16"/>
          <p:cNvSpPr/>
          <p:nvPr/>
        </p:nvSpPr>
        <p:spPr>
          <a:xfrm>
            <a:off x="6675120" y="1874520"/>
            <a:ext cx="2468880" cy="1783080"/>
          </a:xfrm>
          <a:prstGeom prst="roundRect">
            <a:avLst>
              <a:gd name="adj" fmla="val 6154"/>
            </a:avLst>
          </a:prstGeom>
          <a:solidFill>
            <a:srgbClr val="FFFFFF"/>
          </a:solidFill>
          <a:ln w="12700">
            <a:solidFill>
              <a:srgbClr val="EEF0F5"/>
            </a:solidFill>
            <a:prstDash val="solid"/>
          </a:ln>
        </p:spPr>
      </p:sp>
      <p:sp>
        <p:nvSpPr>
          <p:cNvPr id="19" name="Text 17"/>
          <p:cNvSpPr/>
          <p:nvPr/>
        </p:nvSpPr>
        <p:spPr>
          <a:xfrm>
            <a:off x="6839712" y="2039112"/>
            <a:ext cx="384048" cy="310896"/>
          </a:xfrm>
          <a:prstGeom prst="roundRect">
            <a:avLst>
              <a:gd name="adj" fmla="val 35294"/>
            </a:avLst>
          </a:prstGeom>
          <a:solidFill>
            <a:srgbClr val="FFD9E8"/>
          </a:solidFill>
          <a:ln w="12700">
            <a:solidFill>
              <a:srgbClr val="FFD9E8"/>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a:t>
            </a:r>
            <a:endParaRPr lang="en-US" sz="1050" dirty="0"/>
          </a:p>
        </p:txBody>
      </p:sp>
      <p:sp>
        <p:nvSpPr>
          <p:cNvPr id="20" name="Text 18"/>
          <p:cNvSpPr/>
          <p:nvPr/>
        </p:nvSpPr>
        <p:spPr>
          <a:xfrm>
            <a:off x="6839712" y="2496312"/>
            <a:ext cx="1938528" cy="310896"/>
          </a:xfrm>
          <a:prstGeom prst="rect">
            <a:avLst/>
          </a:prstGeom>
          <a:noFill/>
          <a:ln/>
        </p:spPr>
        <p:txBody>
          <a:bodyPr wrap="square" lIns="0" tIns="0" rIns="0" bIns="0" rtlCol="0" anchor="t">
            <a:normAutofit/>
          </a:bodyPr>
          <a:lstStyle/>
          <a:p>
            <a:pPr algn="l" indent="0" marL="0">
              <a:buNone/>
            </a:pPr>
            <a:r>
              <a:rPr lang="en-US" sz="1450" b="1" dirty="0">
                <a:solidFill>
                  <a:srgbClr val="424242"/>
                </a:solidFill>
                <a:latin typeface="Avenir Next" pitchFamily="34" charset="0"/>
                <a:ea typeface="Avenir Next" pitchFamily="34" charset="-122"/>
                <a:cs typeface="Avenir Next" pitchFamily="34" charset="-120"/>
              </a:rPr>
              <a:t>Hauptschule</a:t>
            </a:r>
            <a:endParaRPr lang="en-US" sz="1450" dirty="0"/>
          </a:p>
        </p:txBody>
      </p:sp>
      <p:sp>
        <p:nvSpPr>
          <p:cNvPr id="21" name="Text 19"/>
          <p:cNvSpPr/>
          <p:nvPr/>
        </p:nvSpPr>
        <p:spPr>
          <a:xfrm>
            <a:off x="6839712" y="2834640"/>
            <a:ext cx="2057400" cy="594360"/>
          </a:xfrm>
          <a:prstGeom prst="rect">
            <a:avLst/>
          </a:prstGeom>
          <a:noFill/>
          <a:ln/>
        </p:spPr>
        <p:txBody>
          <a:bodyPr wrap="square" lIns="0" tIns="0" rIns="0" bIns="0" rtlCol="0" anchor="t">
            <a:normAutofit/>
          </a:bodyPr>
          <a:lstStyle/>
          <a:p>
            <a:pPr algn="l" indent="0" marL="0">
              <a:buNone/>
            </a:pPr>
            <a:r>
              <a:rPr lang="en-US" sz="1160" dirty="0">
                <a:solidFill>
                  <a:srgbClr val="6B7280"/>
                </a:solidFill>
                <a:latin typeface="Avenir Next" pitchFamily="34" charset="0"/>
                <a:ea typeface="Avenir Next" pitchFamily="34" charset="-122"/>
                <a:cs typeface="Avenir Next" pitchFamily="34" charset="-120"/>
              </a:rPr>
              <a:t>stärker praktisch ausgerichtet</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direkter Bezug zur Ausbildung</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teils stigmatisiert</a:t>
            </a:r>
            <a:endParaRPr lang="en-US" sz="1160" dirty="0"/>
          </a:p>
        </p:txBody>
      </p:sp>
      <p:sp>
        <p:nvSpPr>
          <p:cNvPr id="22" name="Shape 20"/>
          <p:cNvSpPr/>
          <p:nvPr/>
        </p:nvSpPr>
        <p:spPr>
          <a:xfrm>
            <a:off x="2057400" y="4160520"/>
            <a:ext cx="2468880" cy="1783080"/>
          </a:xfrm>
          <a:prstGeom prst="roundRect">
            <a:avLst>
              <a:gd name="adj" fmla="val 6154"/>
            </a:avLst>
          </a:prstGeom>
          <a:solidFill>
            <a:srgbClr val="FFFFFF"/>
          </a:solidFill>
          <a:ln w="12700">
            <a:solidFill>
              <a:srgbClr val="EEF0F5"/>
            </a:solidFill>
            <a:prstDash val="solid"/>
          </a:ln>
        </p:spPr>
      </p:sp>
      <p:sp>
        <p:nvSpPr>
          <p:cNvPr id="23" name="Text 21"/>
          <p:cNvSpPr/>
          <p:nvPr/>
        </p:nvSpPr>
        <p:spPr>
          <a:xfrm>
            <a:off x="2221992" y="4325112"/>
            <a:ext cx="384048" cy="310896"/>
          </a:xfrm>
          <a:prstGeom prst="roundRect">
            <a:avLst>
              <a:gd name="adj" fmla="val 35294"/>
            </a:avLst>
          </a:prstGeom>
          <a:solidFill>
            <a:srgbClr val="FFD9E8"/>
          </a:solidFill>
          <a:ln w="12700">
            <a:solidFill>
              <a:srgbClr val="FFD9E8"/>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a:t>
            </a:r>
            <a:endParaRPr lang="en-US" sz="1050" dirty="0"/>
          </a:p>
        </p:txBody>
      </p:sp>
      <p:sp>
        <p:nvSpPr>
          <p:cNvPr id="24" name="Text 22"/>
          <p:cNvSpPr/>
          <p:nvPr/>
        </p:nvSpPr>
        <p:spPr>
          <a:xfrm>
            <a:off x="2221992" y="4782312"/>
            <a:ext cx="1938528" cy="310896"/>
          </a:xfrm>
          <a:prstGeom prst="rect">
            <a:avLst/>
          </a:prstGeom>
          <a:noFill/>
          <a:ln/>
        </p:spPr>
        <p:txBody>
          <a:bodyPr wrap="square" lIns="0" tIns="0" rIns="0" bIns="0" rtlCol="0" anchor="t">
            <a:normAutofit/>
          </a:bodyPr>
          <a:lstStyle/>
          <a:p>
            <a:pPr algn="l" indent="0" marL="0">
              <a:buNone/>
            </a:pPr>
            <a:r>
              <a:rPr lang="en-US" sz="1450" b="1" dirty="0">
                <a:solidFill>
                  <a:srgbClr val="424242"/>
                </a:solidFill>
                <a:latin typeface="Avenir Next" pitchFamily="34" charset="0"/>
                <a:ea typeface="Avenir Next" pitchFamily="34" charset="-122"/>
                <a:cs typeface="Avenir Next" pitchFamily="34" charset="-120"/>
              </a:rPr>
              <a:t>Gesamtschule</a:t>
            </a:r>
            <a:endParaRPr lang="en-US" sz="1450" dirty="0"/>
          </a:p>
        </p:txBody>
      </p:sp>
      <p:sp>
        <p:nvSpPr>
          <p:cNvPr id="25" name="Text 23"/>
          <p:cNvSpPr/>
          <p:nvPr/>
        </p:nvSpPr>
        <p:spPr>
          <a:xfrm>
            <a:off x="2221992" y="5120640"/>
            <a:ext cx="2057400" cy="594360"/>
          </a:xfrm>
          <a:prstGeom prst="rect">
            <a:avLst/>
          </a:prstGeom>
          <a:noFill/>
          <a:ln/>
        </p:spPr>
        <p:txBody>
          <a:bodyPr wrap="square" lIns="0" tIns="0" rIns="0" bIns="0" rtlCol="0" anchor="t">
            <a:normAutofit/>
          </a:bodyPr>
          <a:lstStyle/>
          <a:p>
            <a:pPr algn="l" indent="0" marL="0">
              <a:buNone/>
            </a:pPr>
            <a:r>
              <a:rPr lang="en-US" sz="1160" dirty="0">
                <a:solidFill>
                  <a:srgbClr val="6B7280"/>
                </a:solidFill>
                <a:latin typeface="Avenir Next" pitchFamily="34" charset="0"/>
                <a:ea typeface="Avenir Next" pitchFamily="34" charset="-122"/>
                <a:cs typeface="Avenir Next" pitchFamily="34" charset="-120"/>
              </a:rPr>
              <a:t>längeres gemeinsames Lernen</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mehr Durchlässigkeit</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verschiedene Abschlüsse</a:t>
            </a:r>
            <a:endParaRPr lang="en-US" sz="1160" dirty="0"/>
          </a:p>
        </p:txBody>
      </p:sp>
      <p:sp>
        <p:nvSpPr>
          <p:cNvPr id="26" name="Shape 24"/>
          <p:cNvSpPr/>
          <p:nvPr/>
        </p:nvSpPr>
        <p:spPr>
          <a:xfrm>
            <a:off x="5806440" y="4160520"/>
            <a:ext cx="2468880" cy="1783080"/>
          </a:xfrm>
          <a:prstGeom prst="roundRect">
            <a:avLst>
              <a:gd name="adj" fmla="val 6154"/>
            </a:avLst>
          </a:prstGeom>
          <a:solidFill>
            <a:srgbClr val="FFFFFF"/>
          </a:solidFill>
          <a:ln w="12700">
            <a:solidFill>
              <a:srgbClr val="EEF0F5"/>
            </a:solidFill>
            <a:prstDash val="solid"/>
          </a:ln>
        </p:spPr>
      </p:sp>
      <p:sp>
        <p:nvSpPr>
          <p:cNvPr id="27" name="Text 25"/>
          <p:cNvSpPr/>
          <p:nvPr/>
        </p:nvSpPr>
        <p:spPr>
          <a:xfrm>
            <a:off x="5971032" y="4325112"/>
            <a:ext cx="384048"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a:t>
            </a:r>
            <a:endParaRPr lang="en-US" sz="1050" dirty="0"/>
          </a:p>
        </p:txBody>
      </p:sp>
      <p:sp>
        <p:nvSpPr>
          <p:cNvPr id="28" name="Text 26"/>
          <p:cNvSpPr/>
          <p:nvPr/>
        </p:nvSpPr>
        <p:spPr>
          <a:xfrm>
            <a:off x="5971032" y="4782312"/>
            <a:ext cx="1938528" cy="310896"/>
          </a:xfrm>
          <a:prstGeom prst="rect">
            <a:avLst/>
          </a:prstGeom>
          <a:noFill/>
          <a:ln/>
        </p:spPr>
        <p:txBody>
          <a:bodyPr wrap="square" lIns="0" tIns="0" rIns="0" bIns="0" rtlCol="0" anchor="t">
            <a:normAutofit/>
          </a:bodyPr>
          <a:lstStyle/>
          <a:p>
            <a:pPr algn="l" indent="0" marL="0">
              <a:buNone/>
            </a:pPr>
            <a:r>
              <a:rPr lang="en-US" sz="1450" b="1" dirty="0">
                <a:solidFill>
                  <a:srgbClr val="424242"/>
                </a:solidFill>
                <a:latin typeface="Avenir Next" pitchFamily="34" charset="0"/>
                <a:ea typeface="Avenir Next" pitchFamily="34" charset="-122"/>
                <a:cs typeface="Avenir Next" pitchFamily="34" charset="-120"/>
              </a:rPr>
              <a:t>Berufliche Schule</a:t>
            </a:r>
            <a:endParaRPr lang="en-US" sz="1450" dirty="0"/>
          </a:p>
        </p:txBody>
      </p:sp>
      <p:sp>
        <p:nvSpPr>
          <p:cNvPr id="29" name="Text 27"/>
          <p:cNvSpPr/>
          <p:nvPr/>
        </p:nvSpPr>
        <p:spPr>
          <a:xfrm>
            <a:off x="5971032" y="5120640"/>
            <a:ext cx="2057400" cy="594360"/>
          </a:xfrm>
          <a:prstGeom prst="rect">
            <a:avLst/>
          </a:prstGeom>
          <a:noFill/>
          <a:ln/>
        </p:spPr>
        <p:txBody>
          <a:bodyPr wrap="square" lIns="0" tIns="0" rIns="0" bIns="0" rtlCol="0" anchor="t">
            <a:normAutofit/>
          </a:bodyPr>
          <a:lstStyle/>
          <a:p>
            <a:pPr algn="l" indent="0" marL="0">
              <a:buNone/>
            </a:pPr>
            <a:r>
              <a:rPr lang="en-US" sz="1160" dirty="0">
                <a:solidFill>
                  <a:srgbClr val="6B7280"/>
                </a:solidFill>
                <a:latin typeface="Avenir Next" pitchFamily="34" charset="0"/>
                <a:ea typeface="Avenir Next" pitchFamily="34" charset="-122"/>
                <a:cs typeface="Avenir Next" pitchFamily="34" charset="-120"/>
              </a:rPr>
              <a:t>duales System</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Schule und Betrieb</a:t>
            </a:r>
            <a:endParaRPr lang="en-US" sz="1160" dirty="0"/>
          </a:p>
          <a:p>
            <a:pPr algn="l" indent="0" marL="0">
              <a:buNone/>
            </a:pPr>
            <a:r>
              <a:rPr lang="en-US" sz="1160" dirty="0">
                <a:solidFill>
                  <a:srgbClr val="6B7280"/>
                </a:solidFill>
                <a:latin typeface="Avenir Next" pitchFamily="34" charset="0"/>
                <a:ea typeface="Avenir Next" pitchFamily="34" charset="-122"/>
                <a:cs typeface="Avenir Next" pitchFamily="34" charset="-120"/>
              </a:rPr>
              <a:t>Übergang in den Arbeitsmarkt</a:t>
            </a:r>
            <a:endParaRPr lang="en-US" sz="1160" dirty="0"/>
          </a:p>
        </p:txBody>
      </p:sp>
    </p:spTree>
  </p:cSld>
  <mc:AlternateContent>
    <mc:Choice Requires="p15">
      <p:transition spd="med">
        <p15:morph p15:option="byObject"/>
      </p:transition>
    </mc:Choice>
    <mc:Fallback>
      <p:transition spd="med">
        <p:fade/>
      </p:transition>
    </mc:Fallback>
  </mc:AlternateContent>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53" presetClass="entr" presetSubtype="16"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 calcmode="lin" valueType="num">
                                      <p:cBhvr>
                                        <p:cTn id="42" dur="450" fill="hold"/>
                                        <p:tgtEl>
                                          <p:spTgt spid="9"/>
                                        </p:tgtEl>
                                        <p:attrNameLst>
                                          <p:attrName>ppt_w</p:attrName>
                                        </p:attrNameLst>
                                      </p:cBhvr>
                                      <p:tavLst>
                                        <p:tav tm="0">
                                          <p:val>
                                            <p:fltVal val="0"/>
                                          </p:val>
                                        </p:tav>
                                        <p:tav tm="100000">
                                          <p:val>
                                            <p:strVal val="#ppt_w"/>
                                          </p:val>
                                        </p:tav>
                                      </p:tavLst>
                                    </p:anim>
                                    <p:anim calcmode="lin" valueType="num">
                                      <p:cBhvr>
                                        <p:cTn id="43" dur="450" fill="hold"/>
                                        <p:tgtEl>
                                          <p:spTgt spid="9"/>
                                        </p:tgtEl>
                                        <p:attrNameLst>
                                          <p:attrName>ppt_h</p:attrName>
                                        </p:attrNameLst>
                                      </p:cBhvr>
                                      <p:tavLst>
                                        <p:tav tm="0">
                                          <p:val>
                                            <p:fltVal val="0"/>
                                          </p:val>
                                        </p:tav>
                                        <p:tav tm="100000">
                                          <p:val>
                                            <p:strVal val="#ppt_h"/>
                                          </p:val>
                                        </p:tav>
                                      </p:tavLst>
                                    </p:anim>
                                    <p:animEffect transition="in" filter="fade">
                                      <p:cBhvr>
                                        <p:cTn id="44" dur="450"/>
                                        <p:tgtEl>
                                          <p:spTgt spid="9"/>
                                        </p:tgtEl>
                                      </p:cBhvr>
                                    </p:animEffect>
                                  </p:childTnLst>
                                </p:cTn>
                              </p:par>
                            </p:childTnLst>
                          </p:cTn>
                        </p:par>
                        <p:par>
                          <p:cTn id="48" fill="hold">
                            <p:stCondLst>
                              <p:cond delay="2160"/>
                            </p:stCondLst>
                            <p:childTnLst>
                              <p:par>
                                <p:cTn id="49" presetID="10" presetClass="entr" presetSubtype="0"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childTnLst>
                          </p:cTn>
                        </p:par>
                        <p:par>
                          <p:cTn id="59" fill="hold">
                            <p:stCondLst>
                              <p:cond delay="2730"/>
                            </p:stCondLst>
                            <p:childTnLst>
                              <p:par>
                                <p:cTn id="60" presetID="53" presetClass="entr" presetSubtype="16"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 calcmode="lin" valueType="num">
                                      <p:cBhvr>
                                        <p:cTn id="64" dur="450" fill="hold"/>
                                        <p:tgtEl>
                                          <p:spTgt spid="11"/>
                                        </p:tgtEl>
                                        <p:attrNameLst>
                                          <p:attrName>ppt_w</p:attrName>
                                        </p:attrNameLst>
                                      </p:cBhvr>
                                      <p:tavLst>
                                        <p:tav tm="0">
                                          <p:val>
                                            <p:fltVal val="0"/>
                                          </p:val>
                                        </p:tav>
                                        <p:tav tm="100000">
                                          <p:val>
                                            <p:strVal val="#ppt_w"/>
                                          </p:val>
                                        </p:tav>
                                      </p:tavLst>
                                    </p:anim>
                                    <p:anim calcmode="lin" valueType="num">
                                      <p:cBhvr>
                                        <p:cTn id="65" dur="450" fill="hold"/>
                                        <p:tgtEl>
                                          <p:spTgt spid="11"/>
                                        </p:tgtEl>
                                        <p:attrNameLst>
                                          <p:attrName>ppt_h</p:attrName>
                                        </p:attrNameLst>
                                      </p:cBhvr>
                                      <p:tavLst>
                                        <p:tav tm="0">
                                          <p:val>
                                            <p:fltVal val="0"/>
                                          </p:val>
                                        </p:tav>
                                        <p:tav tm="100000">
                                          <p:val>
                                            <p:strVal val="#ppt_h"/>
                                          </p:val>
                                        </p:tav>
                                      </p:tavLst>
                                    </p:anim>
                                    <p:animEffect transition="in" filter="fade">
                                      <p:cBhvr>
                                        <p:cTn id="66" dur="450"/>
                                        <p:tgtEl>
                                          <p:spTgt spid="11"/>
                                        </p:tgtEl>
                                      </p:cBhvr>
                                    </p:animEffect>
                                  </p:childTnLst>
                                </p:cTn>
                              </p:par>
                            </p:childTnLst>
                          </p:cTn>
                        </p:par>
                        <p:par>
                          <p:cTn id="70" fill="hold">
                            <p:stCondLst>
                              <p:cond delay="3300"/>
                            </p:stCondLst>
                            <p:childTnLst>
                              <p:par>
                                <p:cTn id="71" presetID="10" presetClass="entr" presetSubtype="0"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450"/>
                                        <p:tgtEl>
                                          <p:spTgt spid="12"/>
                                        </p:tgtEl>
                                      </p:cBhvr>
                                    </p:animEffect>
                                  </p:childTnLst>
                                </p:cTn>
                              </p:par>
                            </p:childTnLst>
                          </p:cTn>
                        </p:par>
                        <p:par>
                          <p:cTn id="81" fill="hold">
                            <p:stCondLst>
                              <p:cond delay="3870"/>
                            </p:stCondLst>
                            <p:childTnLst>
                              <p:par>
                                <p:cTn id="82" presetID="10" presetClass="entr" presetSubtype="0"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450"/>
                                        <p:tgtEl>
                                          <p:spTgt spid="13"/>
                                        </p:tgtEl>
                                      </p:cBhvr>
                                    </p:animEffect>
                                  </p:childTnLst>
                                </p:cTn>
                              </p:par>
                            </p:childTnLst>
                          </p:cTn>
                        </p:par>
                        <p:par>
                          <p:cTn id="92" fill="hold">
                            <p:stCondLst>
                              <p:cond delay="4440"/>
                            </p:stCondLst>
                            <p:childTnLst>
                              <p:par>
                                <p:cTn id="93" presetID="10" presetClass="entr" presetSubtype="0"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Effect transition="in" filter="fade">
                                      <p:cBhvr>
                                        <p:cTn id="97" dur="450"/>
                                        <p:tgtEl>
                                          <p:spTgt spid="14"/>
                                        </p:tgtEl>
                                      </p:cBhvr>
                                    </p:animEffect>
                                  </p:childTnLst>
                                </p:cTn>
                              </p:par>
                            </p:childTnLst>
                          </p:cTn>
                        </p:par>
                        <p:par>
                          <p:cTn id="103" fill="hold">
                            <p:stCondLst>
                              <p:cond delay="5010"/>
                            </p:stCondLst>
                            <p:childTnLst>
                              <p:par>
                                <p:cTn id="104" presetID="53" presetClass="entr" presetSubtype="16"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 calcmode="lin" valueType="num">
                                      <p:cBhvr>
                                        <p:cTn id="108" dur="450" fill="hold"/>
                                        <p:tgtEl>
                                          <p:spTgt spid="15"/>
                                        </p:tgtEl>
                                        <p:attrNameLst>
                                          <p:attrName>ppt_w</p:attrName>
                                        </p:attrNameLst>
                                      </p:cBhvr>
                                      <p:tavLst>
                                        <p:tav tm="0">
                                          <p:val>
                                            <p:fltVal val="0"/>
                                          </p:val>
                                        </p:tav>
                                        <p:tav tm="100000">
                                          <p:val>
                                            <p:strVal val="#ppt_w"/>
                                          </p:val>
                                        </p:tav>
                                      </p:tavLst>
                                    </p:anim>
                                    <p:anim calcmode="lin" valueType="num">
                                      <p:cBhvr>
                                        <p:cTn id="109" dur="450" fill="hold"/>
                                        <p:tgtEl>
                                          <p:spTgt spid="15"/>
                                        </p:tgtEl>
                                        <p:attrNameLst>
                                          <p:attrName>ppt_h</p:attrName>
                                        </p:attrNameLst>
                                      </p:cBhvr>
                                      <p:tavLst>
                                        <p:tav tm="0">
                                          <p:val>
                                            <p:fltVal val="0"/>
                                          </p:val>
                                        </p:tav>
                                        <p:tav tm="100000">
                                          <p:val>
                                            <p:strVal val="#ppt_h"/>
                                          </p:val>
                                        </p:tav>
                                      </p:tavLst>
                                    </p:anim>
                                    <p:animEffect transition="in" filter="fade">
                                      <p:cBhvr>
                                        <p:cTn id="110" dur="450"/>
                                        <p:tgtEl>
                                          <p:spTgt spid="15"/>
                                        </p:tgtEl>
                                      </p:cBhvr>
                                    </p:animEffect>
                                  </p:childTnLst>
                                </p:cTn>
                              </p:par>
                            </p:childTnLst>
                          </p:cTn>
                        </p:par>
                        <p:par>
                          <p:cTn id="114" fill="hold">
                            <p:stCondLst>
                              <p:cond delay="5580"/>
                            </p:stCondLst>
                            <p:childTnLst>
                              <p:par>
                                <p:cTn id="115" presetID="10" presetClass="entr" presetSubtype="0" fill="hold" grpId="0" nodeType="afterEffect">
                                  <p:stCondLst>
                                    <p:cond delay="120"/>
                                  </p:stCondLst>
                                  <p:childTnLst>
                                    <p:set>
                                      <p:cBhvr>
                                        <p:cTn id="118" dur="1" fill="hold">
                                          <p:stCondLst>
                                            <p:cond delay="0"/>
                                          </p:stCondLst>
                                        </p:cTn>
                                        <p:tgtEl>
                                          <p:spTgt spid="16"/>
                                        </p:tgtEl>
                                        <p:attrNameLst>
                                          <p:attrName>style.visibility</p:attrName>
                                        </p:attrNameLst>
                                      </p:cBhvr>
                                      <p:to>
                                        <p:strVal val="visible"/>
                                      </p:to>
                                    </p:set>
                                    <p:animEffect transition="in" filter="fade">
                                      <p:cBhvr>
                                        <p:cTn id="119" dur="450"/>
                                        <p:tgtEl>
                                          <p:spTgt spid="16"/>
                                        </p:tgtEl>
                                      </p:cBhvr>
                                    </p:animEffect>
                                  </p:childTnLst>
                                </p:cTn>
                              </p:par>
                            </p:childTnLst>
                          </p:cTn>
                        </p:par>
                        <p:par>
                          <p:cTn id="125" fill="hold">
                            <p:stCondLst>
                              <p:cond delay="6150"/>
                            </p:stCondLst>
                            <p:childTnLst>
                              <p:par>
                                <p:cTn id="126" presetID="10" presetClass="entr" presetSubtype="0" fill="hold" grpId="0" nodeType="afterEffect">
                                  <p:stCondLst>
                                    <p:cond delay="12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450"/>
                                        <p:tgtEl>
                                          <p:spTgt spid="17"/>
                                        </p:tgtEl>
                                      </p:cBhvr>
                                    </p:animEffect>
                                  </p:childTnLst>
                                </p:cTn>
                              </p:par>
                            </p:childTnLst>
                          </p:cTn>
                        </p:par>
                        <p:par>
                          <p:cTn id="136" fill="hold">
                            <p:stCondLst>
                              <p:cond delay="6720"/>
                            </p:stCondLst>
                            <p:childTnLst>
                              <p:par>
                                <p:cTn id="137" presetID="10" presetClass="entr" presetSubtype="0" fill="hold" grpId="0" nodeType="afterEffect">
                                  <p:stCondLst>
                                    <p:cond delay="120"/>
                                  </p:stCondLst>
                                  <p:childTnLst>
                                    <p:set>
                                      <p:cBhvr>
                                        <p:cTn id="140" dur="1" fill="hold">
                                          <p:stCondLst>
                                            <p:cond delay="0"/>
                                          </p:stCondLst>
                                        </p:cTn>
                                        <p:tgtEl>
                                          <p:spTgt spid="18"/>
                                        </p:tgtEl>
                                        <p:attrNameLst>
                                          <p:attrName>style.visibility</p:attrName>
                                        </p:attrNameLst>
                                      </p:cBhvr>
                                      <p:to>
                                        <p:strVal val="visible"/>
                                      </p:to>
                                    </p:set>
                                    <p:animEffect transition="in" filter="fade">
                                      <p:cBhvr>
                                        <p:cTn id="141" dur="450"/>
                                        <p:tgtEl>
                                          <p:spTgt spid="18"/>
                                        </p:tgtEl>
                                      </p:cBhvr>
                                    </p:animEffect>
                                  </p:childTnLst>
                                </p:cTn>
                              </p:par>
                            </p:childTnLst>
                          </p:cTn>
                        </p:par>
                        <p:par>
                          <p:cTn id="147" fill="hold">
                            <p:stCondLst>
                              <p:cond delay="7290"/>
                            </p:stCondLst>
                            <p:childTnLst>
                              <p:par>
                                <p:cTn id="148" presetID="53" presetClass="entr" presetSubtype="16" fill="hold" grpId="0" nodeType="afterEffect">
                                  <p:stCondLst>
                                    <p:cond delay="120"/>
                                  </p:stCondLst>
                                  <p:childTnLst>
                                    <p:set>
                                      <p:cBhvr>
                                        <p:cTn id="151" dur="1" fill="hold">
                                          <p:stCondLst>
                                            <p:cond delay="0"/>
                                          </p:stCondLst>
                                        </p:cTn>
                                        <p:tgtEl>
                                          <p:spTgt spid="19"/>
                                        </p:tgtEl>
                                        <p:attrNameLst>
                                          <p:attrName>style.visibility</p:attrName>
                                        </p:attrNameLst>
                                      </p:cBhvr>
                                      <p:to>
                                        <p:strVal val="visible"/>
                                      </p:to>
                                    </p:set>
                                    <p:anim calcmode="lin" valueType="num">
                                      <p:cBhvr>
                                        <p:cTn id="152" dur="450" fill="hold"/>
                                        <p:tgtEl>
                                          <p:spTgt spid="19"/>
                                        </p:tgtEl>
                                        <p:attrNameLst>
                                          <p:attrName>ppt_w</p:attrName>
                                        </p:attrNameLst>
                                      </p:cBhvr>
                                      <p:tavLst>
                                        <p:tav tm="0">
                                          <p:val>
                                            <p:fltVal val="0"/>
                                          </p:val>
                                        </p:tav>
                                        <p:tav tm="100000">
                                          <p:val>
                                            <p:strVal val="#ppt_w"/>
                                          </p:val>
                                        </p:tav>
                                      </p:tavLst>
                                    </p:anim>
                                    <p:anim calcmode="lin" valueType="num">
                                      <p:cBhvr>
                                        <p:cTn id="153" dur="450" fill="hold"/>
                                        <p:tgtEl>
                                          <p:spTgt spid="19"/>
                                        </p:tgtEl>
                                        <p:attrNameLst>
                                          <p:attrName>ppt_h</p:attrName>
                                        </p:attrNameLst>
                                      </p:cBhvr>
                                      <p:tavLst>
                                        <p:tav tm="0">
                                          <p:val>
                                            <p:fltVal val="0"/>
                                          </p:val>
                                        </p:tav>
                                        <p:tav tm="100000">
                                          <p:val>
                                            <p:strVal val="#ppt_h"/>
                                          </p:val>
                                        </p:tav>
                                      </p:tavLst>
                                    </p:anim>
                                    <p:animEffect transition="in" filter="fade">
                                      <p:cBhvr>
                                        <p:cTn id="154" dur="450"/>
                                        <p:tgtEl>
                                          <p:spTgt spid="19"/>
                                        </p:tgtEl>
                                      </p:cBhvr>
                                    </p:animEffect>
                                  </p:childTnLst>
                                </p:cTn>
                              </p:par>
                            </p:childTnLst>
                          </p:cTn>
                        </p:par>
                        <p:par>
                          <p:cTn id="158" fill="hold">
                            <p:stCondLst>
                              <p:cond delay="7860"/>
                            </p:stCondLst>
                            <p:childTnLst>
                              <p:par>
                                <p:cTn id="159" presetID="10" presetClass="entr" presetSubtype="0" fill="hold" grpId="0" nodeType="afterEffect">
                                  <p:stCondLst>
                                    <p:cond delay="120"/>
                                  </p:stCondLst>
                                  <p:childTnLst>
                                    <p:set>
                                      <p:cBhvr>
                                        <p:cTn id="162" dur="1" fill="hold">
                                          <p:stCondLst>
                                            <p:cond delay="0"/>
                                          </p:stCondLst>
                                        </p:cTn>
                                        <p:tgtEl>
                                          <p:spTgt spid="20"/>
                                        </p:tgtEl>
                                        <p:attrNameLst>
                                          <p:attrName>style.visibility</p:attrName>
                                        </p:attrNameLst>
                                      </p:cBhvr>
                                      <p:to>
                                        <p:strVal val="visible"/>
                                      </p:to>
                                    </p:set>
                                    <p:animEffect transition="in" filter="fade">
                                      <p:cBhvr>
                                        <p:cTn id="163" dur="450"/>
                                        <p:tgtEl>
                                          <p:spTgt spid="20"/>
                                        </p:tgtEl>
                                      </p:cBhvr>
                                    </p:animEffect>
                                  </p:childTnLst>
                                </p:cTn>
                              </p:par>
                            </p:childTnLst>
                          </p:cTn>
                        </p:par>
                        <p:par>
                          <p:cTn id="169" fill="hold">
                            <p:stCondLst>
                              <p:cond delay="8430"/>
                            </p:stCondLst>
                            <p:childTnLst>
                              <p:par>
                                <p:cTn id="170" presetID="10" presetClass="entr" presetSubtype="0" fill="hold" grpId="0" nodeType="afterEffect">
                                  <p:stCondLst>
                                    <p:cond delay="120"/>
                                  </p:stCondLst>
                                  <p:childTnLst>
                                    <p:set>
                                      <p:cBhvr>
                                        <p:cTn id="173" dur="1" fill="hold">
                                          <p:stCondLst>
                                            <p:cond delay="0"/>
                                          </p:stCondLst>
                                        </p:cTn>
                                        <p:tgtEl>
                                          <p:spTgt spid="21"/>
                                        </p:tgtEl>
                                        <p:attrNameLst>
                                          <p:attrName>style.visibility</p:attrName>
                                        </p:attrNameLst>
                                      </p:cBhvr>
                                      <p:to>
                                        <p:strVal val="visible"/>
                                      </p:to>
                                    </p:set>
                                    <p:animEffect transition="in" filter="fade">
                                      <p:cBhvr>
                                        <p:cTn id="174" dur="450"/>
                                        <p:tgtEl>
                                          <p:spTgt spid="21"/>
                                        </p:tgtEl>
                                      </p:cBhvr>
                                    </p:animEffect>
                                  </p:childTnLst>
                                </p:cTn>
                              </p:par>
                            </p:childTnLst>
                          </p:cTn>
                        </p:par>
                        <p:par>
                          <p:cTn id="180" fill="hold">
                            <p:stCondLst>
                              <p:cond delay="9000"/>
                            </p:stCondLst>
                            <p:childTnLst>
                              <p:par>
                                <p:cTn id="181" presetID="10" presetClass="entr" presetSubtype="0" fill="hold" grpId="0" nodeType="afterEffect">
                                  <p:stCondLst>
                                    <p:cond delay="120"/>
                                  </p:stCondLst>
                                  <p:childTnLst>
                                    <p:set>
                                      <p:cBhvr>
                                        <p:cTn id="184" dur="1" fill="hold">
                                          <p:stCondLst>
                                            <p:cond delay="0"/>
                                          </p:stCondLst>
                                        </p:cTn>
                                        <p:tgtEl>
                                          <p:spTgt spid="22"/>
                                        </p:tgtEl>
                                        <p:attrNameLst>
                                          <p:attrName>style.visibility</p:attrName>
                                        </p:attrNameLst>
                                      </p:cBhvr>
                                      <p:to>
                                        <p:strVal val="visible"/>
                                      </p:to>
                                    </p:set>
                                    <p:animEffect transition="in" filter="fade">
                                      <p:cBhvr>
                                        <p:cTn id="185" dur="450"/>
                                        <p:tgtEl>
                                          <p:spTgt spid="22"/>
                                        </p:tgtEl>
                                      </p:cBhvr>
                                    </p:animEffect>
                                  </p:childTnLst>
                                </p:cTn>
                              </p:par>
                            </p:childTnLst>
                          </p:cTn>
                        </p:par>
                        <p:par>
                          <p:cTn id="191" fill="hold">
                            <p:stCondLst>
                              <p:cond delay="9570"/>
                            </p:stCondLst>
                            <p:childTnLst>
                              <p:par>
                                <p:cTn id="192" presetID="53" presetClass="entr" presetSubtype="16" fill="hold" grpId="0" nodeType="afterEffect">
                                  <p:stCondLst>
                                    <p:cond delay="120"/>
                                  </p:stCondLst>
                                  <p:childTnLst>
                                    <p:set>
                                      <p:cBhvr>
                                        <p:cTn id="195" dur="1" fill="hold">
                                          <p:stCondLst>
                                            <p:cond delay="0"/>
                                          </p:stCondLst>
                                        </p:cTn>
                                        <p:tgtEl>
                                          <p:spTgt spid="23"/>
                                        </p:tgtEl>
                                        <p:attrNameLst>
                                          <p:attrName>style.visibility</p:attrName>
                                        </p:attrNameLst>
                                      </p:cBhvr>
                                      <p:to>
                                        <p:strVal val="visible"/>
                                      </p:to>
                                    </p:set>
                                    <p:anim calcmode="lin" valueType="num">
                                      <p:cBhvr>
                                        <p:cTn id="196" dur="450" fill="hold"/>
                                        <p:tgtEl>
                                          <p:spTgt spid="23"/>
                                        </p:tgtEl>
                                        <p:attrNameLst>
                                          <p:attrName>ppt_w</p:attrName>
                                        </p:attrNameLst>
                                      </p:cBhvr>
                                      <p:tavLst>
                                        <p:tav tm="0">
                                          <p:val>
                                            <p:fltVal val="0"/>
                                          </p:val>
                                        </p:tav>
                                        <p:tav tm="100000">
                                          <p:val>
                                            <p:strVal val="#ppt_w"/>
                                          </p:val>
                                        </p:tav>
                                      </p:tavLst>
                                    </p:anim>
                                    <p:anim calcmode="lin" valueType="num">
                                      <p:cBhvr>
                                        <p:cTn id="197" dur="450" fill="hold"/>
                                        <p:tgtEl>
                                          <p:spTgt spid="23"/>
                                        </p:tgtEl>
                                        <p:attrNameLst>
                                          <p:attrName>ppt_h</p:attrName>
                                        </p:attrNameLst>
                                      </p:cBhvr>
                                      <p:tavLst>
                                        <p:tav tm="0">
                                          <p:val>
                                            <p:fltVal val="0"/>
                                          </p:val>
                                        </p:tav>
                                        <p:tav tm="100000">
                                          <p:val>
                                            <p:strVal val="#ppt_h"/>
                                          </p:val>
                                        </p:tav>
                                      </p:tavLst>
                                    </p:anim>
                                    <p:animEffect transition="in" filter="fade">
                                      <p:cBhvr>
                                        <p:cTn id="198" dur="450"/>
                                        <p:tgtEl>
                                          <p:spTgt spid="23"/>
                                        </p:tgtEl>
                                      </p:cBhvr>
                                    </p:animEffect>
                                  </p:childTnLst>
                                </p:cTn>
                              </p:par>
                            </p:childTnLst>
                          </p:cTn>
                        </p:par>
                        <p:par>
                          <p:cTn id="202" fill="hold">
                            <p:stCondLst>
                              <p:cond delay="10140"/>
                            </p:stCondLst>
                            <p:childTnLst>
                              <p:par>
                                <p:cTn id="203" presetID="10" presetClass="entr" presetSubtype="0" fill="hold" grpId="0" nodeType="afterEffect">
                                  <p:stCondLst>
                                    <p:cond delay="120"/>
                                  </p:stCondLst>
                                  <p:childTnLst>
                                    <p:set>
                                      <p:cBhvr>
                                        <p:cTn id="206" dur="1" fill="hold">
                                          <p:stCondLst>
                                            <p:cond delay="0"/>
                                          </p:stCondLst>
                                        </p:cTn>
                                        <p:tgtEl>
                                          <p:spTgt spid="24"/>
                                        </p:tgtEl>
                                        <p:attrNameLst>
                                          <p:attrName>style.visibility</p:attrName>
                                        </p:attrNameLst>
                                      </p:cBhvr>
                                      <p:to>
                                        <p:strVal val="visible"/>
                                      </p:to>
                                    </p:set>
                                    <p:animEffect transition="in" filter="fade">
                                      <p:cBhvr>
                                        <p:cTn id="207" dur="450"/>
                                        <p:tgtEl>
                                          <p:spTgt spid="24"/>
                                        </p:tgtEl>
                                      </p:cBhvr>
                                    </p:animEffect>
                                  </p:childTnLst>
                                </p:cTn>
                              </p:par>
                            </p:childTnLst>
                          </p:cTn>
                        </p:par>
                        <p:par>
                          <p:cTn id="213" fill="hold">
                            <p:stCondLst>
                              <p:cond delay="10710"/>
                            </p:stCondLst>
                            <p:childTnLst>
                              <p:par>
                                <p:cTn id="214" presetID="10" presetClass="entr" presetSubtype="0" fill="hold" grpId="0" nodeType="afterEffect">
                                  <p:stCondLst>
                                    <p:cond delay="120"/>
                                  </p:stCondLst>
                                  <p:childTnLst>
                                    <p:set>
                                      <p:cBhvr>
                                        <p:cTn id="217" dur="1" fill="hold">
                                          <p:stCondLst>
                                            <p:cond delay="0"/>
                                          </p:stCondLst>
                                        </p:cTn>
                                        <p:tgtEl>
                                          <p:spTgt spid="25"/>
                                        </p:tgtEl>
                                        <p:attrNameLst>
                                          <p:attrName>style.visibility</p:attrName>
                                        </p:attrNameLst>
                                      </p:cBhvr>
                                      <p:to>
                                        <p:strVal val="visible"/>
                                      </p:to>
                                    </p:set>
                                    <p:animEffect transition="in" filter="fade">
                                      <p:cBhvr>
                                        <p:cTn id="218" dur="450"/>
                                        <p:tgtEl>
                                          <p:spTgt spid="25"/>
                                        </p:tgtEl>
                                      </p:cBhvr>
                                    </p:animEffect>
                                  </p:childTnLst>
                                </p:cTn>
                              </p:par>
                            </p:childTnLst>
                          </p:cTn>
                        </p:par>
                        <p:par>
                          <p:cTn id="224" fill="hold">
                            <p:stCondLst>
                              <p:cond delay="11280"/>
                            </p:stCondLst>
                            <p:childTnLst>
                              <p:par>
                                <p:cTn id="225" presetID="10" presetClass="entr" presetSubtype="0" fill="hold" grpId="0" nodeType="afterEffect">
                                  <p:stCondLst>
                                    <p:cond delay="120"/>
                                  </p:stCondLst>
                                  <p:childTnLst>
                                    <p:set>
                                      <p:cBhvr>
                                        <p:cTn id="228" dur="1" fill="hold">
                                          <p:stCondLst>
                                            <p:cond delay="0"/>
                                          </p:stCondLst>
                                        </p:cTn>
                                        <p:tgtEl>
                                          <p:spTgt spid="26"/>
                                        </p:tgtEl>
                                        <p:attrNameLst>
                                          <p:attrName>style.visibility</p:attrName>
                                        </p:attrNameLst>
                                      </p:cBhvr>
                                      <p:to>
                                        <p:strVal val="visible"/>
                                      </p:to>
                                    </p:set>
                                    <p:animEffect transition="in" filter="fade">
                                      <p:cBhvr>
                                        <p:cTn id="229" dur="450"/>
                                        <p:tgtEl>
                                          <p:spTgt spid="26"/>
                                        </p:tgtEl>
                                      </p:cBhvr>
                                    </p:animEffect>
                                  </p:childTnLst>
                                </p:cTn>
                              </p:par>
                            </p:childTnLst>
                          </p:cTn>
                        </p:par>
                        <p:par>
                          <p:cTn id="235" fill="hold">
                            <p:stCondLst>
                              <p:cond delay="11850"/>
                            </p:stCondLst>
                            <p:childTnLst>
                              <p:par>
                                <p:cTn id="236" presetID="53" presetClass="entr" presetSubtype="16" fill="hold" grpId="0" nodeType="afterEffect">
                                  <p:stCondLst>
                                    <p:cond delay="120"/>
                                  </p:stCondLst>
                                  <p:childTnLst>
                                    <p:set>
                                      <p:cBhvr>
                                        <p:cTn id="239" dur="1" fill="hold">
                                          <p:stCondLst>
                                            <p:cond delay="0"/>
                                          </p:stCondLst>
                                        </p:cTn>
                                        <p:tgtEl>
                                          <p:spTgt spid="27"/>
                                        </p:tgtEl>
                                        <p:attrNameLst>
                                          <p:attrName>style.visibility</p:attrName>
                                        </p:attrNameLst>
                                      </p:cBhvr>
                                      <p:to>
                                        <p:strVal val="visible"/>
                                      </p:to>
                                    </p:set>
                                    <p:anim calcmode="lin" valueType="num">
                                      <p:cBhvr>
                                        <p:cTn id="240" dur="450" fill="hold"/>
                                        <p:tgtEl>
                                          <p:spTgt spid="27"/>
                                        </p:tgtEl>
                                        <p:attrNameLst>
                                          <p:attrName>ppt_w</p:attrName>
                                        </p:attrNameLst>
                                      </p:cBhvr>
                                      <p:tavLst>
                                        <p:tav tm="0">
                                          <p:val>
                                            <p:fltVal val="0"/>
                                          </p:val>
                                        </p:tav>
                                        <p:tav tm="100000">
                                          <p:val>
                                            <p:strVal val="#ppt_w"/>
                                          </p:val>
                                        </p:tav>
                                      </p:tavLst>
                                    </p:anim>
                                    <p:anim calcmode="lin" valueType="num">
                                      <p:cBhvr>
                                        <p:cTn id="241" dur="450" fill="hold"/>
                                        <p:tgtEl>
                                          <p:spTgt spid="27"/>
                                        </p:tgtEl>
                                        <p:attrNameLst>
                                          <p:attrName>ppt_h</p:attrName>
                                        </p:attrNameLst>
                                      </p:cBhvr>
                                      <p:tavLst>
                                        <p:tav tm="0">
                                          <p:val>
                                            <p:fltVal val="0"/>
                                          </p:val>
                                        </p:tav>
                                        <p:tav tm="100000">
                                          <p:val>
                                            <p:strVal val="#ppt_h"/>
                                          </p:val>
                                        </p:tav>
                                      </p:tavLst>
                                    </p:anim>
                                    <p:animEffect transition="in" filter="fade">
                                      <p:cBhvr>
                                        <p:cTn id="242" dur="450"/>
                                        <p:tgtEl>
                                          <p:spTgt spid="27"/>
                                        </p:tgtEl>
                                      </p:cBhvr>
                                    </p:animEffect>
                                  </p:childTnLst>
                                </p:cTn>
                              </p:par>
                            </p:childTnLst>
                          </p:cTn>
                        </p:par>
                        <p:par>
                          <p:cTn id="246" fill="hold">
                            <p:stCondLst>
                              <p:cond delay="12420"/>
                            </p:stCondLst>
                            <p:childTnLst>
                              <p:par>
                                <p:cTn id="247" presetID="10" presetClass="entr" presetSubtype="0" fill="hold" grpId="0" nodeType="afterEffect">
                                  <p:stCondLst>
                                    <p:cond delay="120"/>
                                  </p:stCondLst>
                                  <p:childTnLst>
                                    <p:set>
                                      <p:cBhvr>
                                        <p:cTn id="250" dur="1" fill="hold">
                                          <p:stCondLst>
                                            <p:cond delay="0"/>
                                          </p:stCondLst>
                                        </p:cTn>
                                        <p:tgtEl>
                                          <p:spTgt spid="28"/>
                                        </p:tgtEl>
                                        <p:attrNameLst>
                                          <p:attrName>style.visibility</p:attrName>
                                        </p:attrNameLst>
                                      </p:cBhvr>
                                      <p:to>
                                        <p:strVal val="visible"/>
                                      </p:to>
                                    </p:set>
                                    <p:animEffect transition="in" filter="fade">
                                      <p:cBhvr>
                                        <p:cTn id="251" dur="450"/>
                                        <p:tgtEl>
                                          <p:spTgt spid="28"/>
                                        </p:tgtEl>
                                      </p:cBhvr>
                                    </p:animEffect>
                                  </p:childTnLst>
                                </p:cTn>
                              </p:par>
                            </p:childTnLst>
                          </p:cTn>
                        </p:par>
                        <p:par>
                          <p:cTn id="257" fill="hold">
                            <p:stCondLst>
                              <p:cond delay="12990"/>
                            </p:stCondLst>
                            <p:childTnLst>
                              <p:par>
                                <p:cTn id="258" presetID="10" presetClass="entr" presetSubtype="0" fill="hold" grpId="0" nodeType="afterEffect">
                                  <p:stCondLst>
                                    <p:cond delay="120"/>
                                  </p:stCondLst>
                                  <p:childTnLst>
                                    <p:set>
                                      <p:cBhvr>
                                        <p:cTn id="261" dur="1" fill="hold">
                                          <p:stCondLst>
                                            <p:cond delay="0"/>
                                          </p:stCondLst>
                                        </p:cTn>
                                        <p:tgtEl>
                                          <p:spTgt spid="29"/>
                                        </p:tgtEl>
                                        <p:attrNameLst>
                                          <p:attrName>style.visibility</p:attrName>
                                        </p:attrNameLst>
                                      </p:cBhvr>
                                      <p:to>
                                        <p:strVal val="visible"/>
                                      </p:to>
                                    </p:set>
                                    <p:animEffect transition="in" filter="fade">
                                      <p:cBhvr>
                                        <p:cTn id="262"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75520" y="-182880"/>
            <a:ext cx="2377440" cy="1188720"/>
          </a:xfrm>
          <a:prstGeom prst="ellipse">
            <a:avLst/>
          </a:prstGeom>
          <a:solidFill>
            <a:srgbClr val="FFF7C7">
              <a:alpha val="90000"/>
            </a:srgbClr>
          </a:solidFill>
          <a:ln w="12700">
            <a:solidFill>
              <a:srgbClr val="FFF7C7">
                <a:alpha val="0"/>
              </a:srgbClr>
            </a:solidFill>
            <a:prstDash val="solid"/>
          </a:ln>
        </p:spPr>
      </p:sp>
      <p:sp>
        <p:nvSpPr>
          <p:cNvPr id="3" name="Shape 1"/>
          <p:cNvSpPr/>
          <p:nvPr/>
        </p:nvSpPr>
        <p:spPr>
          <a:xfrm>
            <a:off x="-365760" y="5257800"/>
            <a:ext cx="2651760" cy="1143000"/>
          </a:xfrm>
          <a:prstGeom prst="ellipse">
            <a:avLst/>
          </a:prstGeom>
          <a:solidFill>
            <a:srgbClr val="CFEFFF">
              <a:alpha val="75000"/>
            </a:srgbClr>
          </a:solidFill>
          <a:ln w="12700">
            <a:solidFill>
              <a:srgbClr val="CFEFFF">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05</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Belastungsfaktor</a:t>
            </a:r>
            <a:endParaRPr lang="en-US" sz="1100" dirty="0"/>
          </a:p>
        </p:txBody>
      </p:sp>
      <p:sp>
        <p:nvSpPr>
          <p:cNvPr id="7" name="Text 5"/>
          <p:cNvSpPr/>
          <p:nvPr/>
        </p:nvSpPr>
        <p:spPr>
          <a:xfrm>
            <a:off x="731520" y="786384"/>
            <a:ext cx="576072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Leistungsdruck und Wohlbefinden</a:t>
            </a:r>
            <a:endParaRPr lang="en-US" sz="2400" dirty="0"/>
          </a:p>
        </p:txBody>
      </p:sp>
      <p:pic>
        <p:nvPicPr>
          <p:cNvPr id="8" name="Image 0" descr="/workspace/assets/generated/slide5-stres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23760" y="1051560"/>
            <a:ext cx="3840480" cy="3703320"/>
          </a:xfrm>
          <a:prstGeom prst="rect">
            <a:avLst/>
          </a:prstGeom>
        </p:spPr>
      </p:pic>
      <p:sp>
        <p:nvSpPr>
          <p:cNvPr id="9" name="Shape 6"/>
          <p:cNvSpPr/>
          <p:nvPr/>
        </p:nvSpPr>
        <p:spPr>
          <a:xfrm>
            <a:off x="822960" y="1572768"/>
            <a:ext cx="2926080" cy="2907792"/>
          </a:xfrm>
          <a:prstGeom prst="roundRect">
            <a:avLst>
              <a:gd name="adj" fmla="val 3774"/>
            </a:avLst>
          </a:prstGeom>
          <a:solidFill>
            <a:srgbClr val="FFFFFF"/>
          </a:solidFill>
          <a:ln w="12700">
            <a:solidFill>
              <a:srgbClr val="EEF0F5"/>
            </a:solidFill>
            <a:prstDash val="solid"/>
          </a:ln>
        </p:spPr>
      </p:sp>
      <p:sp>
        <p:nvSpPr>
          <p:cNvPr id="10" name="Shape 7"/>
          <p:cNvSpPr/>
          <p:nvPr/>
        </p:nvSpPr>
        <p:spPr>
          <a:xfrm>
            <a:off x="4069080" y="1572768"/>
            <a:ext cx="2926080" cy="2907792"/>
          </a:xfrm>
          <a:prstGeom prst="roundRect">
            <a:avLst>
              <a:gd name="adj" fmla="val 3774"/>
            </a:avLst>
          </a:prstGeom>
          <a:solidFill>
            <a:srgbClr val="FFFFFF"/>
          </a:solidFill>
          <a:ln w="12700">
            <a:solidFill>
              <a:srgbClr val="EEF0F5"/>
            </a:solidFill>
            <a:prstDash val="solid"/>
          </a:ln>
        </p:spPr>
      </p:sp>
      <p:sp>
        <p:nvSpPr>
          <p:cNvPr id="11" name="Text 8"/>
          <p:cNvSpPr/>
          <p:nvPr/>
        </p:nvSpPr>
        <p:spPr>
          <a:xfrm>
            <a:off x="1078992" y="1828800"/>
            <a:ext cx="2286000" cy="274320"/>
          </a:xfrm>
          <a:prstGeom prst="rect">
            <a:avLst/>
          </a:prstGeom>
          <a:noFill/>
          <a:ln/>
        </p:spPr>
        <p:txBody>
          <a:bodyPr wrap="square" lIns="0" tIns="0" rIns="0" bIns="0" rtlCol="0" anchor="t">
            <a:normAutofit/>
          </a:bodyPr>
          <a:lstStyle/>
          <a:p>
            <a:pPr algn="l" indent="0" marL="0">
              <a:buNone/>
            </a:pPr>
            <a:r>
              <a:rPr lang="en-US" sz="1800" b="1" dirty="0">
                <a:solidFill>
                  <a:srgbClr val="424242"/>
                </a:solidFill>
                <a:latin typeface="Avenir Next" pitchFamily="34" charset="0"/>
                <a:ea typeface="Avenir Next" pitchFamily="34" charset="-122"/>
                <a:cs typeface="Avenir Next" pitchFamily="34" charset="-120"/>
              </a:rPr>
              <a:t>Leistungsdruck</a:t>
            </a:r>
            <a:endParaRPr lang="en-US" sz="1800" dirty="0"/>
          </a:p>
        </p:txBody>
      </p:sp>
      <p:sp>
        <p:nvSpPr>
          <p:cNvPr id="12" name="Text 9"/>
          <p:cNvSpPr/>
          <p:nvPr/>
        </p:nvSpPr>
        <p:spPr>
          <a:xfrm>
            <a:off x="4325112" y="1828800"/>
            <a:ext cx="2011680" cy="274320"/>
          </a:xfrm>
          <a:prstGeom prst="rect">
            <a:avLst/>
          </a:prstGeom>
          <a:noFill/>
          <a:ln/>
        </p:spPr>
        <p:txBody>
          <a:bodyPr wrap="square" lIns="0" tIns="0" rIns="0" bIns="0" rtlCol="0" anchor="t">
            <a:normAutofit/>
          </a:bodyPr>
          <a:lstStyle/>
          <a:p>
            <a:pPr algn="l" indent="0" marL="0">
              <a:buNone/>
            </a:pPr>
            <a:r>
              <a:rPr lang="en-US" sz="1800" b="1" dirty="0">
                <a:solidFill>
                  <a:srgbClr val="424242"/>
                </a:solidFill>
                <a:latin typeface="Avenir Next" pitchFamily="34" charset="0"/>
                <a:ea typeface="Avenir Next" pitchFamily="34" charset="-122"/>
                <a:cs typeface="Avenir Next" pitchFamily="34" charset="-120"/>
              </a:rPr>
              <a:t>Folgen</a:t>
            </a:r>
            <a:endParaRPr lang="en-US" sz="1800" dirty="0"/>
          </a:p>
        </p:txBody>
      </p:sp>
      <p:sp>
        <p:nvSpPr>
          <p:cNvPr id="13" name="Text 10"/>
          <p:cNvSpPr/>
          <p:nvPr/>
        </p:nvSpPr>
        <p:spPr>
          <a:xfrm>
            <a:off x="1078992" y="2212848"/>
            <a:ext cx="1627632"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Noten</a:t>
            </a:r>
            <a:endParaRPr lang="en-US" sz="1050" dirty="0"/>
          </a:p>
        </p:txBody>
      </p:sp>
      <p:sp>
        <p:nvSpPr>
          <p:cNvPr id="14" name="Text 11"/>
          <p:cNvSpPr/>
          <p:nvPr/>
        </p:nvSpPr>
        <p:spPr>
          <a:xfrm>
            <a:off x="1078992" y="2670048"/>
            <a:ext cx="1627632"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Prüfungen</a:t>
            </a:r>
            <a:endParaRPr lang="en-US" sz="1050" dirty="0"/>
          </a:p>
        </p:txBody>
      </p:sp>
      <p:sp>
        <p:nvSpPr>
          <p:cNvPr id="15" name="Text 12"/>
          <p:cNvSpPr/>
          <p:nvPr/>
        </p:nvSpPr>
        <p:spPr>
          <a:xfrm>
            <a:off x="1078992" y="3127248"/>
            <a:ext cx="1627632"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Konkurrenz</a:t>
            </a:r>
            <a:endParaRPr lang="en-US" sz="1050" dirty="0"/>
          </a:p>
        </p:txBody>
      </p:sp>
      <p:sp>
        <p:nvSpPr>
          <p:cNvPr id="16" name="Text 13"/>
          <p:cNvSpPr/>
          <p:nvPr/>
        </p:nvSpPr>
        <p:spPr>
          <a:xfrm>
            <a:off x="1078992" y="3584448"/>
            <a:ext cx="1627632"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Erwartungen</a:t>
            </a:r>
            <a:endParaRPr lang="en-US" sz="1050" dirty="0"/>
          </a:p>
        </p:txBody>
      </p:sp>
      <p:sp>
        <p:nvSpPr>
          <p:cNvPr id="17" name="Text 14"/>
          <p:cNvSpPr/>
          <p:nvPr/>
        </p:nvSpPr>
        <p:spPr>
          <a:xfrm>
            <a:off x="4325112" y="2212848"/>
            <a:ext cx="2011680" cy="310896"/>
          </a:xfrm>
          <a:prstGeom prst="roundRect">
            <a:avLst>
              <a:gd name="adj" fmla="val 35294"/>
            </a:avLst>
          </a:prstGeom>
          <a:solidFill>
            <a:srgbClr val="FFD9E8"/>
          </a:solidFill>
          <a:ln w="12700">
            <a:solidFill>
              <a:srgbClr val="FFD9E8"/>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Stress</a:t>
            </a:r>
            <a:endParaRPr lang="en-US" sz="1050" dirty="0"/>
          </a:p>
        </p:txBody>
      </p:sp>
      <p:sp>
        <p:nvSpPr>
          <p:cNvPr id="18" name="Text 15"/>
          <p:cNvSpPr/>
          <p:nvPr/>
        </p:nvSpPr>
        <p:spPr>
          <a:xfrm>
            <a:off x="4325112" y="2670048"/>
            <a:ext cx="2011680" cy="310896"/>
          </a:xfrm>
          <a:prstGeom prst="roundRect">
            <a:avLst>
              <a:gd name="adj" fmla="val 35294"/>
            </a:avLst>
          </a:prstGeom>
          <a:solidFill>
            <a:srgbClr val="FFD9E8"/>
          </a:solidFill>
          <a:ln w="12700">
            <a:solidFill>
              <a:srgbClr val="FFD9E8"/>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Schlafprobleme</a:t>
            </a:r>
            <a:endParaRPr lang="en-US" sz="1050" dirty="0"/>
          </a:p>
        </p:txBody>
      </p:sp>
      <p:sp>
        <p:nvSpPr>
          <p:cNvPr id="19" name="Text 16"/>
          <p:cNvSpPr/>
          <p:nvPr/>
        </p:nvSpPr>
        <p:spPr>
          <a:xfrm>
            <a:off x="4325112" y="3127248"/>
            <a:ext cx="2011680" cy="310896"/>
          </a:xfrm>
          <a:prstGeom prst="roundRect">
            <a:avLst>
              <a:gd name="adj" fmla="val 35294"/>
            </a:avLst>
          </a:prstGeom>
          <a:solidFill>
            <a:srgbClr val="FFD9E8"/>
          </a:solidFill>
          <a:ln w="12700">
            <a:solidFill>
              <a:srgbClr val="FFD9E8"/>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Unsicherheit</a:t>
            </a:r>
            <a:endParaRPr lang="en-US" sz="1050" dirty="0"/>
          </a:p>
        </p:txBody>
      </p:sp>
      <p:sp>
        <p:nvSpPr>
          <p:cNvPr id="20" name="Text 17"/>
          <p:cNvSpPr/>
          <p:nvPr/>
        </p:nvSpPr>
        <p:spPr>
          <a:xfrm>
            <a:off x="4325112" y="3584448"/>
            <a:ext cx="2011680" cy="310896"/>
          </a:xfrm>
          <a:prstGeom prst="roundRect">
            <a:avLst>
              <a:gd name="adj" fmla="val 35294"/>
            </a:avLst>
          </a:prstGeom>
          <a:solidFill>
            <a:srgbClr val="FFD9E8"/>
          </a:solidFill>
          <a:ln w="12700">
            <a:solidFill>
              <a:srgbClr val="FFD9E8"/>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geringeres Selbstwertgefühl</a:t>
            </a:r>
            <a:endParaRPr lang="en-US" sz="1050" dirty="0"/>
          </a:p>
        </p:txBody>
      </p:sp>
      <p:sp>
        <p:nvSpPr>
          <p:cNvPr id="21" name="Shape 18"/>
          <p:cNvSpPr/>
          <p:nvPr/>
        </p:nvSpPr>
        <p:spPr>
          <a:xfrm>
            <a:off x="960120" y="4956048"/>
            <a:ext cx="9966960" cy="694944"/>
          </a:xfrm>
          <a:prstGeom prst="roundRect">
            <a:avLst>
              <a:gd name="adj" fmla="val 15789"/>
            </a:avLst>
          </a:prstGeom>
          <a:solidFill>
            <a:srgbClr val="FFF7C7"/>
          </a:solidFill>
          <a:ln w="12700">
            <a:solidFill>
              <a:srgbClr val="FFF7C7"/>
            </a:solidFill>
            <a:prstDash val="solid"/>
          </a:ln>
        </p:spPr>
      </p:sp>
      <p:sp>
        <p:nvSpPr>
          <p:cNvPr id="22" name="Text 19"/>
          <p:cNvSpPr/>
          <p:nvPr/>
        </p:nvSpPr>
        <p:spPr>
          <a:xfrm>
            <a:off x="1234440" y="5166360"/>
            <a:ext cx="9464040" cy="237744"/>
          </a:xfrm>
          <a:prstGeom prst="rect">
            <a:avLst/>
          </a:prstGeom>
          <a:noFill/>
          <a:ln/>
        </p:spPr>
        <p:txBody>
          <a:bodyPr wrap="square" lIns="0" tIns="0" rIns="0" bIns="0" rtlCol="0" anchor="t">
            <a:normAutofit/>
          </a:bodyPr>
          <a:lstStyle/>
          <a:p>
            <a:pPr algn="ctr" indent="0" marL="0">
              <a:buNone/>
            </a:pPr>
            <a:r>
              <a:rPr lang="en-US" sz="1500" b="1" dirty="0">
                <a:solidFill>
                  <a:srgbClr val="424242"/>
                </a:solidFill>
                <a:latin typeface="Avenir Next" pitchFamily="34" charset="0"/>
                <a:ea typeface="Avenir Next" pitchFamily="34" charset="-122"/>
                <a:cs typeface="Avenir Next" pitchFamily="34" charset="-120"/>
              </a:rPr>
              <a:t>Leistungsdruck kann Motivation fördern, aber auch das Wohlbefinden beeinträchtigen.</a:t>
            </a:r>
            <a:endParaRPr lang="en-US" sz="1500" dirty="0"/>
          </a:p>
        </p:txBody>
      </p:sp>
    </p:spTree>
  </p:cSld>
  <p:transition spd="med">
    <p:zoom dir="out"/>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53" presetClass="entr" presetSubtype="16"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 calcmode="lin" valueType="num">
                                      <p:cBhvr>
                                        <p:cTn id="31" dur="450" fill="hold"/>
                                        <p:tgtEl>
                                          <p:spTgt spid="8"/>
                                        </p:tgtEl>
                                        <p:attrNameLst>
                                          <p:attrName>ppt_w</p:attrName>
                                        </p:attrNameLst>
                                      </p:cBhvr>
                                      <p:tavLst>
                                        <p:tav tm="0">
                                          <p:val>
                                            <p:fltVal val="0"/>
                                          </p:val>
                                        </p:tav>
                                        <p:tav tm="100000">
                                          <p:val>
                                            <p:strVal val="#ppt_w"/>
                                          </p:val>
                                        </p:tav>
                                      </p:tavLst>
                                    </p:anim>
                                    <p:anim calcmode="lin" valueType="num">
                                      <p:cBhvr>
                                        <p:cTn id="32" dur="450" fill="hold"/>
                                        <p:tgtEl>
                                          <p:spTgt spid="8"/>
                                        </p:tgtEl>
                                        <p:attrNameLst>
                                          <p:attrName>ppt_h</p:attrName>
                                        </p:attrNameLst>
                                      </p:cBhvr>
                                      <p:tavLst>
                                        <p:tav tm="0">
                                          <p:val>
                                            <p:fltVal val="0"/>
                                          </p:val>
                                        </p:tav>
                                        <p:tav tm="100000">
                                          <p:val>
                                            <p:strVal val="#ppt_h"/>
                                          </p:val>
                                        </p:tav>
                                      </p:tavLst>
                                    </p:anim>
                                    <p:animEffect transition="in" filter="fade">
                                      <p:cBhvr>
                                        <p:cTn id="33" dur="450"/>
                                        <p:tgtEl>
                                          <p:spTgt spid="8"/>
                                        </p:tgtEl>
                                      </p:cBhvr>
                                    </p:animEffect>
                                  </p:childTnLst>
                                </p:cTn>
                              </p:par>
                            </p:childTnLst>
                          </p:cTn>
                        </p:par>
                        <p:par>
                          <p:cTn id="37" fill="hold">
                            <p:stCondLst>
                              <p:cond delay="1590"/>
                            </p:stCondLst>
                            <p:childTnLst>
                              <p:par>
                                <p:cTn id="38" presetID="10" presetClass="entr" presetSubtype="0"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450"/>
                                        <p:tgtEl>
                                          <p:spTgt spid="9"/>
                                        </p:tgtEl>
                                      </p:cBhvr>
                                    </p:animEffect>
                                  </p:childTnLst>
                                </p:cTn>
                              </p:par>
                            </p:childTnLst>
                          </p:cTn>
                        </p:par>
                        <p:par>
                          <p:cTn id="48" fill="hold">
                            <p:stCondLst>
                              <p:cond delay="2160"/>
                            </p:stCondLst>
                            <p:childTnLst>
                              <p:par>
                                <p:cTn id="49" presetID="10" presetClass="entr" presetSubtype="0"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childTnLst>
                          </p:cTn>
                        </p:par>
                        <p:par>
                          <p:cTn id="59" fill="hold">
                            <p:stCondLst>
                              <p:cond delay="2730"/>
                            </p:stCondLst>
                            <p:childTnLst>
                              <p:par>
                                <p:cTn id="60" presetID="10" presetClass="entr" presetSubtype="0"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par>
                          <p:cTn id="70" fill="hold">
                            <p:stCondLst>
                              <p:cond delay="3300"/>
                            </p:stCondLst>
                            <p:childTnLst>
                              <p:par>
                                <p:cTn id="71" presetID="10" presetClass="entr" presetSubtype="0"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450"/>
                                        <p:tgtEl>
                                          <p:spTgt spid="12"/>
                                        </p:tgtEl>
                                      </p:cBhvr>
                                    </p:animEffect>
                                  </p:childTnLst>
                                </p:cTn>
                              </p:par>
                            </p:childTnLst>
                          </p:cTn>
                        </p:par>
                        <p:par>
                          <p:cTn id="81" fill="hold">
                            <p:stCondLst>
                              <p:cond delay="3870"/>
                            </p:stCondLst>
                            <p:childTnLst>
                              <p:par>
                                <p:cTn id="82" presetID="53" presetClass="entr" presetSubtype="16"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 calcmode="lin" valueType="num">
                                      <p:cBhvr>
                                        <p:cTn id="86" dur="450" fill="hold"/>
                                        <p:tgtEl>
                                          <p:spTgt spid="13"/>
                                        </p:tgtEl>
                                        <p:attrNameLst>
                                          <p:attrName>ppt_w</p:attrName>
                                        </p:attrNameLst>
                                      </p:cBhvr>
                                      <p:tavLst>
                                        <p:tav tm="0">
                                          <p:val>
                                            <p:fltVal val="0"/>
                                          </p:val>
                                        </p:tav>
                                        <p:tav tm="100000">
                                          <p:val>
                                            <p:strVal val="#ppt_w"/>
                                          </p:val>
                                        </p:tav>
                                      </p:tavLst>
                                    </p:anim>
                                    <p:anim calcmode="lin" valueType="num">
                                      <p:cBhvr>
                                        <p:cTn id="87" dur="450" fill="hold"/>
                                        <p:tgtEl>
                                          <p:spTgt spid="13"/>
                                        </p:tgtEl>
                                        <p:attrNameLst>
                                          <p:attrName>ppt_h</p:attrName>
                                        </p:attrNameLst>
                                      </p:cBhvr>
                                      <p:tavLst>
                                        <p:tav tm="0">
                                          <p:val>
                                            <p:fltVal val="0"/>
                                          </p:val>
                                        </p:tav>
                                        <p:tav tm="100000">
                                          <p:val>
                                            <p:strVal val="#ppt_h"/>
                                          </p:val>
                                        </p:tav>
                                      </p:tavLst>
                                    </p:anim>
                                    <p:animEffect transition="in" filter="fade">
                                      <p:cBhvr>
                                        <p:cTn id="88" dur="450"/>
                                        <p:tgtEl>
                                          <p:spTgt spid="13"/>
                                        </p:tgtEl>
                                      </p:cBhvr>
                                    </p:animEffect>
                                  </p:childTnLst>
                                </p:cTn>
                              </p:par>
                            </p:childTnLst>
                          </p:cTn>
                        </p:par>
                        <p:par>
                          <p:cTn id="92" fill="hold">
                            <p:stCondLst>
                              <p:cond delay="4440"/>
                            </p:stCondLst>
                            <p:childTnLst>
                              <p:par>
                                <p:cTn id="93" presetID="53" presetClass="entr" presetSubtype="16"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 calcmode="lin" valueType="num">
                                      <p:cBhvr>
                                        <p:cTn id="97" dur="450" fill="hold"/>
                                        <p:tgtEl>
                                          <p:spTgt spid="14"/>
                                        </p:tgtEl>
                                        <p:attrNameLst>
                                          <p:attrName>ppt_w</p:attrName>
                                        </p:attrNameLst>
                                      </p:cBhvr>
                                      <p:tavLst>
                                        <p:tav tm="0">
                                          <p:val>
                                            <p:fltVal val="0"/>
                                          </p:val>
                                        </p:tav>
                                        <p:tav tm="100000">
                                          <p:val>
                                            <p:strVal val="#ppt_w"/>
                                          </p:val>
                                        </p:tav>
                                      </p:tavLst>
                                    </p:anim>
                                    <p:anim calcmode="lin" valueType="num">
                                      <p:cBhvr>
                                        <p:cTn id="98" dur="450" fill="hold"/>
                                        <p:tgtEl>
                                          <p:spTgt spid="14"/>
                                        </p:tgtEl>
                                        <p:attrNameLst>
                                          <p:attrName>ppt_h</p:attrName>
                                        </p:attrNameLst>
                                      </p:cBhvr>
                                      <p:tavLst>
                                        <p:tav tm="0">
                                          <p:val>
                                            <p:fltVal val="0"/>
                                          </p:val>
                                        </p:tav>
                                        <p:tav tm="100000">
                                          <p:val>
                                            <p:strVal val="#ppt_h"/>
                                          </p:val>
                                        </p:tav>
                                      </p:tavLst>
                                    </p:anim>
                                    <p:animEffect transition="in" filter="fade">
                                      <p:cBhvr>
                                        <p:cTn id="99" dur="450"/>
                                        <p:tgtEl>
                                          <p:spTgt spid="14"/>
                                        </p:tgtEl>
                                      </p:cBhvr>
                                    </p:animEffect>
                                  </p:childTnLst>
                                </p:cTn>
                              </p:par>
                            </p:childTnLst>
                          </p:cTn>
                        </p:par>
                        <p:par>
                          <p:cTn id="103" fill="hold">
                            <p:stCondLst>
                              <p:cond delay="5010"/>
                            </p:stCondLst>
                            <p:childTnLst>
                              <p:par>
                                <p:cTn id="104" presetID="53" presetClass="entr" presetSubtype="16"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 calcmode="lin" valueType="num">
                                      <p:cBhvr>
                                        <p:cTn id="108" dur="450" fill="hold"/>
                                        <p:tgtEl>
                                          <p:spTgt spid="15"/>
                                        </p:tgtEl>
                                        <p:attrNameLst>
                                          <p:attrName>ppt_w</p:attrName>
                                        </p:attrNameLst>
                                      </p:cBhvr>
                                      <p:tavLst>
                                        <p:tav tm="0">
                                          <p:val>
                                            <p:fltVal val="0"/>
                                          </p:val>
                                        </p:tav>
                                        <p:tav tm="100000">
                                          <p:val>
                                            <p:strVal val="#ppt_w"/>
                                          </p:val>
                                        </p:tav>
                                      </p:tavLst>
                                    </p:anim>
                                    <p:anim calcmode="lin" valueType="num">
                                      <p:cBhvr>
                                        <p:cTn id="109" dur="450" fill="hold"/>
                                        <p:tgtEl>
                                          <p:spTgt spid="15"/>
                                        </p:tgtEl>
                                        <p:attrNameLst>
                                          <p:attrName>ppt_h</p:attrName>
                                        </p:attrNameLst>
                                      </p:cBhvr>
                                      <p:tavLst>
                                        <p:tav tm="0">
                                          <p:val>
                                            <p:fltVal val="0"/>
                                          </p:val>
                                        </p:tav>
                                        <p:tav tm="100000">
                                          <p:val>
                                            <p:strVal val="#ppt_h"/>
                                          </p:val>
                                        </p:tav>
                                      </p:tavLst>
                                    </p:anim>
                                    <p:animEffect transition="in" filter="fade">
                                      <p:cBhvr>
                                        <p:cTn id="110" dur="450"/>
                                        <p:tgtEl>
                                          <p:spTgt spid="15"/>
                                        </p:tgtEl>
                                      </p:cBhvr>
                                    </p:animEffect>
                                  </p:childTnLst>
                                </p:cTn>
                              </p:par>
                            </p:childTnLst>
                          </p:cTn>
                        </p:par>
                        <p:par>
                          <p:cTn id="114" fill="hold">
                            <p:stCondLst>
                              <p:cond delay="5580"/>
                            </p:stCondLst>
                            <p:childTnLst>
                              <p:par>
                                <p:cTn id="115" presetID="53" presetClass="entr" presetSubtype="16" fill="hold" grpId="0" nodeType="afterEffect">
                                  <p:stCondLst>
                                    <p:cond delay="120"/>
                                  </p:stCondLst>
                                  <p:childTnLst>
                                    <p:set>
                                      <p:cBhvr>
                                        <p:cTn id="118" dur="1" fill="hold">
                                          <p:stCondLst>
                                            <p:cond delay="0"/>
                                          </p:stCondLst>
                                        </p:cTn>
                                        <p:tgtEl>
                                          <p:spTgt spid="16"/>
                                        </p:tgtEl>
                                        <p:attrNameLst>
                                          <p:attrName>style.visibility</p:attrName>
                                        </p:attrNameLst>
                                      </p:cBhvr>
                                      <p:to>
                                        <p:strVal val="visible"/>
                                      </p:to>
                                    </p:set>
                                    <p:anim calcmode="lin" valueType="num">
                                      <p:cBhvr>
                                        <p:cTn id="119" dur="450" fill="hold"/>
                                        <p:tgtEl>
                                          <p:spTgt spid="16"/>
                                        </p:tgtEl>
                                        <p:attrNameLst>
                                          <p:attrName>ppt_w</p:attrName>
                                        </p:attrNameLst>
                                      </p:cBhvr>
                                      <p:tavLst>
                                        <p:tav tm="0">
                                          <p:val>
                                            <p:fltVal val="0"/>
                                          </p:val>
                                        </p:tav>
                                        <p:tav tm="100000">
                                          <p:val>
                                            <p:strVal val="#ppt_w"/>
                                          </p:val>
                                        </p:tav>
                                      </p:tavLst>
                                    </p:anim>
                                    <p:anim calcmode="lin" valueType="num">
                                      <p:cBhvr>
                                        <p:cTn id="120" dur="450" fill="hold"/>
                                        <p:tgtEl>
                                          <p:spTgt spid="16"/>
                                        </p:tgtEl>
                                        <p:attrNameLst>
                                          <p:attrName>ppt_h</p:attrName>
                                        </p:attrNameLst>
                                      </p:cBhvr>
                                      <p:tavLst>
                                        <p:tav tm="0">
                                          <p:val>
                                            <p:fltVal val="0"/>
                                          </p:val>
                                        </p:tav>
                                        <p:tav tm="100000">
                                          <p:val>
                                            <p:strVal val="#ppt_h"/>
                                          </p:val>
                                        </p:tav>
                                      </p:tavLst>
                                    </p:anim>
                                    <p:animEffect transition="in" filter="fade">
                                      <p:cBhvr>
                                        <p:cTn id="121" dur="450"/>
                                        <p:tgtEl>
                                          <p:spTgt spid="16"/>
                                        </p:tgtEl>
                                      </p:cBhvr>
                                    </p:animEffect>
                                  </p:childTnLst>
                                </p:cTn>
                              </p:par>
                            </p:childTnLst>
                          </p:cTn>
                        </p:par>
                        <p:par>
                          <p:cTn id="125" fill="hold">
                            <p:stCondLst>
                              <p:cond delay="6150"/>
                            </p:stCondLst>
                            <p:childTnLst>
                              <p:par>
                                <p:cTn id="126" presetID="53" presetClass="entr" presetSubtype="16" fill="hold" grpId="0" nodeType="afterEffect">
                                  <p:stCondLst>
                                    <p:cond delay="120"/>
                                  </p:stCondLst>
                                  <p:childTnLst>
                                    <p:set>
                                      <p:cBhvr>
                                        <p:cTn id="129" dur="1" fill="hold">
                                          <p:stCondLst>
                                            <p:cond delay="0"/>
                                          </p:stCondLst>
                                        </p:cTn>
                                        <p:tgtEl>
                                          <p:spTgt spid="17"/>
                                        </p:tgtEl>
                                        <p:attrNameLst>
                                          <p:attrName>style.visibility</p:attrName>
                                        </p:attrNameLst>
                                      </p:cBhvr>
                                      <p:to>
                                        <p:strVal val="visible"/>
                                      </p:to>
                                    </p:set>
                                    <p:anim calcmode="lin" valueType="num">
                                      <p:cBhvr>
                                        <p:cTn id="130" dur="450" fill="hold"/>
                                        <p:tgtEl>
                                          <p:spTgt spid="17"/>
                                        </p:tgtEl>
                                        <p:attrNameLst>
                                          <p:attrName>ppt_w</p:attrName>
                                        </p:attrNameLst>
                                      </p:cBhvr>
                                      <p:tavLst>
                                        <p:tav tm="0">
                                          <p:val>
                                            <p:fltVal val="0"/>
                                          </p:val>
                                        </p:tav>
                                        <p:tav tm="100000">
                                          <p:val>
                                            <p:strVal val="#ppt_w"/>
                                          </p:val>
                                        </p:tav>
                                      </p:tavLst>
                                    </p:anim>
                                    <p:anim calcmode="lin" valueType="num">
                                      <p:cBhvr>
                                        <p:cTn id="131" dur="450" fill="hold"/>
                                        <p:tgtEl>
                                          <p:spTgt spid="17"/>
                                        </p:tgtEl>
                                        <p:attrNameLst>
                                          <p:attrName>ppt_h</p:attrName>
                                        </p:attrNameLst>
                                      </p:cBhvr>
                                      <p:tavLst>
                                        <p:tav tm="0">
                                          <p:val>
                                            <p:fltVal val="0"/>
                                          </p:val>
                                        </p:tav>
                                        <p:tav tm="100000">
                                          <p:val>
                                            <p:strVal val="#ppt_h"/>
                                          </p:val>
                                        </p:tav>
                                      </p:tavLst>
                                    </p:anim>
                                    <p:animEffect transition="in" filter="fade">
                                      <p:cBhvr>
                                        <p:cTn id="132" dur="450"/>
                                        <p:tgtEl>
                                          <p:spTgt spid="17"/>
                                        </p:tgtEl>
                                      </p:cBhvr>
                                    </p:animEffect>
                                  </p:childTnLst>
                                </p:cTn>
                              </p:par>
                            </p:childTnLst>
                          </p:cTn>
                        </p:par>
                        <p:par>
                          <p:cTn id="136" fill="hold">
                            <p:stCondLst>
                              <p:cond delay="6720"/>
                            </p:stCondLst>
                            <p:childTnLst>
                              <p:par>
                                <p:cTn id="137" presetID="53" presetClass="entr" presetSubtype="16" fill="hold" grpId="0" nodeType="afterEffect">
                                  <p:stCondLst>
                                    <p:cond delay="120"/>
                                  </p:stCondLst>
                                  <p:childTnLst>
                                    <p:set>
                                      <p:cBhvr>
                                        <p:cTn id="140" dur="1" fill="hold">
                                          <p:stCondLst>
                                            <p:cond delay="0"/>
                                          </p:stCondLst>
                                        </p:cTn>
                                        <p:tgtEl>
                                          <p:spTgt spid="18"/>
                                        </p:tgtEl>
                                        <p:attrNameLst>
                                          <p:attrName>style.visibility</p:attrName>
                                        </p:attrNameLst>
                                      </p:cBhvr>
                                      <p:to>
                                        <p:strVal val="visible"/>
                                      </p:to>
                                    </p:set>
                                    <p:anim calcmode="lin" valueType="num">
                                      <p:cBhvr>
                                        <p:cTn id="141" dur="450" fill="hold"/>
                                        <p:tgtEl>
                                          <p:spTgt spid="18"/>
                                        </p:tgtEl>
                                        <p:attrNameLst>
                                          <p:attrName>ppt_w</p:attrName>
                                        </p:attrNameLst>
                                      </p:cBhvr>
                                      <p:tavLst>
                                        <p:tav tm="0">
                                          <p:val>
                                            <p:fltVal val="0"/>
                                          </p:val>
                                        </p:tav>
                                        <p:tav tm="100000">
                                          <p:val>
                                            <p:strVal val="#ppt_w"/>
                                          </p:val>
                                        </p:tav>
                                      </p:tavLst>
                                    </p:anim>
                                    <p:anim calcmode="lin" valueType="num">
                                      <p:cBhvr>
                                        <p:cTn id="142" dur="450" fill="hold"/>
                                        <p:tgtEl>
                                          <p:spTgt spid="18"/>
                                        </p:tgtEl>
                                        <p:attrNameLst>
                                          <p:attrName>ppt_h</p:attrName>
                                        </p:attrNameLst>
                                      </p:cBhvr>
                                      <p:tavLst>
                                        <p:tav tm="0">
                                          <p:val>
                                            <p:fltVal val="0"/>
                                          </p:val>
                                        </p:tav>
                                        <p:tav tm="100000">
                                          <p:val>
                                            <p:strVal val="#ppt_h"/>
                                          </p:val>
                                        </p:tav>
                                      </p:tavLst>
                                    </p:anim>
                                    <p:animEffect transition="in" filter="fade">
                                      <p:cBhvr>
                                        <p:cTn id="143" dur="450"/>
                                        <p:tgtEl>
                                          <p:spTgt spid="18"/>
                                        </p:tgtEl>
                                      </p:cBhvr>
                                    </p:animEffect>
                                  </p:childTnLst>
                                </p:cTn>
                              </p:par>
                            </p:childTnLst>
                          </p:cTn>
                        </p:par>
                        <p:par>
                          <p:cTn id="147" fill="hold">
                            <p:stCondLst>
                              <p:cond delay="7290"/>
                            </p:stCondLst>
                            <p:childTnLst>
                              <p:par>
                                <p:cTn id="148" presetID="53" presetClass="entr" presetSubtype="16" fill="hold" grpId="0" nodeType="afterEffect">
                                  <p:stCondLst>
                                    <p:cond delay="120"/>
                                  </p:stCondLst>
                                  <p:childTnLst>
                                    <p:set>
                                      <p:cBhvr>
                                        <p:cTn id="151" dur="1" fill="hold">
                                          <p:stCondLst>
                                            <p:cond delay="0"/>
                                          </p:stCondLst>
                                        </p:cTn>
                                        <p:tgtEl>
                                          <p:spTgt spid="19"/>
                                        </p:tgtEl>
                                        <p:attrNameLst>
                                          <p:attrName>style.visibility</p:attrName>
                                        </p:attrNameLst>
                                      </p:cBhvr>
                                      <p:to>
                                        <p:strVal val="visible"/>
                                      </p:to>
                                    </p:set>
                                    <p:anim calcmode="lin" valueType="num">
                                      <p:cBhvr>
                                        <p:cTn id="152" dur="450" fill="hold"/>
                                        <p:tgtEl>
                                          <p:spTgt spid="19"/>
                                        </p:tgtEl>
                                        <p:attrNameLst>
                                          <p:attrName>ppt_w</p:attrName>
                                        </p:attrNameLst>
                                      </p:cBhvr>
                                      <p:tavLst>
                                        <p:tav tm="0">
                                          <p:val>
                                            <p:fltVal val="0"/>
                                          </p:val>
                                        </p:tav>
                                        <p:tav tm="100000">
                                          <p:val>
                                            <p:strVal val="#ppt_w"/>
                                          </p:val>
                                        </p:tav>
                                      </p:tavLst>
                                    </p:anim>
                                    <p:anim calcmode="lin" valueType="num">
                                      <p:cBhvr>
                                        <p:cTn id="153" dur="450" fill="hold"/>
                                        <p:tgtEl>
                                          <p:spTgt spid="19"/>
                                        </p:tgtEl>
                                        <p:attrNameLst>
                                          <p:attrName>ppt_h</p:attrName>
                                        </p:attrNameLst>
                                      </p:cBhvr>
                                      <p:tavLst>
                                        <p:tav tm="0">
                                          <p:val>
                                            <p:fltVal val="0"/>
                                          </p:val>
                                        </p:tav>
                                        <p:tav tm="100000">
                                          <p:val>
                                            <p:strVal val="#ppt_h"/>
                                          </p:val>
                                        </p:tav>
                                      </p:tavLst>
                                    </p:anim>
                                    <p:animEffect transition="in" filter="fade">
                                      <p:cBhvr>
                                        <p:cTn id="154" dur="450"/>
                                        <p:tgtEl>
                                          <p:spTgt spid="19"/>
                                        </p:tgtEl>
                                      </p:cBhvr>
                                    </p:animEffect>
                                  </p:childTnLst>
                                </p:cTn>
                              </p:par>
                            </p:childTnLst>
                          </p:cTn>
                        </p:par>
                        <p:par>
                          <p:cTn id="158" fill="hold">
                            <p:stCondLst>
                              <p:cond delay="7860"/>
                            </p:stCondLst>
                            <p:childTnLst>
                              <p:par>
                                <p:cTn id="159" presetID="53" presetClass="entr" presetSubtype="16" fill="hold" grpId="0" nodeType="afterEffect">
                                  <p:stCondLst>
                                    <p:cond delay="120"/>
                                  </p:stCondLst>
                                  <p:childTnLst>
                                    <p:set>
                                      <p:cBhvr>
                                        <p:cTn id="162" dur="1" fill="hold">
                                          <p:stCondLst>
                                            <p:cond delay="0"/>
                                          </p:stCondLst>
                                        </p:cTn>
                                        <p:tgtEl>
                                          <p:spTgt spid="20"/>
                                        </p:tgtEl>
                                        <p:attrNameLst>
                                          <p:attrName>style.visibility</p:attrName>
                                        </p:attrNameLst>
                                      </p:cBhvr>
                                      <p:to>
                                        <p:strVal val="visible"/>
                                      </p:to>
                                    </p:set>
                                    <p:anim calcmode="lin" valueType="num">
                                      <p:cBhvr>
                                        <p:cTn id="163" dur="450" fill="hold"/>
                                        <p:tgtEl>
                                          <p:spTgt spid="20"/>
                                        </p:tgtEl>
                                        <p:attrNameLst>
                                          <p:attrName>ppt_w</p:attrName>
                                        </p:attrNameLst>
                                      </p:cBhvr>
                                      <p:tavLst>
                                        <p:tav tm="0">
                                          <p:val>
                                            <p:fltVal val="0"/>
                                          </p:val>
                                        </p:tav>
                                        <p:tav tm="100000">
                                          <p:val>
                                            <p:strVal val="#ppt_w"/>
                                          </p:val>
                                        </p:tav>
                                      </p:tavLst>
                                    </p:anim>
                                    <p:anim calcmode="lin" valueType="num">
                                      <p:cBhvr>
                                        <p:cTn id="164" dur="450" fill="hold"/>
                                        <p:tgtEl>
                                          <p:spTgt spid="20"/>
                                        </p:tgtEl>
                                        <p:attrNameLst>
                                          <p:attrName>ppt_h</p:attrName>
                                        </p:attrNameLst>
                                      </p:cBhvr>
                                      <p:tavLst>
                                        <p:tav tm="0">
                                          <p:val>
                                            <p:fltVal val="0"/>
                                          </p:val>
                                        </p:tav>
                                        <p:tav tm="100000">
                                          <p:val>
                                            <p:strVal val="#ppt_h"/>
                                          </p:val>
                                        </p:tav>
                                      </p:tavLst>
                                    </p:anim>
                                    <p:animEffect transition="in" filter="fade">
                                      <p:cBhvr>
                                        <p:cTn id="165" dur="450"/>
                                        <p:tgtEl>
                                          <p:spTgt spid="20"/>
                                        </p:tgtEl>
                                      </p:cBhvr>
                                    </p:animEffect>
                                  </p:childTnLst>
                                </p:cTn>
                              </p:par>
                            </p:childTnLst>
                          </p:cTn>
                        </p:par>
                        <p:par>
                          <p:cTn id="169" fill="hold">
                            <p:stCondLst>
                              <p:cond delay="8430"/>
                            </p:stCondLst>
                            <p:childTnLst>
                              <p:par>
                                <p:cTn id="170" presetID="22" presetClass="entr" presetSubtype="8" fill="hold" grpId="0" nodeType="afterEffect">
                                  <p:stCondLst>
                                    <p:cond delay="120"/>
                                  </p:stCondLst>
                                  <p:childTnLst>
                                    <p:set>
                                      <p:cBhvr>
                                        <p:cTn id="173" dur="1" fill="hold">
                                          <p:stCondLst>
                                            <p:cond delay="0"/>
                                          </p:stCondLst>
                                        </p:cTn>
                                        <p:tgtEl>
                                          <p:spTgt spid="21"/>
                                        </p:tgtEl>
                                        <p:attrNameLst>
                                          <p:attrName>style.visibility</p:attrName>
                                        </p:attrNameLst>
                                      </p:cBhvr>
                                      <p:to>
                                        <p:strVal val="visible"/>
                                      </p:to>
                                    </p:set>
                                    <p:animEffect transition="in" filter="wipe(left)">
                                      <p:cBhvr>
                                        <p:cTn id="174" dur="450"/>
                                        <p:tgtEl>
                                          <p:spTgt spid="21"/>
                                        </p:tgtEl>
                                      </p:cBhvr>
                                    </p:animEffect>
                                  </p:childTnLst>
                                </p:cTn>
                              </p:par>
                            </p:childTnLst>
                          </p:cTn>
                        </p:par>
                        <p:par>
                          <p:cTn id="180" fill="hold">
                            <p:stCondLst>
                              <p:cond delay="9000"/>
                            </p:stCondLst>
                            <p:childTnLst>
                              <p:par>
                                <p:cTn id="181" presetID="10" presetClass="entr" presetSubtype="0" fill="hold" grpId="0" nodeType="afterEffect">
                                  <p:stCondLst>
                                    <p:cond delay="120"/>
                                  </p:stCondLst>
                                  <p:childTnLst>
                                    <p:set>
                                      <p:cBhvr>
                                        <p:cTn id="184" dur="1" fill="hold">
                                          <p:stCondLst>
                                            <p:cond delay="0"/>
                                          </p:stCondLst>
                                        </p:cTn>
                                        <p:tgtEl>
                                          <p:spTgt spid="22"/>
                                        </p:tgtEl>
                                        <p:attrNameLst>
                                          <p:attrName>style.visibility</p:attrName>
                                        </p:attrNameLst>
                                      </p:cBhvr>
                                      <p:to>
                                        <p:strVal val="visible"/>
                                      </p:to>
                                    </p:set>
                                    <p:animEffect transition="in" filter="fade">
                                      <p:cBhvr>
                                        <p:cTn id="18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228600"/>
            <a:ext cx="2194560" cy="1005840"/>
          </a:xfrm>
          <a:prstGeom prst="ellipse">
            <a:avLst/>
          </a:prstGeom>
          <a:solidFill>
            <a:srgbClr val="FFD9E8">
              <a:alpha val="90000"/>
            </a:srgbClr>
          </a:solidFill>
          <a:ln w="12700">
            <a:solidFill>
              <a:srgbClr val="FFD9E8">
                <a:alpha val="0"/>
              </a:srgbClr>
            </a:solidFill>
            <a:prstDash val="solid"/>
          </a:ln>
        </p:spPr>
      </p:sp>
      <p:sp>
        <p:nvSpPr>
          <p:cNvPr id="3" name="Shape 1"/>
          <p:cNvSpPr/>
          <p:nvPr/>
        </p:nvSpPr>
        <p:spPr>
          <a:xfrm>
            <a:off x="9966960" y="5486400"/>
            <a:ext cx="2011680" cy="868680"/>
          </a:xfrm>
          <a:prstGeom prst="ellipse">
            <a:avLst/>
          </a:prstGeom>
          <a:solidFill>
            <a:srgbClr val="FFF7C7">
              <a:alpha val="80000"/>
            </a:srgbClr>
          </a:solidFill>
          <a:ln w="12700">
            <a:solidFill>
              <a:srgbClr val="FFF7C7">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06</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Soziales Umfeld</a:t>
            </a:r>
            <a:endParaRPr lang="en-US" sz="1100" dirty="0"/>
          </a:p>
        </p:txBody>
      </p:sp>
      <p:sp>
        <p:nvSpPr>
          <p:cNvPr id="7" name="Text 5"/>
          <p:cNvSpPr/>
          <p:nvPr/>
        </p:nvSpPr>
        <p:spPr>
          <a:xfrm>
            <a:off x="731520" y="786384"/>
            <a:ext cx="566928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Schulklima</a:t>
            </a:r>
            <a:endParaRPr lang="en-US" sz="2400" dirty="0"/>
          </a:p>
        </p:txBody>
      </p:sp>
      <p:sp>
        <p:nvSpPr>
          <p:cNvPr id="8" name="Text 6"/>
          <p:cNvSpPr/>
          <p:nvPr/>
        </p:nvSpPr>
        <p:spPr>
          <a:xfrm>
            <a:off x="731520" y="1536192"/>
            <a:ext cx="5669280" cy="594360"/>
          </a:xfrm>
          <a:prstGeom prst="rect">
            <a:avLst/>
          </a:prstGeom>
          <a:noFill/>
          <a:ln/>
        </p:spPr>
        <p:txBody>
          <a:bodyPr wrap="square" lIns="0" tIns="0" rIns="0" bIns="0" rtlCol="0" anchor="ctr">
            <a:normAutofit/>
          </a:bodyPr>
          <a:lstStyle/>
          <a:p>
            <a:pPr indent="0" marL="0">
              <a:buNone/>
            </a:pPr>
            <a:r>
              <a:rPr lang="en-US" sz="1250" dirty="0">
                <a:solidFill>
                  <a:srgbClr val="6B7280"/>
                </a:solidFill>
                <a:latin typeface="Avenir Next" pitchFamily="34" charset="0"/>
                <a:ea typeface="Avenir Next" pitchFamily="34" charset="-122"/>
                <a:cs typeface="Avenir Next" pitchFamily="34" charset="-120"/>
              </a:rPr>
              <a:t>Beziehungen und Beteiligung prägen Schule ebenso stark wie Leistung.</a:t>
            </a:r>
            <a:endParaRPr lang="en-US" sz="1250" dirty="0"/>
          </a:p>
        </p:txBody>
      </p:sp>
      <p:pic>
        <p:nvPicPr>
          <p:cNvPr id="9" name="Image 0" descr="/workspace/assets/generated/slide6-dialogue.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0" y="868680"/>
            <a:ext cx="3749040" cy="2240280"/>
          </a:xfrm>
          <a:prstGeom prst="rect">
            <a:avLst/>
          </a:prstGeom>
        </p:spPr>
      </p:pic>
      <p:sp>
        <p:nvSpPr>
          <p:cNvPr id="10" name="Shape 7"/>
          <p:cNvSpPr/>
          <p:nvPr/>
        </p:nvSpPr>
        <p:spPr>
          <a:xfrm>
            <a:off x="868680" y="2011680"/>
            <a:ext cx="2743200" cy="2880360"/>
          </a:xfrm>
          <a:prstGeom prst="roundRect">
            <a:avLst>
              <a:gd name="adj" fmla="val 4000"/>
            </a:avLst>
          </a:prstGeom>
          <a:solidFill>
            <a:srgbClr val="FFFFFF"/>
          </a:solidFill>
          <a:ln w="12700">
            <a:solidFill>
              <a:srgbClr val="EEF0F5"/>
            </a:solidFill>
            <a:prstDash val="solid"/>
          </a:ln>
        </p:spPr>
      </p:sp>
      <p:sp>
        <p:nvSpPr>
          <p:cNvPr id="11" name="Text 8"/>
          <p:cNvSpPr/>
          <p:nvPr/>
        </p:nvSpPr>
        <p:spPr>
          <a:xfrm>
            <a:off x="1051560" y="2194560"/>
            <a:ext cx="1965960"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Lehrer-Schüler-Verhältnis</a:t>
            </a:r>
            <a:endParaRPr lang="en-US" sz="1050" dirty="0"/>
          </a:p>
        </p:txBody>
      </p:sp>
      <p:sp>
        <p:nvSpPr>
          <p:cNvPr id="12" name="Text 9"/>
          <p:cNvSpPr/>
          <p:nvPr/>
        </p:nvSpPr>
        <p:spPr>
          <a:xfrm>
            <a:off x="1069848" y="2788920"/>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Unterstützung und Respekt</a:t>
            </a:r>
            <a:endParaRPr lang="en-US" sz="1500" dirty="0"/>
          </a:p>
        </p:txBody>
      </p:sp>
      <p:sp>
        <p:nvSpPr>
          <p:cNvPr id="13" name="Text 10"/>
          <p:cNvSpPr/>
          <p:nvPr/>
        </p:nvSpPr>
        <p:spPr>
          <a:xfrm>
            <a:off x="1069848" y="3300984"/>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ernst genommen werden</a:t>
            </a:r>
            <a:endParaRPr lang="en-US" sz="1500" dirty="0"/>
          </a:p>
        </p:txBody>
      </p:sp>
      <p:sp>
        <p:nvSpPr>
          <p:cNvPr id="14" name="Text 11"/>
          <p:cNvSpPr/>
          <p:nvPr/>
        </p:nvSpPr>
        <p:spPr>
          <a:xfrm>
            <a:off x="1069848" y="3813048"/>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kann Stress reduzieren</a:t>
            </a:r>
            <a:endParaRPr lang="en-US" sz="1500" dirty="0"/>
          </a:p>
        </p:txBody>
      </p:sp>
      <p:sp>
        <p:nvSpPr>
          <p:cNvPr id="15" name="Shape 12"/>
          <p:cNvSpPr/>
          <p:nvPr/>
        </p:nvSpPr>
        <p:spPr>
          <a:xfrm>
            <a:off x="3913632" y="2011680"/>
            <a:ext cx="2743200" cy="2880360"/>
          </a:xfrm>
          <a:prstGeom prst="roundRect">
            <a:avLst>
              <a:gd name="adj" fmla="val 4000"/>
            </a:avLst>
          </a:prstGeom>
          <a:solidFill>
            <a:srgbClr val="FFFFFF"/>
          </a:solidFill>
          <a:ln w="12700">
            <a:solidFill>
              <a:srgbClr val="EEF0F5"/>
            </a:solidFill>
            <a:prstDash val="solid"/>
          </a:ln>
        </p:spPr>
      </p:sp>
      <p:sp>
        <p:nvSpPr>
          <p:cNvPr id="16" name="Text 13"/>
          <p:cNvSpPr/>
          <p:nvPr/>
        </p:nvSpPr>
        <p:spPr>
          <a:xfrm>
            <a:off x="4096512" y="2194560"/>
            <a:ext cx="1965960" cy="310896"/>
          </a:xfrm>
          <a:prstGeom prst="roundRect">
            <a:avLst>
              <a:gd name="adj" fmla="val 35294"/>
            </a:avLst>
          </a:prstGeom>
          <a:solidFill>
            <a:srgbClr val="FFF7C7"/>
          </a:solidFill>
          <a:ln w="12700">
            <a:solidFill>
              <a:srgbClr val="FFF7C7"/>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Mitbestimmung</a:t>
            </a:r>
            <a:endParaRPr lang="en-US" sz="1050" dirty="0"/>
          </a:p>
        </p:txBody>
      </p:sp>
      <p:sp>
        <p:nvSpPr>
          <p:cNvPr id="17" name="Text 14"/>
          <p:cNvSpPr/>
          <p:nvPr/>
        </p:nvSpPr>
        <p:spPr>
          <a:xfrm>
            <a:off x="4114800" y="2788920"/>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Schülervertretung</a:t>
            </a:r>
            <a:endParaRPr lang="en-US" sz="1500" dirty="0"/>
          </a:p>
        </p:txBody>
      </p:sp>
      <p:sp>
        <p:nvSpPr>
          <p:cNvPr id="18" name="Text 15"/>
          <p:cNvSpPr/>
          <p:nvPr/>
        </p:nvSpPr>
        <p:spPr>
          <a:xfrm>
            <a:off x="4114800" y="3300984"/>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Klassenrat und Projekte</a:t>
            </a:r>
            <a:endParaRPr lang="en-US" sz="1500" dirty="0"/>
          </a:p>
        </p:txBody>
      </p:sp>
      <p:sp>
        <p:nvSpPr>
          <p:cNvPr id="19" name="Text 16"/>
          <p:cNvSpPr/>
          <p:nvPr/>
        </p:nvSpPr>
        <p:spPr>
          <a:xfrm>
            <a:off x="4114800" y="3813048"/>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stärkt Selbstwirksamkeit</a:t>
            </a:r>
            <a:endParaRPr lang="en-US" sz="1500" dirty="0"/>
          </a:p>
        </p:txBody>
      </p:sp>
      <p:sp>
        <p:nvSpPr>
          <p:cNvPr id="20" name="Shape 17"/>
          <p:cNvSpPr/>
          <p:nvPr/>
        </p:nvSpPr>
        <p:spPr>
          <a:xfrm>
            <a:off x="6958584" y="2011680"/>
            <a:ext cx="2743200" cy="2880360"/>
          </a:xfrm>
          <a:prstGeom prst="roundRect">
            <a:avLst>
              <a:gd name="adj" fmla="val 4000"/>
            </a:avLst>
          </a:prstGeom>
          <a:solidFill>
            <a:srgbClr val="FFFFFF"/>
          </a:solidFill>
          <a:ln w="12700">
            <a:solidFill>
              <a:srgbClr val="EEF0F5"/>
            </a:solidFill>
            <a:prstDash val="solid"/>
          </a:ln>
        </p:spPr>
      </p:sp>
      <p:sp>
        <p:nvSpPr>
          <p:cNvPr id="21" name="Text 18"/>
          <p:cNvSpPr/>
          <p:nvPr/>
        </p:nvSpPr>
        <p:spPr>
          <a:xfrm>
            <a:off x="7141464" y="2194560"/>
            <a:ext cx="1965960" cy="310896"/>
          </a:xfrm>
          <a:prstGeom prst="roundRect">
            <a:avLst>
              <a:gd name="adj" fmla="val 35294"/>
            </a:avLst>
          </a:prstGeom>
          <a:solidFill>
            <a:srgbClr val="FFD9E8"/>
          </a:solidFill>
          <a:ln w="12700">
            <a:solidFill>
              <a:srgbClr val="FFD9E8"/>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Feedbackkultur</a:t>
            </a:r>
            <a:endParaRPr lang="en-US" sz="1050" dirty="0"/>
          </a:p>
        </p:txBody>
      </p:sp>
      <p:sp>
        <p:nvSpPr>
          <p:cNvPr id="22" name="Text 19"/>
          <p:cNvSpPr/>
          <p:nvPr/>
        </p:nvSpPr>
        <p:spPr>
          <a:xfrm>
            <a:off x="7159752" y="2788920"/>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nicht nur Noten</a:t>
            </a:r>
            <a:endParaRPr lang="en-US" sz="1500" dirty="0"/>
          </a:p>
        </p:txBody>
      </p:sp>
      <p:sp>
        <p:nvSpPr>
          <p:cNvPr id="23" name="Text 20"/>
          <p:cNvSpPr/>
          <p:nvPr/>
        </p:nvSpPr>
        <p:spPr>
          <a:xfrm>
            <a:off x="7159752" y="3300984"/>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qualitative Rückmeldungen</a:t>
            </a:r>
            <a:endParaRPr lang="en-US" sz="1500" dirty="0"/>
          </a:p>
        </p:txBody>
      </p:sp>
      <p:sp>
        <p:nvSpPr>
          <p:cNvPr id="24" name="Text 21"/>
          <p:cNvSpPr/>
          <p:nvPr/>
        </p:nvSpPr>
        <p:spPr>
          <a:xfrm>
            <a:off x="7159752" y="3813048"/>
            <a:ext cx="2286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individuelle Entwicklung im Blick</a:t>
            </a:r>
            <a:endParaRPr lang="en-US" sz="1500" dirty="0"/>
          </a:p>
        </p:txBody>
      </p:sp>
    </p:spTree>
  </p:cSld>
  <p:transition spd="med">
    <p:push dir="l"/>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53" presetClass="entr" presetSubtype="16"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 calcmode="lin" valueType="num">
                                      <p:cBhvr>
                                        <p:cTn id="42" dur="450" fill="hold"/>
                                        <p:tgtEl>
                                          <p:spTgt spid="9"/>
                                        </p:tgtEl>
                                        <p:attrNameLst>
                                          <p:attrName>ppt_w</p:attrName>
                                        </p:attrNameLst>
                                      </p:cBhvr>
                                      <p:tavLst>
                                        <p:tav tm="0">
                                          <p:val>
                                            <p:fltVal val="0"/>
                                          </p:val>
                                        </p:tav>
                                        <p:tav tm="100000">
                                          <p:val>
                                            <p:strVal val="#ppt_w"/>
                                          </p:val>
                                        </p:tav>
                                      </p:tavLst>
                                    </p:anim>
                                    <p:anim calcmode="lin" valueType="num">
                                      <p:cBhvr>
                                        <p:cTn id="43" dur="450" fill="hold"/>
                                        <p:tgtEl>
                                          <p:spTgt spid="9"/>
                                        </p:tgtEl>
                                        <p:attrNameLst>
                                          <p:attrName>ppt_h</p:attrName>
                                        </p:attrNameLst>
                                      </p:cBhvr>
                                      <p:tavLst>
                                        <p:tav tm="0">
                                          <p:val>
                                            <p:fltVal val="0"/>
                                          </p:val>
                                        </p:tav>
                                        <p:tav tm="100000">
                                          <p:val>
                                            <p:strVal val="#ppt_h"/>
                                          </p:val>
                                        </p:tav>
                                      </p:tavLst>
                                    </p:anim>
                                    <p:animEffect transition="in" filter="fade">
                                      <p:cBhvr>
                                        <p:cTn id="44" dur="450"/>
                                        <p:tgtEl>
                                          <p:spTgt spid="9"/>
                                        </p:tgtEl>
                                      </p:cBhvr>
                                    </p:animEffect>
                                  </p:childTnLst>
                                </p:cTn>
                              </p:par>
                            </p:childTnLst>
                          </p:cTn>
                        </p:par>
                        <p:par>
                          <p:cTn id="48" fill="hold">
                            <p:stCondLst>
                              <p:cond delay="2160"/>
                            </p:stCondLst>
                            <p:childTnLst>
                              <p:par>
                                <p:cTn id="49" presetID="10" presetClass="entr" presetSubtype="0"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childTnLst>
                          </p:cTn>
                        </p:par>
                        <p:par>
                          <p:cTn id="59" fill="hold">
                            <p:stCondLst>
                              <p:cond delay="2730"/>
                            </p:stCondLst>
                            <p:childTnLst>
                              <p:par>
                                <p:cTn id="60" presetID="53" presetClass="entr" presetSubtype="16"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 calcmode="lin" valueType="num">
                                      <p:cBhvr>
                                        <p:cTn id="64" dur="450" fill="hold"/>
                                        <p:tgtEl>
                                          <p:spTgt spid="11"/>
                                        </p:tgtEl>
                                        <p:attrNameLst>
                                          <p:attrName>ppt_w</p:attrName>
                                        </p:attrNameLst>
                                      </p:cBhvr>
                                      <p:tavLst>
                                        <p:tav tm="0">
                                          <p:val>
                                            <p:fltVal val="0"/>
                                          </p:val>
                                        </p:tav>
                                        <p:tav tm="100000">
                                          <p:val>
                                            <p:strVal val="#ppt_w"/>
                                          </p:val>
                                        </p:tav>
                                      </p:tavLst>
                                    </p:anim>
                                    <p:anim calcmode="lin" valueType="num">
                                      <p:cBhvr>
                                        <p:cTn id="65" dur="450" fill="hold"/>
                                        <p:tgtEl>
                                          <p:spTgt spid="11"/>
                                        </p:tgtEl>
                                        <p:attrNameLst>
                                          <p:attrName>ppt_h</p:attrName>
                                        </p:attrNameLst>
                                      </p:cBhvr>
                                      <p:tavLst>
                                        <p:tav tm="0">
                                          <p:val>
                                            <p:fltVal val="0"/>
                                          </p:val>
                                        </p:tav>
                                        <p:tav tm="100000">
                                          <p:val>
                                            <p:strVal val="#ppt_h"/>
                                          </p:val>
                                        </p:tav>
                                      </p:tavLst>
                                    </p:anim>
                                    <p:animEffect transition="in" filter="fade">
                                      <p:cBhvr>
                                        <p:cTn id="66" dur="450"/>
                                        <p:tgtEl>
                                          <p:spTgt spid="11"/>
                                        </p:tgtEl>
                                      </p:cBhvr>
                                    </p:animEffect>
                                  </p:childTnLst>
                                </p:cTn>
                              </p:par>
                            </p:childTnLst>
                          </p:cTn>
                        </p:par>
                        <p:par>
                          <p:cTn id="70" fill="hold">
                            <p:stCondLst>
                              <p:cond delay="3300"/>
                            </p:stCondLst>
                            <p:childTnLst>
                              <p:par>
                                <p:cTn id="71" presetID="10" presetClass="entr" presetSubtype="0"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450"/>
                                        <p:tgtEl>
                                          <p:spTgt spid="12"/>
                                        </p:tgtEl>
                                      </p:cBhvr>
                                    </p:animEffect>
                                  </p:childTnLst>
                                </p:cTn>
                              </p:par>
                            </p:childTnLst>
                          </p:cTn>
                        </p:par>
                        <p:par>
                          <p:cTn id="81" fill="hold">
                            <p:stCondLst>
                              <p:cond delay="3870"/>
                            </p:stCondLst>
                            <p:childTnLst>
                              <p:par>
                                <p:cTn id="82" presetID="10" presetClass="entr" presetSubtype="0"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450"/>
                                        <p:tgtEl>
                                          <p:spTgt spid="13"/>
                                        </p:tgtEl>
                                      </p:cBhvr>
                                    </p:animEffect>
                                  </p:childTnLst>
                                </p:cTn>
                              </p:par>
                            </p:childTnLst>
                          </p:cTn>
                        </p:par>
                        <p:par>
                          <p:cTn id="92" fill="hold">
                            <p:stCondLst>
                              <p:cond delay="4440"/>
                            </p:stCondLst>
                            <p:childTnLst>
                              <p:par>
                                <p:cTn id="93" presetID="10" presetClass="entr" presetSubtype="0"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Effect transition="in" filter="fade">
                                      <p:cBhvr>
                                        <p:cTn id="97" dur="450"/>
                                        <p:tgtEl>
                                          <p:spTgt spid="14"/>
                                        </p:tgtEl>
                                      </p:cBhvr>
                                    </p:animEffect>
                                  </p:childTnLst>
                                </p:cTn>
                              </p:par>
                            </p:childTnLst>
                          </p:cTn>
                        </p:par>
                        <p:par>
                          <p:cTn id="103" fill="hold">
                            <p:stCondLst>
                              <p:cond delay="5010"/>
                            </p:stCondLst>
                            <p:childTnLst>
                              <p:par>
                                <p:cTn id="104" presetID="10" presetClass="entr" presetSubtype="0"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450"/>
                                        <p:tgtEl>
                                          <p:spTgt spid="15"/>
                                        </p:tgtEl>
                                      </p:cBhvr>
                                    </p:animEffect>
                                  </p:childTnLst>
                                </p:cTn>
                              </p:par>
                            </p:childTnLst>
                          </p:cTn>
                        </p:par>
                        <p:par>
                          <p:cTn id="114" fill="hold">
                            <p:stCondLst>
                              <p:cond delay="5580"/>
                            </p:stCondLst>
                            <p:childTnLst>
                              <p:par>
                                <p:cTn id="115" presetID="53" presetClass="entr" presetSubtype="16" fill="hold" grpId="0" nodeType="afterEffect">
                                  <p:stCondLst>
                                    <p:cond delay="120"/>
                                  </p:stCondLst>
                                  <p:childTnLst>
                                    <p:set>
                                      <p:cBhvr>
                                        <p:cTn id="118" dur="1" fill="hold">
                                          <p:stCondLst>
                                            <p:cond delay="0"/>
                                          </p:stCondLst>
                                        </p:cTn>
                                        <p:tgtEl>
                                          <p:spTgt spid="16"/>
                                        </p:tgtEl>
                                        <p:attrNameLst>
                                          <p:attrName>style.visibility</p:attrName>
                                        </p:attrNameLst>
                                      </p:cBhvr>
                                      <p:to>
                                        <p:strVal val="visible"/>
                                      </p:to>
                                    </p:set>
                                    <p:anim calcmode="lin" valueType="num">
                                      <p:cBhvr>
                                        <p:cTn id="119" dur="450" fill="hold"/>
                                        <p:tgtEl>
                                          <p:spTgt spid="16"/>
                                        </p:tgtEl>
                                        <p:attrNameLst>
                                          <p:attrName>ppt_w</p:attrName>
                                        </p:attrNameLst>
                                      </p:cBhvr>
                                      <p:tavLst>
                                        <p:tav tm="0">
                                          <p:val>
                                            <p:fltVal val="0"/>
                                          </p:val>
                                        </p:tav>
                                        <p:tav tm="100000">
                                          <p:val>
                                            <p:strVal val="#ppt_w"/>
                                          </p:val>
                                        </p:tav>
                                      </p:tavLst>
                                    </p:anim>
                                    <p:anim calcmode="lin" valueType="num">
                                      <p:cBhvr>
                                        <p:cTn id="120" dur="450" fill="hold"/>
                                        <p:tgtEl>
                                          <p:spTgt spid="16"/>
                                        </p:tgtEl>
                                        <p:attrNameLst>
                                          <p:attrName>ppt_h</p:attrName>
                                        </p:attrNameLst>
                                      </p:cBhvr>
                                      <p:tavLst>
                                        <p:tav tm="0">
                                          <p:val>
                                            <p:fltVal val="0"/>
                                          </p:val>
                                        </p:tav>
                                        <p:tav tm="100000">
                                          <p:val>
                                            <p:strVal val="#ppt_h"/>
                                          </p:val>
                                        </p:tav>
                                      </p:tavLst>
                                    </p:anim>
                                    <p:animEffect transition="in" filter="fade">
                                      <p:cBhvr>
                                        <p:cTn id="121" dur="450"/>
                                        <p:tgtEl>
                                          <p:spTgt spid="16"/>
                                        </p:tgtEl>
                                      </p:cBhvr>
                                    </p:animEffect>
                                  </p:childTnLst>
                                </p:cTn>
                              </p:par>
                            </p:childTnLst>
                          </p:cTn>
                        </p:par>
                        <p:par>
                          <p:cTn id="125" fill="hold">
                            <p:stCondLst>
                              <p:cond delay="6150"/>
                            </p:stCondLst>
                            <p:childTnLst>
                              <p:par>
                                <p:cTn id="126" presetID="10" presetClass="entr" presetSubtype="0" fill="hold" grpId="0" nodeType="afterEffect">
                                  <p:stCondLst>
                                    <p:cond delay="12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450"/>
                                        <p:tgtEl>
                                          <p:spTgt spid="17"/>
                                        </p:tgtEl>
                                      </p:cBhvr>
                                    </p:animEffect>
                                  </p:childTnLst>
                                </p:cTn>
                              </p:par>
                            </p:childTnLst>
                          </p:cTn>
                        </p:par>
                        <p:par>
                          <p:cTn id="136" fill="hold">
                            <p:stCondLst>
                              <p:cond delay="6720"/>
                            </p:stCondLst>
                            <p:childTnLst>
                              <p:par>
                                <p:cTn id="137" presetID="10" presetClass="entr" presetSubtype="0" fill="hold" grpId="0" nodeType="afterEffect">
                                  <p:stCondLst>
                                    <p:cond delay="120"/>
                                  </p:stCondLst>
                                  <p:childTnLst>
                                    <p:set>
                                      <p:cBhvr>
                                        <p:cTn id="140" dur="1" fill="hold">
                                          <p:stCondLst>
                                            <p:cond delay="0"/>
                                          </p:stCondLst>
                                        </p:cTn>
                                        <p:tgtEl>
                                          <p:spTgt spid="18"/>
                                        </p:tgtEl>
                                        <p:attrNameLst>
                                          <p:attrName>style.visibility</p:attrName>
                                        </p:attrNameLst>
                                      </p:cBhvr>
                                      <p:to>
                                        <p:strVal val="visible"/>
                                      </p:to>
                                    </p:set>
                                    <p:animEffect transition="in" filter="fade">
                                      <p:cBhvr>
                                        <p:cTn id="141" dur="450"/>
                                        <p:tgtEl>
                                          <p:spTgt spid="18"/>
                                        </p:tgtEl>
                                      </p:cBhvr>
                                    </p:animEffect>
                                  </p:childTnLst>
                                </p:cTn>
                              </p:par>
                            </p:childTnLst>
                          </p:cTn>
                        </p:par>
                        <p:par>
                          <p:cTn id="147" fill="hold">
                            <p:stCondLst>
                              <p:cond delay="7290"/>
                            </p:stCondLst>
                            <p:childTnLst>
                              <p:par>
                                <p:cTn id="148" presetID="10" presetClass="entr" presetSubtype="0" fill="hold" grpId="0" nodeType="afterEffect">
                                  <p:stCondLst>
                                    <p:cond delay="120"/>
                                  </p:stCondLst>
                                  <p:childTnLst>
                                    <p:set>
                                      <p:cBhvr>
                                        <p:cTn id="151" dur="1" fill="hold">
                                          <p:stCondLst>
                                            <p:cond delay="0"/>
                                          </p:stCondLst>
                                        </p:cTn>
                                        <p:tgtEl>
                                          <p:spTgt spid="19"/>
                                        </p:tgtEl>
                                        <p:attrNameLst>
                                          <p:attrName>style.visibility</p:attrName>
                                        </p:attrNameLst>
                                      </p:cBhvr>
                                      <p:to>
                                        <p:strVal val="visible"/>
                                      </p:to>
                                    </p:set>
                                    <p:animEffect transition="in" filter="fade">
                                      <p:cBhvr>
                                        <p:cTn id="152" dur="450"/>
                                        <p:tgtEl>
                                          <p:spTgt spid="19"/>
                                        </p:tgtEl>
                                      </p:cBhvr>
                                    </p:animEffect>
                                  </p:childTnLst>
                                </p:cTn>
                              </p:par>
                            </p:childTnLst>
                          </p:cTn>
                        </p:par>
                        <p:par>
                          <p:cTn id="158" fill="hold">
                            <p:stCondLst>
                              <p:cond delay="7860"/>
                            </p:stCondLst>
                            <p:childTnLst>
                              <p:par>
                                <p:cTn id="159" presetID="10" presetClass="entr" presetSubtype="0" fill="hold" grpId="0" nodeType="afterEffect">
                                  <p:stCondLst>
                                    <p:cond delay="120"/>
                                  </p:stCondLst>
                                  <p:childTnLst>
                                    <p:set>
                                      <p:cBhvr>
                                        <p:cTn id="162" dur="1" fill="hold">
                                          <p:stCondLst>
                                            <p:cond delay="0"/>
                                          </p:stCondLst>
                                        </p:cTn>
                                        <p:tgtEl>
                                          <p:spTgt spid="20"/>
                                        </p:tgtEl>
                                        <p:attrNameLst>
                                          <p:attrName>style.visibility</p:attrName>
                                        </p:attrNameLst>
                                      </p:cBhvr>
                                      <p:to>
                                        <p:strVal val="visible"/>
                                      </p:to>
                                    </p:set>
                                    <p:animEffect transition="in" filter="fade">
                                      <p:cBhvr>
                                        <p:cTn id="163" dur="450"/>
                                        <p:tgtEl>
                                          <p:spTgt spid="20"/>
                                        </p:tgtEl>
                                      </p:cBhvr>
                                    </p:animEffect>
                                  </p:childTnLst>
                                </p:cTn>
                              </p:par>
                            </p:childTnLst>
                          </p:cTn>
                        </p:par>
                        <p:par>
                          <p:cTn id="169" fill="hold">
                            <p:stCondLst>
                              <p:cond delay="8430"/>
                            </p:stCondLst>
                            <p:childTnLst>
                              <p:par>
                                <p:cTn id="170" presetID="53" presetClass="entr" presetSubtype="16" fill="hold" grpId="0" nodeType="afterEffect">
                                  <p:stCondLst>
                                    <p:cond delay="120"/>
                                  </p:stCondLst>
                                  <p:childTnLst>
                                    <p:set>
                                      <p:cBhvr>
                                        <p:cTn id="173" dur="1" fill="hold">
                                          <p:stCondLst>
                                            <p:cond delay="0"/>
                                          </p:stCondLst>
                                        </p:cTn>
                                        <p:tgtEl>
                                          <p:spTgt spid="21"/>
                                        </p:tgtEl>
                                        <p:attrNameLst>
                                          <p:attrName>style.visibility</p:attrName>
                                        </p:attrNameLst>
                                      </p:cBhvr>
                                      <p:to>
                                        <p:strVal val="visible"/>
                                      </p:to>
                                    </p:set>
                                    <p:anim calcmode="lin" valueType="num">
                                      <p:cBhvr>
                                        <p:cTn id="174" dur="450" fill="hold"/>
                                        <p:tgtEl>
                                          <p:spTgt spid="21"/>
                                        </p:tgtEl>
                                        <p:attrNameLst>
                                          <p:attrName>ppt_w</p:attrName>
                                        </p:attrNameLst>
                                      </p:cBhvr>
                                      <p:tavLst>
                                        <p:tav tm="0">
                                          <p:val>
                                            <p:fltVal val="0"/>
                                          </p:val>
                                        </p:tav>
                                        <p:tav tm="100000">
                                          <p:val>
                                            <p:strVal val="#ppt_w"/>
                                          </p:val>
                                        </p:tav>
                                      </p:tavLst>
                                    </p:anim>
                                    <p:anim calcmode="lin" valueType="num">
                                      <p:cBhvr>
                                        <p:cTn id="175" dur="450" fill="hold"/>
                                        <p:tgtEl>
                                          <p:spTgt spid="21"/>
                                        </p:tgtEl>
                                        <p:attrNameLst>
                                          <p:attrName>ppt_h</p:attrName>
                                        </p:attrNameLst>
                                      </p:cBhvr>
                                      <p:tavLst>
                                        <p:tav tm="0">
                                          <p:val>
                                            <p:fltVal val="0"/>
                                          </p:val>
                                        </p:tav>
                                        <p:tav tm="100000">
                                          <p:val>
                                            <p:strVal val="#ppt_h"/>
                                          </p:val>
                                        </p:tav>
                                      </p:tavLst>
                                    </p:anim>
                                    <p:animEffect transition="in" filter="fade">
                                      <p:cBhvr>
                                        <p:cTn id="176" dur="450"/>
                                        <p:tgtEl>
                                          <p:spTgt spid="21"/>
                                        </p:tgtEl>
                                      </p:cBhvr>
                                    </p:animEffect>
                                  </p:childTnLst>
                                </p:cTn>
                              </p:par>
                            </p:childTnLst>
                          </p:cTn>
                        </p:par>
                        <p:par>
                          <p:cTn id="180" fill="hold">
                            <p:stCondLst>
                              <p:cond delay="9000"/>
                            </p:stCondLst>
                            <p:childTnLst>
                              <p:par>
                                <p:cTn id="181" presetID="10" presetClass="entr" presetSubtype="0" fill="hold" grpId="0" nodeType="afterEffect">
                                  <p:stCondLst>
                                    <p:cond delay="120"/>
                                  </p:stCondLst>
                                  <p:childTnLst>
                                    <p:set>
                                      <p:cBhvr>
                                        <p:cTn id="184" dur="1" fill="hold">
                                          <p:stCondLst>
                                            <p:cond delay="0"/>
                                          </p:stCondLst>
                                        </p:cTn>
                                        <p:tgtEl>
                                          <p:spTgt spid="22"/>
                                        </p:tgtEl>
                                        <p:attrNameLst>
                                          <p:attrName>style.visibility</p:attrName>
                                        </p:attrNameLst>
                                      </p:cBhvr>
                                      <p:to>
                                        <p:strVal val="visible"/>
                                      </p:to>
                                    </p:set>
                                    <p:animEffect transition="in" filter="fade">
                                      <p:cBhvr>
                                        <p:cTn id="185" dur="450"/>
                                        <p:tgtEl>
                                          <p:spTgt spid="22"/>
                                        </p:tgtEl>
                                      </p:cBhvr>
                                    </p:animEffect>
                                  </p:childTnLst>
                                </p:cTn>
                              </p:par>
                            </p:childTnLst>
                          </p:cTn>
                        </p:par>
                        <p:par>
                          <p:cTn id="191" fill="hold">
                            <p:stCondLst>
                              <p:cond delay="9570"/>
                            </p:stCondLst>
                            <p:childTnLst>
                              <p:par>
                                <p:cTn id="192" presetID="10" presetClass="entr" presetSubtype="0" fill="hold" grpId="0" nodeType="afterEffect">
                                  <p:stCondLst>
                                    <p:cond delay="120"/>
                                  </p:stCondLst>
                                  <p:childTnLst>
                                    <p:set>
                                      <p:cBhvr>
                                        <p:cTn id="195" dur="1" fill="hold">
                                          <p:stCondLst>
                                            <p:cond delay="0"/>
                                          </p:stCondLst>
                                        </p:cTn>
                                        <p:tgtEl>
                                          <p:spTgt spid="23"/>
                                        </p:tgtEl>
                                        <p:attrNameLst>
                                          <p:attrName>style.visibility</p:attrName>
                                        </p:attrNameLst>
                                      </p:cBhvr>
                                      <p:to>
                                        <p:strVal val="visible"/>
                                      </p:to>
                                    </p:set>
                                    <p:animEffect transition="in" filter="fade">
                                      <p:cBhvr>
                                        <p:cTn id="196" dur="450"/>
                                        <p:tgtEl>
                                          <p:spTgt spid="23"/>
                                        </p:tgtEl>
                                      </p:cBhvr>
                                    </p:animEffect>
                                  </p:childTnLst>
                                </p:cTn>
                              </p:par>
                            </p:childTnLst>
                          </p:cTn>
                        </p:par>
                        <p:par>
                          <p:cTn id="202" fill="hold">
                            <p:stCondLst>
                              <p:cond delay="10140"/>
                            </p:stCondLst>
                            <p:childTnLst>
                              <p:par>
                                <p:cTn id="203" presetID="10" presetClass="entr" presetSubtype="0" fill="hold" grpId="0" nodeType="afterEffect">
                                  <p:stCondLst>
                                    <p:cond delay="120"/>
                                  </p:stCondLst>
                                  <p:childTnLst>
                                    <p:set>
                                      <p:cBhvr>
                                        <p:cTn id="206" dur="1" fill="hold">
                                          <p:stCondLst>
                                            <p:cond delay="0"/>
                                          </p:stCondLst>
                                        </p:cTn>
                                        <p:tgtEl>
                                          <p:spTgt spid="24"/>
                                        </p:tgtEl>
                                        <p:attrNameLst>
                                          <p:attrName>style.visibility</p:attrName>
                                        </p:attrNameLst>
                                      </p:cBhvr>
                                      <p:to>
                                        <p:strVal val="visible"/>
                                      </p:to>
                                    </p:set>
                                    <p:animEffect transition="in" filter="fade">
                                      <p:cBhvr>
                                        <p:cTn id="20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0" y="-228600"/>
            <a:ext cx="2651760" cy="1280160"/>
          </a:xfrm>
          <a:prstGeom prst="ellipse">
            <a:avLst/>
          </a:prstGeom>
          <a:solidFill>
            <a:srgbClr val="CFEFFF">
              <a:alpha val="95000"/>
            </a:srgbClr>
          </a:solidFill>
          <a:ln w="12700">
            <a:solidFill>
              <a:srgbClr val="CFEFFF">
                <a:alpha val="0"/>
              </a:srgbClr>
            </a:solidFill>
            <a:prstDash val="solid"/>
          </a:ln>
        </p:spPr>
      </p:sp>
      <p:sp>
        <p:nvSpPr>
          <p:cNvPr id="3" name="Shape 1"/>
          <p:cNvSpPr/>
          <p:nvPr/>
        </p:nvSpPr>
        <p:spPr>
          <a:xfrm>
            <a:off x="10149840" y="5303520"/>
            <a:ext cx="2286000" cy="1005840"/>
          </a:xfrm>
          <a:prstGeom prst="ellipse">
            <a:avLst/>
          </a:prstGeom>
          <a:solidFill>
            <a:srgbClr val="FFD9E8">
              <a:alpha val="75000"/>
            </a:srgbClr>
          </a:solidFill>
          <a:ln w="12700">
            <a:solidFill>
              <a:srgbClr val="FFD9E8">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07</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Interaktion</a:t>
            </a:r>
            <a:endParaRPr lang="en-US" sz="1100" dirty="0"/>
          </a:p>
        </p:txBody>
      </p:sp>
      <p:sp>
        <p:nvSpPr>
          <p:cNvPr id="7" name="Text 5"/>
          <p:cNvSpPr/>
          <p:nvPr/>
        </p:nvSpPr>
        <p:spPr>
          <a:xfrm>
            <a:off x="731520" y="786384"/>
            <a:ext cx="384048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Kurze Umfrage</a:t>
            </a:r>
            <a:endParaRPr lang="en-US" sz="2400" dirty="0"/>
          </a:p>
        </p:txBody>
      </p:sp>
      <p:sp>
        <p:nvSpPr>
          <p:cNvPr id="8" name="Text 6"/>
          <p:cNvSpPr/>
          <p:nvPr/>
        </p:nvSpPr>
        <p:spPr>
          <a:xfrm>
            <a:off x="731520" y="1536192"/>
            <a:ext cx="3840480" cy="594360"/>
          </a:xfrm>
          <a:prstGeom prst="rect">
            <a:avLst/>
          </a:prstGeom>
          <a:noFill/>
          <a:ln/>
        </p:spPr>
        <p:txBody>
          <a:bodyPr wrap="square" lIns="0" tIns="0" rIns="0" bIns="0" rtlCol="0" anchor="ctr">
            <a:normAutofit/>
          </a:bodyPr>
          <a:lstStyle/>
          <a:p>
            <a:pPr indent="0" marL="0">
              <a:buNone/>
            </a:pPr>
            <a:r>
              <a:rPr lang="en-US" sz="1250" dirty="0">
                <a:solidFill>
                  <a:srgbClr val="6B7280"/>
                </a:solidFill>
                <a:latin typeface="Avenir Next" pitchFamily="34" charset="0"/>
                <a:ea typeface="Avenir Next" pitchFamily="34" charset="-122"/>
                <a:cs typeface="Avenir Next" pitchFamily="34" charset="-120"/>
              </a:rPr>
              <a:t>Publikum einbinden</a:t>
            </a:r>
            <a:endParaRPr lang="en-US" sz="1250" dirty="0"/>
          </a:p>
        </p:txBody>
      </p:sp>
      <p:sp>
        <p:nvSpPr>
          <p:cNvPr id="9" name="Shape 7"/>
          <p:cNvSpPr/>
          <p:nvPr/>
        </p:nvSpPr>
        <p:spPr>
          <a:xfrm>
            <a:off x="1234440" y="1417320"/>
            <a:ext cx="9692640" cy="1417320"/>
          </a:xfrm>
          <a:prstGeom prst="roundRect">
            <a:avLst>
              <a:gd name="adj" fmla="val 7742"/>
            </a:avLst>
          </a:prstGeom>
          <a:solidFill>
            <a:srgbClr val="FFFFFF"/>
          </a:solidFill>
          <a:ln w="12700">
            <a:solidFill>
              <a:srgbClr val="EEF0F5"/>
            </a:solidFill>
            <a:prstDash val="solid"/>
          </a:ln>
        </p:spPr>
      </p:sp>
      <p:sp>
        <p:nvSpPr>
          <p:cNvPr id="10" name="Text 8"/>
          <p:cNvSpPr/>
          <p:nvPr/>
        </p:nvSpPr>
        <p:spPr>
          <a:xfrm>
            <a:off x="1691640" y="1874520"/>
            <a:ext cx="8778240" cy="438912"/>
          </a:xfrm>
          <a:prstGeom prst="rect">
            <a:avLst/>
          </a:prstGeom>
          <a:noFill/>
          <a:ln/>
        </p:spPr>
        <p:txBody>
          <a:bodyPr wrap="square" lIns="0" tIns="0" rIns="0" bIns="0" rtlCol="0" anchor="t">
            <a:normAutofit/>
          </a:bodyPr>
          <a:lstStyle/>
          <a:p>
            <a:pPr algn="ctr" indent="0" marL="0">
              <a:buNone/>
            </a:pPr>
            <a:r>
              <a:rPr lang="en-US" sz="2100" b="1" dirty="0">
                <a:solidFill>
                  <a:srgbClr val="424242"/>
                </a:solidFill>
                <a:latin typeface="Avenir Next" pitchFamily="34" charset="0"/>
                <a:ea typeface="Avenir Next" pitchFamily="34" charset="-122"/>
                <a:cs typeface="Avenir Next" pitchFamily="34" charset="-120"/>
              </a:rPr>
              <a:t>Was beeinflusst euer Wohlbefinden in der Schule am stärksten?</a:t>
            </a:r>
            <a:endParaRPr lang="en-US" sz="2100" dirty="0"/>
          </a:p>
        </p:txBody>
      </p:sp>
      <p:sp>
        <p:nvSpPr>
          <p:cNvPr id="11" name="Text 9"/>
          <p:cNvSpPr/>
          <p:nvPr/>
        </p:nvSpPr>
        <p:spPr>
          <a:xfrm>
            <a:off x="1920240" y="3246120"/>
            <a:ext cx="2926080" cy="566928"/>
          </a:xfrm>
          <a:prstGeom prst="roundRect">
            <a:avLst>
              <a:gd name="adj" fmla="val 19355"/>
            </a:avLst>
          </a:prstGeom>
          <a:solidFill>
            <a:srgbClr val="CFEFFF"/>
          </a:solidFill>
          <a:ln w="12700">
            <a:solidFill>
              <a:srgbClr val="CFEFFF"/>
            </a:solidFill>
          </a:ln>
        </p:spPr>
        <p:txBody>
          <a:bodyPr wrap="square" lIns="0" tIns="0" rIns="0" bIns="0" rtlCol="0" anchor="ctr"/>
          <a:lstStyle/>
          <a:p>
            <a:pPr algn="ctr" indent="0" marL="0">
              <a:buNone/>
            </a:pPr>
            <a:r>
              <a:rPr lang="en-US" sz="1600" b="1" dirty="0">
                <a:solidFill>
                  <a:srgbClr val="424242"/>
                </a:solidFill>
                <a:latin typeface="Avenir Next" pitchFamily="34" charset="0"/>
                <a:ea typeface="Avenir Next" pitchFamily="34" charset="-122"/>
                <a:cs typeface="Avenir Next" pitchFamily="34" charset="-120"/>
              </a:rPr>
              <a:t>📚  Notendruck</a:t>
            </a:r>
            <a:endParaRPr lang="en-US" sz="1600" dirty="0"/>
          </a:p>
        </p:txBody>
      </p:sp>
      <p:sp>
        <p:nvSpPr>
          <p:cNvPr id="12" name="Text 10"/>
          <p:cNvSpPr/>
          <p:nvPr/>
        </p:nvSpPr>
        <p:spPr>
          <a:xfrm>
            <a:off x="6172200" y="3246120"/>
            <a:ext cx="2926080" cy="566928"/>
          </a:xfrm>
          <a:prstGeom prst="roundRect">
            <a:avLst>
              <a:gd name="adj" fmla="val 19355"/>
            </a:avLst>
          </a:prstGeom>
          <a:solidFill>
            <a:srgbClr val="FFD9E8"/>
          </a:solidFill>
          <a:ln w="12700">
            <a:solidFill>
              <a:srgbClr val="FFD9E8"/>
            </a:solidFill>
          </a:ln>
        </p:spPr>
        <p:txBody>
          <a:bodyPr wrap="square" lIns="0" tIns="0" rIns="0" bIns="0" rtlCol="0" anchor="ctr"/>
          <a:lstStyle/>
          <a:p>
            <a:pPr algn="ctr" indent="0" marL="0">
              <a:buNone/>
            </a:pPr>
            <a:r>
              <a:rPr lang="en-US" sz="1600" b="1" dirty="0">
                <a:solidFill>
                  <a:srgbClr val="424242"/>
                </a:solidFill>
                <a:latin typeface="Avenir Next" pitchFamily="34" charset="0"/>
                <a:ea typeface="Avenir Next" pitchFamily="34" charset="-122"/>
                <a:cs typeface="Avenir Next" pitchFamily="34" charset="-120"/>
              </a:rPr>
              <a:t>👩‍🏫  Lehrkräfte</a:t>
            </a:r>
            <a:endParaRPr lang="en-US" sz="1600" dirty="0"/>
          </a:p>
        </p:txBody>
      </p:sp>
      <p:sp>
        <p:nvSpPr>
          <p:cNvPr id="13" name="Text 11"/>
          <p:cNvSpPr/>
          <p:nvPr/>
        </p:nvSpPr>
        <p:spPr>
          <a:xfrm>
            <a:off x="1920240" y="4251960"/>
            <a:ext cx="2926080" cy="566928"/>
          </a:xfrm>
          <a:prstGeom prst="roundRect">
            <a:avLst>
              <a:gd name="adj" fmla="val 19355"/>
            </a:avLst>
          </a:prstGeom>
          <a:solidFill>
            <a:srgbClr val="FFF7C7"/>
          </a:solidFill>
          <a:ln w="12700">
            <a:solidFill>
              <a:srgbClr val="FFF7C7"/>
            </a:solidFill>
          </a:ln>
        </p:spPr>
        <p:txBody>
          <a:bodyPr wrap="square" lIns="0" tIns="0" rIns="0" bIns="0" rtlCol="0" anchor="ctr"/>
          <a:lstStyle/>
          <a:p>
            <a:pPr algn="ctr" indent="0" marL="0">
              <a:buNone/>
            </a:pPr>
            <a:r>
              <a:rPr lang="en-US" sz="1600" b="1" dirty="0">
                <a:solidFill>
                  <a:srgbClr val="424242"/>
                </a:solidFill>
                <a:latin typeface="Avenir Next" pitchFamily="34" charset="0"/>
                <a:ea typeface="Avenir Next" pitchFamily="34" charset="-122"/>
                <a:cs typeface="Avenir Next" pitchFamily="34" charset="-120"/>
              </a:rPr>
              <a:t>👥  Mitschüler</a:t>
            </a:r>
            <a:endParaRPr lang="en-US" sz="1600" dirty="0"/>
          </a:p>
        </p:txBody>
      </p:sp>
      <p:sp>
        <p:nvSpPr>
          <p:cNvPr id="14" name="Text 12"/>
          <p:cNvSpPr/>
          <p:nvPr/>
        </p:nvSpPr>
        <p:spPr>
          <a:xfrm>
            <a:off x="6172200" y="4251960"/>
            <a:ext cx="2926080" cy="566928"/>
          </a:xfrm>
          <a:prstGeom prst="roundRect">
            <a:avLst>
              <a:gd name="adj" fmla="val 19355"/>
            </a:avLst>
          </a:prstGeom>
          <a:solidFill>
            <a:srgbClr val="DDF4D7"/>
          </a:solidFill>
          <a:ln w="12700">
            <a:solidFill>
              <a:srgbClr val="DDF4D7"/>
            </a:solidFill>
          </a:ln>
        </p:spPr>
        <p:txBody>
          <a:bodyPr wrap="square" lIns="0" tIns="0" rIns="0" bIns="0" rtlCol="0" anchor="ctr"/>
          <a:lstStyle/>
          <a:p>
            <a:pPr algn="ctr" indent="0" marL="0">
              <a:buNone/>
            </a:pPr>
            <a:r>
              <a:rPr lang="en-US" sz="1600" b="1" dirty="0">
                <a:solidFill>
                  <a:srgbClr val="424242"/>
                </a:solidFill>
                <a:latin typeface="Avenir Next" pitchFamily="34" charset="0"/>
                <a:ea typeface="Avenir Next" pitchFamily="34" charset="-122"/>
                <a:cs typeface="Avenir Next" pitchFamily="34" charset="-120"/>
              </a:rPr>
              <a:t>🕒  Zeitstress</a:t>
            </a:r>
            <a:endParaRPr lang="en-US" sz="1600" dirty="0"/>
          </a:p>
        </p:txBody>
      </p:sp>
      <p:sp>
        <p:nvSpPr>
          <p:cNvPr id="15" name="Text 13"/>
          <p:cNvSpPr/>
          <p:nvPr/>
        </p:nvSpPr>
        <p:spPr>
          <a:xfrm>
            <a:off x="4617720" y="5138928"/>
            <a:ext cx="3017520" cy="228600"/>
          </a:xfrm>
          <a:prstGeom prst="rect">
            <a:avLst/>
          </a:prstGeom>
          <a:noFill/>
          <a:ln/>
        </p:spPr>
        <p:txBody>
          <a:bodyPr wrap="square" lIns="0" tIns="0" rIns="0" bIns="0" rtlCol="0" anchor="t">
            <a:normAutofit/>
          </a:bodyPr>
          <a:lstStyle/>
          <a:p>
            <a:pPr algn="ctr" indent="0" marL="0">
              <a:buNone/>
            </a:pPr>
            <a:r>
              <a:rPr lang="en-US" sz="1250" dirty="0">
                <a:solidFill>
                  <a:srgbClr val="6B7280"/>
                </a:solidFill>
                <a:latin typeface="Avenir Next" pitchFamily="34" charset="0"/>
                <a:ea typeface="Avenir Next" pitchFamily="34" charset="-122"/>
                <a:cs typeface="Avenir Next" pitchFamily="34" charset="-120"/>
              </a:rPr>
              <a:t>Kurzes Handzeichen</a:t>
            </a:r>
            <a:endParaRPr lang="en-US" sz="1250" dirty="0"/>
          </a:p>
        </p:txBody>
      </p:sp>
      <p:sp>
        <p:nvSpPr>
          <p:cNvPr id="16" name="Shape 14"/>
          <p:cNvSpPr/>
          <p:nvPr/>
        </p:nvSpPr>
        <p:spPr>
          <a:xfrm>
            <a:off x="2011680" y="5532120"/>
            <a:ext cx="8183880" cy="530352"/>
          </a:xfrm>
          <a:prstGeom prst="roundRect">
            <a:avLst>
              <a:gd name="adj" fmla="val 20690"/>
            </a:avLst>
          </a:prstGeom>
          <a:solidFill>
            <a:srgbClr val="CFEFFF"/>
          </a:solidFill>
          <a:ln w="12700">
            <a:solidFill>
              <a:srgbClr val="CFEFFF"/>
            </a:solidFill>
            <a:prstDash val="solid"/>
          </a:ln>
        </p:spPr>
      </p:sp>
      <p:sp>
        <p:nvSpPr>
          <p:cNvPr id="17" name="Text 15"/>
          <p:cNvSpPr/>
          <p:nvPr/>
        </p:nvSpPr>
        <p:spPr>
          <a:xfrm>
            <a:off x="2331720" y="5696712"/>
            <a:ext cx="7543800" cy="201168"/>
          </a:xfrm>
          <a:prstGeom prst="rect">
            <a:avLst/>
          </a:prstGeom>
          <a:noFill/>
          <a:ln/>
        </p:spPr>
        <p:txBody>
          <a:bodyPr wrap="square" lIns="0" tIns="0" rIns="0" bIns="0" rtlCol="0" anchor="t">
            <a:normAutofit/>
          </a:bodyPr>
          <a:lstStyle/>
          <a:p>
            <a:pPr algn="ctr" indent="0" marL="0">
              <a:buNone/>
            </a:pPr>
            <a:r>
              <a:rPr lang="en-US" sz="1450" b="1" dirty="0">
                <a:solidFill>
                  <a:srgbClr val="424242"/>
                </a:solidFill>
                <a:latin typeface="Avenir Next" pitchFamily="34" charset="0"/>
                <a:ea typeface="Avenir Next" pitchFamily="34" charset="-122"/>
                <a:cs typeface="Avenir Next" pitchFamily="34" charset="-120"/>
              </a:rPr>
              <a:t>Alle Faktoren spielen laut Facharbeit eine wichtige Rolle.</a:t>
            </a:r>
            <a:endParaRPr lang="en-US" sz="1450" dirty="0"/>
          </a:p>
        </p:txBody>
      </p:sp>
    </p:spTree>
  </p:cSld>
  <p:transition spd="med">
    <p:dissolve/>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10" presetClass="entr" presetSubtype="0"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450"/>
                                        <p:tgtEl>
                                          <p:spTgt spid="9"/>
                                        </p:tgtEl>
                                      </p:cBhvr>
                                    </p:animEffect>
                                  </p:childTnLst>
                                </p:cTn>
                              </p:par>
                            </p:childTnLst>
                          </p:cTn>
                        </p:par>
                        <p:par>
                          <p:cTn id="48" fill="hold">
                            <p:stCondLst>
                              <p:cond delay="2160"/>
                            </p:stCondLst>
                            <p:childTnLst>
                              <p:par>
                                <p:cTn id="49" presetID="10" presetClass="entr" presetSubtype="0"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childTnLst>
                          </p:cTn>
                        </p:par>
                        <p:par>
                          <p:cTn id="59" fill="hold">
                            <p:stCondLst>
                              <p:cond delay="2730"/>
                            </p:stCondLst>
                            <p:childTnLst>
                              <p:par>
                                <p:cTn id="60" presetID="53" presetClass="entr" presetSubtype="16"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 calcmode="lin" valueType="num">
                                      <p:cBhvr>
                                        <p:cTn id="64" dur="450" fill="hold"/>
                                        <p:tgtEl>
                                          <p:spTgt spid="11"/>
                                        </p:tgtEl>
                                        <p:attrNameLst>
                                          <p:attrName>ppt_w</p:attrName>
                                        </p:attrNameLst>
                                      </p:cBhvr>
                                      <p:tavLst>
                                        <p:tav tm="0">
                                          <p:val>
                                            <p:fltVal val="0"/>
                                          </p:val>
                                        </p:tav>
                                        <p:tav tm="100000">
                                          <p:val>
                                            <p:strVal val="#ppt_w"/>
                                          </p:val>
                                        </p:tav>
                                      </p:tavLst>
                                    </p:anim>
                                    <p:anim calcmode="lin" valueType="num">
                                      <p:cBhvr>
                                        <p:cTn id="65" dur="450" fill="hold"/>
                                        <p:tgtEl>
                                          <p:spTgt spid="11"/>
                                        </p:tgtEl>
                                        <p:attrNameLst>
                                          <p:attrName>ppt_h</p:attrName>
                                        </p:attrNameLst>
                                      </p:cBhvr>
                                      <p:tavLst>
                                        <p:tav tm="0">
                                          <p:val>
                                            <p:fltVal val="0"/>
                                          </p:val>
                                        </p:tav>
                                        <p:tav tm="100000">
                                          <p:val>
                                            <p:strVal val="#ppt_h"/>
                                          </p:val>
                                        </p:tav>
                                      </p:tavLst>
                                    </p:anim>
                                    <p:animEffect transition="in" filter="fade">
                                      <p:cBhvr>
                                        <p:cTn id="66" dur="450"/>
                                        <p:tgtEl>
                                          <p:spTgt spid="11"/>
                                        </p:tgtEl>
                                      </p:cBhvr>
                                    </p:animEffect>
                                  </p:childTnLst>
                                </p:cTn>
                              </p:par>
                            </p:childTnLst>
                          </p:cTn>
                        </p:par>
                        <p:par>
                          <p:cTn id="70" fill="hold">
                            <p:stCondLst>
                              <p:cond delay="3300"/>
                            </p:stCondLst>
                            <p:childTnLst>
                              <p:par>
                                <p:cTn id="71" presetID="53" presetClass="entr" presetSubtype="16"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 calcmode="lin" valueType="num">
                                      <p:cBhvr>
                                        <p:cTn id="75" dur="450" fill="hold"/>
                                        <p:tgtEl>
                                          <p:spTgt spid="12"/>
                                        </p:tgtEl>
                                        <p:attrNameLst>
                                          <p:attrName>ppt_w</p:attrName>
                                        </p:attrNameLst>
                                      </p:cBhvr>
                                      <p:tavLst>
                                        <p:tav tm="0">
                                          <p:val>
                                            <p:fltVal val="0"/>
                                          </p:val>
                                        </p:tav>
                                        <p:tav tm="100000">
                                          <p:val>
                                            <p:strVal val="#ppt_w"/>
                                          </p:val>
                                        </p:tav>
                                      </p:tavLst>
                                    </p:anim>
                                    <p:anim calcmode="lin" valueType="num">
                                      <p:cBhvr>
                                        <p:cTn id="76" dur="450" fill="hold"/>
                                        <p:tgtEl>
                                          <p:spTgt spid="12"/>
                                        </p:tgtEl>
                                        <p:attrNameLst>
                                          <p:attrName>ppt_h</p:attrName>
                                        </p:attrNameLst>
                                      </p:cBhvr>
                                      <p:tavLst>
                                        <p:tav tm="0">
                                          <p:val>
                                            <p:fltVal val="0"/>
                                          </p:val>
                                        </p:tav>
                                        <p:tav tm="100000">
                                          <p:val>
                                            <p:strVal val="#ppt_h"/>
                                          </p:val>
                                        </p:tav>
                                      </p:tavLst>
                                    </p:anim>
                                    <p:animEffect transition="in" filter="fade">
                                      <p:cBhvr>
                                        <p:cTn id="77" dur="450"/>
                                        <p:tgtEl>
                                          <p:spTgt spid="12"/>
                                        </p:tgtEl>
                                      </p:cBhvr>
                                    </p:animEffect>
                                  </p:childTnLst>
                                </p:cTn>
                              </p:par>
                            </p:childTnLst>
                          </p:cTn>
                        </p:par>
                        <p:par>
                          <p:cTn id="81" fill="hold">
                            <p:stCondLst>
                              <p:cond delay="3870"/>
                            </p:stCondLst>
                            <p:childTnLst>
                              <p:par>
                                <p:cTn id="82" presetID="53" presetClass="entr" presetSubtype="16"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 calcmode="lin" valueType="num">
                                      <p:cBhvr>
                                        <p:cTn id="86" dur="450" fill="hold"/>
                                        <p:tgtEl>
                                          <p:spTgt spid="13"/>
                                        </p:tgtEl>
                                        <p:attrNameLst>
                                          <p:attrName>ppt_w</p:attrName>
                                        </p:attrNameLst>
                                      </p:cBhvr>
                                      <p:tavLst>
                                        <p:tav tm="0">
                                          <p:val>
                                            <p:fltVal val="0"/>
                                          </p:val>
                                        </p:tav>
                                        <p:tav tm="100000">
                                          <p:val>
                                            <p:strVal val="#ppt_w"/>
                                          </p:val>
                                        </p:tav>
                                      </p:tavLst>
                                    </p:anim>
                                    <p:anim calcmode="lin" valueType="num">
                                      <p:cBhvr>
                                        <p:cTn id="87" dur="450" fill="hold"/>
                                        <p:tgtEl>
                                          <p:spTgt spid="13"/>
                                        </p:tgtEl>
                                        <p:attrNameLst>
                                          <p:attrName>ppt_h</p:attrName>
                                        </p:attrNameLst>
                                      </p:cBhvr>
                                      <p:tavLst>
                                        <p:tav tm="0">
                                          <p:val>
                                            <p:fltVal val="0"/>
                                          </p:val>
                                        </p:tav>
                                        <p:tav tm="100000">
                                          <p:val>
                                            <p:strVal val="#ppt_h"/>
                                          </p:val>
                                        </p:tav>
                                      </p:tavLst>
                                    </p:anim>
                                    <p:animEffect transition="in" filter="fade">
                                      <p:cBhvr>
                                        <p:cTn id="88" dur="450"/>
                                        <p:tgtEl>
                                          <p:spTgt spid="13"/>
                                        </p:tgtEl>
                                      </p:cBhvr>
                                    </p:animEffect>
                                  </p:childTnLst>
                                </p:cTn>
                              </p:par>
                            </p:childTnLst>
                          </p:cTn>
                        </p:par>
                        <p:par>
                          <p:cTn id="92" fill="hold">
                            <p:stCondLst>
                              <p:cond delay="4440"/>
                            </p:stCondLst>
                            <p:childTnLst>
                              <p:par>
                                <p:cTn id="93" presetID="53" presetClass="entr" presetSubtype="16"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 calcmode="lin" valueType="num">
                                      <p:cBhvr>
                                        <p:cTn id="97" dur="450" fill="hold"/>
                                        <p:tgtEl>
                                          <p:spTgt spid="14"/>
                                        </p:tgtEl>
                                        <p:attrNameLst>
                                          <p:attrName>ppt_w</p:attrName>
                                        </p:attrNameLst>
                                      </p:cBhvr>
                                      <p:tavLst>
                                        <p:tav tm="0">
                                          <p:val>
                                            <p:fltVal val="0"/>
                                          </p:val>
                                        </p:tav>
                                        <p:tav tm="100000">
                                          <p:val>
                                            <p:strVal val="#ppt_w"/>
                                          </p:val>
                                        </p:tav>
                                      </p:tavLst>
                                    </p:anim>
                                    <p:anim calcmode="lin" valueType="num">
                                      <p:cBhvr>
                                        <p:cTn id="98" dur="450" fill="hold"/>
                                        <p:tgtEl>
                                          <p:spTgt spid="14"/>
                                        </p:tgtEl>
                                        <p:attrNameLst>
                                          <p:attrName>ppt_h</p:attrName>
                                        </p:attrNameLst>
                                      </p:cBhvr>
                                      <p:tavLst>
                                        <p:tav tm="0">
                                          <p:val>
                                            <p:fltVal val="0"/>
                                          </p:val>
                                        </p:tav>
                                        <p:tav tm="100000">
                                          <p:val>
                                            <p:strVal val="#ppt_h"/>
                                          </p:val>
                                        </p:tav>
                                      </p:tavLst>
                                    </p:anim>
                                    <p:animEffect transition="in" filter="fade">
                                      <p:cBhvr>
                                        <p:cTn id="99" dur="450"/>
                                        <p:tgtEl>
                                          <p:spTgt spid="14"/>
                                        </p:tgtEl>
                                      </p:cBhvr>
                                    </p:animEffect>
                                  </p:childTnLst>
                                </p:cTn>
                              </p:par>
                            </p:childTnLst>
                          </p:cTn>
                        </p:par>
                        <p:par>
                          <p:cTn id="103" fill="hold">
                            <p:stCondLst>
                              <p:cond delay="5010"/>
                            </p:stCondLst>
                            <p:childTnLst>
                              <p:par>
                                <p:cTn id="104" presetID="10" presetClass="entr" presetSubtype="0"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450"/>
                                        <p:tgtEl>
                                          <p:spTgt spid="15"/>
                                        </p:tgtEl>
                                      </p:cBhvr>
                                    </p:animEffect>
                                  </p:childTnLst>
                                </p:cTn>
                              </p:par>
                            </p:childTnLst>
                          </p:cTn>
                        </p:par>
                        <p:par>
                          <p:cTn id="114" fill="hold">
                            <p:stCondLst>
                              <p:cond delay="5580"/>
                            </p:stCondLst>
                            <p:childTnLst>
                              <p:par>
                                <p:cTn id="115" presetID="10" presetClass="entr" presetSubtype="0" fill="hold" grpId="0" nodeType="afterEffect">
                                  <p:stCondLst>
                                    <p:cond delay="450"/>
                                  </p:stCondLst>
                                  <p:childTnLst>
                                    <p:set>
                                      <p:cBhvr>
                                        <p:cTn id="118" dur="1" fill="hold">
                                          <p:stCondLst>
                                            <p:cond delay="0"/>
                                          </p:stCondLst>
                                        </p:cTn>
                                        <p:tgtEl>
                                          <p:spTgt spid="16"/>
                                        </p:tgtEl>
                                        <p:attrNameLst>
                                          <p:attrName>style.visibility</p:attrName>
                                        </p:attrNameLst>
                                      </p:cBhvr>
                                      <p:to>
                                        <p:strVal val="visible"/>
                                      </p:to>
                                    </p:set>
                                    <p:animEffect transition="in" filter="fade">
                                      <p:cBhvr>
                                        <p:cTn id="119" dur="500"/>
                                        <p:tgtEl>
                                          <p:spTgt spid="16"/>
                                        </p:tgtEl>
                                      </p:cBhvr>
                                    </p:animEffect>
                                  </p:childTnLst>
                                </p:cTn>
                              </p:par>
                            </p:childTnLst>
                          </p:cTn>
                        </p:par>
                        <p:par>
                          <p:cTn id="125" fill="hold">
                            <p:stCondLst>
                              <p:cond delay="6530"/>
                            </p:stCondLst>
                            <p:childTnLst>
                              <p:par>
                                <p:cTn id="126" presetID="10" presetClass="entr" presetSubtype="0" fill="hold" grpId="0" nodeType="afterEffect">
                                  <p:stCondLst>
                                    <p:cond delay="12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75520" y="-182880"/>
            <a:ext cx="2377440" cy="1188720"/>
          </a:xfrm>
          <a:prstGeom prst="ellipse">
            <a:avLst/>
          </a:prstGeom>
          <a:solidFill>
            <a:srgbClr val="FFF7C7">
              <a:alpha val="90000"/>
            </a:srgbClr>
          </a:solidFill>
          <a:ln w="12700">
            <a:solidFill>
              <a:srgbClr val="FFF7C7">
                <a:alpha val="0"/>
              </a:srgbClr>
            </a:solidFill>
            <a:prstDash val="solid"/>
          </a:ln>
        </p:spPr>
      </p:sp>
      <p:sp>
        <p:nvSpPr>
          <p:cNvPr id="3" name="Shape 1"/>
          <p:cNvSpPr/>
          <p:nvPr/>
        </p:nvSpPr>
        <p:spPr>
          <a:xfrm>
            <a:off x="-365760" y="5257800"/>
            <a:ext cx="2651760" cy="1143000"/>
          </a:xfrm>
          <a:prstGeom prst="ellipse">
            <a:avLst/>
          </a:prstGeom>
          <a:solidFill>
            <a:srgbClr val="CFEFFF">
              <a:alpha val="75000"/>
            </a:srgbClr>
          </a:solidFill>
          <a:ln w="12700">
            <a:solidFill>
              <a:srgbClr val="CFEFFF">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08</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Einordnung</a:t>
            </a:r>
            <a:endParaRPr lang="en-US" sz="1100" dirty="0"/>
          </a:p>
        </p:txBody>
      </p:sp>
      <p:sp>
        <p:nvSpPr>
          <p:cNvPr id="7" name="Text 5"/>
          <p:cNvSpPr/>
          <p:nvPr/>
        </p:nvSpPr>
        <p:spPr>
          <a:xfrm>
            <a:off x="731520" y="786384"/>
            <a:ext cx="603504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Internationaler Vergleich</a:t>
            </a:r>
            <a:endParaRPr lang="en-US" sz="2400" dirty="0"/>
          </a:p>
        </p:txBody>
      </p:sp>
      <p:sp>
        <p:nvSpPr>
          <p:cNvPr id="8" name="Text 6"/>
          <p:cNvSpPr/>
          <p:nvPr/>
        </p:nvSpPr>
        <p:spPr>
          <a:xfrm>
            <a:off x="731520" y="1536192"/>
            <a:ext cx="6035040" cy="594360"/>
          </a:xfrm>
          <a:prstGeom prst="rect">
            <a:avLst/>
          </a:prstGeom>
          <a:noFill/>
          <a:ln/>
        </p:spPr>
        <p:txBody>
          <a:bodyPr wrap="square" lIns="0" tIns="0" rIns="0" bIns="0" rtlCol="0" anchor="ctr">
            <a:normAutofit/>
          </a:bodyPr>
          <a:lstStyle/>
          <a:p>
            <a:pPr indent="0" marL="0">
              <a:buNone/>
            </a:pPr>
            <a:r>
              <a:rPr lang="en-US" sz="1250" dirty="0">
                <a:solidFill>
                  <a:srgbClr val="6B7280"/>
                </a:solidFill>
                <a:latin typeface="Avenir Next" pitchFamily="34" charset="0"/>
                <a:ea typeface="Avenir Next" pitchFamily="34" charset="-122"/>
                <a:cs typeface="Avenir Next" pitchFamily="34" charset="-120"/>
              </a:rPr>
              <a:t>Deutschland, Finnland und angelsächsische Systeme im Kontrast.</a:t>
            </a:r>
            <a:endParaRPr lang="en-US" sz="1250" dirty="0"/>
          </a:p>
        </p:txBody>
      </p:sp>
      <p:sp>
        <p:nvSpPr>
          <p:cNvPr id="9" name="Shape 7"/>
          <p:cNvSpPr/>
          <p:nvPr/>
        </p:nvSpPr>
        <p:spPr>
          <a:xfrm>
            <a:off x="868680" y="1920240"/>
            <a:ext cx="2697480" cy="3154680"/>
          </a:xfrm>
          <a:prstGeom prst="roundRect">
            <a:avLst>
              <a:gd name="adj" fmla="val 4068"/>
            </a:avLst>
          </a:prstGeom>
          <a:solidFill>
            <a:srgbClr val="FFFFFF"/>
          </a:solidFill>
          <a:ln w="12700">
            <a:solidFill>
              <a:srgbClr val="EEF0F5"/>
            </a:solidFill>
            <a:prstDash val="solid"/>
          </a:ln>
        </p:spPr>
      </p:sp>
      <p:sp>
        <p:nvSpPr>
          <p:cNvPr id="10" name="Text 8"/>
          <p:cNvSpPr/>
          <p:nvPr/>
        </p:nvSpPr>
        <p:spPr>
          <a:xfrm>
            <a:off x="1051560" y="0"/>
            <a:ext cx="1691640" cy="310896"/>
          </a:xfrm>
          <a:prstGeom prst="roundRect">
            <a:avLst>
              <a:gd name="adj" fmla="val 35294"/>
            </a:avLst>
          </a:prstGeom>
          <a:solidFill>
            <a:srgbClr val="CFEFFF"/>
          </a:solidFill>
          <a:ln w="12700">
            <a:solidFill>
              <a:srgbClr val="CFEFFF"/>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Deutschland</a:t>
            </a:r>
            <a:endParaRPr lang="en-US" sz="1050" dirty="0"/>
          </a:p>
        </p:txBody>
      </p:sp>
      <p:sp>
        <p:nvSpPr>
          <p:cNvPr id="11" name="Text 9"/>
          <p:cNvSpPr/>
          <p:nvPr/>
        </p:nvSpPr>
        <p:spPr>
          <a:xfrm>
            <a:off x="1069848" y="0"/>
            <a:ext cx="2139696"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frühe Aufteilung</a:t>
            </a:r>
            <a:endParaRPr lang="en-US" sz="1500" dirty="0"/>
          </a:p>
        </p:txBody>
      </p:sp>
      <p:sp>
        <p:nvSpPr>
          <p:cNvPr id="12" name="Text 10"/>
          <p:cNvSpPr/>
          <p:nvPr/>
        </p:nvSpPr>
        <p:spPr>
          <a:xfrm>
            <a:off x="1069848" y="0"/>
            <a:ext cx="2139696"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Noten und Prüfungen zentral</a:t>
            </a:r>
            <a:endParaRPr lang="en-US" sz="1500" dirty="0"/>
          </a:p>
        </p:txBody>
      </p:sp>
      <p:sp>
        <p:nvSpPr>
          <p:cNvPr id="13" name="Shape 11"/>
          <p:cNvSpPr/>
          <p:nvPr/>
        </p:nvSpPr>
        <p:spPr>
          <a:xfrm>
            <a:off x="3977640" y="1920240"/>
            <a:ext cx="2697480" cy="3154680"/>
          </a:xfrm>
          <a:prstGeom prst="roundRect">
            <a:avLst>
              <a:gd name="adj" fmla="val 4068"/>
            </a:avLst>
          </a:prstGeom>
          <a:solidFill>
            <a:srgbClr val="FFFFFF"/>
          </a:solidFill>
          <a:ln w="12700">
            <a:solidFill>
              <a:srgbClr val="EEF0F5"/>
            </a:solidFill>
            <a:prstDash val="solid"/>
          </a:ln>
        </p:spPr>
      </p:sp>
      <p:sp>
        <p:nvSpPr>
          <p:cNvPr id="14" name="Text 12"/>
          <p:cNvSpPr/>
          <p:nvPr/>
        </p:nvSpPr>
        <p:spPr>
          <a:xfrm>
            <a:off x="4160520" y="0"/>
            <a:ext cx="1691640" cy="310896"/>
          </a:xfrm>
          <a:prstGeom prst="roundRect">
            <a:avLst>
              <a:gd name="adj" fmla="val 35294"/>
            </a:avLst>
          </a:prstGeom>
          <a:solidFill>
            <a:srgbClr val="FFF7C7"/>
          </a:solidFill>
          <a:ln w="12700">
            <a:solidFill>
              <a:srgbClr val="FFF7C7"/>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Finnland</a:t>
            </a:r>
            <a:endParaRPr lang="en-US" sz="1050" dirty="0"/>
          </a:p>
        </p:txBody>
      </p:sp>
      <p:sp>
        <p:nvSpPr>
          <p:cNvPr id="15" name="Text 13"/>
          <p:cNvSpPr/>
          <p:nvPr/>
        </p:nvSpPr>
        <p:spPr>
          <a:xfrm>
            <a:off x="4178808" y="0"/>
            <a:ext cx="2139696"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längeres gemeinsames Lernen</a:t>
            </a:r>
            <a:endParaRPr lang="en-US" sz="1500" dirty="0"/>
          </a:p>
        </p:txBody>
      </p:sp>
      <p:sp>
        <p:nvSpPr>
          <p:cNvPr id="16" name="Text 14"/>
          <p:cNvSpPr/>
          <p:nvPr/>
        </p:nvSpPr>
        <p:spPr>
          <a:xfrm>
            <a:off x="4178808" y="0"/>
            <a:ext cx="2139696"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spätere Leistungsdifferenzierung</a:t>
            </a:r>
            <a:endParaRPr lang="en-US" sz="1500" dirty="0"/>
          </a:p>
        </p:txBody>
      </p:sp>
      <p:sp>
        <p:nvSpPr>
          <p:cNvPr id="17" name="Shape 15"/>
          <p:cNvSpPr/>
          <p:nvPr/>
        </p:nvSpPr>
        <p:spPr>
          <a:xfrm>
            <a:off x="7086600" y="1920240"/>
            <a:ext cx="2697480" cy="3154680"/>
          </a:xfrm>
          <a:prstGeom prst="roundRect">
            <a:avLst>
              <a:gd name="adj" fmla="val 4068"/>
            </a:avLst>
          </a:prstGeom>
          <a:solidFill>
            <a:srgbClr val="FFFFFF"/>
          </a:solidFill>
          <a:ln w="12700">
            <a:solidFill>
              <a:srgbClr val="EEF0F5"/>
            </a:solidFill>
            <a:prstDash val="solid"/>
          </a:ln>
        </p:spPr>
      </p:sp>
      <p:sp>
        <p:nvSpPr>
          <p:cNvPr id="18" name="Text 16"/>
          <p:cNvSpPr/>
          <p:nvPr/>
        </p:nvSpPr>
        <p:spPr>
          <a:xfrm>
            <a:off x="7269480" y="0"/>
            <a:ext cx="1691640" cy="310896"/>
          </a:xfrm>
          <a:prstGeom prst="roundRect">
            <a:avLst>
              <a:gd name="adj" fmla="val 35294"/>
            </a:avLst>
          </a:prstGeom>
          <a:solidFill>
            <a:srgbClr val="FFD9E8"/>
          </a:solidFill>
          <a:ln w="12700">
            <a:solidFill>
              <a:srgbClr val="FFD9E8"/>
            </a:solidFill>
          </a:ln>
        </p:spPr>
        <p:txBody>
          <a:bodyPr wrap="square" lIns="0" tIns="0" rIns="0" bIns="0" rtlCol="0" anchor="ctr"/>
          <a:lstStyle/>
          <a:p>
            <a:pPr algn="ctr" indent="0" marL="0">
              <a:buNone/>
            </a:pPr>
            <a:r>
              <a:rPr lang="en-US" sz="1050" b="1" dirty="0">
                <a:solidFill>
                  <a:srgbClr val="424242"/>
                </a:solidFill>
                <a:latin typeface="Avenir Next" pitchFamily="34" charset="0"/>
                <a:ea typeface="Avenir Next" pitchFamily="34" charset="-122"/>
                <a:cs typeface="Avenir Next" pitchFamily="34" charset="-120"/>
              </a:rPr>
              <a:t>Angelsächsische Systeme</a:t>
            </a:r>
            <a:endParaRPr lang="en-US" sz="1050" dirty="0"/>
          </a:p>
        </p:txBody>
      </p:sp>
      <p:sp>
        <p:nvSpPr>
          <p:cNvPr id="19" name="Text 17"/>
          <p:cNvSpPr/>
          <p:nvPr/>
        </p:nvSpPr>
        <p:spPr>
          <a:xfrm>
            <a:off x="7287768" y="0"/>
            <a:ext cx="2139696"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mehr Praxisorientierung</a:t>
            </a:r>
            <a:endParaRPr lang="en-US" sz="1500" dirty="0"/>
          </a:p>
        </p:txBody>
      </p:sp>
      <p:sp>
        <p:nvSpPr>
          <p:cNvPr id="20" name="Text 18"/>
          <p:cNvSpPr/>
          <p:nvPr/>
        </p:nvSpPr>
        <p:spPr>
          <a:xfrm>
            <a:off x="7287768" y="0"/>
            <a:ext cx="2139696"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mehr Wahlmöglichkeiten</a:t>
            </a:r>
            <a:endParaRPr lang="en-US" sz="1500" dirty="0"/>
          </a:p>
        </p:txBody>
      </p:sp>
      <p:sp>
        <p:nvSpPr>
          <p:cNvPr id="21" name="Shape 19"/>
          <p:cNvSpPr/>
          <p:nvPr/>
        </p:nvSpPr>
        <p:spPr>
          <a:xfrm>
            <a:off x="1508760" y="5486400"/>
            <a:ext cx="9144000" cy="566928"/>
          </a:xfrm>
          <a:prstGeom prst="roundRect">
            <a:avLst>
              <a:gd name="adj" fmla="val 19355"/>
            </a:avLst>
          </a:prstGeom>
          <a:solidFill>
            <a:srgbClr val="FFF7C7"/>
          </a:solidFill>
          <a:ln w="12700">
            <a:solidFill>
              <a:srgbClr val="FFF7C7"/>
            </a:solidFill>
            <a:prstDash val="solid"/>
          </a:ln>
        </p:spPr>
      </p:sp>
      <p:sp>
        <p:nvSpPr>
          <p:cNvPr id="22" name="Text 20"/>
          <p:cNvSpPr/>
          <p:nvPr/>
        </p:nvSpPr>
        <p:spPr>
          <a:xfrm>
            <a:off x="1783080" y="5669280"/>
            <a:ext cx="8595360" cy="182880"/>
          </a:xfrm>
          <a:prstGeom prst="rect">
            <a:avLst/>
          </a:prstGeom>
          <a:noFill/>
          <a:ln/>
        </p:spPr>
        <p:txBody>
          <a:bodyPr wrap="square" lIns="0" tIns="0" rIns="0" bIns="0" rtlCol="0" anchor="t">
            <a:normAutofit/>
          </a:bodyPr>
          <a:lstStyle/>
          <a:p>
            <a:pPr algn="ctr" indent="0" marL="0">
              <a:buNone/>
            </a:pPr>
            <a:r>
              <a:rPr lang="en-US" sz="1600" b="1" dirty="0">
                <a:solidFill>
                  <a:srgbClr val="424242"/>
                </a:solidFill>
                <a:latin typeface="Avenir Next" pitchFamily="34" charset="0"/>
                <a:ea typeface="Avenir Next" pitchFamily="34" charset="-122"/>
                <a:cs typeface="Avenir Next" pitchFamily="34" charset="-120"/>
              </a:rPr>
              <a:t>Kein System ist perfekt.</a:t>
            </a:r>
            <a:endParaRPr lang="en-US" sz="1600" dirty="0"/>
          </a:p>
        </p:txBody>
      </p:sp>
    </p:spTree>
  </p:cSld>
  <p:transition spd="fast">
    <p:zoom dir="in"/>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10" presetClass="entr" presetSubtype="0"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450"/>
                                        <p:tgtEl>
                                          <p:spTgt spid="9"/>
                                        </p:tgtEl>
                                      </p:cBhvr>
                                    </p:animEffect>
                                  </p:childTnLst>
                                </p:cTn>
                              </p:par>
                            </p:childTnLst>
                          </p:cTn>
                        </p:par>
                        <p:par>
                          <p:cTn id="48" fill="hold">
                            <p:stCondLst>
                              <p:cond delay="2160"/>
                            </p:stCondLst>
                            <p:childTnLst>
                              <p:par>
                                <p:cTn id="49" presetID="53" presetClass="entr" presetSubtype="16"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 calcmode="lin" valueType="num">
                                      <p:cBhvr>
                                        <p:cTn id="53" dur="450" fill="hold"/>
                                        <p:tgtEl>
                                          <p:spTgt spid="10"/>
                                        </p:tgtEl>
                                        <p:attrNameLst>
                                          <p:attrName>ppt_w</p:attrName>
                                        </p:attrNameLst>
                                      </p:cBhvr>
                                      <p:tavLst>
                                        <p:tav tm="0">
                                          <p:val>
                                            <p:fltVal val="0"/>
                                          </p:val>
                                        </p:tav>
                                        <p:tav tm="100000">
                                          <p:val>
                                            <p:strVal val="#ppt_w"/>
                                          </p:val>
                                        </p:tav>
                                      </p:tavLst>
                                    </p:anim>
                                    <p:anim calcmode="lin" valueType="num">
                                      <p:cBhvr>
                                        <p:cTn id="54" dur="450" fill="hold"/>
                                        <p:tgtEl>
                                          <p:spTgt spid="10"/>
                                        </p:tgtEl>
                                        <p:attrNameLst>
                                          <p:attrName>ppt_h</p:attrName>
                                        </p:attrNameLst>
                                      </p:cBhvr>
                                      <p:tavLst>
                                        <p:tav tm="0">
                                          <p:val>
                                            <p:fltVal val="0"/>
                                          </p:val>
                                        </p:tav>
                                        <p:tav tm="100000">
                                          <p:val>
                                            <p:strVal val="#ppt_h"/>
                                          </p:val>
                                        </p:tav>
                                      </p:tavLst>
                                    </p:anim>
                                    <p:animEffect transition="in" filter="fade">
                                      <p:cBhvr>
                                        <p:cTn id="55" dur="450"/>
                                        <p:tgtEl>
                                          <p:spTgt spid="10"/>
                                        </p:tgtEl>
                                      </p:cBhvr>
                                    </p:animEffect>
                                  </p:childTnLst>
                                </p:cTn>
                              </p:par>
                            </p:childTnLst>
                          </p:cTn>
                        </p:par>
                        <p:par>
                          <p:cTn id="59" fill="hold">
                            <p:stCondLst>
                              <p:cond delay="2730"/>
                            </p:stCondLst>
                            <p:childTnLst>
                              <p:par>
                                <p:cTn id="60" presetID="10" presetClass="entr" presetSubtype="0"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par>
                          <p:cTn id="70" fill="hold">
                            <p:stCondLst>
                              <p:cond delay="3300"/>
                            </p:stCondLst>
                            <p:childTnLst>
                              <p:par>
                                <p:cTn id="71" presetID="10" presetClass="entr" presetSubtype="0"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450"/>
                                        <p:tgtEl>
                                          <p:spTgt spid="12"/>
                                        </p:tgtEl>
                                      </p:cBhvr>
                                    </p:animEffect>
                                  </p:childTnLst>
                                </p:cTn>
                              </p:par>
                            </p:childTnLst>
                          </p:cTn>
                        </p:par>
                        <p:par>
                          <p:cTn id="81" fill="hold">
                            <p:stCondLst>
                              <p:cond delay="3870"/>
                            </p:stCondLst>
                            <p:childTnLst>
                              <p:par>
                                <p:cTn id="82" presetID="10" presetClass="entr" presetSubtype="0"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450"/>
                                        <p:tgtEl>
                                          <p:spTgt spid="13"/>
                                        </p:tgtEl>
                                      </p:cBhvr>
                                    </p:animEffect>
                                  </p:childTnLst>
                                </p:cTn>
                              </p:par>
                            </p:childTnLst>
                          </p:cTn>
                        </p:par>
                        <p:par>
                          <p:cTn id="92" fill="hold">
                            <p:stCondLst>
                              <p:cond delay="4440"/>
                            </p:stCondLst>
                            <p:childTnLst>
                              <p:par>
                                <p:cTn id="93" presetID="53" presetClass="entr" presetSubtype="16"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 calcmode="lin" valueType="num">
                                      <p:cBhvr>
                                        <p:cTn id="97" dur="450" fill="hold"/>
                                        <p:tgtEl>
                                          <p:spTgt spid="14"/>
                                        </p:tgtEl>
                                        <p:attrNameLst>
                                          <p:attrName>ppt_w</p:attrName>
                                        </p:attrNameLst>
                                      </p:cBhvr>
                                      <p:tavLst>
                                        <p:tav tm="0">
                                          <p:val>
                                            <p:fltVal val="0"/>
                                          </p:val>
                                        </p:tav>
                                        <p:tav tm="100000">
                                          <p:val>
                                            <p:strVal val="#ppt_w"/>
                                          </p:val>
                                        </p:tav>
                                      </p:tavLst>
                                    </p:anim>
                                    <p:anim calcmode="lin" valueType="num">
                                      <p:cBhvr>
                                        <p:cTn id="98" dur="450" fill="hold"/>
                                        <p:tgtEl>
                                          <p:spTgt spid="14"/>
                                        </p:tgtEl>
                                        <p:attrNameLst>
                                          <p:attrName>ppt_h</p:attrName>
                                        </p:attrNameLst>
                                      </p:cBhvr>
                                      <p:tavLst>
                                        <p:tav tm="0">
                                          <p:val>
                                            <p:fltVal val="0"/>
                                          </p:val>
                                        </p:tav>
                                        <p:tav tm="100000">
                                          <p:val>
                                            <p:strVal val="#ppt_h"/>
                                          </p:val>
                                        </p:tav>
                                      </p:tavLst>
                                    </p:anim>
                                    <p:animEffect transition="in" filter="fade">
                                      <p:cBhvr>
                                        <p:cTn id="99" dur="450"/>
                                        <p:tgtEl>
                                          <p:spTgt spid="14"/>
                                        </p:tgtEl>
                                      </p:cBhvr>
                                    </p:animEffect>
                                  </p:childTnLst>
                                </p:cTn>
                              </p:par>
                            </p:childTnLst>
                          </p:cTn>
                        </p:par>
                        <p:par>
                          <p:cTn id="103" fill="hold">
                            <p:stCondLst>
                              <p:cond delay="5010"/>
                            </p:stCondLst>
                            <p:childTnLst>
                              <p:par>
                                <p:cTn id="104" presetID="10" presetClass="entr" presetSubtype="0"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450"/>
                                        <p:tgtEl>
                                          <p:spTgt spid="15"/>
                                        </p:tgtEl>
                                      </p:cBhvr>
                                    </p:animEffect>
                                  </p:childTnLst>
                                </p:cTn>
                              </p:par>
                            </p:childTnLst>
                          </p:cTn>
                        </p:par>
                        <p:par>
                          <p:cTn id="114" fill="hold">
                            <p:stCondLst>
                              <p:cond delay="5580"/>
                            </p:stCondLst>
                            <p:childTnLst>
                              <p:par>
                                <p:cTn id="115" presetID="10" presetClass="entr" presetSubtype="0" fill="hold" grpId="0" nodeType="afterEffect">
                                  <p:stCondLst>
                                    <p:cond delay="120"/>
                                  </p:stCondLst>
                                  <p:childTnLst>
                                    <p:set>
                                      <p:cBhvr>
                                        <p:cTn id="118" dur="1" fill="hold">
                                          <p:stCondLst>
                                            <p:cond delay="0"/>
                                          </p:stCondLst>
                                        </p:cTn>
                                        <p:tgtEl>
                                          <p:spTgt spid="16"/>
                                        </p:tgtEl>
                                        <p:attrNameLst>
                                          <p:attrName>style.visibility</p:attrName>
                                        </p:attrNameLst>
                                      </p:cBhvr>
                                      <p:to>
                                        <p:strVal val="visible"/>
                                      </p:to>
                                    </p:set>
                                    <p:animEffect transition="in" filter="fade">
                                      <p:cBhvr>
                                        <p:cTn id="119" dur="450"/>
                                        <p:tgtEl>
                                          <p:spTgt spid="16"/>
                                        </p:tgtEl>
                                      </p:cBhvr>
                                    </p:animEffect>
                                  </p:childTnLst>
                                </p:cTn>
                              </p:par>
                            </p:childTnLst>
                          </p:cTn>
                        </p:par>
                        <p:par>
                          <p:cTn id="125" fill="hold">
                            <p:stCondLst>
                              <p:cond delay="6150"/>
                            </p:stCondLst>
                            <p:childTnLst>
                              <p:par>
                                <p:cTn id="126" presetID="10" presetClass="entr" presetSubtype="0" fill="hold" grpId="0" nodeType="afterEffect">
                                  <p:stCondLst>
                                    <p:cond delay="12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450"/>
                                        <p:tgtEl>
                                          <p:spTgt spid="17"/>
                                        </p:tgtEl>
                                      </p:cBhvr>
                                    </p:animEffect>
                                  </p:childTnLst>
                                </p:cTn>
                              </p:par>
                            </p:childTnLst>
                          </p:cTn>
                        </p:par>
                        <p:par>
                          <p:cTn id="136" fill="hold">
                            <p:stCondLst>
                              <p:cond delay="6720"/>
                            </p:stCondLst>
                            <p:childTnLst>
                              <p:par>
                                <p:cTn id="137" presetID="53" presetClass="entr" presetSubtype="16" fill="hold" grpId="0" nodeType="afterEffect">
                                  <p:stCondLst>
                                    <p:cond delay="120"/>
                                  </p:stCondLst>
                                  <p:childTnLst>
                                    <p:set>
                                      <p:cBhvr>
                                        <p:cTn id="140" dur="1" fill="hold">
                                          <p:stCondLst>
                                            <p:cond delay="0"/>
                                          </p:stCondLst>
                                        </p:cTn>
                                        <p:tgtEl>
                                          <p:spTgt spid="18"/>
                                        </p:tgtEl>
                                        <p:attrNameLst>
                                          <p:attrName>style.visibility</p:attrName>
                                        </p:attrNameLst>
                                      </p:cBhvr>
                                      <p:to>
                                        <p:strVal val="visible"/>
                                      </p:to>
                                    </p:set>
                                    <p:anim calcmode="lin" valueType="num">
                                      <p:cBhvr>
                                        <p:cTn id="141" dur="450" fill="hold"/>
                                        <p:tgtEl>
                                          <p:spTgt spid="18"/>
                                        </p:tgtEl>
                                        <p:attrNameLst>
                                          <p:attrName>ppt_w</p:attrName>
                                        </p:attrNameLst>
                                      </p:cBhvr>
                                      <p:tavLst>
                                        <p:tav tm="0">
                                          <p:val>
                                            <p:fltVal val="0"/>
                                          </p:val>
                                        </p:tav>
                                        <p:tav tm="100000">
                                          <p:val>
                                            <p:strVal val="#ppt_w"/>
                                          </p:val>
                                        </p:tav>
                                      </p:tavLst>
                                    </p:anim>
                                    <p:anim calcmode="lin" valueType="num">
                                      <p:cBhvr>
                                        <p:cTn id="142" dur="450" fill="hold"/>
                                        <p:tgtEl>
                                          <p:spTgt spid="18"/>
                                        </p:tgtEl>
                                        <p:attrNameLst>
                                          <p:attrName>ppt_h</p:attrName>
                                        </p:attrNameLst>
                                      </p:cBhvr>
                                      <p:tavLst>
                                        <p:tav tm="0">
                                          <p:val>
                                            <p:fltVal val="0"/>
                                          </p:val>
                                        </p:tav>
                                        <p:tav tm="100000">
                                          <p:val>
                                            <p:strVal val="#ppt_h"/>
                                          </p:val>
                                        </p:tav>
                                      </p:tavLst>
                                    </p:anim>
                                    <p:animEffect transition="in" filter="fade">
                                      <p:cBhvr>
                                        <p:cTn id="143" dur="450"/>
                                        <p:tgtEl>
                                          <p:spTgt spid="18"/>
                                        </p:tgtEl>
                                      </p:cBhvr>
                                    </p:animEffect>
                                  </p:childTnLst>
                                </p:cTn>
                              </p:par>
                            </p:childTnLst>
                          </p:cTn>
                        </p:par>
                        <p:par>
                          <p:cTn id="147" fill="hold">
                            <p:stCondLst>
                              <p:cond delay="7290"/>
                            </p:stCondLst>
                            <p:childTnLst>
                              <p:par>
                                <p:cTn id="148" presetID="10" presetClass="entr" presetSubtype="0" fill="hold" grpId="0" nodeType="afterEffect">
                                  <p:stCondLst>
                                    <p:cond delay="120"/>
                                  </p:stCondLst>
                                  <p:childTnLst>
                                    <p:set>
                                      <p:cBhvr>
                                        <p:cTn id="151" dur="1" fill="hold">
                                          <p:stCondLst>
                                            <p:cond delay="0"/>
                                          </p:stCondLst>
                                        </p:cTn>
                                        <p:tgtEl>
                                          <p:spTgt spid="19"/>
                                        </p:tgtEl>
                                        <p:attrNameLst>
                                          <p:attrName>style.visibility</p:attrName>
                                        </p:attrNameLst>
                                      </p:cBhvr>
                                      <p:to>
                                        <p:strVal val="visible"/>
                                      </p:to>
                                    </p:set>
                                    <p:animEffect transition="in" filter="fade">
                                      <p:cBhvr>
                                        <p:cTn id="152" dur="450"/>
                                        <p:tgtEl>
                                          <p:spTgt spid="19"/>
                                        </p:tgtEl>
                                      </p:cBhvr>
                                    </p:animEffect>
                                  </p:childTnLst>
                                </p:cTn>
                              </p:par>
                            </p:childTnLst>
                          </p:cTn>
                        </p:par>
                        <p:par>
                          <p:cTn id="158" fill="hold">
                            <p:stCondLst>
                              <p:cond delay="7860"/>
                            </p:stCondLst>
                            <p:childTnLst>
                              <p:par>
                                <p:cTn id="159" presetID="10" presetClass="entr" presetSubtype="0" fill="hold" grpId="0" nodeType="afterEffect">
                                  <p:stCondLst>
                                    <p:cond delay="120"/>
                                  </p:stCondLst>
                                  <p:childTnLst>
                                    <p:set>
                                      <p:cBhvr>
                                        <p:cTn id="162" dur="1" fill="hold">
                                          <p:stCondLst>
                                            <p:cond delay="0"/>
                                          </p:stCondLst>
                                        </p:cTn>
                                        <p:tgtEl>
                                          <p:spTgt spid="20"/>
                                        </p:tgtEl>
                                        <p:attrNameLst>
                                          <p:attrName>style.visibility</p:attrName>
                                        </p:attrNameLst>
                                      </p:cBhvr>
                                      <p:to>
                                        <p:strVal val="visible"/>
                                      </p:to>
                                    </p:set>
                                    <p:animEffect transition="in" filter="fade">
                                      <p:cBhvr>
                                        <p:cTn id="163" dur="450"/>
                                        <p:tgtEl>
                                          <p:spTgt spid="20"/>
                                        </p:tgtEl>
                                      </p:cBhvr>
                                    </p:animEffect>
                                  </p:childTnLst>
                                </p:cTn>
                              </p:par>
                            </p:childTnLst>
                          </p:cTn>
                        </p:par>
                        <p:par>
                          <p:cTn id="169" fill="hold">
                            <p:stCondLst>
                              <p:cond delay="8430"/>
                            </p:stCondLst>
                            <p:childTnLst>
                              <p:par>
                                <p:cTn id="170" presetID="22" presetClass="entr" presetSubtype="8" fill="hold" grpId="0" nodeType="afterEffect">
                                  <p:stCondLst>
                                    <p:cond delay="120"/>
                                  </p:stCondLst>
                                  <p:childTnLst>
                                    <p:set>
                                      <p:cBhvr>
                                        <p:cTn id="173" dur="1" fill="hold">
                                          <p:stCondLst>
                                            <p:cond delay="0"/>
                                          </p:stCondLst>
                                        </p:cTn>
                                        <p:tgtEl>
                                          <p:spTgt spid="21"/>
                                        </p:tgtEl>
                                        <p:attrNameLst>
                                          <p:attrName>style.visibility</p:attrName>
                                        </p:attrNameLst>
                                      </p:cBhvr>
                                      <p:to>
                                        <p:strVal val="visible"/>
                                      </p:to>
                                    </p:set>
                                    <p:animEffect transition="in" filter="wipe(left)">
                                      <p:cBhvr>
                                        <p:cTn id="174" dur="450"/>
                                        <p:tgtEl>
                                          <p:spTgt spid="21"/>
                                        </p:tgtEl>
                                      </p:cBhvr>
                                    </p:animEffect>
                                  </p:childTnLst>
                                </p:cTn>
                              </p:par>
                            </p:childTnLst>
                          </p:cTn>
                        </p:par>
                        <p:par>
                          <p:cTn id="180" fill="hold">
                            <p:stCondLst>
                              <p:cond delay="9000"/>
                            </p:stCondLst>
                            <p:childTnLst>
                              <p:par>
                                <p:cTn id="181" presetID="10" presetClass="entr" presetSubtype="0" fill="hold" grpId="0" nodeType="afterEffect">
                                  <p:stCondLst>
                                    <p:cond delay="120"/>
                                  </p:stCondLst>
                                  <p:childTnLst>
                                    <p:set>
                                      <p:cBhvr>
                                        <p:cTn id="184" dur="1" fill="hold">
                                          <p:stCondLst>
                                            <p:cond delay="0"/>
                                          </p:stCondLst>
                                        </p:cTn>
                                        <p:tgtEl>
                                          <p:spTgt spid="22"/>
                                        </p:tgtEl>
                                        <p:attrNameLst>
                                          <p:attrName>style.visibility</p:attrName>
                                        </p:attrNameLst>
                                      </p:cBhvr>
                                      <p:to>
                                        <p:strVal val="visible"/>
                                      </p:to>
                                    </p:set>
                                    <p:animEffect transition="in" filter="fade">
                                      <p:cBhvr>
                                        <p:cTn id="18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228600"/>
            <a:ext cx="2194560" cy="1005840"/>
          </a:xfrm>
          <a:prstGeom prst="ellipse">
            <a:avLst/>
          </a:prstGeom>
          <a:solidFill>
            <a:srgbClr val="FFD9E8">
              <a:alpha val="90000"/>
            </a:srgbClr>
          </a:solidFill>
          <a:ln w="12700">
            <a:solidFill>
              <a:srgbClr val="FFD9E8">
                <a:alpha val="0"/>
              </a:srgbClr>
            </a:solidFill>
            <a:prstDash val="solid"/>
          </a:ln>
        </p:spPr>
      </p:sp>
      <p:sp>
        <p:nvSpPr>
          <p:cNvPr id="3" name="Shape 1"/>
          <p:cNvSpPr/>
          <p:nvPr/>
        </p:nvSpPr>
        <p:spPr>
          <a:xfrm>
            <a:off x="9966960" y="5486400"/>
            <a:ext cx="2011680" cy="868680"/>
          </a:xfrm>
          <a:prstGeom prst="ellipse">
            <a:avLst/>
          </a:prstGeom>
          <a:solidFill>
            <a:srgbClr val="FFF7C7">
              <a:alpha val="80000"/>
            </a:srgbClr>
          </a:solidFill>
          <a:ln w="12700">
            <a:solidFill>
              <a:srgbClr val="FFF7C7">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09</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Kritische Einordnung</a:t>
            </a:r>
            <a:endParaRPr lang="en-US" sz="1100" dirty="0"/>
          </a:p>
        </p:txBody>
      </p:sp>
      <p:sp>
        <p:nvSpPr>
          <p:cNvPr id="7" name="Text 5"/>
          <p:cNvSpPr/>
          <p:nvPr/>
        </p:nvSpPr>
        <p:spPr>
          <a:xfrm>
            <a:off x="731520" y="786384"/>
            <a:ext cx="585216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Stärken und Schwächen</a:t>
            </a:r>
            <a:endParaRPr lang="en-US" sz="2400" dirty="0"/>
          </a:p>
        </p:txBody>
      </p:sp>
      <p:sp>
        <p:nvSpPr>
          <p:cNvPr id="8" name="Text 6"/>
          <p:cNvSpPr/>
          <p:nvPr/>
        </p:nvSpPr>
        <p:spPr>
          <a:xfrm>
            <a:off x="731520" y="1536192"/>
            <a:ext cx="5852160" cy="594360"/>
          </a:xfrm>
          <a:prstGeom prst="rect">
            <a:avLst/>
          </a:prstGeom>
          <a:noFill/>
          <a:ln/>
        </p:spPr>
        <p:txBody>
          <a:bodyPr wrap="square" lIns="0" tIns="0" rIns="0" bIns="0" rtlCol="0" anchor="ctr">
            <a:normAutofit/>
          </a:bodyPr>
          <a:lstStyle/>
          <a:p>
            <a:pPr indent="0" marL="0">
              <a:buNone/>
            </a:pPr>
            <a:r>
              <a:rPr lang="en-US" sz="1250" dirty="0">
                <a:solidFill>
                  <a:srgbClr val="6B7280"/>
                </a:solidFill>
                <a:latin typeface="Avenir Next" pitchFamily="34" charset="0"/>
                <a:ea typeface="Avenir Next" pitchFamily="34" charset="-122"/>
                <a:cs typeface="Avenir Next" pitchFamily="34" charset="-120"/>
              </a:rPr>
              <a:t>Eine ausgewogene Bewertung des deutschen Bildungssystems.</a:t>
            </a:r>
            <a:endParaRPr lang="en-US" sz="1250" dirty="0"/>
          </a:p>
        </p:txBody>
      </p:sp>
      <p:sp>
        <p:nvSpPr>
          <p:cNvPr id="9" name="Shape 7"/>
          <p:cNvSpPr/>
          <p:nvPr/>
        </p:nvSpPr>
        <p:spPr>
          <a:xfrm>
            <a:off x="868680" y="1828800"/>
            <a:ext cx="4846320" cy="3474720"/>
          </a:xfrm>
          <a:prstGeom prst="roundRect">
            <a:avLst>
              <a:gd name="adj" fmla="val 3158"/>
            </a:avLst>
          </a:prstGeom>
          <a:solidFill>
            <a:srgbClr val="DDF4D7"/>
          </a:solidFill>
          <a:ln w="12700">
            <a:solidFill>
              <a:srgbClr val="DDF4D7"/>
            </a:solidFill>
            <a:prstDash val="solid"/>
          </a:ln>
        </p:spPr>
      </p:sp>
      <p:sp>
        <p:nvSpPr>
          <p:cNvPr id="10" name="Shape 8"/>
          <p:cNvSpPr/>
          <p:nvPr/>
        </p:nvSpPr>
        <p:spPr>
          <a:xfrm>
            <a:off x="6446520" y="1828800"/>
            <a:ext cx="4846320" cy="3474720"/>
          </a:xfrm>
          <a:prstGeom prst="roundRect">
            <a:avLst>
              <a:gd name="adj" fmla="val 3158"/>
            </a:avLst>
          </a:prstGeom>
          <a:solidFill>
            <a:srgbClr val="FFD9E8"/>
          </a:solidFill>
          <a:ln w="12700">
            <a:solidFill>
              <a:srgbClr val="FFD9E8"/>
            </a:solidFill>
            <a:prstDash val="solid"/>
          </a:ln>
        </p:spPr>
      </p:sp>
      <p:sp>
        <p:nvSpPr>
          <p:cNvPr id="11" name="Text 9"/>
          <p:cNvSpPr/>
          <p:nvPr/>
        </p:nvSpPr>
        <p:spPr>
          <a:xfrm>
            <a:off x="1188720" y="2148840"/>
            <a:ext cx="1371600" cy="274320"/>
          </a:xfrm>
          <a:prstGeom prst="rect">
            <a:avLst/>
          </a:prstGeom>
          <a:noFill/>
          <a:ln/>
        </p:spPr>
        <p:txBody>
          <a:bodyPr wrap="square" lIns="0" tIns="0" rIns="0" bIns="0" rtlCol="0" anchor="t">
            <a:normAutofit/>
          </a:bodyPr>
          <a:lstStyle/>
          <a:p>
            <a:pPr algn="l" indent="0" marL="0">
              <a:buNone/>
            </a:pPr>
            <a:r>
              <a:rPr lang="en-US" sz="2100" b="1" dirty="0">
                <a:solidFill>
                  <a:srgbClr val="424242"/>
                </a:solidFill>
                <a:latin typeface="Avenir Next" pitchFamily="34" charset="0"/>
                <a:ea typeface="Avenir Next" pitchFamily="34" charset="-122"/>
                <a:cs typeface="Avenir Next" pitchFamily="34" charset="-120"/>
              </a:rPr>
              <a:t>Stärken</a:t>
            </a:r>
            <a:endParaRPr lang="en-US" sz="2100" dirty="0"/>
          </a:p>
        </p:txBody>
      </p:sp>
      <p:sp>
        <p:nvSpPr>
          <p:cNvPr id="12" name="Text 10"/>
          <p:cNvSpPr/>
          <p:nvPr/>
        </p:nvSpPr>
        <p:spPr>
          <a:xfrm>
            <a:off x="6766560" y="2148840"/>
            <a:ext cx="1645920" cy="274320"/>
          </a:xfrm>
          <a:prstGeom prst="rect">
            <a:avLst/>
          </a:prstGeom>
          <a:noFill/>
          <a:ln/>
        </p:spPr>
        <p:txBody>
          <a:bodyPr wrap="square" lIns="0" tIns="0" rIns="0" bIns="0" rtlCol="0" anchor="t">
            <a:normAutofit/>
          </a:bodyPr>
          <a:lstStyle/>
          <a:p>
            <a:pPr algn="l" indent="0" marL="0">
              <a:buNone/>
            </a:pPr>
            <a:r>
              <a:rPr lang="en-US" sz="2100" b="1" dirty="0">
                <a:solidFill>
                  <a:srgbClr val="424242"/>
                </a:solidFill>
                <a:latin typeface="Avenir Next" pitchFamily="34" charset="0"/>
                <a:ea typeface="Avenir Next" pitchFamily="34" charset="-122"/>
                <a:cs typeface="Avenir Next" pitchFamily="34" charset="-120"/>
              </a:rPr>
              <a:t>Schwächen</a:t>
            </a:r>
            <a:endParaRPr lang="en-US" sz="2100" dirty="0"/>
          </a:p>
        </p:txBody>
      </p:sp>
      <p:sp>
        <p:nvSpPr>
          <p:cNvPr id="13" name="Text 11"/>
          <p:cNvSpPr/>
          <p:nvPr/>
        </p:nvSpPr>
        <p:spPr>
          <a:xfrm>
            <a:off x="1207008" y="2761488"/>
            <a:ext cx="37490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verschiedene Bildungswege</a:t>
            </a:r>
            <a:endParaRPr lang="en-US" sz="1500" dirty="0"/>
          </a:p>
        </p:txBody>
      </p:sp>
      <p:sp>
        <p:nvSpPr>
          <p:cNvPr id="14" name="Text 12"/>
          <p:cNvSpPr/>
          <p:nvPr/>
        </p:nvSpPr>
        <p:spPr>
          <a:xfrm>
            <a:off x="1207008" y="3419856"/>
            <a:ext cx="37490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duales Ausbildungssystem</a:t>
            </a:r>
            <a:endParaRPr lang="en-US" sz="1500" dirty="0"/>
          </a:p>
        </p:txBody>
      </p:sp>
      <p:sp>
        <p:nvSpPr>
          <p:cNvPr id="15" name="Text 13"/>
          <p:cNvSpPr/>
          <p:nvPr/>
        </p:nvSpPr>
        <p:spPr>
          <a:xfrm>
            <a:off x="1207008" y="4078224"/>
            <a:ext cx="37490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hohe akademische Standards</a:t>
            </a:r>
            <a:endParaRPr lang="en-US" sz="1500" dirty="0"/>
          </a:p>
        </p:txBody>
      </p:sp>
      <p:sp>
        <p:nvSpPr>
          <p:cNvPr id="16" name="Text 14"/>
          <p:cNvSpPr/>
          <p:nvPr/>
        </p:nvSpPr>
        <p:spPr>
          <a:xfrm>
            <a:off x="6784848" y="2761488"/>
            <a:ext cx="37490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frühe Selektion</a:t>
            </a:r>
            <a:endParaRPr lang="en-US" sz="1500" dirty="0"/>
          </a:p>
        </p:txBody>
      </p:sp>
      <p:sp>
        <p:nvSpPr>
          <p:cNvPr id="17" name="Text 15"/>
          <p:cNvSpPr/>
          <p:nvPr/>
        </p:nvSpPr>
        <p:spPr>
          <a:xfrm>
            <a:off x="6784848" y="3419856"/>
            <a:ext cx="37490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Leistungsdruck</a:t>
            </a:r>
            <a:endParaRPr lang="en-US" sz="1500" dirty="0"/>
          </a:p>
        </p:txBody>
      </p:sp>
      <p:sp>
        <p:nvSpPr>
          <p:cNvPr id="18" name="Text 16"/>
          <p:cNvSpPr/>
          <p:nvPr/>
        </p:nvSpPr>
        <p:spPr>
          <a:xfrm>
            <a:off x="6784848" y="4078224"/>
            <a:ext cx="374904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soziale Ungleichheiten</a:t>
            </a:r>
            <a:endParaRPr lang="en-US" sz="1500" dirty="0"/>
          </a:p>
        </p:txBody>
      </p:sp>
    </p:spTree>
  </p:cSld>
  <p:transition spd="med">
    <p:wipe dir="r"/>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10" presetClass="entr" presetSubtype="0"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450"/>
                                        <p:tgtEl>
                                          <p:spTgt spid="9"/>
                                        </p:tgtEl>
                                      </p:cBhvr>
                                    </p:animEffect>
                                  </p:childTnLst>
                                </p:cTn>
                              </p:par>
                            </p:childTnLst>
                          </p:cTn>
                        </p:par>
                        <p:par>
                          <p:cTn id="48" fill="hold">
                            <p:stCondLst>
                              <p:cond delay="2160"/>
                            </p:stCondLst>
                            <p:childTnLst>
                              <p:par>
                                <p:cTn id="49" presetID="10" presetClass="entr" presetSubtype="0"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childTnLst>
                          </p:cTn>
                        </p:par>
                        <p:par>
                          <p:cTn id="59" fill="hold">
                            <p:stCondLst>
                              <p:cond delay="2730"/>
                            </p:stCondLst>
                            <p:childTnLst>
                              <p:par>
                                <p:cTn id="60" presetID="10" presetClass="entr" presetSubtype="0"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par>
                          <p:cTn id="70" fill="hold">
                            <p:stCondLst>
                              <p:cond delay="3300"/>
                            </p:stCondLst>
                            <p:childTnLst>
                              <p:par>
                                <p:cTn id="71" presetID="10" presetClass="entr" presetSubtype="0"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450"/>
                                        <p:tgtEl>
                                          <p:spTgt spid="12"/>
                                        </p:tgtEl>
                                      </p:cBhvr>
                                    </p:animEffect>
                                  </p:childTnLst>
                                </p:cTn>
                              </p:par>
                            </p:childTnLst>
                          </p:cTn>
                        </p:par>
                        <p:par>
                          <p:cTn id="81" fill="hold">
                            <p:stCondLst>
                              <p:cond delay="3870"/>
                            </p:stCondLst>
                            <p:childTnLst>
                              <p:par>
                                <p:cTn id="82" presetID="10" presetClass="entr" presetSubtype="0"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450"/>
                                        <p:tgtEl>
                                          <p:spTgt spid="13"/>
                                        </p:tgtEl>
                                      </p:cBhvr>
                                    </p:animEffect>
                                  </p:childTnLst>
                                </p:cTn>
                              </p:par>
                            </p:childTnLst>
                          </p:cTn>
                        </p:par>
                        <p:par>
                          <p:cTn id="92" fill="hold">
                            <p:stCondLst>
                              <p:cond delay="4440"/>
                            </p:stCondLst>
                            <p:childTnLst>
                              <p:par>
                                <p:cTn id="93" presetID="10" presetClass="entr" presetSubtype="0"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Effect transition="in" filter="fade">
                                      <p:cBhvr>
                                        <p:cTn id="97" dur="450"/>
                                        <p:tgtEl>
                                          <p:spTgt spid="14"/>
                                        </p:tgtEl>
                                      </p:cBhvr>
                                    </p:animEffect>
                                  </p:childTnLst>
                                </p:cTn>
                              </p:par>
                            </p:childTnLst>
                          </p:cTn>
                        </p:par>
                        <p:par>
                          <p:cTn id="103" fill="hold">
                            <p:stCondLst>
                              <p:cond delay="5010"/>
                            </p:stCondLst>
                            <p:childTnLst>
                              <p:par>
                                <p:cTn id="104" presetID="10" presetClass="entr" presetSubtype="0"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450"/>
                                        <p:tgtEl>
                                          <p:spTgt spid="15"/>
                                        </p:tgtEl>
                                      </p:cBhvr>
                                    </p:animEffect>
                                  </p:childTnLst>
                                </p:cTn>
                              </p:par>
                            </p:childTnLst>
                          </p:cTn>
                        </p:par>
                        <p:par>
                          <p:cTn id="114" fill="hold">
                            <p:stCondLst>
                              <p:cond delay="5580"/>
                            </p:stCondLst>
                            <p:childTnLst>
                              <p:par>
                                <p:cTn id="115" presetID="10" presetClass="entr" presetSubtype="0" fill="hold" grpId="0" nodeType="afterEffect">
                                  <p:stCondLst>
                                    <p:cond delay="120"/>
                                  </p:stCondLst>
                                  <p:childTnLst>
                                    <p:set>
                                      <p:cBhvr>
                                        <p:cTn id="118" dur="1" fill="hold">
                                          <p:stCondLst>
                                            <p:cond delay="0"/>
                                          </p:stCondLst>
                                        </p:cTn>
                                        <p:tgtEl>
                                          <p:spTgt spid="16"/>
                                        </p:tgtEl>
                                        <p:attrNameLst>
                                          <p:attrName>style.visibility</p:attrName>
                                        </p:attrNameLst>
                                      </p:cBhvr>
                                      <p:to>
                                        <p:strVal val="visible"/>
                                      </p:to>
                                    </p:set>
                                    <p:animEffect transition="in" filter="fade">
                                      <p:cBhvr>
                                        <p:cTn id="119" dur="450"/>
                                        <p:tgtEl>
                                          <p:spTgt spid="16"/>
                                        </p:tgtEl>
                                      </p:cBhvr>
                                    </p:animEffect>
                                  </p:childTnLst>
                                </p:cTn>
                              </p:par>
                            </p:childTnLst>
                          </p:cTn>
                        </p:par>
                        <p:par>
                          <p:cTn id="125" fill="hold">
                            <p:stCondLst>
                              <p:cond delay="6150"/>
                            </p:stCondLst>
                            <p:childTnLst>
                              <p:par>
                                <p:cTn id="126" presetID="10" presetClass="entr" presetSubtype="0" fill="hold" grpId="0" nodeType="afterEffect">
                                  <p:stCondLst>
                                    <p:cond delay="12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450"/>
                                        <p:tgtEl>
                                          <p:spTgt spid="17"/>
                                        </p:tgtEl>
                                      </p:cBhvr>
                                    </p:animEffect>
                                  </p:childTnLst>
                                </p:cTn>
                              </p:par>
                            </p:childTnLst>
                          </p:cTn>
                        </p:par>
                        <p:par>
                          <p:cTn id="136" fill="hold">
                            <p:stCondLst>
                              <p:cond delay="6720"/>
                            </p:stCondLst>
                            <p:childTnLst>
                              <p:par>
                                <p:cTn id="137" presetID="10" presetClass="entr" presetSubtype="0" fill="hold" grpId="0" nodeType="afterEffect">
                                  <p:stCondLst>
                                    <p:cond delay="120"/>
                                  </p:stCondLst>
                                  <p:childTnLst>
                                    <p:set>
                                      <p:cBhvr>
                                        <p:cTn id="140" dur="1" fill="hold">
                                          <p:stCondLst>
                                            <p:cond delay="0"/>
                                          </p:stCondLst>
                                        </p:cTn>
                                        <p:tgtEl>
                                          <p:spTgt spid="18"/>
                                        </p:tgtEl>
                                        <p:attrNameLst>
                                          <p:attrName>style.visibility</p:attrName>
                                        </p:attrNameLst>
                                      </p:cBhvr>
                                      <p:to>
                                        <p:strVal val="visible"/>
                                      </p:to>
                                    </p:set>
                                    <p:animEffect transition="in" filter="fade">
                                      <p:cBhvr>
                                        <p:cTn id="141"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0" y="-228600"/>
            <a:ext cx="2651760" cy="1280160"/>
          </a:xfrm>
          <a:prstGeom prst="ellipse">
            <a:avLst/>
          </a:prstGeom>
          <a:solidFill>
            <a:srgbClr val="CFEFFF">
              <a:alpha val="95000"/>
            </a:srgbClr>
          </a:solidFill>
          <a:ln w="12700">
            <a:solidFill>
              <a:srgbClr val="CFEFFF">
                <a:alpha val="0"/>
              </a:srgbClr>
            </a:solidFill>
            <a:prstDash val="solid"/>
          </a:ln>
        </p:spPr>
      </p:sp>
      <p:sp>
        <p:nvSpPr>
          <p:cNvPr id="3" name="Shape 1"/>
          <p:cNvSpPr/>
          <p:nvPr/>
        </p:nvSpPr>
        <p:spPr>
          <a:xfrm>
            <a:off x="10149840" y="5303520"/>
            <a:ext cx="2286000" cy="1005840"/>
          </a:xfrm>
          <a:prstGeom prst="ellipse">
            <a:avLst/>
          </a:prstGeom>
          <a:solidFill>
            <a:srgbClr val="FFD9E8">
              <a:alpha val="75000"/>
            </a:srgbClr>
          </a:solidFill>
          <a:ln w="12700">
            <a:solidFill>
              <a:srgbClr val="FFD9E8">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10</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Blick nach vorn</a:t>
            </a:r>
            <a:endParaRPr lang="en-US" sz="1100" dirty="0"/>
          </a:p>
        </p:txBody>
      </p:sp>
      <p:sp>
        <p:nvSpPr>
          <p:cNvPr id="7" name="Text 5"/>
          <p:cNvSpPr/>
          <p:nvPr/>
        </p:nvSpPr>
        <p:spPr>
          <a:xfrm>
            <a:off x="731520" y="786384"/>
            <a:ext cx="603504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Reformansätze</a:t>
            </a:r>
            <a:endParaRPr lang="en-US" sz="2400" dirty="0"/>
          </a:p>
        </p:txBody>
      </p:sp>
      <p:sp>
        <p:nvSpPr>
          <p:cNvPr id="8" name="Text 6"/>
          <p:cNvSpPr/>
          <p:nvPr/>
        </p:nvSpPr>
        <p:spPr>
          <a:xfrm>
            <a:off x="731520" y="1536192"/>
            <a:ext cx="6035040" cy="594360"/>
          </a:xfrm>
          <a:prstGeom prst="rect">
            <a:avLst/>
          </a:prstGeom>
          <a:noFill/>
          <a:ln/>
        </p:spPr>
        <p:txBody>
          <a:bodyPr wrap="square" lIns="0" tIns="0" rIns="0" bIns="0" rtlCol="0" anchor="ctr">
            <a:normAutofit/>
          </a:bodyPr>
          <a:lstStyle/>
          <a:p>
            <a:pPr indent="0" marL="0">
              <a:buNone/>
            </a:pPr>
            <a:r>
              <a:rPr lang="en-US" sz="1250" dirty="0">
                <a:solidFill>
                  <a:srgbClr val="6B7280"/>
                </a:solidFill>
                <a:latin typeface="Avenir Next" pitchFamily="34" charset="0"/>
                <a:ea typeface="Avenir Next" pitchFamily="34" charset="-122"/>
                <a:cs typeface="Avenir Next" pitchFamily="34" charset="-120"/>
              </a:rPr>
              <a:t>Drei Vorschläge aus der Facharbeit für eine ausgewogenere Schule.</a:t>
            </a:r>
            <a:endParaRPr lang="en-US" sz="1250" dirty="0"/>
          </a:p>
        </p:txBody>
      </p:sp>
      <p:sp>
        <p:nvSpPr>
          <p:cNvPr id="9" name="Shape 7"/>
          <p:cNvSpPr/>
          <p:nvPr/>
        </p:nvSpPr>
        <p:spPr>
          <a:xfrm>
            <a:off x="1005840" y="5074920"/>
            <a:ext cx="9784080" cy="548640"/>
          </a:xfrm>
          <a:prstGeom prst="chevron">
            <a:avLst/>
          </a:prstGeom>
          <a:solidFill>
            <a:srgbClr val="F6F8FB"/>
          </a:solidFill>
          <a:ln w="12700">
            <a:solidFill>
              <a:srgbClr val="F6F8FB"/>
            </a:solidFill>
            <a:prstDash val="solid"/>
          </a:ln>
        </p:spPr>
      </p:sp>
      <p:sp>
        <p:nvSpPr>
          <p:cNvPr id="10" name="Shape 8"/>
          <p:cNvSpPr/>
          <p:nvPr/>
        </p:nvSpPr>
        <p:spPr>
          <a:xfrm>
            <a:off x="1143000" y="2011680"/>
            <a:ext cx="2057400" cy="2057400"/>
          </a:xfrm>
          <a:prstGeom prst="ellipse">
            <a:avLst/>
          </a:prstGeom>
          <a:solidFill>
            <a:srgbClr val="CFEFFF"/>
          </a:solidFill>
          <a:ln w="12700">
            <a:solidFill>
              <a:srgbClr val="CFEFFF"/>
            </a:solidFill>
            <a:prstDash val="solid"/>
          </a:ln>
        </p:spPr>
      </p:sp>
      <p:sp>
        <p:nvSpPr>
          <p:cNvPr id="11" name="Text 9"/>
          <p:cNvSpPr/>
          <p:nvPr/>
        </p:nvSpPr>
        <p:spPr>
          <a:xfrm>
            <a:off x="1325880" y="2542032"/>
            <a:ext cx="1691640" cy="685800"/>
          </a:xfrm>
          <a:prstGeom prst="rect">
            <a:avLst/>
          </a:prstGeom>
          <a:noFill/>
          <a:ln/>
        </p:spPr>
        <p:txBody>
          <a:bodyPr wrap="square" lIns="0" tIns="0" rIns="0" bIns="0" rtlCol="0" anchor="ctr">
            <a:normAutofit/>
          </a:bodyPr>
          <a:lstStyle/>
          <a:p>
            <a:pPr algn="ctr" indent="0" marL="0">
              <a:buNone/>
            </a:pPr>
            <a:r>
              <a:rPr lang="en-US" sz="1450" b="1" dirty="0">
                <a:solidFill>
                  <a:srgbClr val="424242"/>
                </a:solidFill>
                <a:latin typeface="Avenir Next" pitchFamily="34" charset="0"/>
                <a:ea typeface="Avenir Next" pitchFamily="34" charset="-122"/>
                <a:cs typeface="Avenir Next" pitchFamily="34" charset="-120"/>
              </a:rPr>
              <a:t>Mehr Lebenskompetenzen</a:t>
            </a:r>
            <a:endParaRPr lang="en-US" sz="1450" dirty="0"/>
          </a:p>
        </p:txBody>
      </p:sp>
      <p:sp>
        <p:nvSpPr>
          <p:cNvPr id="12" name="Text 10"/>
          <p:cNvSpPr/>
          <p:nvPr/>
        </p:nvSpPr>
        <p:spPr>
          <a:xfrm>
            <a:off x="1097280" y="4315968"/>
            <a:ext cx="2148840" cy="868680"/>
          </a:xfrm>
          <a:prstGeom prst="rect">
            <a:avLst/>
          </a:prstGeom>
          <a:noFill/>
          <a:ln/>
        </p:spPr>
        <p:txBody>
          <a:bodyPr wrap="square" lIns="0" tIns="0" rIns="0" bIns="0" rtlCol="0" anchor="t">
            <a:normAutofit/>
          </a:bodyPr>
          <a:lstStyle/>
          <a:p>
            <a:pPr algn="ctr" indent="0" marL="0">
              <a:buNone/>
            </a:pPr>
            <a:r>
              <a:rPr lang="en-US" sz="1220" dirty="0">
                <a:solidFill>
                  <a:srgbClr val="6B7280"/>
                </a:solidFill>
                <a:latin typeface="Avenir Next" pitchFamily="34" charset="0"/>
                <a:ea typeface="Avenir Next" pitchFamily="34" charset="-122"/>
                <a:cs typeface="Avenir Next" pitchFamily="34" charset="-120"/>
              </a:rPr>
              <a:t>finanzielle Grundbildung,</a:t>
            </a:r>
            <a:endParaRPr lang="en-US" sz="1220" dirty="0"/>
          </a:p>
          <a:p>
            <a:pPr algn="ctr" indent="0" marL="0">
              <a:buNone/>
            </a:pPr>
            <a:r>
              <a:rPr lang="en-US" sz="1220" dirty="0">
                <a:solidFill>
                  <a:srgbClr val="6B7280"/>
                </a:solidFill>
                <a:latin typeface="Avenir Next" pitchFamily="34" charset="0"/>
                <a:ea typeface="Avenir Next" pitchFamily="34" charset="-122"/>
                <a:cs typeface="Avenir Next" pitchFamily="34" charset="-120"/>
              </a:rPr>
              <a:t>Medienkompetenz,</a:t>
            </a:r>
            <a:endParaRPr lang="en-US" sz="1220" dirty="0"/>
          </a:p>
          <a:p>
            <a:pPr algn="ctr" indent="0" marL="0">
              <a:buNone/>
            </a:pPr>
            <a:r>
              <a:rPr lang="en-US" sz="1220" dirty="0">
                <a:solidFill>
                  <a:srgbClr val="6B7280"/>
                </a:solidFill>
                <a:latin typeface="Avenir Next" pitchFamily="34" charset="0"/>
                <a:ea typeface="Avenir Next" pitchFamily="34" charset="-122"/>
                <a:cs typeface="Avenir Next" pitchFamily="34" charset="-120"/>
              </a:rPr>
              <a:t>Alltagswissen</a:t>
            </a:r>
            <a:endParaRPr lang="en-US" sz="1220" dirty="0"/>
          </a:p>
        </p:txBody>
      </p:sp>
      <p:sp>
        <p:nvSpPr>
          <p:cNvPr id="13" name="Shape 11"/>
          <p:cNvSpPr/>
          <p:nvPr/>
        </p:nvSpPr>
        <p:spPr>
          <a:xfrm>
            <a:off x="4251960" y="2011680"/>
            <a:ext cx="2057400" cy="2057400"/>
          </a:xfrm>
          <a:prstGeom prst="ellipse">
            <a:avLst/>
          </a:prstGeom>
          <a:solidFill>
            <a:srgbClr val="FFF7C7"/>
          </a:solidFill>
          <a:ln w="12700">
            <a:solidFill>
              <a:srgbClr val="FFF7C7"/>
            </a:solidFill>
            <a:prstDash val="solid"/>
          </a:ln>
        </p:spPr>
      </p:sp>
      <p:sp>
        <p:nvSpPr>
          <p:cNvPr id="14" name="Text 12"/>
          <p:cNvSpPr/>
          <p:nvPr/>
        </p:nvSpPr>
        <p:spPr>
          <a:xfrm>
            <a:off x="4434840" y="2542032"/>
            <a:ext cx="1691640" cy="685800"/>
          </a:xfrm>
          <a:prstGeom prst="rect">
            <a:avLst/>
          </a:prstGeom>
          <a:noFill/>
          <a:ln/>
        </p:spPr>
        <p:txBody>
          <a:bodyPr wrap="square" lIns="0" tIns="0" rIns="0" bIns="0" rtlCol="0" anchor="ctr">
            <a:normAutofit/>
          </a:bodyPr>
          <a:lstStyle/>
          <a:p>
            <a:pPr algn="ctr" indent="0" marL="0">
              <a:buNone/>
            </a:pPr>
            <a:r>
              <a:rPr lang="en-US" sz="1450" b="1" dirty="0">
                <a:solidFill>
                  <a:srgbClr val="424242"/>
                </a:solidFill>
                <a:latin typeface="Avenir Next" pitchFamily="34" charset="0"/>
                <a:ea typeface="Avenir Next" pitchFamily="34" charset="-122"/>
                <a:cs typeface="Avenir Next" pitchFamily="34" charset="-120"/>
              </a:rPr>
              <a:t>Spätere Leistungsdifferenzierung</a:t>
            </a:r>
            <a:endParaRPr lang="en-US" sz="1450" dirty="0"/>
          </a:p>
        </p:txBody>
      </p:sp>
      <p:sp>
        <p:nvSpPr>
          <p:cNvPr id="15" name="Text 13"/>
          <p:cNvSpPr/>
          <p:nvPr/>
        </p:nvSpPr>
        <p:spPr>
          <a:xfrm>
            <a:off x="4206240" y="4315968"/>
            <a:ext cx="2148840" cy="868680"/>
          </a:xfrm>
          <a:prstGeom prst="rect">
            <a:avLst/>
          </a:prstGeom>
          <a:noFill/>
          <a:ln/>
        </p:spPr>
        <p:txBody>
          <a:bodyPr wrap="square" lIns="0" tIns="0" rIns="0" bIns="0" rtlCol="0" anchor="t">
            <a:normAutofit/>
          </a:bodyPr>
          <a:lstStyle/>
          <a:p>
            <a:pPr algn="ctr" indent="0" marL="0">
              <a:buNone/>
            </a:pPr>
            <a:r>
              <a:rPr lang="en-US" sz="1220" dirty="0">
                <a:solidFill>
                  <a:srgbClr val="6B7280"/>
                </a:solidFill>
                <a:latin typeface="Avenir Next" pitchFamily="34" charset="0"/>
                <a:ea typeface="Avenir Next" pitchFamily="34" charset="-122"/>
                <a:cs typeface="Avenir Next" pitchFamily="34" charset="-120"/>
              </a:rPr>
              <a:t>mehr Zeit für Entwicklung</a:t>
            </a:r>
            <a:endParaRPr lang="en-US" sz="1220" dirty="0"/>
          </a:p>
          <a:p>
            <a:pPr algn="ctr" indent="0" marL="0">
              <a:buNone/>
            </a:pPr>
            <a:r>
              <a:rPr lang="en-US" sz="1220" dirty="0">
                <a:solidFill>
                  <a:srgbClr val="6B7280"/>
                </a:solidFill>
                <a:latin typeface="Avenir Next" pitchFamily="34" charset="0"/>
                <a:ea typeface="Avenir Next" pitchFamily="34" charset="-122"/>
                <a:cs typeface="Avenir Next" pitchFamily="34" charset="-120"/>
              </a:rPr>
              <a:t>und fundiertere</a:t>
            </a:r>
            <a:endParaRPr lang="en-US" sz="1220" dirty="0"/>
          </a:p>
          <a:p>
            <a:pPr algn="ctr" indent="0" marL="0">
              <a:buNone/>
            </a:pPr>
            <a:r>
              <a:rPr lang="en-US" sz="1220" dirty="0">
                <a:solidFill>
                  <a:srgbClr val="6B7280"/>
                </a:solidFill>
                <a:latin typeface="Avenir Next" pitchFamily="34" charset="0"/>
                <a:ea typeface="Avenir Next" pitchFamily="34" charset="-122"/>
                <a:cs typeface="Avenir Next" pitchFamily="34" charset="-120"/>
              </a:rPr>
              <a:t>Bildungsentscheidungen</a:t>
            </a:r>
            <a:endParaRPr lang="en-US" sz="1220" dirty="0"/>
          </a:p>
        </p:txBody>
      </p:sp>
      <p:sp>
        <p:nvSpPr>
          <p:cNvPr id="16" name="Shape 14"/>
          <p:cNvSpPr/>
          <p:nvPr/>
        </p:nvSpPr>
        <p:spPr>
          <a:xfrm>
            <a:off x="7360920" y="2011680"/>
            <a:ext cx="2057400" cy="2057400"/>
          </a:xfrm>
          <a:prstGeom prst="ellipse">
            <a:avLst/>
          </a:prstGeom>
          <a:solidFill>
            <a:srgbClr val="FFD9E8"/>
          </a:solidFill>
          <a:ln w="12700">
            <a:solidFill>
              <a:srgbClr val="FFD9E8"/>
            </a:solidFill>
            <a:prstDash val="solid"/>
          </a:ln>
        </p:spPr>
      </p:sp>
      <p:sp>
        <p:nvSpPr>
          <p:cNvPr id="17" name="Text 15"/>
          <p:cNvSpPr/>
          <p:nvPr/>
        </p:nvSpPr>
        <p:spPr>
          <a:xfrm>
            <a:off x="7543800" y="2542032"/>
            <a:ext cx="1691640" cy="685800"/>
          </a:xfrm>
          <a:prstGeom prst="rect">
            <a:avLst/>
          </a:prstGeom>
          <a:noFill/>
          <a:ln/>
        </p:spPr>
        <p:txBody>
          <a:bodyPr wrap="square" lIns="0" tIns="0" rIns="0" bIns="0" rtlCol="0" anchor="ctr">
            <a:normAutofit/>
          </a:bodyPr>
          <a:lstStyle/>
          <a:p>
            <a:pPr algn="ctr" indent="0" marL="0">
              <a:buNone/>
            </a:pPr>
            <a:r>
              <a:rPr lang="en-US" sz="1450" b="1" dirty="0">
                <a:solidFill>
                  <a:srgbClr val="424242"/>
                </a:solidFill>
                <a:latin typeface="Avenir Next" pitchFamily="34" charset="0"/>
                <a:ea typeface="Avenir Next" pitchFamily="34" charset="-122"/>
                <a:cs typeface="Avenir Next" pitchFamily="34" charset="-120"/>
              </a:rPr>
              <a:t>Alternative Bewertungsformen</a:t>
            </a:r>
            <a:endParaRPr lang="en-US" sz="1450" dirty="0"/>
          </a:p>
        </p:txBody>
      </p:sp>
      <p:sp>
        <p:nvSpPr>
          <p:cNvPr id="18" name="Text 16"/>
          <p:cNvSpPr/>
          <p:nvPr/>
        </p:nvSpPr>
        <p:spPr>
          <a:xfrm>
            <a:off x="7315200" y="4315968"/>
            <a:ext cx="2148840" cy="868680"/>
          </a:xfrm>
          <a:prstGeom prst="rect">
            <a:avLst/>
          </a:prstGeom>
          <a:noFill/>
          <a:ln/>
        </p:spPr>
        <p:txBody>
          <a:bodyPr wrap="square" lIns="0" tIns="0" rIns="0" bIns="0" rtlCol="0" anchor="t">
            <a:normAutofit/>
          </a:bodyPr>
          <a:lstStyle/>
          <a:p>
            <a:pPr algn="ctr" indent="0" marL="0">
              <a:buNone/>
            </a:pPr>
            <a:r>
              <a:rPr lang="en-US" sz="1220" dirty="0">
                <a:solidFill>
                  <a:srgbClr val="6B7280"/>
                </a:solidFill>
                <a:latin typeface="Avenir Next" pitchFamily="34" charset="0"/>
                <a:ea typeface="Avenir Next" pitchFamily="34" charset="-122"/>
                <a:cs typeface="Avenir Next" pitchFamily="34" charset="-120"/>
              </a:rPr>
              <a:t>Lernfeedback,</a:t>
            </a:r>
            <a:endParaRPr lang="en-US" sz="1220" dirty="0"/>
          </a:p>
          <a:p>
            <a:pPr algn="ctr" indent="0" marL="0">
              <a:buNone/>
            </a:pPr>
            <a:r>
              <a:rPr lang="en-US" sz="1220" dirty="0">
                <a:solidFill>
                  <a:srgbClr val="6B7280"/>
                </a:solidFill>
                <a:latin typeface="Avenir Next" pitchFamily="34" charset="0"/>
                <a:ea typeface="Avenir Next" pitchFamily="34" charset="-122"/>
                <a:cs typeface="Avenir Next" pitchFamily="34" charset="-120"/>
              </a:rPr>
              <a:t>Portfolioarbeit,</a:t>
            </a:r>
            <a:endParaRPr lang="en-US" sz="1220" dirty="0"/>
          </a:p>
          <a:p>
            <a:pPr algn="ctr" indent="0" marL="0">
              <a:buNone/>
            </a:pPr>
            <a:r>
              <a:rPr lang="en-US" sz="1220" dirty="0">
                <a:solidFill>
                  <a:srgbClr val="6B7280"/>
                </a:solidFill>
                <a:latin typeface="Avenir Next" pitchFamily="34" charset="0"/>
                <a:ea typeface="Avenir Next" pitchFamily="34" charset="-122"/>
                <a:cs typeface="Avenir Next" pitchFamily="34" charset="-120"/>
              </a:rPr>
              <a:t>projektbasierte Bewertung</a:t>
            </a:r>
            <a:endParaRPr lang="en-US" sz="1220" dirty="0"/>
          </a:p>
        </p:txBody>
      </p:sp>
    </p:spTree>
  </p:cSld>
  <p:transition spd="med">
    <p:wheel spokes="1"/>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10" presetClass="entr" presetSubtype="0"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childTnLst>
                          </p:cTn>
                        </p:par>
                        <p:par>
                          <p:cTn id="37" fill="hold">
                            <p:stCondLst>
                              <p:cond delay="1590"/>
                            </p:stCondLst>
                            <p:childTnLst>
                              <p:par>
                                <p:cTn id="38" presetID="22" presetClass="entr" presetSubtype="8"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450"/>
                                        <p:tgtEl>
                                          <p:spTgt spid="9"/>
                                        </p:tgtEl>
                                      </p:cBhvr>
                                    </p:animEffect>
                                  </p:childTnLst>
                                </p:cTn>
                              </p:par>
                            </p:childTnLst>
                          </p:cTn>
                        </p:par>
                        <p:par>
                          <p:cTn id="48" fill="hold">
                            <p:stCondLst>
                              <p:cond delay="2160"/>
                            </p:stCondLst>
                            <p:childTnLst>
                              <p:par>
                                <p:cTn id="49" presetID="53" presetClass="entr" presetSubtype="16"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 calcmode="lin" valueType="num">
                                      <p:cBhvr>
                                        <p:cTn id="53" dur="450" fill="hold"/>
                                        <p:tgtEl>
                                          <p:spTgt spid="10"/>
                                        </p:tgtEl>
                                        <p:attrNameLst>
                                          <p:attrName>ppt_w</p:attrName>
                                        </p:attrNameLst>
                                      </p:cBhvr>
                                      <p:tavLst>
                                        <p:tav tm="0">
                                          <p:val>
                                            <p:fltVal val="0"/>
                                          </p:val>
                                        </p:tav>
                                        <p:tav tm="100000">
                                          <p:val>
                                            <p:strVal val="#ppt_w"/>
                                          </p:val>
                                        </p:tav>
                                      </p:tavLst>
                                    </p:anim>
                                    <p:anim calcmode="lin" valueType="num">
                                      <p:cBhvr>
                                        <p:cTn id="54" dur="450" fill="hold"/>
                                        <p:tgtEl>
                                          <p:spTgt spid="10"/>
                                        </p:tgtEl>
                                        <p:attrNameLst>
                                          <p:attrName>ppt_h</p:attrName>
                                        </p:attrNameLst>
                                      </p:cBhvr>
                                      <p:tavLst>
                                        <p:tav tm="0">
                                          <p:val>
                                            <p:fltVal val="0"/>
                                          </p:val>
                                        </p:tav>
                                        <p:tav tm="100000">
                                          <p:val>
                                            <p:strVal val="#ppt_h"/>
                                          </p:val>
                                        </p:tav>
                                      </p:tavLst>
                                    </p:anim>
                                    <p:animEffect transition="in" filter="fade">
                                      <p:cBhvr>
                                        <p:cTn id="55" dur="450"/>
                                        <p:tgtEl>
                                          <p:spTgt spid="10"/>
                                        </p:tgtEl>
                                      </p:cBhvr>
                                    </p:animEffect>
                                  </p:childTnLst>
                                </p:cTn>
                              </p:par>
                            </p:childTnLst>
                          </p:cTn>
                        </p:par>
                        <p:par>
                          <p:cTn id="59" fill="hold">
                            <p:stCondLst>
                              <p:cond delay="2730"/>
                            </p:stCondLst>
                            <p:childTnLst>
                              <p:par>
                                <p:cTn id="60" presetID="10" presetClass="entr" presetSubtype="0"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par>
                          <p:cTn id="70" fill="hold">
                            <p:stCondLst>
                              <p:cond delay="3300"/>
                            </p:stCondLst>
                            <p:childTnLst>
                              <p:par>
                                <p:cTn id="71" presetID="10" presetClass="entr" presetSubtype="0"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450"/>
                                        <p:tgtEl>
                                          <p:spTgt spid="12"/>
                                        </p:tgtEl>
                                      </p:cBhvr>
                                    </p:animEffect>
                                  </p:childTnLst>
                                </p:cTn>
                              </p:par>
                            </p:childTnLst>
                          </p:cTn>
                        </p:par>
                        <p:par>
                          <p:cTn id="81" fill="hold">
                            <p:stCondLst>
                              <p:cond delay="3870"/>
                            </p:stCondLst>
                            <p:childTnLst>
                              <p:par>
                                <p:cTn id="82" presetID="53" presetClass="entr" presetSubtype="16"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 calcmode="lin" valueType="num">
                                      <p:cBhvr>
                                        <p:cTn id="86" dur="450" fill="hold"/>
                                        <p:tgtEl>
                                          <p:spTgt spid="13"/>
                                        </p:tgtEl>
                                        <p:attrNameLst>
                                          <p:attrName>ppt_w</p:attrName>
                                        </p:attrNameLst>
                                      </p:cBhvr>
                                      <p:tavLst>
                                        <p:tav tm="0">
                                          <p:val>
                                            <p:fltVal val="0"/>
                                          </p:val>
                                        </p:tav>
                                        <p:tav tm="100000">
                                          <p:val>
                                            <p:strVal val="#ppt_w"/>
                                          </p:val>
                                        </p:tav>
                                      </p:tavLst>
                                    </p:anim>
                                    <p:anim calcmode="lin" valueType="num">
                                      <p:cBhvr>
                                        <p:cTn id="87" dur="450" fill="hold"/>
                                        <p:tgtEl>
                                          <p:spTgt spid="13"/>
                                        </p:tgtEl>
                                        <p:attrNameLst>
                                          <p:attrName>ppt_h</p:attrName>
                                        </p:attrNameLst>
                                      </p:cBhvr>
                                      <p:tavLst>
                                        <p:tav tm="0">
                                          <p:val>
                                            <p:fltVal val="0"/>
                                          </p:val>
                                        </p:tav>
                                        <p:tav tm="100000">
                                          <p:val>
                                            <p:strVal val="#ppt_h"/>
                                          </p:val>
                                        </p:tav>
                                      </p:tavLst>
                                    </p:anim>
                                    <p:animEffect transition="in" filter="fade">
                                      <p:cBhvr>
                                        <p:cTn id="88" dur="450"/>
                                        <p:tgtEl>
                                          <p:spTgt spid="13"/>
                                        </p:tgtEl>
                                      </p:cBhvr>
                                    </p:animEffect>
                                  </p:childTnLst>
                                </p:cTn>
                              </p:par>
                            </p:childTnLst>
                          </p:cTn>
                        </p:par>
                        <p:par>
                          <p:cTn id="92" fill="hold">
                            <p:stCondLst>
                              <p:cond delay="4440"/>
                            </p:stCondLst>
                            <p:childTnLst>
                              <p:par>
                                <p:cTn id="93" presetID="10" presetClass="entr" presetSubtype="0" fill="hold" grpId="0" nodeType="afterEffect">
                                  <p:stCondLst>
                                    <p:cond delay="120"/>
                                  </p:stCondLst>
                                  <p:childTnLst>
                                    <p:set>
                                      <p:cBhvr>
                                        <p:cTn id="96" dur="1" fill="hold">
                                          <p:stCondLst>
                                            <p:cond delay="0"/>
                                          </p:stCondLst>
                                        </p:cTn>
                                        <p:tgtEl>
                                          <p:spTgt spid="14"/>
                                        </p:tgtEl>
                                        <p:attrNameLst>
                                          <p:attrName>style.visibility</p:attrName>
                                        </p:attrNameLst>
                                      </p:cBhvr>
                                      <p:to>
                                        <p:strVal val="visible"/>
                                      </p:to>
                                    </p:set>
                                    <p:animEffect transition="in" filter="fade">
                                      <p:cBhvr>
                                        <p:cTn id="97" dur="450"/>
                                        <p:tgtEl>
                                          <p:spTgt spid="14"/>
                                        </p:tgtEl>
                                      </p:cBhvr>
                                    </p:animEffect>
                                  </p:childTnLst>
                                </p:cTn>
                              </p:par>
                            </p:childTnLst>
                          </p:cTn>
                        </p:par>
                        <p:par>
                          <p:cTn id="103" fill="hold">
                            <p:stCondLst>
                              <p:cond delay="5010"/>
                            </p:stCondLst>
                            <p:childTnLst>
                              <p:par>
                                <p:cTn id="104" presetID="10" presetClass="entr" presetSubtype="0" fill="hold" grpId="0" nodeType="afterEffect">
                                  <p:stCondLst>
                                    <p:cond delay="12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450"/>
                                        <p:tgtEl>
                                          <p:spTgt spid="15"/>
                                        </p:tgtEl>
                                      </p:cBhvr>
                                    </p:animEffect>
                                  </p:childTnLst>
                                </p:cTn>
                              </p:par>
                            </p:childTnLst>
                          </p:cTn>
                        </p:par>
                        <p:par>
                          <p:cTn id="114" fill="hold">
                            <p:stCondLst>
                              <p:cond delay="5580"/>
                            </p:stCondLst>
                            <p:childTnLst>
                              <p:par>
                                <p:cTn id="115" presetID="53" presetClass="entr" presetSubtype="16" fill="hold" grpId="0" nodeType="afterEffect">
                                  <p:stCondLst>
                                    <p:cond delay="120"/>
                                  </p:stCondLst>
                                  <p:childTnLst>
                                    <p:set>
                                      <p:cBhvr>
                                        <p:cTn id="118" dur="1" fill="hold">
                                          <p:stCondLst>
                                            <p:cond delay="0"/>
                                          </p:stCondLst>
                                        </p:cTn>
                                        <p:tgtEl>
                                          <p:spTgt spid="16"/>
                                        </p:tgtEl>
                                        <p:attrNameLst>
                                          <p:attrName>style.visibility</p:attrName>
                                        </p:attrNameLst>
                                      </p:cBhvr>
                                      <p:to>
                                        <p:strVal val="visible"/>
                                      </p:to>
                                    </p:set>
                                    <p:anim calcmode="lin" valueType="num">
                                      <p:cBhvr>
                                        <p:cTn id="119" dur="450" fill="hold"/>
                                        <p:tgtEl>
                                          <p:spTgt spid="16"/>
                                        </p:tgtEl>
                                        <p:attrNameLst>
                                          <p:attrName>ppt_w</p:attrName>
                                        </p:attrNameLst>
                                      </p:cBhvr>
                                      <p:tavLst>
                                        <p:tav tm="0">
                                          <p:val>
                                            <p:fltVal val="0"/>
                                          </p:val>
                                        </p:tav>
                                        <p:tav tm="100000">
                                          <p:val>
                                            <p:strVal val="#ppt_w"/>
                                          </p:val>
                                        </p:tav>
                                      </p:tavLst>
                                    </p:anim>
                                    <p:anim calcmode="lin" valueType="num">
                                      <p:cBhvr>
                                        <p:cTn id="120" dur="450" fill="hold"/>
                                        <p:tgtEl>
                                          <p:spTgt spid="16"/>
                                        </p:tgtEl>
                                        <p:attrNameLst>
                                          <p:attrName>ppt_h</p:attrName>
                                        </p:attrNameLst>
                                      </p:cBhvr>
                                      <p:tavLst>
                                        <p:tav tm="0">
                                          <p:val>
                                            <p:fltVal val="0"/>
                                          </p:val>
                                        </p:tav>
                                        <p:tav tm="100000">
                                          <p:val>
                                            <p:strVal val="#ppt_h"/>
                                          </p:val>
                                        </p:tav>
                                      </p:tavLst>
                                    </p:anim>
                                    <p:animEffect transition="in" filter="fade">
                                      <p:cBhvr>
                                        <p:cTn id="121" dur="450"/>
                                        <p:tgtEl>
                                          <p:spTgt spid="16"/>
                                        </p:tgtEl>
                                      </p:cBhvr>
                                    </p:animEffect>
                                  </p:childTnLst>
                                </p:cTn>
                              </p:par>
                            </p:childTnLst>
                          </p:cTn>
                        </p:par>
                        <p:par>
                          <p:cTn id="125" fill="hold">
                            <p:stCondLst>
                              <p:cond delay="6150"/>
                            </p:stCondLst>
                            <p:childTnLst>
                              <p:par>
                                <p:cTn id="126" presetID="10" presetClass="entr" presetSubtype="0" fill="hold" grpId="0" nodeType="afterEffect">
                                  <p:stCondLst>
                                    <p:cond delay="12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450"/>
                                        <p:tgtEl>
                                          <p:spTgt spid="17"/>
                                        </p:tgtEl>
                                      </p:cBhvr>
                                    </p:animEffect>
                                  </p:childTnLst>
                                </p:cTn>
                              </p:par>
                            </p:childTnLst>
                          </p:cTn>
                        </p:par>
                        <p:par>
                          <p:cTn id="136" fill="hold">
                            <p:stCondLst>
                              <p:cond delay="6720"/>
                            </p:stCondLst>
                            <p:childTnLst>
                              <p:par>
                                <p:cTn id="137" presetID="10" presetClass="entr" presetSubtype="0" fill="hold" grpId="0" nodeType="afterEffect">
                                  <p:stCondLst>
                                    <p:cond delay="120"/>
                                  </p:stCondLst>
                                  <p:childTnLst>
                                    <p:set>
                                      <p:cBhvr>
                                        <p:cTn id="140" dur="1" fill="hold">
                                          <p:stCondLst>
                                            <p:cond delay="0"/>
                                          </p:stCondLst>
                                        </p:cTn>
                                        <p:tgtEl>
                                          <p:spTgt spid="18"/>
                                        </p:tgtEl>
                                        <p:attrNameLst>
                                          <p:attrName>style.visibility</p:attrName>
                                        </p:attrNameLst>
                                      </p:cBhvr>
                                      <p:to>
                                        <p:strVal val="visible"/>
                                      </p:to>
                                    </p:set>
                                    <p:animEffect transition="in" filter="fade">
                                      <p:cBhvr>
                                        <p:cTn id="141"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75520" y="-182880"/>
            <a:ext cx="2377440" cy="1188720"/>
          </a:xfrm>
          <a:prstGeom prst="ellipse">
            <a:avLst/>
          </a:prstGeom>
          <a:solidFill>
            <a:srgbClr val="FFF7C7">
              <a:alpha val="90000"/>
            </a:srgbClr>
          </a:solidFill>
          <a:ln w="12700">
            <a:solidFill>
              <a:srgbClr val="FFF7C7">
                <a:alpha val="0"/>
              </a:srgbClr>
            </a:solidFill>
            <a:prstDash val="solid"/>
          </a:ln>
        </p:spPr>
      </p:sp>
      <p:sp>
        <p:nvSpPr>
          <p:cNvPr id="3" name="Shape 1"/>
          <p:cNvSpPr/>
          <p:nvPr/>
        </p:nvSpPr>
        <p:spPr>
          <a:xfrm>
            <a:off x="-365760" y="5257800"/>
            <a:ext cx="2651760" cy="1143000"/>
          </a:xfrm>
          <a:prstGeom prst="ellipse">
            <a:avLst/>
          </a:prstGeom>
          <a:solidFill>
            <a:srgbClr val="CFEFFF">
              <a:alpha val="75000"/>
            </a:srgbClr>
          </a:solidFill>
          <a:ln w="12700">
            <a:solidFill>
              <a:srgbClr val="CFEFFF">
                <a:alpha val="0"/>
              </a:srgbClr>
            </a:solidFill>
            <a:prstDash val="solid"/>
          </a:ln>
        </p:spPr>
      </p:sp>
      <p:sp>
        <p:nvSpPr>
          <p:cNvPr id="4" name="Shape 2"/>
          <p:cNvSpPr/>
          <p:nvPr/>
        </p:nvSpPr>
        <p:spPr>
          <a:xfrm>
            <a:off x="502920" y="6355080"/>
            <a:ext cx="11109960" cy="0"/>
          </a:xfrm>
          <a:prstGeom prst="line">
            <a:avLst/>
          </a:prstGeom>
          <a:noFill/>
          <a:ln w="12700">
            <a:solidFill>
              <a:srgbClr val="E8EAF0"/>
            </a:solidFill>
            <a:prstDash val="solid"/>
          </a:ln>
        </p:spPr>
      </p:sp>
      <p:sp>
        <p:nvSpPr>
          <p:cNvPr id="5" name="Text 3"/>
          <p:cNvSpPr/>
          <p:nvPr/>
        </p:nvSpPr>
        <p:spPr>
          <a:xfrm>
            <a:off x="11201400" y="6400800"/>
            <a:ext cx="411480" cy="201168"/>
          </a:xfrm>
          <a:prstGeom prst="rect">
            <a:avLst/>
          </a:prstGeom>
          <a:noFill/>
          <a:ln/>
        </p:spPr>
        <p:txBody>
          <a:bodyPr wrap="square" lIns="0" tIns="0" rIns="0" bIns="0" rtlCol="0" anchor="ctr"/>
          <a:lstStyle/>
          <a:p>
            <a:pPr algn="r" indent="0" marL="0">
              <a:buNone/>
            </a:pPr>
            <a:r>
              <a:rPr lang="en-US" sz="1000" dirty="0">
                <a:solidFill>
                  <a:srgbClr val="6B7280"/>
                </a:solidFill>
                <a:latin typeface="Avenir Next" pitchFamily="34" charset="0"/>
                <a:ea typeface="Avenir Next" pitchFamily="34" charset="-122"/>
                <a:cs typeface="Avenir Next" pitchFamily="34" charset="-120"/>
              </a:rPr>
              <a:t>11</a:t>
            </a:r>
            <a:endParaRPr lang="en-US" sz="1000" dirty="0"/>
          </a:p>
        </p:txBody>
      </p:sp>
      <p:sp>
        <p:nvSpPr>
          <p:cNvPr id="6" name="Text 4"/>
          <p:cNvSpPr/>
          <p:nvPr/>
        </p:nvSpPr>
        <p:spPr>
          <a:xfrm>
            <a:off x="731520" y="530352"/>
            <a:ext cx="2194560" cy="256032"/>
          </a:xfrm>
          <a:prstGeom prst="rect">
            <a:avLst/>
          </a:prstGeom>
          <a:noFill/>
          <a:ln/>
        </p:spPr>
        <p:txBody>
          <a:bodyPr wrap="square" rtlCol="0" anchor="ctr"/>
          <a:lstStyle/>
          <a:p>
            <a:pPr indent="0" marL="0">
              <a:buNone/>
            </a:pPr>
            <a:r>
              <a:rPr lang="en-US" sz="1100" b="1" spc="60" kern="0" dirty="0">
                <a:solidFill>
                  <a:srgbClr val="6B7280"/>
                </a:solidFill>
                <a:latin typeface="Avenir Next" pitchFamily="34" charset="0"/>
                <a:ea typeface="Avenir Next" pitchFamily="34" charset="-122"/>
                <a:cs typeface="Avenir Next" pitchFamily="34" charset="-120"/>
              </a:rPr>
              <a:t>Fazit</a:t>
            </a:r>
            <a:endParaRPr lang="en-US" sz="1100" dirty="0"/>
          </a:p>
        </p:txBody>
      </p:sp>
      <p:sp>
        <p:nvSpPr>
          <p:cNvPr id="7" name="Text 5"/>
          <p:cNvSpPr/>
          <p:nvPr/>
        </p:nvSpPr>
        <p:spPr>
          <a:xfrm>
            <a:off x="731520" y="786384"/>
            <a:ext cx="6217920" cy="1097280"/>
          </a:xfrm>
          <a:prstGeom prst="rect">
            <a:avLst/>
          </a:prstGeom>
          <a:noFill/>
          <a:ln/>
        </p:spPr>
        <p:txBody>
          <a:bodyPr wrap="square" lIns="0" tIns="0" rIns="0" bIns="0" rtlCol="0" anchor="ctr">
            <a:normAutofit/>
          </a:bodyPr>
          <a:lstStyle/>
          <a:p>
            <a:pPr indent="0" marL="0">
              <a:buNone/>
            </a:pPr>
            <a:r>
              <a:rPr lang="en-US" sz="2400" b="1" dirty="0">
                <a:solidFill>
                  <a:srgbClr val="424242"/>
                </a:solidFill>
                <a:latin typeface="Avenir Next" pitchFamily="34" charset="0"/>
                <a:ea typeface="Avenir Next" pitchFamily="34" charset="-122"/>
                <a:cs typeface="Avenir Next" pitchFamily="34" charset="-120"/>
              </a:rPr>
              <a:t>Schule beeinflusst mehr als nur Noten.</a:t>
            </a:r>
            <a:endParaRPr lang="en-US" sz="2400" dirty="0"/>
          </a:p>
        </p:txBody>
      </p:sp>
      <p:pic>
        <p:nvPicPr>
          <p:cNvPr id="8" name="Image 0" descr="/workspace/assets/generated/slide11-finale.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32320" y="960120"/>
            <a:ext cx="4023360" cy="3657600"/>
          </a:xfrm>
          <a:prstGeom prst="rect">
            <a:avLst/>
          </a:prstGeom>
        </p:spPr>
      </p:pic>
      <p:sp>
        <p:nvSpPr>
          <p:cNvPr id="9" name="Text 6"/>
          <p:cNvSpPr/>
          <p:nvPr/>
        </p:nvSpPr>
        <p:spPr>
          <a:xfrm>
            <a:off x="914400" y="1874520"/>
            <a:ext cx="5715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 Strukturen wirken auf das Wohlbefinden.</a:t>
            </a:r>
            <a:endParaRPr lang="en-US" sz="1500" dirty="0"/>
          </a:p>
        </p:txBody>
      </p:sp>
      <p:sp>
        <p:nvSpPr>
          <p:cNvPr id="10" name="Text 7"/>
          <p:cNvSpPr/>
          <p:nvPr/>
        </p:nvSpPr>
        <p:spPr>
          <a:xfrm>
            <a:off x="914400" y="2587752"/>
            <a:ext cx="5715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 Leistungsdruck und Schulklima spielen eine zentrale Rolle.</a:t>
            </a:r>
            <a:endParaRPr lang="en-US" sz="1500" dirty="0"/>
          </a:p>
        </p:txBody>
      </p:sp>
      <p:sp>
        <p:nvSpPr>
          <p:cNvPr id="11" name="Text 8"/>
          <p:cNvSpPr/>
          <p:nvPr/>
        </p:nvSpPr>
        <p:spPr>
          <a:xfrm>
            <a:off x="914400" y="3300984"/>
            <a:ext cx="5715000" cy="292608"/>
          </a:xfrm>
          <a:prstGeom prst="rect">
            <a:avLst/>
          </a:prstGeom>
          <a:noFill/>
          <a:ln/>
        </p:spPr>
        <p:txBody>
          <a:bodyPr wrap="square" lIns="0" tIns="0" rIns="0" bIns="0" rtlCol="0" anchor="ctr"/>
          <a:lstStyle/>
          <a:p>
            <a:pPr indent="0" marL="0">
              <a:buNone/>
            </a:pPr>
            <a:r>
              <a:rPr lang="en-US" sz="1500" dirty="0">
                <a:solidFill>
                  <a:srgbClr val="424242"/>
                </a:solidFill>
                <a:latin typeface="Avenir Next" pitchFamily="34" charset="0"/>
                <a:ea typeface="Avenir Next" pitchFamily="34" charset="-122"/>
                <a:cs typeface="Avenir Next" pitchFamily="34" charset="-120"/>
              </a:rPr>
              <a:t>• ✓ Reformen könnten Bildung und Wohlbefinden stärker verbinden.</a:t>
            </a:r>
            <a:endParaRPr lang="en-US" sz="1500" dirty="0"/>
          </a:p>
        </p:txBody>
      </p:sp>
      <p:sp>
        <p:nvSpPr>
          <p:cNvPr id="12" name="Shape 9"/>
          <p:cNvSpPr/>
          <p:nvPr/>
        </p:nvSpPr>
        <p:spPr>
          <a:xfrm>
            <a:off x="914400" y="5074920"/>
            <a:ext cx="5303520" cy="713232"/>
          </a:xfrm>
          <a:prstGeom prst="roundRect">
            <a:avLst>
              <a:gd name="adj" fmla="val 15385"/>
            </a:avLst>
          </a:prstGeom>
          <a:solidFill>
            <a:srgbClr val="CFEFFF"/>
          </a:solidFill>
          <a:ln w="12700">
            <a:solidFill>
              <a:srgbClr val="CFEFFF"/>
            </a:solidFill>
            <a:prstDash val="solid"/>
          </a:ln>
        </p:spPr>
      </p:sp>
      <p:sp>
        <p:nvSpPr>
          <p:cNvPr id="13" name="Text 10"/>
          <p:cNvSpPr/>
          <p:nvPr/>
        </p:nvSpPr>
        <p:spPr>
          <a:xfrm>
            <a:off x="1170432" y="5321808"/>
            <a:ext cx="4754880" cy="228600"/>
          </a:xfrm>
          <a:prstGeom prst="rect">
            <a:avLst/>
          </a:prstGeom>
          <a:noFill/>
          <a:ln/>
        </p:spPr>
        <p:txBody>
          <a:bodyPr wrap="square" lIns="0" tIns="0" rIns="0" bIns="0" rtlCol="0" anchor="t">
            <a:normAutofit/>
          </a:bodyPr>
          <a:lstStyle/>
          <a:p>
            <a:pPr algn="ctr" indent="0" marL="0">
              <a:buNone/>
            </a:pPr>
            <a:r>
              <a:rPr lang="en-US" sz="1800" b="1" dirty="0">
                <a:solidFill>
                  <a:srgbClr val="424242"/>
                </a:solidFill>
                <a:latin typeface="Avenir Next" pitchFamily="34" charset="0"/>
                <a:ea typeface="Avenir Next" pitchFamily="34" charset="-122"/>
                <a:cs typeface="Avenir Next" pitchFamily="34" charset="-120"/>
              </a:rPr>
              <a:t>Danke für eure Aufmerksamkeit!</a:t>
            </a:r>
            <a:endParaRPr lang="en-US" sz="1800" dirty="0"/>
          </a:p>
        </p:txBody>
      </p:sp>
    </p:spTree>
  </p:cSld>
  <p:transition spd="slow">
    <p:fade/>
  </p:transition>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450"/>
                                        <p:tgtEl>
                                          <p:spTgt spid="6"/>
                                        </p:tgtEl>
                                      </p:cBhvr>
                                    </p:animEffect>
                                  </p:childTnLst>
                                </p:cTn>
                              </p:par>
                            </p:childTnLst>
                          </p:cTn>
                        </p:par>
                        <p:par>
                          <p:cTn id="15" fill="hold">
                            <p:stCondLst>
                              <p:cond delay="450"/>
                            </p:stCondLst>
                            <p:childTnLst>
                              <p:par>
                                <p:cTn id="16" presetID="10" presetClass="entr" presetSubtype="0" fill="hold" grpId="0" nodeType="after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6" fill="hold">
                            <p:stCondLst>
                              <p:cond delay="1020"/>
                            </p:stCondLst>
                            <p:childTnLst>
                              <p:par>
                                <p:cTn id="27" presetID="53" presetClass="entr" presetSubtype="16" fill="hold" grpId="0" nodeType="afterEffect">
                                  <p:stCondLst>
                                    <p:cond delay="120"/>
                                  </p:stCondLst>
                                  <p:childTnLst>
                                    <p:set>
                                      <p:cBhvr>
                                        <p:cTn id="30" dur="1" fill="hold">
                                          <p:stCondLst>
                                            <p:cond delay="0"/>
                                          </p:stCondLst>
                                        </p:cTn>
                                        <p:tgtEl>
                                          <p:spTgt spid="8"/>
                                        </p:tgtEl>
                                        <p:attrNameLst>
                                          <p:attrName>style.visibility</p:attrName>
                                        </p:attrNameLst>
                                      </p:cBhvr>
                                      <p:to>
                                        <p:strVal val="visible"/>
                                      </p:to>
                                    </p:set>
                                    <p:anim calcmode="lin" valueType="num">
                                      <p:cBhvr>
                                        <p:cTn id="31" dur="450" fill="hold"/>
                                        <p:tgtEl>
                                          <p:spTgt spid="8"/>
                                        </p:tgtEl>
                                        <p:attrNameLst>
                                          <p:attrName>ppt_w</p:attrName>
                                        </p:attrNameLst>
                                      </p:cBhvr>
                                      <p:tavLst>
                                        <p:tav tm="0">
                                          <p:val>
                                            <p:fltVal val="0"/>
                                          </p:val>
                                        </p:tav>
                                        <p:tav tm="100000">
                                          <p:val>
                                            <p:strVal val="#ppt_w"/>
                                          </p:val>
                                        </p:tav>
                                      </p:tavLst>
                                    </p:anim>
                                    <p:anim calcmode="lin" valueType="num">
                                      <p:cBhvr>
                                        <p:cTn id="32" dur="450" fill="hold"/>
                                        <p:tgtEl>
                                          <p:spTgt spid="8"/>
                                        </p:tgtEl>
                                        <p:attrNameLst>
                                          <p:attrName>ppt_h</p:attrName>
                                        </p:attrNameLst>
                                      </p:cBhvr>
                                      <p:tavLst>
                                        <p:tav tm="0">
                                          <p:val>
                                            <p:fltVal val="0"/>
                                          </p:val>
                                        </p:tav>
                                        <p:tav tm="100000">
                                          <p:val>
                                            <p:strVal val="#ppt_h"/>
                                          </p:val>
                                        </p:tav>
                                      </p:tavLst>
                                    </p:anim>
                                    <p:animEffect transition="in" filter="fade">
                                      <p:cBhvr>
                                        <p:cTn id="33" dur="450"/>
                                        <p:tgtEl>
                                          <p:spTgt spid="8"/>
                                        </p:tgtEl>
                                      </p:cBhvr>
                                    </p:animEffect>
                                  </p:childTnLst>
                                </p:cTn>
                              </p:par>
                            </p:childTnLst>
                          </p:cTn>
                        </p:par>
                        <p:par>
                          <p:cTn id="37" fill="hold">
                            <p:stCondLst>
                              <p:cond delay="1590"/>
                            </p:stCondLst>
                            <p:childTnLst>
                              <p:par>
                                <p:cTn id="38" presetID="10" presetClass="entr" presetSubtype="0" fill="hold" grpId="0" nodeType="afterEffect">
                                  <p:stCondLst>
                                    <p:cond delay="12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450"/>
                                        <p:tgtEl>
                                          <p:spTgt spid="9"/>
                                        </p:tgtEl>
                                      </p:cBhvr>
                                    </p:animEffect>
                                  </p:childTnLst>
                                </p:cTn>
                              </p:par>
                            </p:childTnLst>
                          </p:cTn>
                        </p:par>
                        <p:par>
                          <p:cTn id="48" fill="hold">
                            <p:stCondLst>
                              <p:cond delay="2160"/>
                            </p:stCondLst>
                            <p:childTnLst>
                              <p:par>
                                <p:cTn id="49" presetID="10" presetClass="entr" presetSubtype="0" fill="hold" grpId="0" nodeType="afterEffect">
                                  <p:stCondLst>
                                    <p:cond delay="12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childTnLst>
                          </p:cTn>
                        </p:par>
                        <p:par>
                          <p:cTn id="59" fill="hold">
                            <p:stCondLst>
                              <p:cond delay="2730"/>
                            </p:stCondLst>
                            <p:childTnLst>
                              <p:par>
                                <p:cTn id="60" presetID="10" presetClass="entr" presetSubtype="0" fill="hold" grpId="0" nodeType="afterEffect">
                                  <p:stCondLst>
                                    <p:cond delay="12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par>
                          <p:cTn id="70" fill="hold">
                            <p:stCondLst>
                              <p:cond delay="3300"/>
                            </p:stCondLst>
                            <p:childTnLst>
                              <p:par>
                                <p:cTn id="71" presetID="22" presetClass="entr" presetSubtype="8" fill="hold" grpId="0" nodeType="afterEffect">
                                  <p:stCondLst>
                                    <p:cond delay="120"/>
                                  </p:stCondLst>
                                  <p:childTnLst>
                                    <p:set>
                                      <p:cBhvr>
                                        <p:cTn id="74" dur="1" fill="hold">
                                          <p:stCondLst>
                                            <p:cond delay="0"/>
                                          </p:stCondLst>
                                        </p:cTn>
                                        <p:tgtEl>
                                          <p:spTgt spid="12"/>
                                        </p:tgtEl>
                                        <p:attrNameLst>
                                          <p:attrName>style.visibility</p:attrName>
                                        </p:attrNameLst>
                                      </p:cBhvr>
                                      <p:to>
                                        <p:strVal val="visible"/>
                                      </p:to>
                                    </p:set>
                                    <p:animEffect transition="in" filter="wipe(left)">
                                      <p:cBhvr>
                                        <p:cTn id="75" dur="450"/>
                                        <p:tgtEl>
                                          <p:spTgt spid="12"/>
                                        </p:tgtEl>
                                      </p:cBhvr>
                                    </p:animEffect>
                                  </p:childTnLst>
                                </p:cTn>
                              </p:par>
                            </p:childTnLst>
                          </p:cTn>
                        </p:par>
                        <p:par>
                          <p:cTn id="81" fill="hold">
                            <p:stCondLst>
                              <p:cond delay="3870"/>
                            </p:stCondLst>
                            <p:childTnLst>
                              <p:par>
                                <p:cTn id="82" presetID="10" presetClass="entr" presetSubtype="0" fill="hold" grpId="0" nodeType="afterEffect">
                                  <p:stCondLst>
                                    <p:cond delay="12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Cursor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Wie Schule wirkt: Strukturelle Unterschiede und ihr Effekt auf das Wohlbefinden von Schülerinnen und Schülern</dc:title>
  <dc:subject>Wie Schule wirkt: Strukturelle Unterschiede und ihr Effekt auf das Wohlbefinden von Schülerinnen und Schülern</dc:subject>
  <dc:creator>Cursor</dc:creator>
  <cp:lastModifiedBy>Cursor</cp:lastModifiedBy>
  <cp:revision>1</cp:revision>
  <dcterms:created xsi:type="dcterms:W3CDTF">2026-06-14T14:46:34Z</dcterms:created>
  <dcterms:modified xsi:type="dcterms:W3CDTF">2026-06-14T14:46:34Z</dcterms:modified>
</cp:coreProperties>
</file>