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300">
                <a:solidFill>
                  <a:srgbClr val="2C2C2E"/>
                </a:solidFill>
                <a:latin typeface="Helvetica Neue"/>
              </a:rPr>
              <a:t>Herzlich willkommen zu meiner Präsentation im Seminarfachkurs Glück. Mein Thema lautet: „Wie Schule wirkt – strukturelle Unterschiede und ihr Effekt auf das Wohlbefinden von Schülerinnen und Schülern."</a:t>
            </a:r>
          </a:p>
          <a:p>
            <a:pPr algn="l"/>
            <a:r>
              <a:rPr sz="1300">
                <a:solidFill>
                  <a:srgbClr val="2C2C2E"/>
                </a:solidFill>
                <a:latin typeface="Helvetica Neue"/>
              </a:rPr>
              <a:t>Schule prägt unseren Alltag wie kaum eine andere Institution. Wir verbringen einen großen Teil unserer Jugend in ihr – und dabei geht es längst nicht nur um Noten und Abschlüsse. Schule ist ein Lebensraum. Sie entscheidet mit, ob wir uns wohlfühlen, ob wir mit Freude lernen, oder ob wir unter Druck geraten.</a:t>
            </a:r>
          </a:p>
          <a:p>
            <a:pPr algn="l"/>
            <a:r>
              <a:rPr sz="1300">
                <a:solidFill>
                  <a:srgbClr val="2C2C2E"/>
                </a:solidFill>
                <a:latin typeface="Helvetica Neue"/>
              </a:rPr>
              <a:t>In den nächsten 15 Minuten möchte ich euch zeigen, wie stark die Strukturen unseres Schulsystems das Wohlbefinden von Schülerinnen und Schülern beeinflussen – und welche Alternativen andere Länder uns vorleben.</a:t>
            </a:r>
          </a:p>
          <a:p>
            <a:pPr algn="l"/>
            <a:r>
              <a:rPr sz="1300">
                <a:solidFill>
                  <a:srgbClr val="2C2C2E"/>
                </a:solidFill>
                <a:latin typeface="Helvetica Neue"/>
              </a:rPr>
              <a:t>Lasst uns also gemeinsam einen Blick darauf werfen, warum dieses Thema gerade im Seminarfachkurs Glück so passend ist.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300">
                <a:solidFill>
                  <a:srgbClr val="2C2C2E"/>
                </a:solidFill>
                <a:latin typeface="Helvetica Neue"/>
              </a:rPr>
              <a:t>Vielleicht denkt ihr: Schule ist halt Schule – warum sollten wir uns gerade im Kurs Glück damit beschäftigen? Genau das möchte ich auf dieser Folie erklären.</a:t>
            </a:r>
          </a:p>
          <a:p>
            <a:pPr algn="l"/>
            <a:r>
              <a:rPr sz="1300">
                <a:solidFill>
                  <a:srgbClr val="2C2C2E"/>
                </a:solidFill>
                <a:latin typeface="Helvetica Neue"/>
              </a:rPr>
              <a:t>Erstens: Schule prägt unseren Alltag. Wir verbringen Jahre in ihr und sie ist neben der Familie die wichtigste Sozialisationsinstanz unserer Jugend. Zweitens nimmt der Leistungsdruck spürbar zu. Studien wie die KiGGS-Studie des Robert Koch-Instituts und die HBSC-Studie der WHO zeigen, dass Jugendliche schulischen Stress als zentralen Belastungsfaktor erleben. Drittens entscheidet Bildung mit über unsere Zukunft – beruflich, finanziell und sozial. Und viertens: Wohlbefinden ist kein Luxus, sondern Voraussetzung dafür, dass Bildung überhaupt gelingt.</a:t>
            </a:r>
          </a:p>
          <a:p>
            <a:pPr algn="l"/>
            <a:r>
              <a:rPr sz="1300">
                <a:solidFill>
                  <a:srgbClr val="2C2C2E"/>
                </a:solidFill>
                <a:latin typeface="Helvetica Neue"/>
              </a:rPr>
              <a:t>Genau hier setzt meine Leitfrage an: „Inwiefern beeinflussen strukturelle Unterschiede im deutschen Schulsystem das Wohlbefinden von Schülerinnen und Schülern?" Diese Frage zieht sich wie ein roter Faden durch meine gesamte Arbeit – und damit auch durch diese Präsentation.</a:t>
            </a:r>
          </a:p>
          <a:p>
            <a:pPr algn="l"/>
            <a:r>
              <a:rPr sz="1300">
                <a:solidFill>
                  <a:srgbClr val="2C2C2E"/>
                </a:solidFill>
                <a:latin typeface="Helvetica Neue"/>
              </a:rPr>
              <a:t>Bevor wir aber in die Analyse einsteigen, brauchen wir ein paar gemeinsame Grundbegriffe.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300">
                <a:solidFill>
                  <a:srgbClr val="2C2C2E"/>
                </a:solidFill>
                <a:latin typeface="Helvetica Neue"/>
              </a:rPr>
              <a:t>Damit wir alle vom selben sprechen, klären wir drei zentrale Begriffe.</a:t>
            </a:r>
          </a:p>
          <a:p>
            <a:pPr algn="l"/>
            <a:r>
              <a:rPr sz="1300">
                <a:solidFill>
                  <a:srgbClr val="2C2C2E"/>
                </a:solidFill>
                <a:latin typeface="Helvetica Neue"/>
              </a:rPr>
              <a:t>Erstens: Strukturmerkmale von Schule. Damit meine ich die institutionellen Rahmenbedingungen – also Schulformen wie Gymnasium, Realschule oder Hauptschule, das Notensystem, Versetzungsregelungen und Abschlüsse. Diese Strukturen wirken sich nicht nur organisatorisch aus, sondern auch sozial.</a:t>
            </a:r>
          </a:p>
          <a:p>
            <a:pPr algn="l"/>
            <a:r>
              <a:rPr sz="1300">
                <a:solidFill>
                  <a:srgbClr val="2C2C2E"/>
                </a:solidFill>
                <a:latin typeface="Helvetica Neue"/>
              </a:rPr>
              <a:t>Zweitens: Wohlbefinden. Die Weltgesundheitsorganisation versteht darunter mehr als nur das Fehlen von Krankheit. Wohlbefinden umfasst psychische Gesundheit, soziale Beziehungen und subjektive Lebenszufriedenheit. Übertragen auf Schule heißt das: Es geht um emotionale Sicherheit, Zugehörigkeit und das Gefühl, etwas bewirken zu können.</a:t>
            </a:r>
          </a:p>
          <a:p>
            <a:pPr algn="l"/>
            <a:r>
              <a:rPr sz="1300">
                <a:solidFill>
                  <a:srgbClr val="2C2C2E"/>
                </a:solidFill>
                <a:latin typeface="Helvetica Neue"/>
              </a:rPr>
              <a:t>Drittens: Bildungsgerechtigkeit. Sie meint faire Bildungschancen unabhängig von sozialer Herkunft. In Deutschland hängt der Bildungserfolg laut OECD vergleichsweise stark vom Elternhaus ab – ein Punkt, der uns gleich noch begegnen wird.</a:t>
            </a:r>
          </a:p>
          <a:p>
            <a:pPr algn="l"/>
            <a:r>
              <a:rPr sz="1300">
                <a:solidFill>
                  <a:srgbClr val="2C2C2E"/>
                </a:solidFill>
                <a:latin typeface="Helvetica Neue"/>
              </a:rPr>
              <a:t>Diese drei Begriffe – Struktur, Wohlbefinden und Gerechtigkeit – bilden das Dreieck, in dem sich meine Arbeit bewegt. Schauen wir uns jetzt an, wie das deutsche System konkret aufgebaut ist.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300">
                <a:solidFill>
                  <a:srgbClr val="2C2C2E"/>
                </a:solidFill>
                <a:latin typeface="Helvetica Neue"/>
              </a:rPr>
              <a:t>Schauen wir uns jetzt das deutsche Schulsystem im Überblick an. Charakteristisch ist seine Mehrgliedrigkeit – also die Aufteilung nach der Grundschule auf verschiedene Schulformen.</a:t>
            </a:r>
          </a:p>
          <a:p>
            <a:pPr algn="l"/>
            <a:r>
              <a:rPr sz="1300">
                <a:solidFill>
                  <a:srgbClr val="2C2C2E"/>
                </a:solidFill>
                <a:latin typeface="Helvetica Neue"/>
              </a:rPr>
              <a:t>Das Gymnasium ist die Schulform mit dem höchsten akademischen Anspruch. Es führt zur allgemeinen Hochschulreife und bereitet auf ein Studium vor. Der Unterricht ist theoretisch ausgerichtet, die Anforderungen sind hoch.</a:t>
            </a:r>
          </a:p>
          <a:p>
            <a:pPr algn="l"/>
            <a:r>
              <a:rPr sz="1300">
                <a:solidFill>
                  <a:srgbClr val="2C2C2E"/>
                </a:solidFill>
                <a:latin typeface="Helvetica Neue"/>
              </a:rPr>
              <a:t>Die Realschule liegt in der Mitte. Sie verbindet Allgemeinbildung mit Praxisbezug, führt zum Mittleren Schulabschluss und ist eine wichtige Brücke zwischen schulischer und beruflicher Bildung.</a:t>
            </a:r>
          </a:p>
          <a:p>
            <a:pPr algn="l"/>
            <a:r>
              <a:rPr sz="1300">
                <a:solidFill>
                  <a:srgbClr val="2C2C2E"/>
                </a:solidFill>
                <a:latin typeface="Helvetica Neue"/>
              </a:rPr>
              <a:t>Die Hauptschule war traditionell stark berufsorientiert. Heute spielt sie eine kleinere Rolle, weil sie in vielen Bundesländern mit anderen Schulformen zusammengeführt wurde – auch, weil sie mit gesellschaftlicher Stigmatisierung zu kämpfen hatte.</a:t>
            </a:r>
          </a:p>
          <a:p>
            <a:pPr algn="l"/>
            <a:r>
              <a:rPr sz="1300">
                <a:solidFill>
                  <a:srgbClr val="2C2C2E"/>
                </a:solidFill>
                <a:latin typeface="Helvetica Neue"/>
              </a:rPr>
              <a:t>Die Gesamtschule bietet längeres gemeinsames Lernen und mehrere Abschlüsse innerhalb einer Schule. Sie versucht, soziale Ungleichheit zu reduzieren.</a:t>
            </a:r>
          </a:p>
          <a:p>
            <a:pPr algn="l"/>
            <a:r>
              <a:rPr sz="1300">
                <a:solidFill>
                  <a:srgbClr val="2C2C2E"/>
                </a:solidFill>
                <a:latin typeface="Helvetica Neue"/>
              </a:rPr>
              <a:t>Schließlich die beruflichen Schulen – sie sind zentraler Bestandteil des dualen Ausbildungssystems, das international als Erfolgsmodell gilt.</a:t>
            </a:r>
          </a:p>
          <a:p>
            <a:pPr algn="l"/>
            <a:r>
              <a:rPr sz="1300">
                <a:solidFill>
                  <a:srgbClr val="2C2C2E"/>
                </a:solidFill>
                <a:latin typeface="Helvetica Neue"/>
              </a:rPr>
              <a:t>Wichtig ist: Bildung ist Ländersache. Das heißt, die Strukturen unterscheiden sich von Bundesland zu Bundesland. Dieses System schafft viele Wege – aber es erzeugt auch Druck. Wie sich das auswirkt, sehen wir auf der nächsten Folie.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300">
                <a:solidFill>
                  <a:srgbClr val="2C2C2E"/>
                </a:solidFill>
                <a:latin typeface="Helvetica Neue"/>
              </a:rPr>
              <a:t>Leistungsdruck ist eines der wichtigsten Themen meiner Arbeit. Die Folie ist deshalb bewusst zweigeteilt: Links seht ihr die Quellen, rechts die möglichen Folgen.</a:t>
            </a:r>
          </a:p>
          <a:p>
            <a:pPr algn="l"/>
            <a:r>
              <a:rPr sz="1300">
                <a:solidFill>
                  <a:srgbClr val="2C2C2E"/>
                </a:solidFill>
                <a:latin typeface="Helvetica Neue"/>
              </a:rPr>
              <a:t>Auf der linken Seite stehen die typischen Auslöser von Druck: Noten, Prüfungen, Konkurrenz untereinander – und Erwartungen. Erwartungen kommen dabei aus mehreren Richtungen: von Eltern, Lehrkräften und der Gesellschaft. Schon die PISA-Studie zeigt, dass viele Schülerinnen und Schüler sich allein wegen ihrer Noten massiv unter Druck fühlen.</a:t>
            </a:r>
          </a:p>
          <a:p>
            <a:pPr algn="l"/>
            <a:r>
              <a:rPr sz="1300">
                <a:solidFill>
                  <a:srgbClr val="2C2C2E"/>
                </a:solidFill>
                <a:latin typeface="Helvetica Neue"/>
              </a:rPr>
              <a:t>Auf der rechten Seite seht ihr, was daraus entstehen kann. Die KiGGS-Studie und die HBSC-Studie der WHO weisen nach, dass schulischer Leistungsdruck mit Stress, Schlafproblemen, Konzentrationsschwierigkeiten, einem geringeren Selbstwertgefühl und teils sogar mit psychosomatischen Beschwerden einhergeht.</a:t>
            </a:r>
          </a:p>
          <a:p>
            <a:pPr algn="l"/>
            <a:r>
              <a:rPr sz="1300">
                <a:solidFill>
                  <a:srgbClr val="2C2C2E"/>
                </a:solidFill>
                <a:latin typeface="Helvetica Neue"/>
              </a:rPr>
              <a:t>Wichtig ist aber – und das steht im Merksatz unten: Leistungsdruck ist nicht per se negativ. Eine gewisse Anforderung kann auch motivieren. Entscheidend ist, ob das Maß stimmt und ob das Umfeld unterstützt.</a:t>
            </a:r>
          </a:p>
          <a:p>
            <a:pPr algn="l"/>
            <a:r>
              <a:rPr sz="1300">
                <a:solidFill>
                  <a:srgbClr val="2C2C2E"/>
                </a:solidFill>
                <a:latin typeface="Helvetica Neue"/>
              </a:rPr>
              <a:t>Damit kommen wir zu genau diesem Umfeld – dem Schulklima.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300">
                <a:solidFill>
                  <a:srgbClr val="2C2C2E"/>
                </a:solidFill>
                <a:latin typeface="Helvetica Neue"/>
              </a:rPr>
              <a:t>Wenn wir über Wohlbefinden in der Schule sprechen, müssen wir über das Schulklima sprechen. Damit ist die soziale Atmosphäre gemeint – also Beziehungen, Vertrauen, Sicherheit und Zugehörigkeit. Drei Punkte sind dabei besonders wichtig.</a:t>
            </a:r>
          </a:p>
          <a:p>
            <a:pPr algn="l"/>
            <a:r>
              <a:rPr sz="1300">
                <a:solidFill>
                  <a:srgbClr val="2C2C2E"/>
                </a:solidFill>
                <a:latin typeface="Helvetica Neue"/>
              </a:rPr>
              <a:t>Erstens: das Lehrer-Schüler-Verhältnis. Lehrkräfte sind nicht nur Wissensvermittler, sondern auch Bezugspersonen. Wenn Schülerinnen und Schüler sich respektiert und unterstützt fühlen, sinkt das Stresserleben und die Motivation steigt deutlich.</a:t>
            </a:r>
          </a:p>
          <a:p>
            <a:pPr algn="l"/>
            <a:r>
              <a:rPr sz="1300">
                <a:solidFill>
                  <a:srgbClr val="2C2C2E"/>
                </a:solidFill>
                <a:latin typeface="Helvetica Neue"/>
              </a:rPr>
              <a:t>Zweitens: Mitbestimmung. Klassenrat, Schülervertretungen oder Beteiligung an Projekten geben uns das Gefühl, gestalten zu können. In der Forschung nennt man das Selbstwirksamkeit – und sie ist einer der stärksten Schutzfaktoren gegen schulischen Stress.</a:t>
            </a:r>
          </a:p>
          <a:p>
            <a:pPr algn="l"/>
            <a:r>
              <a:rPr sz="1300">
                <a:solidFill>
                  <a:srgbClr val="2C2C2E"/>
                </a:solidFill>
                <a:latin typeface="Helvetica Neue"/>
              </a:rPr>
              <a:t>Drittens: Feedbackkultur. Hier geht es darum, Lernen zu begleiten – nicht nur am Ende mit einer Note zu beurteilen. Formative Rückmeldungen wie Lernfeedback oder Portfolios helfen, Stärken zu erkennen und Schwächen gezielt zu verbessern.</a:t>
            </a:r>
          </a:p>
          <a:p>
            <a:pPr algn="l"/>
            <a:r>
              <a:rPr sz="1300">
                <a:solidFill>
                  <a:srgbClr val="2C2C2E"/>
                </a:solidFill>
                <a:latin typeface="Helvetica Neue"/>
              </a:rPr>
              <a:t>Zusammen ergibt das ein Bild: Schulklima entscheidet mit darüber, ob Schule ein Lebensraum ist, in dem man sich entfalten kann. Wie wir das selbst erleben, schauen wir uns auf der nächsten Folie kurz interaktiv 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300">
                <a:solidFill>
                  <a:srgbClr val="2C2C2E"/>
                </a:solidFill>
                <a:latin typeface="Helvetica Neue"/>
              </a:rPr>
              <a:t>Bevor ich mit der nächsten inhaltlichen Folie weitermache, möchte ich euch kurz einbinden. Schaut bitte auf die Frage in der Mitte: „Was beeinflusst euer Wohlbefinden in der Schule am stärksten?"</a:t>
            </a:r>
          </a:p>
          <a:p>
            <a:pPr algn="l"/>
            <a:r>
              <a:rPr sz="1300">
                <a:solidFill>
                  <a:srgbClr val="2C2C2E"/>
                </a:solidFill>
                <a:latin typeface="Helvetica Neue"/>
              </a:rPr>
              <a:t>Ich gebe euch vier Möglichkeiten: Notendruck, Lehrkräfte, Mitschülerinnen und Mitschüler oder Zeitstress. Hebt einfach kurz die Hand bei dem Punkt, der euch am ehesten beeinflusst.</a:t>
            </a:r>
          </a:p>
          <a:p>
            <a:pPr algn="l"/>
            <a:r>
              <a:rPr sz="1300">
                <a:solidFill>
                  <a:srgbClr val="2C2C2E"/>
                </a:solidFill>
                <a:latin typeface="Helvetica Neue"/>
              </a:rPr>
              <a:t>(Pause für die Umfrage. Antworten kurz kommentieren.)</a:t>
            </a:r>
          </a:p>
          <a:p>
            <a:pPr algn="l"/>
            <a:r>
              <a:rPr sz="1300">
                <a:solidFill>
                  <a:srgbClr val="2C2C2E"/>
                </a:solidFill>
                <a:latin typeface="Helvetica Neue"/>
              </a:rPr>
              <a:t>Danke. Wenig überraschend: Es ist meistens nicht nur einer dieser Punkte. Genau das zeigt auch meine Facharbeit: Notendruck, Lehrkräfte, soziale Beziehungen und Zeitdruck wirken zusammen. Sie sind wie Schichten, die sich gegenseitig verstärken oder abfedern können.</a:t>
            </a:r>
          </a:p>
          <a:p>
            <a:pPr algn="l"/>
            <a:r>
              <a:rPr sz="1300">
                <a:solidFill>
                  <a:srgbClr val="2C2C2E"/>
                </a:solidFill>
                <a:latin typeface="Helvetica Neue"/>
              </a:rPr>
              <a:t>Mit diesem Bild im Kopf schauen wir nun, wie andere Länder mit denselben Herausforderungen umgehen.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300">
                <a:solidFill>
                  <a:srgbClr val="2C2C2E"/>
                </a:solidFill>
                <a:latin typeface="Helvetica Neue"/>
              </a:rPr>
              <a:t>Deutschland ist nur ein Modell unter vielen. Internationale Vergleichsstudien wie PISA helfen uns, einzuordnen, was wir hier eigentlich tun.</a:t>
            </a:r>
          </a:p>
          <a:p>
            <a:pPr algn="l"/>
            <a:r>
              <a:rPr sz="1300">
                <a:solidFill>
                  <a:srgbClr val="2C2C2E"/>
                </a:solidFill>
                <a:latin typeface="Helvetica Neue"/>
              </a:rPr>
              <a:t>In Deutschland erfolgt die Aufteilung der Schülerinnen und Schüler typischerweise schon nach Klasse 4. Wir setzen außerdem stark auf Noten, Prüfungen und Differenzierung zwischen den Schulformen.</a:t>
            </a:r>
          </a:p>
          <a:p>
            <a:pPr algn="l"/>
            <a:r>
              <a:rPr sz="1300">
                <a:solidFill>
                  <a:srgbClr val="2C2C2E"/>
                </a:solidFill>
                <a:latin typeface="Helvetica Neue"/>
              </a:rPr>
              <a:t>Finnland geht einen ganz anderen Weg. Dort lernen Kinder bis zur 9. Klasse gemeinsam. Erst danach erfolgt eine Differenzierung. Auch beim Notensystem ist Finnland zurückhaltender und setzt stärker auf qualitative Rückmeldungen. Das Resultat: relativ geringe Leistungsunterschiede zwischen sozialen Gruppen – und international anerkannt gute Leistungen.</a:t>
            </a:r>
          </a:p>
          <a:p>
            <a:pPr algn="l"/>
            <a:r>
              <a:rPr sz="1300">
                <a:solidFill>
                  <a:srgbClr val="2C2C2E"/>
                </a:solidFill>
                <a:latin typeface="Helvetica Neue"/>
              </a:rPr>
              <a:t>In angelsächsischen Systemen, also im Vereinigten Königreich oder den USA, dominieren umfassende Gesamtschulen. Schüler:innen können oft früh eigene Schwerpunkte setzen, Kurse wählen und arbeiten häufiger projektorientiert. Auch hier gibt es aber Schwächen, etwa starke regionale Unterschiede.</a:t>
            </a:r>
          </a:p>
          <a:p>
            <a:pPr algn="l"/>
            <a:r>
              <a:rPr sz="1300">
                <a:solidFill>
                  <a:srgbClr val="2C2C2E"/>
                </a:solidFill>
                <a:latin typeface="Helvetica Neue"/>
              </a:rPr>
              <a:t>Was lernen wir daraus? Kein System ist perfekt – aber wenn man Wohlbefinden ernst nimmt, sind alternative Strukturen möglich. Wie wir die deutsche Variante einordnen können, sehen wir auf der nächsten Folie.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300">
                <a:solidFill>
                  <a:srgbClr val="2C2C2E"/>
                </a:solidFill>
                <a:latin typeface="Helvetica Neue"/>
              </a:rPr>
              <a:t>Wenn wir das deutsche System bewerten, müssen wir fair sein – und beide Seiten anschauen.</a:t>
            </a:r>
          </a:p>
          <a:p>
            <a:pPr algn="l"/>
            <a:r>
              <a:rPr sz="1300">
                <a:solidFill>
                  <a:srgbClr val="2C2C2E"/>
                </a:solidFill>
                <a:latin typeface="Helvetica Neue"/>
              </a:rPr>
              <a:t>Auf der Habenseite stehen drei klare Stärken. Erstens: Wir haben verschiedene Bildungswege, die individuelle Förderung ermöglichen. Zweitens: Das duale Ausbildungssystem gilt international als Vorbild. Es verbindet Schule und Betrieb und sorgt unter anderem für eine relativ niedrige Jugendarbeitslosigkeit. Drittens: Die akademischen Standards, gerade am Gymnasium, sind hoch und international anerkannt.</a:t>
            </a:r>
          </a:p>
          <a:p>
            <a:pPr algn="l"/>
            <a:r>
              <a:rPr sz="1300">
                <a:solidFill>
                  <a:srgbClr val="2C2C2E"/>
                </a:solidFill>
                <a:latin typeface="Helvetica Neue"/>
              </a:rPr>
              <a:t>Auf der anderen Seite gibt es aber auch deutliche Schwächen. Erstens: die frühe Selektion nach Klasse 4. In diesem Alter sind Leistungsunterschiede stark vom Elternhaus geprägt – die Aufteilung wirkt damit oft sozial selektiv. Zweitens: der hohe Leistungsdruck, der psychisch belastet, wie wir bereits gesehen haben. Drittens: soziale Ungleichheiten. In Deutschland hängt der Bildungserfolg laut OECD vergleichsweise stark vom sozioökonomischen Hintergrund der Familie ab.</a:t>
            </a:r>
          </a:p>
          <a:p>
            <a:pPr algn="l"/>
            <a:r>
              <a:rPr sz="1300">
                <a:solidFill>
                  <a:srgbClr val="2C2C2E"/>
                </a:solidFill>
                <a:latin typeface="Helvetica Neue"/>
              </a:rPr>
              <a:t>Diese ehrliche Bestandsaufnahme ist wichtig, denn sie ist die Grundlage für die Reformansätze, die wir uns jetzt ansehen.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300">
                <a:solidFill>
                  <a:srgbClr val="2C2C2E"/>
                </a:solidFill>
                <a:latin typeface="Helvetica Neue"/>
              </a:rPr>
              <a:t>Wo könnte Reform ansetzen? In der Bildungsforschung werden vor allem drei Hebel diskutiert. Sie passen direkt zu den Schwächen, die wir gerade gesehen haben.</a:t>
            </a:r>
          </a:p>
          <a:p>
            <a:pPr algn="l"/>
            <a:r>
              <a:rPr sz="1300">
                <a:solidFill>
                  <a:srgbClr val="2C2C2E"/>
                </a:solidFill>
                <a:latin typeface="Helvetica Neue"/>
              </a:rPr>
              <a:t>Der erste Hebel: mehr Lebenskompetenzen im Curriculum. Viele Jugendliche kritisieren, dass Schule zu wenig auf den Alltag vorbereitet – Stichworte sind Steuern, Mietverträge oder Versicherungen. Dazu kommt das Thema Finanzbildung, das international zunehmend ernst genommen wird. Auch die OECD betont Kompetenzen wie Problemlösen, kritisches Denken und Teamarbeit.</a:t>
            </a:r>
          </a:p>
          <a:p>
            <a:pPr algn="l"/>
            <a:r>
              <a:rPr sz="1300">
                <a:solidFill>
                  <a:srgbClr val="2C2C2E"/>
                </a:solidFill>
                <a:latin typeface="Helvetica Neue"/>
              </a:rPr>
              <a:t>Der zweite Hebel: spätere Leistungsdifferenzierung. Wenn Kinder länger gemeinsam lernen, hängt der Bildungsweg weniger stark vom Elternhaus ab. Skandinavische Modelle zeigen, dass das funktionieren kann.</a:t>
            </a:r>
          </a:p>
          <a:p>
            <a:pPr algn="l"/>
            <a:r>
              <a:rPr sz="1300">
                <a:solidFill>
                  <a:srgbClr val="2C2C2E"/>
                </a:solidFill>
                <a:latin typeface="Helvetica Neue"/>
              </a:rPr>
              <a:t>Der dritte Hebel: alternative Bewertungsformen. Statt sich allein auf Noten zu verlassen, könnten Lernfeedback, Portfolio-Arbeit und projektbasierte Formate viel stärker in den Vordergrund rücken. Lernen wird so begleitet, nicht nur abgeprüft.</a:t>
            </a:r>
          </a:p>
          <a:p>
            <a:pPr algn="l"/>
            <a:r>
              <a:rPr sz="1300">
                <a:solidFill>
                  <a:srgbClr val="2C2C2E"/>
                </a:solidFill>
                <a:latin typeface="Helvetica Neue"/>
              </a:rPr>
              <a:t>Diese drei Hebel zeigen: Es gibt realistische Wege, Bildung und Wohlbefinden besser zu verbinden. Damit kommen wir zu meinem Fazit.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300">
                <a:solidFill>
                  <a:srgbClr val="2C2C2E"/>
                </a:solidFill>
                <a:latin typeface="Helvetica Neue"/>
              </a:rPr>
              <a:t>Damit komme ich zum Fazit meiner Arbeit. Mein Leitsatz lautet: Schule beeinflusst mehr als nur Noten.</a:t>
            </a:r>
          </a:p>
          <a:p>
            <a:pPr algn="l"/>
            <a:r>
              <a:rPr sz="1300">
                <a:solidFill>
                  <a:srgbClr val="2C2C2E"/>
                </a:solidFill>
                <a:latin typeface="Helvetica Neue"/>
              </a:rPr>
              <a:t>Erste Kernaussage: Strukturen wirken auf das Wohlbefinden. Die Mehrgliedrigkeit, das Notensystem, Versetzungsregelungen und die soziale Selektion sind nicht neutral – sie prägen, wie sich Schülerinnen und Schüler in der Schule erleben.</a:t>
            </a:r>
          </a:p>
          <a:p>
            <a:pPr algn="l"/>
            <a:r>
              <a:rPr sz="1300">
                <a:solidFill>
                  <a:srgbClr val="2C2C2E"/>
                </a:solidFill>
                <a:latin typeface="Helvetica Neue"/>
              </a:rPr>
              <a:t>Zweite Kernaussage: Leistungsdruck und Schulklima spielen eine zentrale Rolle. Druck kann motivieren, aber er kann auch krank machen. Entscheidend sind die Beziehungen, die Mitbestimmung und die Feedbackkultur, die ihn entweder abfedern oder verstärken.</a:t>
            </a:r>
          </a:p>
          <a:p>
            <a:pPr algn="l"/>
            <a:r>
              <a:rPr sz="1300">
                <a:solidFill>
                  <a:srgbClr val="2C2C2E"/>
                </a:solidFill>
                <a:latin typeface="Helvetica Neue"/>
              </a:rPr>
              <a:t>Dritte Kernaussage: Reformen können Bildung und Glück stärker miteinander verbinden. Internationale Beispiele zeigen, dass das möglich ist – durch mehr Lebenskompetenzen, spätere Differenzierung und alternative Bewertungsformen.</a:t>
            </a:r>
          </a:p>
          <a:p>
            <a:pPr algn="l"/>
            <a:r>
              <a:rPr sz="1300">
                <a:solidFill>
                  <a:srgbClr val="2C2C2E"/>
                </a:solidFill>
                <a:latin typeface="Helvetica Neue"/>
              </a:rPr>
              <a:t>Schule ist also nicht einfach nur ein Ort, an dem wir Wissen erwerben. Sie ist ein Lebensraum, der unser Wohlbefinden prägt. Und genau deshalb passt das Thema so gut in unseren Seminarfachkurs Glück.</a:t>
            </a:r>
          </a:p>
          <a:p>
            <a:pPr algn="l"/>
            <a:r>
              <a:rPr sz="1300">
                <a:solidFill>
                  <a:srgbClr val="2C2C2E"/>
                </a:solidFill>
                <a:latin typeface="Helvetica Neue"/>
              </a:rPr>
              <a:t>Ich danke euch herzlich für eure Aufmerksamkeit – und freue mich jetzt auf eure Fragen und eure Diskussion.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011680" y="-1645920"/>
            <a:ext cx="5943600" cy="5943600"/>
          </a:xfrm>
          <a:prstGeom prst="ellipse">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412480" y="3657600"/>
            <a:ext cx="5029200" cy="5029200"/>
          </a:xfrm>
          <a:prstGeom prst="ellipse">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0" y="-1280160"/>
            <a:ext cx="3017520" cy="301752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28800"/>
            <a:ext cx="6949440" cy="3291840"/>
          </a:xfrm>
          <a:prstGeom prst="rect">
            <a:avLst/>
          </a:prstGeom>
          <a:noFill/>
        </p:spPr>
        <p:txBody>
          <a:bodyPr wrap="square" lIns="45720" rIns="45720" anchor="t">
            <a:spAutoFit/>
          </a:bodyPr>
          <a:lstStyle/>
          <a:p>
            <a:pPr algn="l">
              <a:lnSpc>
                <a:spcPct val="100000"/>
              </a:lnSpc>
              <a:spcBef>
                <a:spcPts val="0"/>
              </a:spcBef>
              <a:spcAft>
                <a:spcPts val="800"/>
              </a:spcAft>
            </a:pPr>
            <a:r>
              <a:rPr sz="6400" b="1">
                <a:solidFill>
                  <a:srgbClr val="2C2C2E"/>
                </a:solidFill>
                <a:latin typeface="Helvetica Neue"/>
              </a:rPr>
              <a:t>Wie Schule wirkt</a:t>
            </a:r>
          </a:p>
          <a:p>
            <a:pPr algn="l">
              <a:lnSpc>
                <a:spcPct val="115000"/>
              </a:lnSpc>
              <a:spcBef>
                <a:spcPts val="0"/>
              </a:spcBef>
              <a:spcAft>
                <a:spcPts val="200"/>
              </a:spcAft>
            </a:pPr>
            <a:r>
              <a:rPr sz="2800" b="0">
                <a:solidFill>
                  <a:srgbClr val="4A4A4F"/>
                </a:solidFill>
                <a:latin typeface="Helvetica Neue"/>
              </a:rPr>
              <a:t>Strukturelle Unterschiede und ihr Effekt</a:t>
            </a:r>
          </a:p>
          <a:p>
            <a:pPr algn="l">
              <a:lnSpc>
                <a:spcPct val="115000"/>
              </a:lnSpc>
              <a:spcBef>
                <a:spcPts val="0"/>
              </a:spcBef>
              <a:spcAft>
                <a:spcPts val="1800"/>
              </a:spcAft>
            </a:pPr>
            <a:r>
              <a:rPr sz="2800" b="0">
                <a:solidFill>
                  <a:srgbClr val="4A4A4F"/>
                </a:solidFill>
                <a:latin typeface="Helvetica Neue"/>
              </a:rPr>
              <a:t>auf das Wohlbefinden von Schüler:innen</a:t>
            </a:r>
          </a:p>
        </p:txBody>
      </p:sp>
      <p:sp>
        <p:nvSpPr>
          <p:cNvPr id="7" name="Rounded Rectangle 6"/>
          <p:cNvSpPr/>
          <p:nvPr/>
        </p:nvSpPr>
        <p:spPr>
          <a:xfrm>
            <a:off x="822960" y="5029200"/>
            <a:ext cx="3291840" cy="502920"/>
          </a:xfrm>
          <a:prstGeom prst="roundRect">
            <a:avLst>
              <a:gd name="adj" fmla="val 50000"/>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029200"/>
            <a:ext cx="3291840" cy="502920"/>
          </a:xfrm>
          <a:prstGeom prst="rect">
            <a:avLst/>
          </a:prstGeom>
          <a:noFill/>
        </p:spPr>
        <p:txBody>
          <a:bodyPr wrap="square" lIns="45720" rIns="45720" tIns="18288" bIns="18288" anchor="ctr">
            <a:spAutoFit/>
          </a:bodyPr>
          <a:lstStyle/>
          <a:p>
            <a:pPr algn="ctr"/>
            <a:r>
              <a:rPr sz="1500" b="1">
                <a:solidFill>
                  <a:srgbClr val="2C2C2E"/>
                </a:solidFill>
                <a:latin typeface="Helvetica Neue"/>
              </a:rPr>
              <a:t>Seminarfachkurs Glück</a:t>
            </a:r>
          </a:p>
        </p:txBody>
      </p:sp>
      <p:sp>
        <p:nvSpPr>
          <p:cNvPr id="9" name="TextBox 8"/>
          <p:cNvSpPr txBox="1"/>
          <p:nvPr/>
        </p:nvSpPr>
        <p:spPr>
          <a:xfrm>
            <a:off x="822960" y="5623560"/>
            <a:ext cx="7315200" cy="365760"/>
          </a:xfrm>
          <a:prstGeom prst="rect">
            <a:avLst/>
          </a:prstGeom>
          <a:noFill/>
        </p:spPr>
        <p:txBody>
          <a:bodyPr wrap="square" lIns="45720" rIns="45720" tIns="18288" bIns="18288" anchor="t">
            <a:spAutoFit/>
          </a:bodyPr>
          <a:lstStyle/>
          <a:p>
            <a:pPr algn="l"/>
            <a:r>
              <a:rPr sz="1300" b="0">
                <a:solidFill>
                  <a:srgbClr val="4A4A4F"/>
                </a:solidFill>
                <a:latin typeface="Helvetica Neue"/>
              </a:rPr>
              <a:t>Svea Timphus  ·  Gymnasium Damme  ·  2026</a:t>
            </a:r>
          </a:p>
        </p:txBody>
      </p:sp>
      <p:sp>
        <p:nvSpPr>
          <p:cNvPr id="10" name="Isosceles Triangle 9"/>
          <p:cNvSpPr/>
          <p:nvPr/>
        </p:nvSpPr>
        <p:spPr>
          <a:xfrm>
            <a:off x="7818120" y="1417320"/>
            <a:ext cx="3108960" cy="868680"/>
          </a:xfrm>
          <a:prstGeom prst="triangle">
            <a:avLst/>
          </a:prstGeom>
          <a:solidFill>
            <a:srgbClr val="FFD9E8"/>
          </a:solidFill>
          <a:ln>
            <a:noFill/>
          </a:ln>
          <a:effectLst>
            <a:outerShdw blurRad="152400" dist="381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955279" y="1874519"/>
            <a:ext cx="2834640" cy="2286000"/>
          </a:xfrm>
          <a:prstGeom prst="roundRect">
            <a:avLst>
              <a:gd name="adj" fmla="val 6000"/>
            </a:avLst>
          </a:prstGeom>
          <a:solidFill>
            <a:srgbClr val="CFEFFF"/>
          </a:solidFill>
          <a:ln>
            <a:noFill/>
          </a:ln>
          <a:effectLst>
            <a:outerShdw blurRad="177800" dist="50800" dir="5400000"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0" y="1691640"/>
            <a:ext cx="411480" cy="41148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0" y="1691640"/>
            <a:ext cx="411480" cy="411480"/>
          </a:xfrm>
          <a:prstGeom prst="rect">
            <a:avLst/>
          </a:prstGeom>
          <a:noFill/>
        </p:spPr>
        <p:txBody>
          <a:bodyPr wrap="square" lIns="45720" rIns="45720" tIns="18288" bIns="18288" anchor="ctr">
            <a:spAutoFit/>
          </a:bodyPr>
          <a:lstStyle/>
          <a:p>
            <a:pPr algn="ctr"/>
            <a:r>
              <a:rPr sz="1400" b="1">
                <a:solidFill>
                  <a:srgbClr val="4F8FBF"/>
                </a:solidFill>
                <a:latin typeface="Helvetica Neue"/>
              </a:rPr>
              <a:t>★</a:t>
            </a:r>
          </a:p>
        </p:txBody>
      </p:sp>
      <p:sp>
        <p:nvSpPr>
          <p:cNvPr id="14" name="Rounded Rectangle 13"/>
          <p:cNvSpPr/>
          <p:nvPr/>
        </p:nvSpPr>
        <p:spPr>
          <a:xfrm>
            <a:off x="9098280" y="3291840"/>
            <a:ext cx="502920" cy="868680"/>
          </a:xfrm>
          <a:prstGeom prst="roundRect">
            <a:avLst>
              <a:gd name="adj" fmla="val 18000"/>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3879" y="2331720"/>
            <a:ext cx="502920" cy="502920"/>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12680" y="2331720"/>
            <a:ext cx="502920" cy="502920"/>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3879" y="3246120"/>
            <a:ext cx="502920" cy="502920"/>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012680" y="3246120"/>
            <a:ext cx="502920" cy="502920"/>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909560" y="4434840"/>
            <a:ext cx="640080" cy="640080"/>
          </a:xfrm>
          <a:prstGeom prst="ellipse">
            <a:avLst/>
          </a:prstGeom>
          <a:solidFill>
            <a:srgbClr val="FFF7C7"/>
          </a:solidFill>
          <a:ln>
            <a:noFill/>
          </a:ln>
          <a:effectLst>
            <a:outerShdw blurRad="10160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9560" y="4434840"/>
            <a:ext cx="640080" cy="640080"/>
          </a:xfrm>
          <a:prstGeom prst="rect">
            <a:avLst/>
          </a:prstGeom>
          <a:noFill/>
        </p:spPr>
        <p:txBody>
          <a:bodyPr wrap="square" lIns="45720" rIns="45720" tIns="18288" bIns="18288" anchor="ctr">
            <a:spAutoFit/>
          </a:bodyPr>
          <a:lstStyle/>
          <a:p>
            <a:pPr algn="ctr"/>
            <a:r>
              <a:rPr sz="2200" b="1">
                <a:solidFill>
                  <a:srgbClr val="2C2C2E"/>
                </a:solidFill>
                <a:latin typeface="Helvetica Neue"/>
              </a:rPr>
              <a:t>☺</a:t>
            </a:r>
          </a:p>
        </p:txBody>
      </p:sp>
      <p:sp>
        <p:nvSpPr>
          <p:cNvPr id="21" name="Oval 20"/>
          <p:cNvSpPr/>
          <p:nvPr/>
        </p:nvSpPr>
        <p:spPr>
          <a:xfrm>
            <a:off x="8641080" y="4434840"/>
            <a:ext cx="640080" cy="640080"/>
          </a:xfrm>
          <a:prstGeom prst="ellipse">
            <a:avLst/>
          </a:prstGeom>
          <a:solidFill>
            <a:srgbClr val="FFD9E8"/>
          </a:solidFill>
          <a:ln>
            <a:noFill/>
          </a:ln>
          <a:effectLst>
            <a:outerShdw blurRad="10160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41080" y="4434840"/>
            <a:ext cx="640080" cy="640080"/>
          </a:xfrm>
          <a:prstGeom prst="rect">
            <a:avLst/>
          </a:prstGeom>
          <a:noFill/>
        </p:spPr>
        <p:txBody>
          <a:bodyPr wrap="square" lIns="45720" rIns="45720" tIns="18288" bIns="18288" anchor="ctr">
            <a:spAutoFit/>
          </a:bodyPr>
          <a:lstStyle/>
          <a:p>
            <a:pPr algn="ctr"/>
            <a:r>
              <a:rPr sz="2200" b="1">
                <a:solidFill>
                  <a:srgbClr val="2C2C2E"/>
                </a:solidFill>
                <a:latin typeface="Helvetica Neue"/>
              </a:rPr>
              <a:t>☺</a:t>
            </a:r>
          </a:p>
        </p:txBody>
      </p:sp>
      <p:sp>
        <p:nvSpPr>
          <p:cNvPr id="23" name="Oval 22"/>
          <p:cNvSpPr/>
          <p:nvPr/>
        </p:nvSpPr>
        <p:spPr>
          <a:xfrm>
            <a:off x="9372600" y="4434840"/>
            <a:ext cx="640080" cy="640080"/>
          </a:xfrm>
          <a:prstGeom prst="ellipse">
            <a:avLst/>
          </a:prstGeom>
          <a:solidFill>
            <a:srgbClr val="CFEFFF"/>
          </a:solidFill>
          <a:ln>
            <a:noFill/>
          </a:ln>
          <a:effectLst>
            <a:outerShdw blurRad="10160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72600" y="4434840"/>
            <a:ext cx="640080" cy="640080"/>
          </a:xfrm>
          <a:prstGeom prst="rect">
            <a:avLst/>
          </a:prstGeom>
          <a:noFill/>
        </p:spPr>
        <p:txBody>
          <a:bodyPr wrap="square" lIns="45720" rIns="45720" tIns="18288" bIns="18288" anchor="ctr">
            <a:spAutoFit/>
          </a:bodyPr>
          <a:lstStyle/>
          <a:p>
            <a:pPr algn="ctr"/>
            <a:r>
              <a:rPr sz="2200" b="1">
                <a:solidFill>
                  <a:srgbClr val="2C2C2E"/>
                </a:solidFill>
                <a:latin typeface="Helvetica Neue"/>
              </a:rPr>
              <a:t>☹</a:t>
            </a:r>
          </a:p>
        </p:txBody>
      </p:sp>
      <p:sp>
        <p:nvSpPr>
          <p:cNvPr id="25" name="Oval 24"/>
          <p:cNvSpPr/>
          <p:nvPr/>
        </p:nvSpPr>
        <p:spPr>
          <a:xfrm>
            <a:off x="10104120" y="4434840"/>
            <a:ext cx="640080" cy="640080"/>
          </a:xfrm>
          <a:prstGeom prst="ellipse">
            <a:avLst/>
          </a:prstGeom>
          <a:solidFill>
            <a:srgbClr val="FFF7C7"/>
          </a:solidFill>
          <a:ln>
            <a:noFill/>
          </a:ln>
          <a:effectLst>
            <a:outerShdw blurRad="10160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04120" y="4434840"/>
            <a:ext cx="640080" cy="640080"/>
          </a:xfrm>
          <a:prstGeom prst="rect">
            <a:avLst/>
          </a:prstGeom>
          <a:noFill/>
        </p:spPr>
        <p:txBody>
          <a:bodyPr wrap="square" lIns="45720" rIns="45720" tIns="18288" bIns="18288" anchor="ctr">
            <a:spAutoFit/>
          </a:bodyPr>
          <a:lstStyle/>
          <a:p>
            <a:pPr algn="ctr"/>
            <a:r>
              <a:rPr sz="2200" b="1">
                <a:solidFill>
                  <a:srgbClr val="2C2C2E"/>
                </a:solidFill>
                <a:latin typeface="Helvetica Neue"/>
              </a:rPr>
              <a:t>☺</a:t>
            </a:r>
          </a:p>
        </p:txBody>
      </p:sp>
      <p:cxnSp>
        <p:nvCxnSpPr>
          <p:cNvPr id="27" name="Connector 26"/>
          <p:cNvCxnSpPr/>
          <p:nvPr/>
        </p:nvCxnSpPr>
        <p:spPr>
          <a:xfrm>
            <a:off x="7680960" y="5212080"/>
            <a:ext cx="3246120" cy="0"/>
          </a:xfrm>
          <a:prstGeom prst="line">
            <a:avLst/>
          </a:prstGeom>
          <a:ln w="25400">
            <a:solidFill>
              <a:srgbClr val="D8D8DE"/>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02920" y="6446520"/>
            <a:ext cx="411480" cy="109728"/>
          </a:xfrm>
          <a:prstGeom prst="roundRect">
            <a:avLst>
              <a:gd name="adj" fmla="val 50000"/>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6355080"/>
            <a:ext cx="1828800" cy="274320"/>
          </a:xfrm>
          <a:prstGeom prst="rect">
            <a:avLst/>
          </a:prstGeom>
          <a:noFill/>
        </p:spPr>
        <p:txBody>
          <a:bodyPr wrap="square" lIns="45720" rIns="45720" tIns="18288" bIns="18288" anchor="t">
            <a:spAutoFit/>
          </a:bodyPr>
          <a:lstStyle/>
          <a:p>
            <a:pPr algn="l"/>
            <a:r>
              <a:rPr sz="1100" b="0">
                <a:solidFill>
                  <a:srgbClr val="4A4A4F"/>
                </a:solidFill>
                <a:latin typeface="Helvetica Neue"/>
              </a:rPr>
              <a:t>01 / 11</a:t>
            </a:r>
          </a:p>
        </p:txBody>
      </p:sp>
      <p:sp>
        <p:nvSpPr>
          <p:cNvPr id="30" name="TextBox 29"/>
          <p:cNvSpPr txBox="1"/>
          <p:nvPr/>
        </p:nvSpPr>
        <p:spPr>
          <a:xfrm>
            <a:off x="9784080" y="6355080"/>
            <a:ext cx="2194560" cy="274320"/>
          </a:xfrm>
          <a:prstGeom prst="rect">
            <a:avLst/>
          </a:prstGeom>
          <a:noFill/>
        </p:spPr>
        <p:txBody>
          <a:bodyPr wrap="square" lIns="45720" rIns="45720" tIns="18288" bIns="18288" anchor="t">
            <a:spAutoFit/>
          </a:bodyPr>
          <a:lstStyle/>
          <a:p>
            <a:pPr algn="r"/>
            <a:r>
              <a:rPr sz="1100" b="0">
                <a:solidFill>
                  <a:srgbClr val="4A4A4F"/>
                </a:solidFill>
                <a:latin typeface="Helvetica Neue"/>
              </a:rPr>
              <a:t>Seminarfachkurs Glück</a:t>
            </a:r>
          </a:p>
        </p:txBody>
      </p:sp>
    </p:spTree>
  </p:cSld>
  <p:clrMapOvr>
    <a:masterClrMapping/>
  </p:clrMapOvr>
  <p:transition xmlns:p14="http://schemas.microsoft.com/office/powerpoint/2010/main" xmlns:mc="http://schemas.openxmlformats.org/markup-compatibility/2006"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1371600"/>
            <a:ext cx="4114800" cy="411480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15600" y="4572000"/>
            <a:ext cx="3200400" cy="3200400"/>
          </a:xfrm>
          <a:prstGeom prst="ellipse">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5486400" cy="320040"/>
          </a:xfrm>
          <a:prstGeom prst="rect">
            <a:avLst/>
          </a:prstGeom>
          <a:noFill/>
        </p:spPr>
        <p:txBody>
          <a:bodyPr wrap="square" lIns="45720" rIns="45720" tIns="18288" bIns="18288" anchor="t">
            <a:spAutoFit/>
          </a:bodyPr>
          <a:lstStyle/>
          <a:p>
            <a:pPr algn="l"/>
            <a:r>
              <a:rPr sz="1100" b="1">
                <a:solidFill>
                  <a:srgbClr val="4F8FBF"/>
                </a:solidFill>
                <a:latin typeface="Helvetica Neue"/>
              </a:rPr>
              <a:t>01 · EINSTIEG</a:t>
            </a:r>
          </a:p>
        </p:txBody>
      </p:sp>
      <p:sp>
        <p:nvSpPr>
          <p:cNvPr id="6" name="TextBox 5"/>
          <p:cNvSpPr txBox="1"/>
          <p:nvPr/>
        </p:nvSpPr>
        <p:spPr>
          <a:xfrm>
            <a:off x="822960" y="868680"/>
            <a:ext cx="10515600" cy="1097280"/>
          </a:xfrm>
          <a:prstGeom prst="rect">
            <a:avLst/>
          </a:prstGeom>
          <a:noFill/>
        </p:spPr>
        <p:txBody>
          <a:bodyPr wrap="square" lIns="45720" rIns="45720" tIns="18288" bIns="18288" anchor="t">
            <a:spAutoFit/>
          </a:bodyPr>
          <a:lstStyle/>
          <a:p>
            <a:pPr algn="l"/>
            <a:r>
              <a:rPr sz="4400" b="1">
                <a:solidFill>
                  <a:srgbClr val="2C2C2E"/>
                </a:solidFill>
                <a:latin typeface="Helvetica Neue"/>
              </a:rPr>
              <a:t>Warum ist das Thema wichtig?</a:t>
            </a:r>
          </a:p>
        </p:txBody>
      </p:sp>
      <p:sp>
        <p:nvSpPr>
          <p:cNvPr id="7" name="TextBox 6"/>
          <p:cNvSpPr txBox="1"/>
          <p:nvPr/>
        </p:nvSpPr>
        <p:spPr>
          <a:xfrm>
            <a:off x="822960" y="2194560"/>
            <a:ext cx="5943600" cy="3291840"/>
          </a:xfrm>
          <a:prstGeom prst="rect">
            <a:avLst/>
          </a:prstGeom>
          <a:noFill/>
        </p:spPr>
        <p:txBody>
          <a:bodyPr wrap="square" lIns="45720" rIns="45720" anchor="t">
            <a:spAutoFit/>
          </a:bodyPr>
          <a:lstStyle/>
          <a:p>
            <a:pPr algn="l">
              <a:lnSpc>
                <a:spcPct val="120000"/>
              </a:lnSpc>
              <a:spcAft>
                <a:spcPts val="1400"/>
              </a:spcAft>
            </a:pPr>
            <a:r>
              <a:rPr sz="2000" b="1">
                <a:solidFill>
                  <a:srgbClr val="4F8FBF"/>
                </a:solidFill>
              </a:rPr>
              <a:t>●  </a:t>
            </a:r>
            <a:r>
              <a:rPr sz="2000">
                <a:solidFill>
                  <a:srgbClr val="2C2C2E"/>
                </a:solidFill>
                <a:latin typeface="Helvetica Neue"/>
              </a:rPr>
              <a:t>Schule prägt unseren Alltag</a:t>
            </a:r>
          </a:p>
          <a:p>
            <a:pPr algn="l">
              <a:lnSpc>
                <a:spcPct val="120000"/>
              </a:lnSpc>
              <a:spcAft>
                <a:spcPts val="1400"/>
              </a:spcAft>
            </a:pPr>
            <a:r>
              <a:rPr sz="2000" b="1">
                <a:solidFill>
                  <a:srgbClr val="4F8FBF"/>
                </a:solidFill>
              </a:rPr>
              <a:t>●  </a:t>
            </a:r>
            <a:r>
              <a:rPr sz="2000">
                <a:solidFill>
                  <a:srgbClr val="2C2C2E"/>
                </a:solidFill>
                <a:latin typeface="Helvetica Neue"/>
              </a:rPr>
              <a:t>Leistungsdruck nimmt zu</a:t>
            </a:r>
          </a:p>
          <a:p>
            <a:pPr algn="l">
              <a:lnSpc>
                <a:spcPct val="120000"/>
              </a:lnSpc>
              <a:spcAft>
                <a:spcPts val="1400"/>
              </a:spcAft>
            </a:pPr>
            <a:r>
              <a:rPr sz="2000" b="1">
                <a:solidFill>
                  <a:srgbClr val="4F8FBF"/>
                </a:solidFill>
              </a:rPr>
              <a:t>●  </a:t>
            </a:r>
            <a:r>
              <a:rPr sz="2000">
                <a:solidFill>
                  <a:srgbClr val="2C2C2E"/>
                </a:solidFill>
                <a:latin typeface="Helvetica Neue"/>
              </a:rPr>
              <a:t>Bildung beeinflusst die Zukunft</a:t>
            </a:r>
          </a:p>
          <a:p>
            <a:pPr algn="l">
              <a:lnSpc>
                <a:spcPct val="120000"/>
              </a:lnSpc>
              <a:spcAft>
                <a:spcPts val="1400"/>
              </a:spcAft>
            </a:pPr>
            <a:r>
              <a:rPr sz="2000" b="1">
                <a:solidFill>
                  <a:srgbClr val="4F8FBF"/>
                </a:solidFill>
              </a:rPr>
              <a:t>●  </a:t>
            </a:r>
            <a:r>
              <a:rPr sz="2000">
                <a:solidFill>
                  <a:srgbClr val="2C2C2E"/>
                </a:solidFill>
                <a:latin typeface="Helvetica Neue"/>
              </a:rPr>
              <a:t>Wohlbefinden ist Teil erfolgreicher Bildung</a:t>
            </a:r>
          </a:p>
        </p:txBody>
      </p:sp>
      <p:sp>
        <p:nvSpPr>
          <p:cNvPr id="8" name="Rectangle 7"/>
          <p:cNvSpPr/>
          <p:nvPr/>
        </p:nvSpPr>
        <p:spPr>
          <a:xfrm>
            <a:off x="9473184" y="2377440"/>
            <a:ext cx="73152" cy="2194560"/>
          </a:xfrm>
          <a:prstGeom prst="rect">
            <a:avLst/>
          </a:prstGeom>
          <a:solidFill>
            <a:srgbClr val="4A4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961120" y="4526280"/>
            <a:ext cx="1097280" cy="164592"/>
          </a:xfrm>
          <a:prstGeom prst="roundRect">
            <a:avLst/>
          </a:prstGeom>
          <a:solidFill>
            <a:srgbClr val="4A4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680960" y="2322576"/>
            <a:ext cx="3657600" cy="109728"/>
          </a:xfrm>
          <a:prstGeom prst="roundRect">
            <a:avLst/>
          </a:prstGeom>
          <a:solidFill>
            <a:srgbClr val="4A4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040880" y="2423160"/>
            <a:ext cx="1463040" cy="502920"/>
          </a:xfrm>
          <a:prstGeom prst="roundRect">
            <a:avLst/>
          </a:prstGeom>
          <a:solidFill>
            <a:srgbClr val="CFEFFF"/>
          </a:solidFill>
          <a:ln>
            <a:noFill/>
          </a:ln>
          <a:effectLst>
            <a:outerShdw blurRad="10160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15600" y="2423160"/>
            <a:ext cx="1463040" cy="502920"/>
          </a:xfrm>
          <a:prstGeom prst="roundRect">
            <a:avLst/>
          </a:prstGeom>
          <a:solidFill>
            <a:srgbClr val="FFD9E8"/>
          </a:solidFill>
          <a:ln>
            <a:noFill/>
          </a:ln>
          <a:effectLst>
            <a:outerShdw blurRad="10160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03720" y="3108960"/>
            <a:ext cx="1737360" cy="274320"/>
          </a:xfrm>
          <a:prstGeom prst="rect">
            <a:avLst/>
          </a:prstGeom>
          <a:noFill/>
        </p:spPr>
        <p:txBody>
          <a:bodyPr wrap="square" lIns="45720" rIns="45720" tIns="18288" bIns="18288" anchor="t">
            <a:spAutoFit/>
          </a:bodyPr>
          <a:lstStyle/>
          <a:p>
            <a:pPr algn="ctr"/>
            <a:r>
              <a:rPr sz="1400" b="1">
                <a:solidFill>
                  <a:srgbClr val="2C2C2E"/>
                </a:solidFill>
                <a:latin typeface="Helvetica Neue"/>
              </a:rPr>
              <a:t>Bildung</a:t>
            </a:r>
          </a:p>
        </p:txBody>
      </p:sp>
      <p:sp>
        <p:nvSpPr>
          <p:cNvPr id="14" name="TextBox 13"/>
          <p:cNvSpPr txBox="1"/>
          <p:nvPr/>
        </p:nvSpPr>
        <p:spPr>
          <a:xfrm>
            <a:off x="10378440" y="3108960"/>
            <a:ext cx="1737360" cy="274320"/>
          </a:xfrm>
          <a:prstGeom prst="rect">
            <a:avLst/>
          </a:prstGeom>
          <a:noFill/>
        </p:spPr>
        <p:txBody>
          <a:bodyPr wrap="square" lIns="45720" rIns="45720" tIns="18288" bIns="18288" anchor="t">
            <a:spAutoFit/>
          </a:bodyPr>
          <a:lstStyle/>
          <a:p>
            <a:pPr algn="ctr"/>
            <a:r>
              <a:rPr sz="1400" b="1">
                <a:solidFill>
                  <a:srgbClr val="2C2C2E"/>
                </a:solidFill>
                <a:latin typeface="Helvetica Neue"/>
              </a:rPr>
              <a:t>Wohlbefinden</a:t>
            </a:r>
          </a:p>
        </p:txBody>
      </p:sp>
      <p:sp>
        <p:nvSpPr>
          <p:cNvPr id="15" name="Rounded Rectangle 14"/>
          <p:cNvSpPr/>
          <p:nvPr/>
        </p:nvSpPr>
        <p:spPr>
          <a:xfrm>
            <a:off x="822960" y="5349240"/>
            <a:ext cx="10561320" cy="960120"/>
          </a:xfrm>
          <a:prstGeom prst="roundRect">
            <a:avLst>
              <a:gd name="adj" fmla="val 18000"/>
            </a:avLst>
          </a:prstGeom>
          <a:solidFill>
            <a:srgbClr val="CFEFFF"/>
          </a:solidFill>
          <a:ln>
            <a:noFill/>
          </a:ln>
          <a:effectLst>
            <a:outerShdw blurRad="152400" dist="38100" dir="5400000"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5349240"/>
            <a:ext cx="10058400" cy="960120"/>
          </a:xfrm>
          <a:prstGeom prst="rect">
            <a:avLst/>
          </a:prstGeom>
          <a:noFill/>
        </p:spPr>
        <p:txBody>
          <a:bodyPr wrap="square" lIns="45720" rIns="45720" tIns="18288" bIns="18288" anchor="ctr">
            <a:spAutoFit/>
          </a:bodyPr>
          <a:lstStyle/>
          <a:p>
            <a:pPr algn="l"/>
            <a:r>
              <a:rPr sz="1800" b="1">
                <a:solidFill>
                  <a:srgbClr val="2C2C2E"/>
                </a:solidFill>
                <a:latin typeface="Helvetica Neue"/>
              </a:rPr>
              <a:t>„Inwiefern beeinflussen strukturelle Unterschiede im deutschen Schulsystem das Wohlbefinden von Schülerinnen und Schülern?“</a:t>
            </a:r>
          </a:p>
        </p:txBody>
      </p:sp>
      <p:sp>
        <p:nvSpPr>
          <p:cNvPr id="17" name="Rounded Rectangle 16"/>
          <p:cNvSpPr/>
          <p:nvPr/>
        </p:nvSpPr>
        <p:spPr>
          <a:xfrm>
            <a:off x="502920" y="6446520"/>
            <a:ext cx="411480" cy="109728"/>
          </a:xfrm>
          <a:prstGeom prst="roundRect">
            <a:avLst>
              <a:gd name="adj" fmla="val 50000"/>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6355080"/>
            <a:ext cx="1828800" cy="274320"/>
          </a:xfrm>
          <a:prstGeom prst="rect">
            <a:avLst/>
          </a:prstGeom>
          <a:noFill/>
        </p:spPr>
        <p:txBody>
          <a:bodyPr wrap="square" lIns="45720" rIns="45720" tIns="18288" bIns="18288" anchor="t">
            <a:spAutoFit/>
          </a:bodyPr>
          <a:lstStyle/>
          <a:p>
            <a:pPr algn="l"/>
            <a:r>
              <a:rPr sz="1100" b="0">
                <a:solidFill>
                  <a:srgbClr val="4A4A4F"/>
                </a:solidFill>
                <a:latin typeface="Helvetica Neue"/>
              </a:rPr>
              <a:t>02 / 11</a:t>
            </a:r>
          </a:p>
        </p:txBody>
      </p:sp>
      <p:sp>
        <p:nvSpPr>
          <p:cNvPr id="19" name="TextBox 18"/>
          <p:cNvSpPr txBox="1"/>
          <p:nvPr/>
        </p:nvSpPr>
        <p:spPr>
          <a:xfrm>
            <a:off x="9784080" y="6355080"/>
            <a:ext cx="2194560" cy="274320"/>
          </a:xfrm>
          <a:prstGeom prst="rect">
            <a:avLst/>
          </a:prstGeom>
          <a:noFill/>
        </p:spPr>
        <p:txBody>
          <a:bodyPr wrap="square" lIns="45720" rIns="45720" tIns="18288" bIns="18288" anchor="t">
            <a:spAutoFit/>
          </a:bodyPr>
          <a:lstStyle/>
          <a:p>
            <a:pPr algn="r"/>
            <a:r>
              <a:rPr sz="1100" b="0">
                <a:solidFill>
                  <a:srgbClr val="4A4A4F"/>
                </a:solidFill>
                <a:latin typeface="Helvetica Neue"/>
              </a:rPr>
              <a:t>Seminarfachkurs Glück</a:t>
            </a:r>
          </a:p>
        </p:txBody>
      </p:sp>
    </p:spTree>
  </p:cSld>
  <p:clrMapOvr>
    <a:masterClrMapping/>
  </p:clrMapOvr>
  <p:transition xmlns:p14="http://schemas.microsoft.com/office/powerpoint/2010/main" xmlns:mc="http://schemas.openxmlformats.org/markup-compatibility/2006" spd="med">
    <mc:AlternateContent>
      <mc:Choice Requires="p14">
        <p14:zoom/>
      </mc:Choice>
      <mc:Fallback>
        <p:fade/>
      </mc:Fallback>
    </mc:AlternateContent>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5486400" cy="320040"/>
          </a:xfrm>
          <a:prstGeom prst="rect">
            <a:avLst/>
          </a:prstGeom>
          <a:noFill/>
        </p:spPr>
        <p:txBody>
          <a:bodyPr wrap="square" lIns="45720" rIns="45720" tIns="18288" bIns="18288" anchor="t">
            <a:spAutoFit/>
          </a:bodyPr>
          <a:lstStyle/>
          <a:p>
            <a:pPr algn="l"/>
            <a:r>
              <a:rPr sz="1100" b="1">
                <a:solidFill>
                  <a:srgbClr val="4F8FBF"/>
                </a:solidFill>
                <a:latin typeface="Helvetica Neue"/>
              </a:rPr>
              <a:t>02 · GRUNDLAGEN</a:t>
            </a:r>
          </a:p>
        </p:txBody>
      </p:sp>
      <p:sp>
        <p:nvSpPr>
          <p:cNvPr id="4" name="TextBox 3"/>
          <p:cNvSpPr txBox="1"/>
          <p:nvPr/>
        </p:nvSpPr>
        <p:spPr>
          <a:xfrm>
            <a:off x="822960" y="868680"/>
            <a:ext cx="10515600" cy="914400"/>
          </a:xfrm>
          <a:prstGeom prst="rect">
            <a:avLst/>
          </a:prstGeom>
          <a:noFill/>
        </p:spPr>
        <p:txBody>
          <a:bodyPr wrap="square" lIns="45720" rIns="45720" tIns="18288" bIns="18288" anchor="t">
            <a:spAutoFit/>
          </a:bodyPr>
          <a:lstStyle/>
          <a:p>
            <a:pPr algn="l"/>
            <a:r>
              <a:rPr sz="4400" b="1">
                <a:solidFill>
                  <a:srgbClr val="2C2C2E"/>
                </a:solidFill>
                <a:latin typeface="Helvetica Neue"/>
              </a:rPr>
              <a:t>Grundlagen</a:t>
            </a:r>
          </a:p>
        </p:txBody>
      </p:sp>
      <p:sp>
        <p:nvSpPr>
          <p:cNvPr id="5" name="TextBox 4"/>
          <p:cNvSpPr txBox="1"/>
          <p:nvPr/>
        </p:nvSpPr>
        <p:spPr>
          <a:xfrm>
            <a:off x="822960" y="1691640"/>
            <a:ext cx="10515600" cy="365760"/>
          </a:xfrm>
          <a:prstGeom prst="rect">
            <a:avLst/>
          </a:prstGeom>
          <a:noFill/>
        </p:spPr>
        <p:txBody>
          <a:bodyPr wrap="square" lIns="45720" rIns="45720" tIns="18288" bIns="18288" anchor="t">
            <a:spAutoFit/>
          </a:bodyPr>
          <a:lstStyle/>
          <a:p>
            <a:pPr algn="l"/>
            <a:r>
              <a:rPr sz="1600" b="0">
                <a:solidFill>
                  <a:srgbClr val="4A4A4F"/>
                </a:solidFill>
                <a:latin typeface="Helvetica Neue"/>
              </a:rPr>
              <a:t>Drei Begriffe, die meine Arbeit zusammenhalten.</a:t>
            </a:r>
          </a:p>
        </p:txBody>
      </p:sp>
      <p:sp>
        <p:nvSpPr>
          <p:cNvPr id="6" name="Oval 5"/>
          <p:cNvSpPr/>
          <p:nvPr/>
        </p:nvSpPr>
        <p:spPr>
          <a:xfrm>
            <a:off x="5312664" y="3429000"/>
            <a:ext cx="1554480" cy="1554480"/>
          </a:xfrm>
          <a:prstGeom prst="ellipse">
            <a:avLst/>
          </a:prstGeom>
          <a:solidFill>
            <a:srgbClr val="2C2C2E"/>
          </a:solidFill>
          <a:ln>
            <a:noFill/>
          </a:ln>
          <a:effectLst>
            <a:outerShdw blurRad="177800" dist="50800" dir="5400000" rotWithShape="0">
              <a:srgbClr val="000000">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12664" y="3429000"/>
            <a:ext cx="1554480" cy="1554480"/>
          </a:xfrm>
          <a:prstGeom prst="rect">
            <a:avLst/>
          </a:prstGeom>
          <a:noFill/>
        </p:spPr>
        <p:txBody>
          <a:bodyPr wrap="square" lIns="45720" rIns="45720" tIns="18288" bIns="18288" anchor="ctr">
            <a:spAutoFit/>
          </a:bodyPr>
          <a:lstStyle/>
          <a:p>
            <a:pPr algn="ctr"/>
            <a:r>
              <a:rPr sz="1500" b="1">
                <a:solidFill>
                  <a:srgbClr val="FFFFFF"/>
                </a:solidFill>
                <a:latin typeface="Helvetica Neue"/>
              </a:rPr>
              <a:t>Schule</a:t>
            </a:r>
          </a:p>
          <a:p>
            <a:pPr algn="ctr"/>
            <a:r>
              <a:rPr sz="1500" b="1">
                <a:solidFill>
                  <a:srgbClr val="FFFFFF"/>
                </a:solidFill>
                <a:latin typeface="Helvetica Neue"/>
              </a:rPr>
              <a:t>&amp; Glück</a:t>
            </a:r>
          </a:p>
        </p:txBody>
      </p:sp>
      <p:cxnSp>
        <p:nvCxnSpPr>
          <p:cNvPr id="8" name="Connector 7"/>
          <p:cNvCxnSpPr/>
          <p:nvPr/>
        </p:nvCxnSpPr>
        <p:spPr>
          <a:xfrm>
            <a:off x="2103120" y="3383280"/>
            <a:ext cx="3986784" cy="822960"/>
          </a:xfrm>
          <a:prstGeom prst="line">
            <a:avLst/>
          </a:prstGeom>
          <a:ln w="19050">
            <a:solidFill>
              <a:srgbClr val="D8D8DE"/>
            </a:solidFill>
            <a:prstDash val="dash"/>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48640" y="2537460"/>
            <a:ext cx="3108960" cy="1691640"/>
          </a:xfrm>
          <a:prstGeom prst="roundRect">
            <a:avLst>
              <a:gd name="adj" fmla="val 18000"/>
            </a:avLst>
          </a:prstGeom>
          <a:solidFill>
            <a:srgbClr val="CFEFFF"/>
          </a:solidFill>
          <a:ln>
            <a:no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702052"/>
            <a:ext cx="2651760" cy="1362456"/>
          </a:xfrm>
          <a:prstGeom prst="rect">
            <a:avLst/>
          </a:prstGeom>
          <a:noFill/>
        </p:spPr>
        <p:txBody>
          <a:bodyPr wrap="square" lIns="45720" rIns="45720" anchor="t">
            <a:spAutoFit/>
          </a:bodyPr>
          <a:lstStyle/>
          <a:p>
            <a:pPr algn="l">
              <a:lnSpc>
                <a:spcPct val="110000"/>
              </a:lnSpc>
              <a:spcBef>
                <a:spcPts val="0"/>
              </a:spcBef>
              <a:spcAft>
                <a:spcPts val="400"/>
              </a:spcAft>
            </a:pPr>
            <a:r>
              <a:rPr sz="1800" b="1">
                <a:solidFill>
                  <a:srgbClr val="2C2C2E"/>
                </a:solidFill>
                <a:latin typeface="Helvetica Neue"/>
              </a:rPr>
              <a:t>Strukturmerkmale</a:t>
            </a:r>
          </a:p>
          <a:p>
            <a:pPr algn="l">
              <a:lnSpc>
                <a:spcPct val="115000"/>
              </a:lnSpc>
              <a:spcBef>
                <a:spcPts val="0"/>
              </a:spcBef>
              <a:spcAft>
                <a:spcPts val="100"/>
              </a:spcAft>
            </a:pPr>
            <a:r>
              <a:rPr sz="1200" b="0">
                <a:solidFill>
                  <a:srgbClr val="4A4A4F"/>
                </a:solidFill>
                <a:latin typeface="Helvetica Neue"/>
              </a:rPr>
              <a:t>• Schulformen</a:t>
            </a:r>
          </a:p>
          <a:p>
            <a:pPr algn="l">
              <a:lnSpc>
                <a:spcPct val="115000"/>
              </a:lnSpc>
              <a:spcBef>
                <a:spcPts val="0"/>
              </a:spcBef>
              <a:spcAft>
                <a:spcPts val="100"/>
              </a:spcAft>
            </a:pPr>
            <a:r>
              <a:rPr sz="1200" b="0">
                <a:solidFill>
                  <a:srgbClr val="4A4A4F"/>
                </a:solidFill>
                <a:latin typeface="Helvetica Neue"/>
              </a:rPr>
              <a:t>• Notensystem</a:t>
            </a:r>
          </a:p>
          <a:p>
            <a:pPr algn="l">
              <a:lnSpc>
                <a:spcPct val="115000"/>
              </a:lnSpc>
              <a:spcBef>
                <a:spcPts val="0"/>
              </a:spcBef>
              <a:spcAft>
                <a:spcPts val="100"/>
              </a:spcAft>
            </a:pPr>
            <a:r>
              <a:rPr sz="1200" b="0">
                <a:solidFill>
                  <a:srgbClr val="4A4A4F"/>
                </a:solidFill>
                <a:latin typeface="Helvetica Neue"/>
              </a:rPr>
              <a:t>• Versetzungen</a:t>
            </a:r>
          </a:p>
          <a:p>
            <a:pPr algn="l">
              <a:lnSpc>
                <a:spcPct val="115000"/>
              </a:lnSpc>
              <a:spcBef>
                <a:spcPts val="0"/>
              </a:spcBef>
              <a:spcAft>
                <a:spcPts val="100"/>
              </a:spcAft>
            </a:pPr>
            <a:r>
              <a:rPr sz="1200" b="0">
                <a:solidFill>
                  <a:srgbClr val="4A4A4F"/>
                </a:solidFill>
                <a:latin typeface="Helvetica Neue"/>
              </a:rPr>
              <a:t>• Abschlüsse</a:t>
            </a:r>
          </a:p>
        </p:txBody>
      </p:sp>
      <p:cxnSp>
        <p:nvCxnSpPr>
          <p:cNvPr id="11" name="Connector 10"/>
          <p:cNvCxnSpPr/>
          <p:nvPr/>
        </p:nvCxnSpPr>
        <p:spPr>
          <a:xfrm flipH="1">
            <a:off x="6089904" y="3383280"/>
            <a:ext cx="3968496" cy="822960"/>
          </a:xfrm>
          <a:prstGeom prst="line">
            <a:avLst/>
          </a:prstGeom>
          <a:ln w="19050">
            <a:solidFill>
              <a:srgbClr val="D8D8DE"/>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503920" y="2537460"/>
            <a:ext cx="3108960" cy="1691640"/>
          </a:xfrm>
          <a:prstGeom prst="roundRect">
            <a:avLst>
              <a:gd name="adj" fmla="val 18000"/>
            </a:avLst>
          </a:prstGeom>
          <a:solidFill>
            <a:srgbClr val="FFD9E8"/>
          </a:solidFill>
          <a:ln>
            <a:no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32520" y="2702052"/>
            <a:ext cx="2651760" cy="1362456"/>
          </a:xfrm>
          <a:prstGeom prst="rect">
            <a:avLst/>
          </a:prstGeom>
          <a:noFill/>
        </p:spPr>
        <p:txBody>
          <a:bodyPr wrap="square" lIns="45720" rIns="45720" anchor="t">
            <a:spAutoFit/>
          </a:bodyPr>
          <a:lstStyle/>
          <a:p>
            <a:pPr algn="l">
              <a:lnSpc>
                <a:spcPct val="110000"/>
              </a:lnSpc>
              <a:spcBef>
                <a:spcPts val="0"/>
              </a:spcBef>
              <a:spcAft>
                <a:spcPts val="400"/>
              </a:spcAft>
            </a:pPr>
            <a:r>
              <a:rPr sz="1800" b="1">
                <a:solidFill>
                  <a:srgbClr val="2C2C2E"/>
                </a:solidFill>
                <a:latin typeface="Helvetica Neue"/>
              </a:rPr>
              <a:t>Wohlbefinden</a:t>
            </a:r>
          </a:p>
          <a:p>
            <a:pPr algn="l">
              <a:lnSpc>
                <a:spcPct val="115000"/>
              </a:lnSpc>
              <a:spcBef>
                <a:spcPts val="0"/>
              </a:spcBef>
              <a:spcAft>
                <a:spcPts val="100"/>
              </a:spcAft>
            </a:pPr>
            <a:r>
              <a:rPr sz="1200" b="0">
                <a:solidFill>
                  <a:srgbClr val="4A4A4F"/>
                </a:solidFill>
                <a:latin typeface="Helvetica Neue"/>
              </a:rPr>
              <a:t>• psychische Gesundheit</a:t>
            </a:r>
          </a:p>
          <a:p>
            <a:pPr algn="l">
              <a:lnSpc>
                <a:spcPct val="115000"/>
              </a:lnSpc>
              <a:spcBef>
                <a:spcPts val="0"/>
              </a:spcBef>
              <a:spcAft>
                <a:spcPts val="100"/>
              </a:spcAft>
            </a:pPr>
            <a:r>
              <a:rPr sz="1200" b="0">
                <a:solidFill>
                  <a:srgbClr val="4A4A4F"/>
                </a:solidFill>
                <a:latin typeface="Helvetica Neue"/>
              </a:rPr>
              <a:t>• soziale Beziehungen</a:t>
            </a:r>
          </a:p>
          <a:p>
            <a:pPr algn="l">
              <a:lnSpc>
                <a:spcPct val="115000"/>
              </a:lnSpc>
              <a:spcBef>
                <a:spcPts val="0"/>
              </a:spcBef>
              <a:spcAft>
                <a:spcPts val="100"/>
              </a:spcAft>
            </a:pPr>
            <a:r>
              <a:rPr sz="1200" b="0">
                <a:solidFill>
                  <a:srgbClr val="4A4A4F"/>
                </a:solidFill>
                <a:latin typeface="Helvetica Neue"/>
              </a:rPr>
              <a:t>• Lebenszufriedenheit</a:t>
            </a:r>
          </a:p>
        </p:txBody>
      </p:sp>
      <p:cxnSp>
        <p:nvCxnSpPr>
          <p:cNvPr id="14" name="Connector 13"/>
          <p:cNvCxnSpPr/>
          <p:nvPr/>
        </p:nvCxnSpPr>
        <p:spPr>
          <a:xfrm flipV="1">
            <a:off x="6089904" y="4206240"/>
            <a:ext cx="0" cy="1691640"/>
          </a:xfrm>
          <a:prstGeom prst="line">
            <a:avLst/>
          </a:prstGeom>
          <a:ln w="19050">
            <a:solidFill>
              <a:srgbClr val="D8D8DE"/>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535424" y="5052060"/>
            <a:ext cx="3108960" cy="1691640"/>
          </a:xfrm>
          <a:prstGeom prst="roundRect">
            <a:avLst>
              <a:gd name="adj" fmla="val 18000"/>
            </a:avLst>
          </a:prstGeom>
          <a:solidFill>
            <a:srgbClr val="FFF7C7"/>
          </a:solidFill>
          <a:ln>
            <a:no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64024" y="5216652"/>
            <a:ext cx="2651760" cy="1362456"/>
          </a:xfrm>
          <a:prstGeom prst="rect">
            <a:avLst/>
          </a:prstGeom>
          <a:noFill/>
        </p:spPr>
        <p:txBody>
          <a:bodyPr wrap="square" lIns="45720" rIns="45720" anchor="t">
            <a:spAutoFit/>
          </a:bodyPr>
          <a:lstStyle/>
          <a:p>
            <a:pPr algn="l">
              <a:lnSpc>
                <a:spcPct val="110000"/>
              </a:lnSpc>
              <a:spcBef>
                <a:spcPts val="0"/>
              </a:spcBef>
              <a:spcAft>
                <a:spcPts val="400"/>
              </a:spcAft>
            </a:pPr>
            <a:r>
              <a:rPr sz="1800" b="1">
                <a:solidFill>
                  <a:srgbClr val="2C2C2E"/>
                </a:solidFill>
                <a:latin typeface="Helvetica Neue"/>
              </a:rPr>
              <a:t>Bildungsgerechtigkeit</a:t>
            </a:r>
          </a:p>
          <a:p>
            <a:pPr algn="l">
              <a:lnSpc>
                <a:spcPct val="115000"/>
              </a:lnSpc>
              <a:spcBef>
                <a:spcPts val="0"/>
              </a:spcBef>
              <a:spcAft>
                <a:spcPts val="100"/>
              </a:spcAft>
            </a:pPr>
            <a:r>
              <a:rPr sz="1200" b="0">
                <a:solidFill>
                  <a:srgbClr val="4A4A4F"/>
                </a:solidFill>
                <a:latin typeface="Helvetica Neue"/>
              </a:rPr>
              <a:t>• faire Chancen unabhängig</a:t>
            </a:r>
          </a:p>
          <a:p>
            <a:pPr algn="l">
              <a:lnSpc>
                <a:spcPct val="115000"/>
              </a:lnSpc>
              <a:spcBef>
                <a:spcPts val="0"/>
              </a:spcBef>
              <a:spcAft>
                <a:spcPts val="100"/>
              </a:spcAft>
            </a:pPr>
            <a:r>
              <a:rPr sz="1200" b="0">
                <a:solidFill>
                  <a:srgbClr val="4A4A4F"/>
                </a:solidFill>
                <a:latin typeface="Helvetica Neue"/>
              </a:rPr>
              <a:t>• von sozialer Herkunft</a:t>
            </a:r>
          </a:p>
        </p:txBody>
      </p:sp>
      <p:sp>
        <p:nvSpPr>
          <p:cNvPr id="17" name="Rounded Rectangle 16"/>
          <p:cNvSpPr/>
          <p:nvPr/>
        </p:nvSpPr>
        <p:spPr>
          <a:xfrm>
            <a:off x="502920" y="6446520"/>
            <a:ext cx="411480" cy="109728"/>
          </a:xfrm>
          <a:prstGeom prst="roundRect">
            <a:avLst>
              <a:gd name="adj" fmla="val 50000"/>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6355080"/>
            <a:ext cx="1828800" cy="274320"/>
          </a:xfrm>
          <a:prstGeom prst="rect">
            <a:avLst/>
          </a:prstGeom>
          <a:noFill/>
        </p:spPr>
        <p:txBody>
          <a:bodyPr wrap="square" lIns="45720" rIns="45720" tIns="18288" bIns="18288" anchor="t">
            <a:spAutoFit/>
          </a:bodyPr>
          <a:lstStyle/>
          <a:p>
            <a:pPr algn="l"/>
            <a:r>
              <a:rPr sz="1100" b="0">
                <a:solidFill>
                  <a:srgbClr val="4A4A4F"/>
                </a:solidFill>
                <a:latin typeface="Helvetica Neue"/>
              </a:rPr>
              <a:t>03 / 11</a:t>
            </a:r>
          </a:p>
        </p:txBody>
      </p:sp>
      <p:sp>
        <p:nvSpPr>
          <p:cNvPr id="19" name="TextBox 18"/>
          <p:cNvSpPr txBox="1"/>
          <p:nvPr/>
        </p:nvSpPr>
        <p:spPr>
          <a:xfrm>
            <a:off x="9784080" y="6355080"/>
            <a:ext cx="2194560" cy="274320"/>
          </a:xfrm>
          <a:prstGeom prst="rect">
            <a:avLst/>
          </a:prstGeom>
          <a:noFill/>
        </p:spPr>
        <p:txBody>
          <a:bodyPr wrap="square" lIns="45720" rIns="45720" tIns="18288" bIns="18288" anchor="t">
            <a:spAutoFit/>
          </a:bodyPr>
          <a:lstStyle/>
          <a:p>
            <a:pPr algn="r"/>
            <a:r>
              <a:rPr sz="1100" b="0">
                <a:solidFill>
                  <a:srgbClr val="4A4A4F"/>
                </a:solidFill>
                <a:latin typeface="Helvetica Neue"/>
              </a:rPr>
              <a:t>Seminarfachkurs Glück</a:t>
            </a:r>
          </a:p>
        </p:txBody>
      </p:sp>
    </p:spTree>
  </p:cSld>
  <p:clrMapOvr>
    <a:masterClrMapping/>
  </p:clrMapOvr>
  <p:transition xmlns:p14="http://schemas.microsoft.com/office/powerpoint/2010/main" xmlns:mc="http://schemas.openxmlformats.org/markup-compatibility/2006" spd="med">
    <p:push dir="l"/>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1371600"/>
            <a:ext cx="3474720" cy="347472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5486400" cy="320040"/>
          </a:xfrm>
          <a:prstGeom prst="rect">
            <a:avLst/>
          </a:prstGeom>
          <a:noFill/>
        </p:spPr>
        <p:txBody>
          <a:bodyPr wrap="square" lIns="45720" rIns="45720" tIns="18288" bIns="18288" anchor="t">
            <a:spAutoFit/>
          </a:bodyPr>
          <a:lstStyle/>
          <a:p>
            <a:pPr algn="l"/>
            <a:r>
              <a:rPr sz="1100" b="1">
                <a:solidFill>
                  <a:srgbClr val="4F8FBF"/>
                </a:solidFill>
                <a:latin typeface="Helvetica Neue"/>
              </a:rPr>
              <a:t>03 · ÜBERSICHT</a:t>
            </a:r>
          </a:p>
        </p:txBody>
      </p:sp>
      <p:sp>
        <p:nvSpPr>
          <p:cNvPr id="5" name="TextBox 4"/>
          <p:cNvSpPr txBox="1"/>
          <p:nvPr/>
        </p:nvSpPr>
        <p:spPr>
          <a:xfrm>
            <a:off x="822960" y="868680"/>
            <a:ext cx="10515600" cy="914400"/>
          </a:xfrm>
          <a:prstGeom prst="rect">
            <a:avLst/>
          </a:prstGeom>
          <a:noFill/>
        </p:spPr>
        <p:txBody>
          <a:bodyPr wrap="square" lIns="45720" rIns="45720" tIns="18288" bIns="18288" anchor="t">
            <a:spAutoFit/>
          </a:bodyPr>
          <a:lstStyle/>
          <a:p>
            <a:pPr algn="l"/>
            <a:r>
              <a:rPr sz="4400" b="1">
                <a:solidFill>
                  <a:srgbClr val="2C2C2E"/>
                </a:solidFill>
                <a:latin typeface="Helvetica Neue"/>
              </a:rPr>
              <a:t>Das deutsche Schulsystem</a:t>
            </a:r>
          </a:p>
        </p:txBody>
      </p:sp>
      <p:sp>
        <p:nvSpPr>
          <p:cNvPr id="6" name="TextBox 5"/>
          <p:cNvSpPr txBox="1"/>
          <p:nvPr/>
        </p:nvSpPr>
        <p:spPr>
          <a:xfrm>
            <a:off x="822960" y="1691640"/>
            <a:ext cx="10515600" cy="365760"/>
          </a:xfrm>
          <a:prstGeom prst="rect">
            <a:avLst/>
          </a:prstGeom>
          <a:noFill/>
        </p:spPr>
        <p:txBody>
          <a:bodyPr wrap="square" lIns="45720" rIns="45720" tIns="18288" bIns="18288" anchor="t">
            <a:spAutoFit/>
          </a:bodyPr>
          <a:lstStyle/>
          <a:p>
            <a:pPr algn="l"/>
            <a:r>
              <a:rPr sz="1600" b="0">
                <a:solidFill>
                  <a:srgbClr val="4A4A4F"/>
                </a:solidFill>
                <a:latin typeface="Helvetica Neue"/>
              </a:rPr>
              <a:t>Mehrgliedrigkeit – fünf Wege nach der Grundschule.</a:t>
            </a:r>
          </a:p>
        </p:txBody>
      </p:sp>
      <p:sp>
        <p:nvSpPr>
          <p:cNvPr id="7" name="Rounded Rectangle 6"/>
          <p:cNvSpPr/>
          <p:nvPr/>
        </p:nvSpPr>
        <p:spPr>
          <a:xfrm>
            <a:off x="603504" y="2377440"/>
            <a:ext cx="2062886" cy="3566160"/>
          </a:xfrm>
          <a:prstGeom prst="roundRect">
            <a:avLst>
              <a:gd name="adj" fmla="val 8000"/>
            </a:avLst>
          </a:prstGeom>
          <a:solidFill>
            <a:srgbClr val="FFFFFF"/>
          </a:solidFill>
          <a:ln w="9525">
            <a:solidFill>
              <a:srgbClr val="D8D8DE"/>
            </a:solid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03504" y="2377440"/>
            <a:ext cx="2062886" cy="960120"/>
          </a:xfrm>
          <a:prstGeom prst="roundRect">
            <a:avLst>
              <a:gd name="adj" fmla="val 10000"/>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3504" y="2971800"/>
            <a:ext cx="2062886" cy="365760"/>
          </a:xfrm>
          <a:prstGeom prst="rect">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69187" y="2560320"/>
            <a:ext cx="731520" cy="731520"/>
          </a:xfrm>
          <a:prstGeom prst="ellipse">
            <a:avLst/>
          </a:prstGeom>
          <a:solidFill>
            <a:srgbClr val="FFFFFF"/>
          </a:solidFill>
          <a:ln>
            <a:noFill/>
          </a:ln>
          <a:effectLst>
            <a:outerShdw blurRad="10160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69187" y="2560320"/>
            <a:ext cx="731520" cy="731520"/>
          </a:xfrm>
          <a:prstGeom prst="rect">
            <a:avLst/>
          </a:prstGeom>
          <a:noFill/>
        </p:spPr>
        <p:txBody>
          <a:bodyPr wrap="square" lIns="45720" rIns="45720" tIns="18288" bIns="18288" anchor="ctr">
            <a:spAutoFit/>
          </a:bodyPr>
          <a:lstStyle/>
          <a:p>
            <a:pPr algn="ctr"/>
            <a:r>
              <a:rPr sz="2400" b="1">
                <a:solidFill>
                  <a:srgbClr val="2C2C2E"/>
                </a:solidFill>
                <a:latin typeface="Helvetica Neue"/>
              </a:rPr>
              <a:t>🎓</a:t>
            </a:r>
          </a:p>
        </p:txBody>
      </p:sp>
      <p:sp>
        <p:nvSpPr>
          <p:cNvPr id="12" name="TextBox 11"/>
          <p:cNvSpPr txBox="1"/>
          <p:nvPr/>
        </p:nvSpPr>
        <p:spPr>
          <a:xfrm>
            <a:off x="694944" y="3474720"/>
            <a:ext cx="1880006" cy="457200"/>
          </a:xfrm>
          <a:prstGeom prst="rect">
            <a:avLst/>
          </a:prstGeom>
          <a:noFill/>
        </p:spPr>
        <p:txBody>
          <a:bodyPr wrap="square" lIns="45720" rIns="45720" tIns="18288" bIns="18288" anchor="t">
            <a:spAutoFit/>
          </a:bodyPr>
          <a:lstStyle/>
          <a:p>
            <a:pPr algn="ctr"/>
            <a:r>
              <a:rPr sz="1800" b="1">
                <a:solidFill>
                  <a:srgbClr val="2C2C2E"/>
                </a:solidFill>
                <a:latin typeface="Helvetica Neue"/>
              </a:rPr>
              <a:t>Gymnasium</a:t>
            </a:r>
          </a:p>
        </p:txBody>
      </p:sp>
      <p:sp>
        <p:nvSpPr>
          <p:cNvPr id="13" name="TextBox 12"/>
          <p:cNvSpPr txBox="1"/>
          <p:nvPr/>
        </p:nvSpPr>
        <p:spPr>
          <a:xfrm>
            <a:off x="768096" y="3977640"/>
            <a:ext cx="1733702" cy="1874520"/>
          </a:xfrm>
          <a:prstGeom prst="rect">
            <a:avLst/>
          </a:prstGeom>
          <a:noFill/>
        </p:spPr>
        <p:txBody>
          <a:bodyPr wrap="square" lIns="45720" rIns="45720" tIns="18288" bIns="18288" anchor="t">
            <a:spAutoFit/>
          </a:bodyPr>
          <a:lstStyle/>
          <a:p>
            <a:pPr algn="ctr"/>
            <a:r>
              <a:rPr sz="1200" b="0">
                <a:solidFill>
                  <a:srgbClr val="4A4A4F"/>
                </a:solidFill>
                <a:latin typeface="Helvetica Neue"/>
              </a:rPr>
              <a:t>Allg. Hochschulreife · Abitur · stärker theoretisch · hohe Anforderungen.</a:t>
            </a:r>
          </a:p>
        </p:txBody>
      </p:sp>
      <p:sp>
        <p:nvSpPr>
          <p:cNvPr id="14" name="Rounded Rectangle 13"/>
          <p:cNvSpPr/>
          <p:nvPr/>
        </p:nvSpPr>
        <p:spPr>
          <a:xfrm>
            <a:off x="2830982" y="2377440"/>
            <a:ext cx="2062886" cy="3566160"/>
          </a:xfrm>
          <a:prstGeom prst="roundRect">
            <a:avLst>
              <a:gd name="adj" fmla="val 8000"/>
            </a:avLst>
          </a:prstGeom>
          <a:solidFill>
            <a:srgbClr val="FFFFFF"/>
          </a:solidFill>
          <a:ln w="9525">
            <a:solidFill>
              <a:srgbClr val="D8D8DE"/>
            </a:solid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830982" y="2377440"/>
            <a:ext cx="2062886" cy="960120"/>
          </a:xfrm>
          <a:prstGeom prst="roundRect">
            <a:avLst>
              <a:gd name="adj" fmla="val 10000"/>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30982" y="2971800"/>
            <a:ext cx="2062886" cy="365760"/>
          </a:xfrm>
          <a:prstGeom prst="rect">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496665" y="2560320"/>
            <a:ext cx="731520" cy="731520"/>
          </a:xfrm>
          <a:prstGeom prst="ellipse">
            <a:avLst/>
          </a:prstGeom>
          <a:solidFill>
            <a:srgbClr val="FFFFFF"/>
          </a:solidFill>
          <a:ln>
            <a:noFill/>
          </a:ln>
          <a:effectLst>
            <a:outerShdw blurRad="10160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96665" y="2560320"/>
            <a:ext cx="731520" cy="731520"/>
          </a:xfrm>
          <a:prstGeom prst="rect">
            <a:avLst/>
          </a:prstGeom>
          <a:noFill/>
        </p:spPr>
        <p:txBody>
          <a:bodyPr wrap="square" lIns="45720" rIns="45720" tIns="18288" bIns="18288" anchor="ctr">
            <a:spAutoFit/>
          </a:bodyPr>
          <a:lstStyle/>
          <a:p>
            <a:pPr algn="ctr"/>
            <a:r>
              <a:rPr sz="2400" b="1">
                <a:solidFill>
                  <a:srgbClr val="2C2C2E"/>
                </a:solidFill>
                <a:latin typeface="Helvetica Neue"/>
              </a:rPr>
              <a:t>📘</a:t>
            </a:r>
          </a:p>
        </p:txBody>
      </p:sp>
      <p:sp>
        <p:nvSpPr>
          <p:cNvPr id="19" name="TextBox 18"/>
          <p:cNvSpPr txBox="1"/>
          <p:nvPr/>
        </p:nvSpPr>
        <p:spPr>
          <a:xfrm>
            <a:off x="2922422" y="3474720"/>
            <a:ext cx="1880006" cy="457200"/>
          </a:xfrm>
          <a:prstGeom prst="rect">
            <a:avLst/>
          </a:prstGeom>
          <a:noFill/>
        </p:spPr>
        <p:txBody>
          <a:bodyPr wrap="square" lIns="45720" rIns="45720" tIns="18288" bIns="18288" anchor="t">
            <a:spAutoFit/>
          </a:bodyPr>
          <a:lstStyle/>
          <a:p>
            <a:pPr algn="ctr"/>
            <a:r>
              <a:rPr sz="1800" b="1">
                <a:solidFill>
                  <a:srgbClr val="2C2C2E"/>
                </a:solidFill>
                <a:latin typeface="Helvetica Neue"/>
              </a:rPr>
              <a:t>Realschule</a:t>
            </a:r>
          </a:p>
        </p:txBody>
      </p:sp>
      <p:sp>
        <p:nvSpPr>
          <p:cNvPr id="20" name="TextBox 19"/>
          <p:cNvSpPr txBox="1"/>
          <p:nvPr/>
        </p:nvSpPr>
        <p:spPr>
          <a:xfrm>
            <a:off x="2995574" y="3977640"/>
            <a:ext cx="1733702" cy="1874520"/>
          </a:xfrm>
          <a:prstGeom prst="rect">
            <a:avLst/>
          </a:prstGeom>
          <a:noFill/>
        </p:spPr>
        <p:txBody>
          <a:bodyPr wrap="square" lIns="45720" rIns="45720" tIns="18288" bIns="18288" anchor="t">
            <a:spAutoFit/>
          </a:bodyPr>
          <a:lstStyle/>
          <a:p>
            <a:pPr algn="ctr"/>
            <a:r>
              <a:rPr sz="1200" b="0">
                <a:solidFill>
                  <a:srgbClr val="4A4A4F"/>
                </a:solidFill>
                <a:latin typeface="Helvetica Neue"/>
              </a:rPr>
              <a:t>Mittlerer Schulabschluss · Mischung aus Theorie &amp; Praxis · Brücke zu Beruf oder weiterführender Schule.</a:t>
            </a:r>
          </a:p>
        </p:txBody>
      </p:sp>
      <p:sp>
        <p:nvSpPr>
          <p:cNvPr id="21" name="Rounded Rectangle 20"/>
          <p:cNvSpPr/>
          <p:nvPr/>
        </p:nvSpPr>
        <p:spPr>
          <a:xfrm>
            <a:off x="5058460" y="2377440"/>
            <a:ext cx="2062886" cy="3566160"/>
          </a:xfrm>
          <a:prstGeom prst="roundRect">
            <a:avLst>
              <a:gd name="adj" fmla="val 8000"/>
            </a:avLst>
          </a:prstGeom>
          <a:solidFill>
            <a:srgbClr val="FFFFFF"/>
          </a:solidFill>
          <a:ln w="9525">
            <a:solidFill>
              <a:srgbClr val="D8D8DE"/>
            </a:solid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058460" y="2377440"/>
            <a:ext cx="2062886" cy="960120"/>
          </a:xfrm>
          <a:prstGeom prst="roundRect">
            <a:avLst>
              <a:gd name="adj" fmla="val 10000"/>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58460" y="2971800"/>
            <a:ext cx="2062886" cy="365760"/>
          </a:xfrm>
          <a:prstGeom prst="rect">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24143" y="2560320"/>
            <a:ext cx="731520" cy="731520"/>
          </a:xfrm>
          <a:prstGeom prst="ellipse">
            <a:avLst/>
          </a:prstGeom>
          <a:solidFill>
            <a:srgbClr val="FFFFFF"/>
          </a:solidFill>
          <a:ln>
            <a:noFill/>
          </a:ln>
          <a:effectLst>
            <a:outerShdw blurRad="10160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24143" y="2560320"/>
            <a:ext cx="731520" cy="731520"/>
          </a:xfrm>
          <a:prstGeom prst="rect">
            <a:avLst/>
          </a:prstGeom>
          <a:noFill/>
        </p:spPr>
        <p:txBody>
          <a:bodyPr wrap="square" lIns="45720" rIns="45720" tIns="18288" bIns="18288" anchor="ctr">
            <a:spAutoFit/>
          </a:bodyPr>
          <a:lstStyle/>
          <a:p>
            <a:pPr algn="ctr"/>
            <a:r>
              <a:rPr sz="2400" b="1">
                <a:solidFill>
                  <a:srgbClr val="2C2C2E"/>
                </a:solidFill>
                <a:latin typeface="Helvetica Neue"/>
              </a:rPr>
              <a:t>🔧</a:t>
            </a:r>
          </a:p>
        </p:txBody>
      </p:sp>
      <p:sp>
        <p:nvSpPr>
          <p:cNvPr id="26" name="TextBox 25"/>
          <p:cNvSpPr txBox="1"/>
          <p:nvPr/>
        </p:nvSpPr>
        <p:spPr>
          <a:xfrm>
            <a:off x="5149900" y="3474720"/>
            <a:ext cx="1880006" cy="457200"/>
          </a:xfrm>
          <a:prstGeom prst="rect">
            <a:avLst/>
          </a:prstGeom>
          <a:noFill/>
        </p:spPr>
        <p:txBody>
          <a:bodyPr wrap="square" lIns="45720" rIns="45720" tIns="18288" bIns="18288" anchor="t">
            <a:spAutoFit/>
          </a:bodyPr>
          <a:lstStyle/>
          <a:p>
            <a:pPr algn="ctr"/>
            <a:r>
              <a:rPr sz="1800" b="1">
                <a:solidFill>
                  <a:srgbClr val="2C2C2E"/>
                </a:solidFill>
                <a:latin typeface="Helvetica Neue"/>
              </a:rPr>
              <a:t>Hauptschule</a:t>
            </a:r>
          </a:p>
        </p:txBody>
      </p:sp>
      <p:sp>
        <p:nvSpPr>
          <p:cNvPr id="27" name="TextBox 26"/>
          <p:cNvSpPr txBox="1"/>
          <p:nvPr/>
        </p:nvSpPr>
        <p:spPr>
          <a:xfrm>
            <a:off x="5223052" y="3977640"/>
            <a:ext cx="1733702" cy="1874520"/>
          </a:xfrm>
          <a:prstGeom prst="rect">
            <a:avLst/>
          </a:prstGeom>
          <a:noFill/>
        </p:spPr>
        <p:txBody>
          <a:bodyPr wrap="square" lIns="45720" rIns="45720" tIns="18288" bIns="18288" anchor="t">
            <a:spAutoFit/>
          </a:bodyPr>
          <a:lstStyle/>
          <a:p>
            <a:pPr algn="ctr"/>
            <a:r>
              <a:rPr sz="1200" b="0">
                <a:solidFill>
                  <a:srgbClr val="4A4A4F"/>
                </a:solidFill>
                <a:latin typeface="Helvetica Neue"/>
              </a:rPr>
              <a:t>Praktisch-beruflich · Zugang zu Ausbildung · in vielen Bundesländern integriert oder ersetzt.</a:t>
            </a:r>
          </a:p>
        </p:txBody>
      </p:sp>
      <p:sp>
        <p:nvSpPr>
          <p:cNvPr id="28" name="Rounded Rectangle 27"/>
          <p:cNvSpPr/>
          <p:nvPr/>
        </p:nvSpPr>
        <p:spPr>
          <a:xfrm>
            <a:off x="7285938" y="2377440"/>
            <a:ext cx="2062886" cy="3566160"/>
          </a:xfrm>
          <a:prstGeom prst="roundRect">
            <a:avLst>
              <a:gd name="adj" fmla="val 8000"/>
            </a:avLst>
          </a:prstGeom>
          <a:solidFill>
            <a:srgbClr val="FFFFFF"/>
          </a:solidFill>
          <a:ln w="9525">
            <a:solidFill>
              <a:srgbClr val="D8D8DE"/>
            </a:solid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285938" y="2377440"/>
            <a:ext cx="2062886" cy="960120"/>
          </a:xfrm>
          <a:prstGeom prst="roundRect">
            <a:avLst>
              <a:gd name="adj" fmla="val 10000"/>
            </a:avLst>
          </a:prstGeom>
          <a:solidFill>
            <a:srgbClr val="CDEF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285938" y="2971800"/>
            <a:ext cx="2062886" cy="365760"/>
          </a:xfrm>
          <a:prstGeom prst="rect">
            <a:avLst/>
          </a:prstGeom>
          <a:solidFill>
            <a:srgbClr val="CDEF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51621" y="2560320"/>
            <a:ext cx="731520" cy="731520"/>
          </a:xfrm>
          <a:prstGeom prst="ellipse">
            <a:avLst/>
          </a:prstGeom>
          <a:solidFill>
            <a:srgbClr val="FFFFFF"/>
          </a:solidFill>
          <a:ln>
            <a:noFill/>
          </a:ln>
          <a:effectLst>
            <a:outerShdw blurRad="10160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1621" y="2560320"/>
            <a:ext cx="731520" cy="731520"/>
          </a:xfrm>
          <a:prstGeom prst="rect">
            <a:avLst/>
          </a:prstGeom>
          <a:noFill/>
        </p:spPr>
        <p:txBody>
          <a:bodyPr wrap="square" lIns="45720" rIns="45720" tIns="18288" bIns="18288" anchor="ctr">
            <a:spAutoFit/>
          </a:bodyPr>
          <a:lstStyle/>
          <a:p>
            <a:pPr algn="ctr"/>
            <a:r>
              <a:rPr sz="2400" b="1">
                <a:solidFill>
                  <a:srgbClr val="2C2C2E"/>
                </a:solidFill>
                <a:latin typeface="Helvetica Neue"/>
              </a:rPr>
              <a:t>🤝</a:t>
            </a:r>
          </a:p>
        </p:txBody>
      </p:sp>
      <p:sp>
        <p:nvSpPr>
          <p:cNvPr id="33" name="TextBox 32"/>
          <p:cNvSpPr txBox="1"/>
          <p:nvPr/>
        </p:nvSpPr>
        <p:spPr>
          <a:xfrm>
            <a:off x="7377378" y="3474720"/>
            <a:ext cx="1880006" cy="457200"/>
          </a:xfrm>
          <a:prstGeom prst="rect">
            <a:avLst/>
          </a:prstGeom>
          <a:noFill/>
        </p:spPr>
        <p:txBody>
          <a:bodyPr wrap="square" lIns="45720" rIns="45720" tIns="18288" bIns="18288" anchor="t">
            <a:spAutoFit/>
          </a:bodyPr>
          <a:lstStyle/>
          <a:p>
            <a:pPr algn="ctr"/>
            <a:r>
              <a:rPr sz="1800" b="1">
                <a:solidFill>
                  <a:srgbClr val="2C2C2E"/>
                </a:solidFill>
                <a:latin typeface="Helvetica Neue"/>
              </a:rPr>
              <a:t>Gesamtschule</a:t>
            </a:r>
          </a:p>
        </p:txBody>
      </p:sp>
      <p:sp>
        <p:nvSpPr>
          <p:cNvPr id="34" name="TextBox 33"/>
          <p:cNvSpPr txBox="1"/>
          <p:nvPr/>
        </p:nvSpPr>
        <p:spPr>
          <a:xfrm>
            <a:off x="7450530" y="3977640"/>
            <a:ext cx="1733702" cy="1874520"/>
          </a:xfrm>
          <a:prstGeom prst="rect">
            <a:avLst/>
          </a:prstGeom>
          <a:noFill/>
        </p:spPr>
        <p:txBody>
          <a:bodyPr wrap="square" lIns="45720" rIns="45720" tIns="18288" bIns="18288" anchor="t">
            <a:spAutoFit/>
          </a:bodyPr>
          <a:lstStyle/>
          <a:p>
            <a:pPr algn="ctr"/>
            <a:r>
              <a:rPr sz="1200" b="0">
                <a:solidFill>
                  <a:srgbClr val="4A4A4F"/>
                </a:solidFill>
                <a:latin typeface="Helvetica Neue"/>
              </a:rPr>
              <a:t>Längeres gemeinsames Lernen · mehrere Abschlüsse möglich · Fokus auf individuelle Förderung.</a:t>
            </a:r>
          </a:p>
        </p:txBody>
      </p:sp>
      <p:sp>
        <p:nvSpPr>
          <p:cNvPr id="35" name="Rounded Rectangle 34"/>
          <p:cNvSpPr/>
          <p:nvPr/>
        </p:nvSpPr>
        <p:spPr>
          <a:xfrm>
            <a:off x="9513416" y="2377440"/>
            <a:ext cx="2062886" cy="3566160"/>
          </a:xfrm>
          <a:prstGeom prst="roundRect">
            <a:avLst>
              <a:gd name="adj" fmla="val 8000"/>
            </a:avLst>
          </a:prstGeom>
          <a:solidFill>
            <a:srgbClr val="FFFFFF"/>
          </a:solidFill>
          <a:ln w="9525">
            <a:solidFill>
              <a:srgbClr val="D8D8DE"/>
            </a:solid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513416" y="2377440"/>
            <a:ext cx="2062886" cy="960120"/>
          </a:xfrm>
          <a:prstGeom prst="roundRect">
            <a:avLst>
              <a:gd name="adj" fmla="val 10000"/>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513416" y="2971800"/>
            <a:ext cx="2062886" cy="365760"/>
          </a:xfrm>
          <a:prstGeom prst="rect">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179099" y="2560320"/>
            <a:ext cx="731520" cy="731520"/>
          </a:xfrm>
          <a:prstGeom prst="ellipse">
            <a:avLst/>
          </a:prstGeom>
          <a:solidFill>
            <a:srgbClr val="FFFFFF"/>
          </a:solidFill>
          <a:ln>
            <a:noFill/>
          </a:ln>
          <a:effectLst>
            <a:outerShdw blurRad="10160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79099" y="2560320"/>
            <a:ext cx="731520" cy="731520"/>
          </a:xfrm>
          <a:prstGeom prst="rect">
            <a:avLst/>
          </a:prstGeom>
          <a:noFill/>
        </p:spPr>
        <p:txBody>
          <a:bodyPr wrap="square" lIns="45720" rIns="45720" tIns="18288" bIns="18288" anchor="ctr">
            <a:spAutoFit/>
          </a:bodyPr>
          <a:lstStyle/>
          <a:p>
            <a:pPr algn="ctr"/>
            <a:r>
              <a:rPr sz="2400" b="1">
                <a:solidFill>
                  <a:srgbClr val="2C2C2E"/>
                </a:solidFill>
                <a:latin typeface="Helvetica Neue"/>
              </a:rPr>
              <a:t>🛠️</a:t>
            </a:r>
          </a:p>
        </p:txBody>
      </p:sp>
      <p:sp>
        <p:nvSpPr>
          <p:cNvPr id="40" name="TextBox 39"/>
          <p:cNvSpPr txBox="1"/>
          <p:nvPr/>
        </p:nvSpPr>
        <p:spPr>
          <a:xfrm>
            <a:off x="9604856" y="3474720"/>
            <a:ext cx="1880006" cy="457200"/>
          </a:xfrm>
          <a:prstGeom prst="rect">
            <a:avLst/>
          </a:prstGeom>
          <a:noFill/>
        </p:spPr>
        <p:txBody>
          <a:bodyPr wrap="square" lIns="45720" rIns="45720" tIns="18288" bIns="18288" anchor="t">
            <a:spAutoFit/>
          </a:bodyPr>
          <a:lstStyle/>
          <a:p>
            <a:pPr algn="ctr"/>
            <a:r>
              <a:rPr sz="1800" b="1">
                <a:solidFill>
                  <a:srgbClr val="2C2C2E"/>
                </a:solidFill>
                <a:latin typeface="Helvetica Neue"/>
              </a:rPr>
              <a:t>Berufliche Schule</a:t>
            </a:r>
          </a:p>
        </p:txBody>
      </p:sp>
      <p:sp>
        <p:nvSpPr>
          <p:cNvPr id="41" name="TextBox 40"/>
          <p:cNvSpPr txBox="1"/>
          <p:nvPr/>
        </p:nvSpPr>
        <p:spPr>
          <a:xfrm>
            <a:off x="9678008" y="3977640"/>
            <a:ext cx="1733702" cy="1874520"/>
          </a:xfrm>
          <a:prstGeom prst="rect">
            <a:avLst/>
          </a:prstGeom>
          <a:noFill/>
        </p:spPr>
        <p:txBody>
          <a:bodyPr wrap="square" lIns="45720" rIns="45720" tIns="18288" bIns="18288" anchor="t">
            <a:spAutoFit/>
          </a:bodyPr>
          <a:lstStyle/>
          <a:p>
            <a:pPr algn="ctr"/>
            <a:r>
              <a:rPr sz="1200" b="0">
                <a:solidFill>
                  <a:srgbClr val="4A4A4F"/>
                </a:solidFill>
                <a:latin typeface="Helvetica Neue"/>
              </a:rPr>
              <a:t>Duales System · Verbindung von Schule &amp; Betrieb · international anerkanntes Modell.</a:t>
            </a:r>
          </a:p>
        </p:txBody>
      </p:sp>
      <p:sp>
        <p:nvSpPr>
          <p:cNvPr id="42" name="TextBox 41"/>
          <p:cNvSpPr txBox="1"/>
          <p:nvPr/>
        </p:nvSpPr>
        <p:spPr>
          <a:xfrm>
            <a:off x="822960" y="6035040"/>
            <a:ext cx="10515600" cy="365760"/>
          </a:xfrm>
          <a:prstGeom prst="rect">
            <a:avLst/>
          </a:prstGeom>
          <a:noFill/>
        </p:spPr>
        <p:txBody>
          <a:bodyPr wrap="square" lIns="45720" rIns="45720" tIns="18288" bIns="18288" anchor="t">
            <a:spAutoFit/>
          </a:bodyPr>
          <a:lstStyle/>
          <a:p>
            <a:pPr algn="ctr"/>
            <a:r>
              <a:rPr sz="1300" b="0">
                <a:solidFill>
                  <a:srgbClr val="4A4A4F"/>
                </a:solidFill>
                <a:latin typeface="Helvetica Neue"/>
              </a:rPr>
              <a:t>Bildungspolitik ist Ländersache – die Strukturen variieren regional.</a:t>
            </a:r>
          </a:p>
        </p:txBody>
      </p:sp>
      <p:sp>
        <p:nvSpPr>
          <p:cNvPr id="43" name="Rounded Rectangle 42"/>
          <p:cNvSpPr/>
          <p:nvPr/>
        </p:nvSpPr>
        <p:spPr>
          <a:xfrm>
            <a:off x="502920" y="6446520"/>
            <a:ext cx="411480" cy="109728"/>
          </a:xfrm>
          <a:prstGeom prst="roundRect">
            <a:avLst>
              <a:gd name="adj" fmla="val 50000"/>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0120" y="6355080"/>
            <a:ext cx="1828800" cy="274320"/>
          </a:xfrm>
          <a:prstGeom prst="rect">
            <a:avLst/>
          </a:prstGeom>
          <a:noFill/>
        </p:spPr>
        <p:txBody>
          <a:bodyPr wrap="square" lIns="45720" rIns="45720" tIns="18288" bIns="18288" anchor="t">
            <a:spAutoFit/>
          </a:bodyPr>
          <a:lstStyle/>
          <a:p>
            <a:pPr algn="l"/>
            <a:r>
              <a:rPr sz="1100" b="0">
                <a:solidFill>
                  <a:srgbClr val="4A4A4F"/>
                </a:solidFill>
                <a:latin typeface="Helvetica Neue"/>
              </a:rPr>
              <a:t>04 / 11</a:t>
            </a:r>
          </a:p>
        </p:txBody>
      </p:sp>
      <p:sp>
        <p:nvSpPr>
          <p:cNvPr id="45" name="TextBox 44"/>
          <p:cNvSpPr txBox="1"/>
          <p:nvPr/>
        </p:nvSpPr>
        <p:spPr>
          <a:xfrm>
            <a:off x="9784080" y="6355080"/>
            <a:ext cx="2194560" cy="274320"/>
          </a:xfrm>
          <a:prstGeom prst="rect">
            <a:avLst/>
          </a:prstGeom>
          <a:noFill/>
        </p:spPr>
        <p:txBody>
          <a:bodyPr wrap="square" lIns="45720" rIns="45720" tIns="18288" bIns="18288" anchor="t">
            <a:spAutoFit/>
          </a:bodyPr>
          <a:lstStyle/>
          <a:p>
            <a:pPr algn="r"/>
            <a:r>
              <a:rPr sz="1100" b="0">
                <a:solidFill>
                  <a:srgbClr val="4A4A4F"/>
                </a:solidFill>
                <a:latin typeface="Helvetica Neue"/>
              </a:rPr>
              <a:t>Seminarfachkurs Glück</a:t>
            </a:r>
          </a:p>
        </p:txBody>
      </p:sp>
    </p:spTree>
  </p:cSld>
  <p:clrMapOvr>
    <a:masterClrMapping/>
  </p:clrMapOvr>
  <p:transition xmlns:p14="http://schemas.microsoft.com/office/powerpoint/2010/main" xmlns:mc="http://schemas.openxmlformats.org/markup-compatibility/2006" spd="med">
    <mc:AlternateContent>
      <mc:Choice xmlns:p159="http://schemas.microsoft.com/office/powerpoint/2015/09/main" Requires="p159">
        <p159:morph option="byObject"/>
      </mc:Choice>
      <mc:Fallback>
        <p:fade/>
      </mc:Fallback>
    </mc:AlternateContent>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4572000"/>
            <a:ext cx="3657600" cy="3657600"/>
          </a:xfrm>
          <a:prstGeom prst="ellipse">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15600" y="-914400"/>
            <a:ext cx="3200400" cy="3200400"/>
          </a:xfrm>
          <a:prstGeom prst="ellipse">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7315200" cy="320040"/>
          </a:xfrm>
          <a:prstGeom prst="rect">
            <a:avLst/>
          </a:prstGeom>
          <a:noFill/>
        </p:spPr>
        <p:txBody>
          <a:bodyPr wrap="square" lIns="45720" rIns="45720" tIns="18288" bIns="18288" anchor="t">
            <a:spAutoFit/>
          </a:bodyPr>
          <a:lstStyle/>
          <a:p>
            <a:pPr algn="l"/>
            <a:r>
              <a:rPr sz="1100" b="1">
                <a:solidFill>
                  <a:srgbClr val="4F8FBF"/>
                </a:solidFill>
                <a:latin typeface="Helvetica Neue"/>
              </a:rPr>
              <a:t>04 · ANALYSE</a:t>
            </a:r>
          </a:p>
        </p:txBody>
      </p:sp>
      <p:sp>
        <p:nvSpPr>
          <p:cNvPr id="6" name="TextBox 5"/>
          <p:cNvSpPr txBox="1"/>
          <p:nvPr/>
        </p:nvSpPr>
        <p:spPr>
          <a:xfrm>
            <a:off x="822960" y="868680"/>
            <a:ext cx="10515600" cy="914400"/>
          </a:xfrm>
          <a:prstGeom prst="rect">
            <a:avLst/>
          </a:prstGeom>
          <a:noFill/>
        </p:spPr>
        <p:txBody>
          <a:bodyPr wrap="square" lIns="45720" rIns="45720" tIns="18288" bIns="18288" anchor="t">
            <a:spAutoFit/>
          </a:bodyPr>
          <a:lstStyle/>
          <a:p>
            <a:pPr algn="l"/>
            <a:r>
              <a:rPr sz="4000" b="1">
                <a:solidFill>
                  <a:srgbClr val="2C2C2E"/>
                </a:solidFill>
                <a:latin typeface="Helvetica Neue"/>
              </a:rPr>
              <a:t>Leistungsdruck und Wohlbefinden</a:t>
            </a:r>
          </a:p>
        </p:txBody>
      </p:sp>
      <p:sp>
        <p:nvSpPr>
          <p:cNvPr id="7" name="TextBox 6"/>
          <p:cNvSpPr txBox="1"/>
          <p:nvPr/>
        </p:nvSpPr>
        <p:spPr>
          <a:xfrm>
            <a:off x="822960" y="1691640"/>
            <a:ext cx="10515600" cy="365760"/>
          </a:xfrm>
          <a:prstGeom prst="rect">
            <a:avLst/>
          </a:prstGeom>
          <a:noFill/>
        </p:spPr>
        <p:txBody>
          <a:bodyPr wrap="square" lIns="45720" rIns="45720" tIns="18288" bIns="18288" anchor="t">
            <a:spAutoFit/>
          </a:bodyPr>
          <a:lstStyle/>
          <a:p>
            <a:pPr algn="l"/>
            <a:r>
              <a:rPr sz="1600" b="0">
                <a:solidFill>
                  <a:srgbClr val="4A4A4F"/>
                </a:solidFill>
                <a:latin typeface="Helvetica Neue"/>
              </a:rPr>
              <a:t>Was Schule fordert – und was sie auslösen kann.</a:t>
            </a:r>
          </a:p>
        </p:txBody>
      </p:sp>
      <p:sp>
        <p:nvSpPr>
          <p:cNvPr id="8" name="Rounded Rectangle 7"/>
          <p:cNvSpPr/>
          <p:nvPr/>
        </p:nvSpPr>
        <p:spPr>
          <a:xfrm>
            <a:off x="822960" y="2286000"/>
            <a:ext cx="5029200" cy="3108960"/>
          </a:xfrm>
          <a:prstGeom prst="roundRect">
            <a:avLst>
              <a:gd name="adj" fmla="val 10000"/>
            </a:avLst>
          </a:prstGeom>
          <a:solidFill>
            <a:srgbClr val="CFEFFF"/>
          </a:solidFill>
          <a:ln>
            <a:no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423160"/>
            <a:ext cx="4572000" cy="502920"/>
          </a:xfrm>
          <a:prstGeom prst="rect">
            <a:avLst/>
          </a:prstGeom>
          <a:noFill/>
        </p:spPr>
        <p:txBody>
          <a:bodyPr wrap="square" lIns="45720" rIns="45720" tIns="18288" bIns="18288" anchor="t">
            <a:spAutoFit/>
          </a:bodyPr>
          <a:lstStyle/>
          <a:p>
            <a:pPr algn="l"/>
            <a:r>
              <a:rPr sz="2200" b="1">
                <a:solidFill>
                  <a:srgbClr val="2C2C2E"/>
                </a:solidFill>
                <a:latin typeface="Helvetica Neue"/>
              </a:rPr>
              <a:t>Leistungsdruck</a:t>
            </a:r>
          </a:p>
        </p:txBody>
      </p:sp>
      <p:sp>
        <p:nvSpPr>
          <p:cNvPr id="10" name="TextBox 9"/>
          <p:cNvSpPr txBox="1"/>
          <p:nvPr/>
        </p:nvSpPr>
        <p:spPr>
          <a:xfrm>
            <a:off x="1051560" y="2926080"/>
            <a:ext cx="4572000" cy="2377440"/>
          </a:xfrm>
          <a:prstGeom prst="rect">
            <a:avLst/>
          </a:prstGeom>
          <a:noFill/>
        </p:spPr>
        <p:txBody>
          <a:bodyPr wrap="square" lIns="45720" rIns="45720" anchor="t">
            <a:spAutoFit/>
          </a:bodyPr>
          <a:lstStyle/>
          <a:p>
            <a:pPr>
              <a:lnSpc>
                <a:spcPct val="120000"/>
              </a:lnSpc>
              <a:spcAft>
                <a:spcPts val="800"/>
              </a:spcAft>
            </a:pPr>
            <a:r>
              <a:rPr sz="2000" b="1">
                <a:solidFill>
                  <a:srgbClr val="4F8FBF"/>
                </a:solidFill>
              </a:rPr>
              <a:t>›  </a:t>
            </a:r>
            <a:r>
              <a:rPr sz="2000">
                <a:solidFill>
                  <a:srgbClr val="2C2C2E"/>
                </a:solidFill>
                <a:latin typeface="Helvetica Neue"/>
              </a:rPr>
              <a:t>Noten</a:t>
            </a:r>
          </a:p>
          <a:p>
            <a:pPr>
              <a:lnSpc>
                <a:spcPct val="120000"/>
              </a:lnSpc>
              <a:spcAft>
                <a:spcPts val="800"/>
              </a:spcAft>
            </a:pPr>
            <a:r>
              <a:rPr sz="2000" b="1">
                <a:solidFill>
                  <a:srgbClr val="4F8FBF"/>
                </a:solidFill>
              </a:rPr>
              <a:t>›  </a:t>
            </a:r>
            <a:r>
              <a:rPr sz="2000">
                <a:solidFill>
                  <a:srgbClr val="2C2C2E"/>
                </a:solidFill>
                <a:latin typeface="Helvetica Neue"/>
              </a:rPr>
              <a:t>Prüfungen</a:t>
            </a:r>
          </a:p>
          <a:p>
            <a:pPr>
              <a:lnSpc>
                <a:spcPct val="120000"/>
              </a:lnSpc>
              <a:spcAft>
                <a:spcPts val="800"/>
              </a:spcAft>
            </a:pPr>
            <a:r>
              <a:rPr sz="2000" b="1">
                <a:solidFill>
                  <a:srgbClr val="4F8FBF"/>
                </a:solidFill>
              </a:rPr>
              <a:t>›  </a:t>
            </a:r>
            <a:r>
              <a:rPr sz="2000">
                <a:solidFill>
                  <a:srgbClr val="2C2C2E"/>
                </a:solidFill>
                <a:latin typeface="Helvetica Neue"/>
              </a:rPr>
              <a:t>Konkurrenz</a:t>
            </a:r>
          </a:p>
          <a:p>
            <a:pPr>
              <a:lnSpc>
                <a:spcPct val="120000"/>
              </a:lnSpc>
              <a:spcAft>
                <a:spcPts val="800"/>
              </a:spcAft>
            </a:pPr>
            <a:r>
              <a:rPr sz="2000" b="1">
                <a:solidFill>
                  <a:srgbClr val="4F8FBF"/>
                </a:solidFill>
              </a:rPr>
              <a:t>›  </a:t>
            </a:r>
            <a:r>
              <a:rPr sz="2000">
                <a:solidFill>
                  <a:srgbClr val="2C2C2E"/>
                </a:solidFill>
                <a:latin typeface="Helvetica Neue"/>
              </a:rPr>
              <a:t>Erwartungen</a:t>
            </a:r>
          </a:p>
        </p:txBody>
      </p:sp>
      <p:sp>
        <p:nvSpPr>
          <p:cNvPr id="11" name="Right Arrow 10"/>
          <p:cNvSpPr/>
          <p:nvPr/>
        </p:nvSpPr>
        <p:spPr>
          <a:xfrm>
            <a:off x="5989320" y="3611880"/>
            <a:ext cx="274320" cy="457200"/>
          </a:xfrm>
          <a:prstGeom prst="rightArrow">
            <a:avLst/>
          </a:prstGeom>
          <a:solidFill>
            <a:srgbClr val="4A4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55080" y="2286000"/>
            <a:ext cx="5029200" cy="3108960"/>
          </a:xfrm>
          <a:prstGeom prst="roundRect">
            <a:avLst>
              <a:gd name="adj" fmla="val 10000"/>
            </a:avLst>
          </a:prstGeom>
          <a:solidFill>
            <a:srgbClr val="FFD9E8"/>
          </a:solidFill>
          <a:ln>
            <a:no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423160"/>
            <a:ext cx="4572000" cy="502920"/>
          </a:xfrm>
          <a:prstGeom prst="rect">
            <a:avLst/>
          </a:prstGeom>
          <a:noFill/>
        </p:spPr>
        <p:txBody>
          <a:bodyPr wrap="square" lIns="45720" rIns="45720" tIns="18288" bIns="18288" anchor="t">
            <a:spAutoFit/>
          </a:bodyPr>
          <a:lstStyle/>
          <a:p>
            <a:pPr algn="l"/>
            <a:r>
              <a:rPr sz="2200" b="1">
                <a:solidFill>
                  <a:srgbClr val="2C2C2E"/>
                </a:solidFill>
                <a:latin typeface="Helvetica Neue"/>
              </a:rPr>
              <a:t>Mögliche Folgen</a:t>
            </a:r>
          </a:p>
        </p:txBody>
      </p:sp>
      <p:sp>
        <p:nvSpPr>
          <p:cNvPr id="14" name="TextBox 13"/>
          <p:cNvSpPr txBox="1"/>
          <p:nvPr/>
        </p:nvSpPr>
        <p:spPr>
          <a:xfrm>
            <a:off x="6583680" y="2926080"/>
            <a:ext cx="4572000" cy="2377440"/>
          </a:xfrm>
          <a:prstGeom prst="rect">
            <a:avLst/>
          </a:prstGeom>
          <a:noFill/>
        </p:spPr>
        <p:txBody>
          <a:bodyPr wrap="square" lIns="45720" rIns="45720" anchor="t">
            <a:spAutoFit/>
          </a:bodyPr>
          <a:lstStyle/>
          <a:p>
            <a:pPr>
              <a:lnSpc>
                <a:spcPct val="120000"/>
              </a:lnSpc>
              <a:spcAft>
                <a:spcPts val="800"/>
              </a:spcAft>
            </a:pPr>
            <a:r>
              <a:rPr sz="2000" b="1">
                <a:solidFill>
                  <a:srgbClr val="4F8FBF"/>
                </a:solidFill>
              </a:rPr>
              <a:t>›  </a:t>
            </a:r>
            <a:r>
              <a:rPr sz="2000">
                <a:solidFill>
                  <a:srgbClr val="2C2C2E"/>
                </a:solidFill>
                <a:latin typeface="Helvetica Neue"/>
              </a:rPr>
              <a:t>Stress</a:t>
            </a:r>
          </a:p>
          <a:p>
            <a:pPr>
              <a:lnSpc>
                <a:spcPct val="120000"/>
              </a:lnSpc>
              <a:spcAft>
                <a:spcPts val="800"/>
              </a:spcAft>
            </a:pPr>
            <a:r>
              <a:rPr sz="2000" b="1">
                <a:solidFill>
                  <a:srgbClr val="4F8FBF"/>
                </a:solidFill>
              </a:rPr>
              <a:t>›  </a:t>
            </a:r>
            <a:r>
              <a:rPr sz="2000">
                <a:solidFill>
                  <a:srgbClr val="2C2C2E"/>
                </a:solidFill>
                <a:latin typeface="Helvetica Neue"/>
              </a:rPr>
              <a:t>Schlafprobleme</a:t>
            </a:r>
          </a:p>
          <a:p>
            <a:pPr>
              <a:lnSpc>
                <a:spcPct val="120000"/>
              </a:lnSpc>
              <a:spcAft>
                <a:spcPts val="800"/>
              </a:spcAft>
            </a:pPr>
            <a:r>
              <a:rPr sz="2000" b="1">
                <a:solidFill>
                  <a:srgbClr val="4F8FBF"/>
                </a:solidFill>
              </a:rPr>
              <a:t>›  </a:t>
            </a:r>
            <a:r>
              <a:rPr sz="2000">
                <a:solidFill>
                  <a:srgbClr val="2C2C2E"/>
                </a:solidFill>
                <a:latin typeface="Helvetica Neue"/>
              </a:rPr>
              <a:t>Unsicherheit</a:t>
            </a:r>
          </a:p>
          <a:p>
            <a:pPr>
              <a:lnSpc>
                <a:spcPct val="120000"/>
              </a:lnSpc>
              <a:spcAft>
                <a:spcPts val="800"/>
              </a:spcAft>
            </a:pPr>
            <a:r>
              <a:rPr sz="2000" b="1">
                <a:solidFill>
                  <a:srgbClr val="4F8FBF"/>
                </a:solidFill>
              </a:rPr>
              <a:t>›  </a:t>
            </a:r>
            <a:r>
              <a:rPr sz="2000">
                <a:solidFill>
                  <a:srgbClr val="2C2C2E"/>
                </a:solidFill>
                <a:latin typeface="Helvetica Neue"/>
              </a:rPr>
              <a:t>geringeres Selbstwertgefühl</a:t>
            </a:r>
          </a:p>
        </p:txBody>
      </p:sp>
      <p:sp>
        <p:nvSpPr>
          <p:cNvPr id="15" name="Rounded Rectangle 14"/>
          <p:cNvSpPr/>
          <p:nvPr/>
        </p:nvSpPr>
        <p:spPr>
          <a:xfrm>
            <a:off x="822960" y="5532120"/>
            <a:ext cx="10561320" cy="777240"/>
          </a:xfrm>
          <a:prstGeom prst="roundRect">
            <a:avLst>
              <a:gd name="adj" fmla="val 40000"/>
            </a:avLst>
          </a:prstGeom>
          <a:solidFill>
            <a:srgbClr val="FFF7C7"/>
          </a:solidFill>
          <a:ln>
            <a:noFill/>
          </a:ln>
          <a:effectLst>
            <a:outerShdw blurRad="152400" dist="381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5532120"/>
            <a:ext cx="10058400" cy="777240"/>
          </a:xfrm>
          <a:prstGeom prst="rect">
            <a:avLst/>
          </a:prstGeom>
          <a:noFill/>
        </p:spPr>
        <p:txBody>
          <a:bodyPr wrap="square" lIns="45720" rIns="45720" tIns="18288" bIns="18288" anchor="ctr">
            <a:spAutoFit/>
          </a:bodyPr>
          <a:lstStyle/>
          <a:p>
            <a:pPr algn="l"/>
            <a:r>
              <a:rPr sz="1700" b="1">
                <a:solidFill>
                  <a:srgbClr val="2C2C2E"/>
                </a:solidFill>
                <a:latin typeface="Helvetica Neue"/>
              </a:rPr>
              <a:t>„Leistungsdruck kann Motivation fördern – aber auch das Wohlbefinden beeinträchtigen.“</a:t>
            </a:r>
          </a:p>
        </p:txBody>
      </p:sp>
      <p:sp>
        <p:nvSpPr>
          <p:cNvPr id="17" name="Rounded Rectangle 16"/>
          <p:cNvSpPr/>
          <p:nvPr/>
        </p:nvSpPr>
        <p:spPr>
          <a:xfrm>
            <a:off x="502920" y="6446520"/>
            <a:ext cx="411480" cy="109728"/>
          </a:xfrm>
          <a:prstGeom prst="roundRect">
            <a:avLst>
              <a:gd name="adj" fmla="val 50000"/>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6355080"/>
            <a:ext cx="1828800" cy="274320"/>
          </a:xfrm>
          <a:prstGeom prst="rect">
            <a:avLst/>
          </a:prstGeom>
          <a:noFill/>
        </p:spPr>
        <p:txBody>
          <a:bodyPr wrap="square" lIns="45720" rIns="45720" tIns="18288" bIns="18288" anchor="t">
            <a:spAutoFit/>
          </a:bodyPr>
          <a:lstStyle/>
          <a:p>
            <a:pPr algn="l"/>
            <a:r>
              <a:rPr sz="1100" b="0">
                <a:solidFill>
                  <a:srgbClr val="4A4A4F"/>
                </a:solidFill>
                <a:latin typeface="Helvetica Neue"/>
              </a:rPr>
              <a:t>05 / 11</a:t>
            </a:r>
          </a:p>
        </p:txBody>
      </p:sp>
      <p:sp>
        <p:nvSpPr>
          <p:cNvPr id="19" name="TextBox 18"/>
          <p:cNvSpPr txBox="1"/>
          <p:nvPr/>
        </p:nvSpPr>
        <p:spPr>
          <a:xfrm>
            <a:off x="9784080" y="6355080"/>
            <a:ext cx="2194560" cy="274320"/>
          </a:xfrm>
          <a:prstGeom prst="rect">
            <a:avLst/>
          </a:prstGeom>
          <a:noFill/>
        </p:spPr>
        <p:txBody>
          <a:bodyPr wrap="square" lIns="45720" rIns="45720" tIns="18288" bIns="18288" anchor="t">
            <a:spAutoFit/>
          </a:bodyPr>
          <a:lstStyle/>
          <a:p>
            <a:pPr algn="r"/>
            <a:r>
              <a:rPr sz="1100" b="0">
                <a:solidFill>
                  <a:srgbClr val="4A4A4F"/>
                </a:solidFill>
                <a:latin typeface="Helvetica Neue"/>
              </a:rPr>
              <a:t>Seminarfachkurs Glück</a:t>
            </a:r>
          </a:p>
        </p:txBody>
      </p:sp>
    </p:spTree>
  </p:cSld>
  <p:clrMapOvr>
    <a:masterClrMapping/>
  </p:clrMapOvr>
  <p:transition xmlns:p14="http://schemas.microsoft.com/office/powerpoint/2010/main" xmlns:mc="http://schemas.openxmlformats.org/markup-compatibility/2006" spd="med">
    <mc:AlternateContent>
      <mc:Choice Requires="p14">
        <p14:zoom/>
      </mc:Choice>
      <mc:Fallback>
        <p:fade/>
      </mc:Fallback>
    </mc:AlternateContent>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5029200"/>
            <a:ext cx="3474720" cy="347472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lIns="45720" rIns="45720" tIns="18288" bIns="18288" anchor="t">
            <a:spAutoFit/>
          </a:bodyPr>
          <a:lstStyle/>
          <a:p>
            <a:pPr algn="l"/>
            <a:r>
              <a:rPr sz="1100" b="1">
                <a:solidFill>
                  <a:srgbClr val="4F8FBF"/>
                </a:solidFill>
                <a:latin typeface="Helvetica Neue"/>
              </a:rPr>
              <a:t>05 · BEZIEHUNGEN</a:t>
            </a:r>
          </a:p>
        </p:txBody>
      </p:sp>
      <p:sp>
        <p:nvSpPr>
          <p:cNvPr id="5" name="TextBox 4"/>
          <p:cNvSpPr txBox="1"/>
          <p:nvPr/>
        </p:nvSpPr>
        <p:spPr>
          <a:xfrm>
            <a:off x="822960" y="868680"/>
            <a:ext cx="10515600" cy="914400"/>
          </a:xfrm>
          <a:prstGeom prst="rect">
            <a:avLst/>
          </a:prstGeom>
          <a:noFill/>
        </p:spPr>
        <p:txBody>
          <a:bodyPr wrap="square" lIns="45720" rIns="45720" tIns="18288" bIns="18288" anchor="t">
            <a:spAutoFit/>
          </a:bodyPr>
          <a:lstStyle/>
          <a:p>
            <a:pPr algn="l"/>
            <a:r>
              <a:rPr sz="4400" b="1">
                <a:solidFill>
                  <a:srgbClr val="2C2C2E"/>
                </a:solidFill>
                <a:latin typeface="Helvetica Neue"/>
              </a:rPr>
              <a:t>Schulklima</a:t>
            </a:r>
          </a:p>
        </p:txBody>
      </p:sp>
      <p:sp>
        <p:nvSpPr>
          <p:cNvPr id="6" name="TextBox 5"/>
          <p:cNvSpPr txBox="1"/>
          <p:nvPr/>
        </p:nvSpPr>
        <p:spPr>
          <a:xfrm>
            <a:off x="822960" y="1691640"/>
            <a:ext cx="10515600" cy="365760"/>
          </a:xfrm>
          <a:prstGeom prst="rect">
            <a:avLst/>
          </a:prstGeom>
          <a:noFill/>
        </p:spPr>
        <p:txBody>
          <a:bodyPr wrap="square" lIns="45720" rIns="45720" tIns="18288" bIns="18288" anchor="t">
            <a:spAutoFit/>
          </a:bodyPr>
          <a:lstStyle/>
          <a:p>
            <a:pPr algn="l"/>
            <a:r>
              <a:rPr sz="1600" b="0">
                <a:solidFill>
                  <a:srgbClr val="4A4A4F"/>
                </a:solidFill>
                <a:latin typeface="Helvetica Neue"/>
              </a:rPr>
              <a:t>Atmosphäre, Beziehungen und das Gefühl von Zugehörigkeit.</a:t>
            </a:r>
          </a:p>
        </p:txBody>
      </p:sp>
      <p:sp>
        <p:nvSpPr>
          <p:cNvPr id="7" name="Rounded Rectangle 6"/>
          <p:cNvSpPr/>
          <p:nvPr/>
        </p:nvSpPr>
        <p:spPr>
          <a:xfrm>
            <a:off x="822960" y="2468880"/>
            <a:ext cx="3322320" cy="3566160"/>
          </a:xfrm>
          <a:prstGeom prst="roundRect">
            <a:avLst>
              <a:gd name="adj" fmla="val 6000"/>
            </a:avLst>
          </a:prstGeom>
          <a:solidFill>
            <a:srgbClr val="FFFFFF"/>
          </a:solidFill>
          <a:ln w="9525">
            <a:solidFill>
              <a:srgbClr val="D8D8DE"/>
            </a:solid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2468880"/>
            <a:ext cx="3322320" cy="502920"/>
          </a:xfrm>
          <a:prstGeom prst="roundRect">
            <a:avLst>
              <a:gd name="adj" fmla="val 25000"/>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2743200"/>
            <a:ext cx="3322320" cy="274320"/>
          </a:xfrm>
          <a:prstGeom prst="rect">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1200" y="3108960"/>
            <a:ext cx="1005840" cy="1005840"/>
          </a:xfrm>
          <a:prstGeom prst="ellipse">
            <a:avLst/>
          </a:prstGeom>
          <a:solidFill>
            <a:srgbClr val="CFEFFF"/>
          </a:solidFill>
          <a:ln>
            <a:noFill/>
          </a:ln>
          <a:effectLst>
            <a:outerShdw blurRad="12700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1200" y="3108960"/>
            <a:ext cx="1005840" cy="1005840"/>
          </a:xfrm>
          <a:prstGeom prst="rect">
            <a:avLst/>
          </a:prstGeom>
          <a:noFill/>
        </p:spPr>
        <p:txBody>
          <a:bodyPr wrap="square" lIns="45720" rIns="45720" tIns="18288" bIns="18288" anchor="ctr">
            <a:spAutoFit/>
          </a:bodyPr>
          <a:lstStyle/>
          <a:p>
            <a:pPr algn="ctr"/>
            <a:r>
              <a:rPr sz="2600" b="1">
                <a:solidFill>
                  <a:srgbClr val="2C2C2E"/>
                </a:solidFill>
                <a:latin typeface="Helvetica Neue"/>
              </a:rPr>
              <a:t>👩‍🏫</a:t>
            </a:r>
          </a:p>
        </p:txBody>
      </p:sp>
      <p:sp>
        <p:nvSpPr>
          <p:cNvPr id="12" name="TextBox 11"/>
          <p:cNvSpPr txBox="1"/>
          <p:nvPr/>
        </p:nvSpPr>
        <p:spPr>
          <a:xfrm>
            <a:off x="1005840" y="4297680"/>
            <a:ext cx="2956560" cy="868680"/>
          </a:xfrm>
          <a:prstGeom prst="rect">
            <a:avLst/>
          </a:prstGeom>
          <a:noFill/>
        </p:spPr>
        <p:txBody>
          <a:bodyPr wrap="square" lIns="45720" rIns="45720" tIns="18288" bIns="18288" anchor="t">
            <a:spAutoFit/>
          </a:bodyPr>
          <a:lstStyle/>
          <a:p>
            <a:pPr algn="ctr"/>
            <a:r>
              <a:rPr sz="2000" b="1">
                <a:solidFill>
                  <a:srgbClr val="2C2C2E"/>
                </a:solidFill>
                <a:latin typeface="Helvetica Neue"/>
              </a:rPr>
              <a:t>Lehrer-Schüler-</a:t>
            </a:r>
          </a:p>
          <a:p>
            <a:pPr algn="ctr"/>
            <a:r>
              <a:rPr sz="2000" b="1">
                <a:solidFill>
                  <a:srgbClr val="2C2C2E"/>
                </a:solidFill>
                <a:latin typeface="Helvetica Neue"/>
              </a:rPr>
              <a:t>Verhältnis</a:t>
            </a:r>
          </a:p>
        </p:txBody>
      </p:sp>
      <p:sp>
        <p:nvSpPr>
          <p:cNvPr id="13" name="TextBox 12"/>
          <p:cNvSpPr txBox="1"/>
          <p:nvPr/>
        </p:nvSpPr>
        <p:spPr>
          <a:xfrm>
            <a:off x="1097280" y="5166360"/>
            <a:ext cx="2773680" cy="777240"/>
          </a:xfrm>
          <a:prstGeom prst="rect">
            <a:avLst/>
          </a:prstGeom>
          <a:noFill/>
        </p:spPr>
        <p:txBody>
          <a:bodyPr wrap="square" lIns="45720" rIns="45720" anchor="t">
            <a:spAutoFit/>
          </a:bodyPr>
          <a:lstStyle/>
          <a:p>
            <a:pPr algn="l">
              <a:lnSpc>
                <a:spcPct val="115000"/>
              </a:lnSpc>
              <a:spcAft>
                <a:spcPts val="600"/>
              </a:spcAft>
            </a:pPr>
            <a:r>
              <a:rPr sz="1300" b="1">
                <a:solidFill>
                  <a:srgbClr val="4F8FBF"/>
                </a:solidFill>
              </a:rPr>
              <a:t>•  </a:t>
            </a:r>
            <a:r>
              <a:rPr sz="1300">
                <a:solidFill>
                  <a:srgbClr val="4A4A4F"/>
                </a:solidFill>
                <a:latin typeface="Helvetica Neue"/>
              </a:rPr>
              <a:t>Vertrauen &amp; Respekt</a:t>
            </a:r>
          </a:p>
          <a:p>
            <a:pPr algn="l">
              <a:lnSpc>
                <a:spcPct val="115000"/>
              </a:lnSpc>
              <a:spcAft>
                <a:spcPts val="600"/>
              </a:spcAft>
            </a:pPr>
            <a:r>
              <a:rPr sz="1300" b="1">
                <a:solidFill>
                  <a:srgbClr val="4F8FBF"/>
                </a:solidFill>
              </a:rPr>
              <a:t>•  </a:t>
            </a:r>
            <a:r>
              <a:rPr sz="1300">
                <a:solidFill>
                  <a:srgbClr val="4A4A4F"/>
                </a:solidFill>
                <a:latin typeface="Helvetica Neue"/>
              </a:rPr>
              <a:t>Unterstützung statt Kontrolle</a:t>
            </a:r>
          </a:p>
          <a:p>
            <a:pPr algn="l">
              <a:lnSpc>
                <a:spcPct val="115000"/>
              </a:lnSpc>
              <a:spcAft>
                <a:spcPts val="600"/>
              </a:spcAft>
            </a:pPr>
            <a:r>
              <a:rPr sz="1300" b="1">
                <a:solidFill>
                  <a:srgbClr val="4F8FBF"/>
                </a:solidFill>
              </a:rPr>
              <a:t>•  </a:t>
            </a:r>
            <a:r>
              <a:rPr sz="1300">
                <a:solidFill>
                  <a:srgbClr val="4A4A4F"/>
                </a:solidFill>
                <a:latin typeface="Helvetica Neue"/>
              </a:rPr>
              <a:t>Reduziert Stress, fördert Lernfreude</a:t>
            </a:r>
          </a:p>
        </p:txBody>
      </p:sp>
      <p:sp>
        <p:nvSpPr>
          <p:cNvPr id="14" name="Rounded Rectangle 13"/>
          <p:cNvSpPr/>
          <p:nvPr/>
        </p:nvSpPr>
        <p:spPr>
          <a:xfrm>
            <a:off x="4419600" y="2468880"/>
            <a:ext cx="3322320" cy="3566160"/>
          </a:xfrm>
          <a:prstGeom prst="roundRect">
            <a:avLst>
              <a:gd name="adj" fmla="val 6000"/>
            </a:avLst>
          </a:prstGeom>
          <a:solidFill>
            <a:srgbClr val="FFFFFF"/>
          </a:solidFill>
          <a:ln w="9525">
            <a:solidFill>
              <a:srgbClr val="D8D8DE"/>
            </a:solid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419600" y="2468880"/>
            <a:ext cx="3322320" cy="502920"/>
          </a:xfrm>
          <a:prstGeom prst="roundRect">
            <a:avLst>
              <a:gd name="adj" fmla="val 25000"/>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19600" y="2743200"/>
            <a:ext cx="3322320" cy="274320"/>
          </a:xfrm>
          <a:prstGeom prst="rect">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577840" y="3108960"/>
            <a:ext cx="1005840" cy="1005840"/>
          </a:xfrm>
          <a:prstGeom prst="ellipse">
            <a:avLst/>
          </a:prstGeom>
          <a:solidFill>
            <a:srgbClr val="FFD9E8"/>
          </a:solidFill>
          <a:ln>
            <a:noFill/>
          </a:ln>
          <a:effectLst>
            <a:outerShdw blurRad="12700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77840" y="3108960"/>
            <a:ext cx="1005840" cy="1005840"/>
          </a:xfrm>
          <a:prstGeom prst="rect">
            <a:avLst/>
          </a:prstGeom>
          <a:noFill/>
        </p:spPr>
        <p:txBody>
          <a:bodyPr wrap="square" lIns="45720" rIns="45720" tIns="18288" bIns="18288" anchor="ctr">
            <a:spAutoFit/>
          </a:bodyPr>
          <a:lstStyle/>
          <a:p>
            <a:pPr algn="ctr"/>
            <a:r>
              <a:rPr sz="2600" b="1">
                <a:solidFill>
                  <a:srgbClr val="2C2C2E"/>
                </a:solidFill>
                <a:latin typeface="Helvetica Neue"/>
              </a:rPr>
              <a:t>🗳️</a:t>
            </a:r>
          </a:p>
        </p:txBody>
      </p:sp>
      <p:sp>
        <p:nvSpPr>
          <p:cNvPr id="19" name="TextBox 18"/>
          <p:cNvSpPr txBox="1"/>
          <p:nvPr/>
        </p:nvSpPr>
        <p:spPr>
          <a:xfrm>
            <a:off x="4602480" y="4297680"/>
            <a:ext cx="2956560" cy="868680"/>
          </a:xfrm>
          <a:prstGeom prst="rect">
            <a:avLst/>
          </a:prstGeom>
          <a:noFill/>
        </p:spPr>
        <p:txBody>
          <a:bodyPr wrap="square" lIns="45720" rIns="45720" tIns="18288" bIns="18288" anchor="t">
            <a:spAutoFit/>
          </a:bodyPr>
          <a:lstStyle/>
          <a:p>
            <a:pPr algn="ctr"/>
            <a:r>
              <a:rPr sz="2000" b="1">
                <a:solidFill>
                  <a:srgbClr val="2C2C2E"/>
                </a:solidFill>
                <a:latin typeface="Helvetica Neue"/>
              </a:rPr>
              <a:t>Mitbestimmung</a:t>
            </a:r>
          </a:p>
        </p:txBody>
      </p:sp>
      <p:sp>
        <p:nvSpPr>
          <p:cNvPr id="20" name="TextBox 19"/>
          <p:cNvSpPr txBox="1"/>
          <p:nvPr/>
        </p:nvSpPr>
        <p:spPr>
          <a:xfrm>
            <a:off x="4693920" y="5166360"/>
            <a:ext cx="2773680" cy="777240"/>
          </a:xfrm>
          <a:prstGeom prst="rect">
            <a:avLst/>
          </a:prstGeom>
          <a:noFill/>
        </p:spPr>
        <p:txBody>
          <a:bodyPr wrap="square" lIns="45720" rIns="45720" anchor="t">
            <a:spAutoFit/>
          </a:bodyPr>
          <a:lstStyle/>
          <a:p>
            <a:pPr algn="l">
              <a:lnSpc>
                <a:spcPct val="115000"/>
              </a:lnSpc>
              <a:spcAft>
                <a:spcPts val="600"/>
              </a:spcAft>
            </a:pPr>
            <a:r>
              <a:rPr sz="1300" b="1">
                <a:solidFill>
                  <a:srgbClr val="4F8FBF"/>
                </a:solidFill>
              </a:rPr>
              <a:t>•  </a:t>
            </a:r>
            <a:r>
              <a:rPr sz="1300">
                <a:solidFill>
                  <a:srgbClr val="4A4A4F"/>
                </a:solidFill>
                <a:latin typeface="Helvetica Neue"/>
              </a:rPr>
              <a:t>Schülervertretungen, Klassenrat</a:t>
            </a:r>
          </a:p>
          <a:p>
            <a:pPr algn="l">
              <a:lnSpc>
                <a:spcPct val="115000"/>
              </a:lnSpc>
              <a:spcAft>
                <a:spcPts val="600"/>
              </a:spcAft>
            </a:pPr>
            <a:r>
              <a:rPr sz="1300" b="1">
                <a:solidFill>
                  <a:srgbClr val="4F8FBF"/>
                </a:solidFill>
              </a:rPr>
              <a:t>•  </a:t>
            </a:r>
            <a:r>
              <a:rPr sz="1300">
                <a:solidFill>
                  <a:srgbClr val="4A4A4F"/>
                </a:solidFill>
                <a:latin typeface="Helvetica Neue"/>
              </a:rPr>
              <a:t>Beteiligung an Schulprojekten</a:t>
            </a:r>
          </a:p>
          <a:p>
            <a:pPr algn="l">
              <a:lnSpc>
                <a:spcPct val="115000"/>
              </a:lnSpc>
              <a:spcAft>
                <a:spcPts val="600"/>
              </a:spcAft>
            </a:pPr>
            <a:r>
              <a:rPr sz="1300" b="1">
                <a:solidFill>
                  <a:srgbClr val="4F8FBF"/>
                </a:solidFill>
              </a:rPr>
              <a:t>•  </a:t>
            </a:r>
            <a:r>
              <a:rPr sz="1300">
                <a:solidFill>
                  <a:srgbClr val="4A4A4F"/>
                </a:solidFill>
                <a:latin typeface="Helvetica Neue"/>
              </a:rPr>
              <a:t>Stärkt Selbstwirksamkeit</a:t>
            </a:r>
          </a:p>
        </p:txBody>
      </p:sp>
      <p:sp>
        <p:nvSpPr>
          <p:cNvPr id="21" name="Rounded Rectangle 20"/>
          <p:cNvSpPr/>
          <p:nvPr/>
        </p:nvSpPr>
        <p:spPr>
          <a:xfrm>
            <a:off x="8016240" y="2468880"/>
            <a:ext cx="3322320" cy="3566160"/>
          </a:xfrm>
          <a:prstGeom prst="roundRect">
            <a:avLst>
              <a:gd name="adj" fmla="val 6000"/>
            </a:avLst>
          </a:prstGeom>
          <a:solidFill>
            <a:srgbClr val="FFFFFF"/>
          </a:solidFill>
          <a:ln w="9525">
            <a:solidFill>
              <a:srgbClr val="D8D8DE"/>
            </a:solid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16240" y="2468880"/>
            <a:ext cx="3322320" cy="502920"/>
          </a:xfrm>
          <a:prstGeom prst="roundRect">
            <a:avLst>
              <a:gd name="adj" fmla="val 25000"/>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6240" y="2743200"/>
            <a:ext cx="3322320" cy="274320"/>
          </a:xfrm>
          <a:prstGeom prst="rect">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74480" y="3108960"/>
            <a:ext cx="1005840" cy="1005840"/>
          </a:xfrm>
          <a:prstGeom prst="ellipse">
            <a:avLst/>
          </a:prstGeom>
          <a:solidFill>
            <a:srgbClr val="FFF7C7"/>
          </a:solidFill>
          <a:ln>
            <a:noFill/>
          </a:ln>
          <a:effectLst>
            <a:outerShdw blurRad="12700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74480" y="3108960"/>
            <a:ext cx="1005840" cy="1005840"/>
          </a:xfrm>
          <a:prstGeom prst="rect">
            <a:avLst/>
          </a:prstGeom>
          <a:noFill/>
        </p:spPr>
        <p:txBody>
          <a:bodyPr wrap="square" lIns="45720" rIns="45720" tIns="18288" bIns="18288" anchor="ctr">
            <a:spAutoFit/>
          </a:bodyPr>
          <a:lstStyle/>
          <a:p>
            <a:pPr algn="ctr"/>
            <a:r>
              <a:rPr sz="2600" b="1">
                <a:solidFill>
                  <a:srgbClr val="2C2C2E"/>
                </a:solidFill>
                <a:latin typeface="Helvetica Neue"/>
              </a:rPr>
              <a:t>💬</a:t>
            </a:r>
          </a:p>
        </p:txBody>
      </p:sp>
      <p:sp>
        <p:nvSpPr>
          <p:cNvPr id="26" name="TextBox 25"/>
          <p:cNvSpPr txBox="1"/>
          <p:nvPr/>
        </p:nvSpPr>
        <p:spPr>
          <a:xfrm>
            <a:off x="8199120" y="4297680"/>
            <a:ext cx="2956560" cy="868680"/>
          </a:xfrm>
          <a:prstGeom prst="rect">
            <a:avLst/>
          </a:prstGeom>
          <a:noFill/>
        </p:spPr>
        <p:txBody>
          <a:bodyPr wrap="square" lIns="45720" rIns="45720" tIns="18288" bIns="18288" anchor="t">
            <a:spAutoFit/>
          </a:bodyPr>
          <a:lstStyle/>
          <a:p>
            <a:pPr algn="ctr"/>
            <a:r>
              <a:rPr sz="2000" b="1">
                <a:solidFill>
                  <a:srgbClr val="2C2C2E"/>
                </a:solidFill>
                <a:latin typeface="Helvetica Neue"/>
              </a:rPr>
              <a:t>Feedbackkultur</a:t>
            </a:r>
          </a:p>
        </p:txBody>
      </p:sp>
      <p:sp>
        <p:nvSpPr>
          <p:cNvPr id="27" name="TextBox 26"/>
          <p:cNvSpPr txBox="1"/>
          <p:nvPr/>
        </p:nvSpPr>
        <p:spPr>
          <a:xfrm>
            <a:off x="8290560" y="5166360"/>
            <a:ext cx="2773680" cy="777240"/>
          </a:xfrm>
          <a:prstGeom prst="rect">
            <a:avLst/>
          </a:prstGeom>
          <a:noFill/>
        </p:spPr>
        <p:txBody>
          <a:bodyPr wrap="square" lIns="45720" rIns="45720" anchor="t">
            <a:spAutoFit/>
          </a:bodyPr>
          <a:lstStyle/>
          <a:p>
            <a:pPr algn="l">
              <a:lnSpc>
                <a:spcPct val="115000"/>
              </a:lnSpc>
              <a:spcAft>
                <a:spcPts val="600"/>
              </a:spcAft>
            </a:pPr>
            <a:r>
              <a:rPr sz="1300" b="1">
                <a:solidFill>
                  <a:srgbClr val="4F8FBF"/>
                </a:solidFill>
              </a:rPr>
              <a:t>•  </a:t>
            </a:r>
            <a:r>
              <a:rPr sz="1300">
                <a:solidFill>
                  <a:srgbClr val="4A4A4F"/>
                </a:solidFill>
                <a:latin typeface="Helvetica Neue"/>
              </a:rPr>
              <a:t>Mehr als nur Noten</a:t>
            </a:r>
          </a:p>
          <a:p>
            <a:pPr algn="l">
              <a:lnSpc>
                <a:spcPct val="115000"/>
              </a:lnSpc>
              <a:spcAft>
                <a:spcPts val="600"/>
              </a:spcAft>
            </a:pPr>
            <a:r>
              <a:rPr sz="1300" b="1">
                <a:solidFill>
                  <a:srgbClr val="4F8FBF"/>
                </a:solidFill>
              </a:rPr>
              <a:t>•  </a:t>
            </a:r>
            <a:r>
              <a:rPr sz="1300">
                <a:solidFill>
                  <a:srgbClr val="4A4A4F"/>
                </a:solidFill>
                <a:latin typeface="Helvetica Neue"/>
              </a:rPr>
              <a:t>Formative Rückmeldungen</a:t>
            </a:r>
          </a:p>
          <a:p>
            <a:pPr algn="l">
              <a:lnSpc>
                <a:spcPct val="115000"/>
              </a:lnSpc>
              <a:spcAft>
                <a:spcPts val="600"/>
              </a:spcAft>
            </a:pPr>
            <a:r>
              <a:rPr sz="1300" b="1">
                <a:solidFill>
                  <a:srgbClr val="4F8FBF"/>
                </a:solidFill>
              </a:rPr>
              <a:t>•  </a:t>
            </a:r>
            <a:r>
              <a:rPr sz="1300">
                <a:solidFill>
                  <a:srgbClr val="4A4A4F"/>
                </a:solidFill>
                <a:latin typeface="Helvetica Neue"/>
              </a:rPr>
              <a:t>Begleitet Lernprozesse individuell</a:t>
            </a:r>
          </a:p>
        </p:txBody>
      </p:sp>
      <p:sp>
        <p:nvSpPr>
          <p:cNvPr id="28" name="Rounded Rectangle 27"/>
          <p:cNvSpPr/>
          <p:nvPr/>
        </p:nvSpPr>
        <p:spPr>
          <a:xfrm>
            <a:off x="502920" y="6446520"/>
            <a:ext cx="411480" cy="109728"/>
          </a:xfrm>
          <a:prstGeom prst="roundRect">
            <a:avLst>
              <a:gd name="adj" fmla="val 50000"/>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6355080"/>
            <a:ext cx="1828800" cy="274320"/>
          </a:xfrm>
          <a:prstGeom prst="rect">
            <a:avLst/>
          </a:prstGeom>
          <a:noFill/>
        </p:spPr>
        <p:txBody>
          <a:bodyPr wrap="square" lIns="45720" rIns="45720" tIns="18288" bIns="18288" anchor="t">
            <a:spAutoFit/>
          </a:bodyPr>
          <a:lstStyle/>
          <a:p>
            <a:pPr algn="l"/>
            <a:r>
              <a:rPr sz="1100" b="0">
                <a:solidFill>
                  <a:srgbClr val="4A4A4F"/>
                </a:solidFill>
                <a:latin typeface="Helvetica Neue"/>
              </a:rPr>
              <a:t>06 / 11</a:t>
            </a:r>
          </a:p>
        </p:txBody>
      </p:sp>
      <p:sp>
        <p:nvSpPr>
          <p:cNvPr id="30" name="TextBox 29"/>
          <p:cNvSpPr txBox="1"/>
          <p:nvPr/>
        </p:nvSpPr>
        <p:spPr>
          <a:xfrm>
            <a:off x="9784080" y="6355080"/>
            <a:ext cx="2194560" cy="274320"/>
          </a:xfrm>
          <a:prstGeom prst="rect">
            <a:avLst/>
          </a:prstGeom>
          <a:noFill/>
        </p:spPr>
        <p:txBody>
          <a:bodyPr wrap="square" lIns="45720" rIns="45720" tIns="18288" bIns="18288" anchor="t">
            <a:spAutoFit/>
          </a:bodyPr>
          <a:lstStyle/>
          <a:p>
            <a:pPr algn="r"/>
            <a:r>
              <a:rPr sz="1100" b="0">
                <a:solidFill>
                  <a:srgbClr val="4A4A4F"/>
                </a:solidFill>
                <a:latin typeface="Helvetica Neue"/>
              </a:rPr>
              <a:t>Seminarfachkurs Glück</a:t>
            </a:r>
          </a:p>
        </p:txBody>
      </p:sp>
    </p:spTree>
  </p:cSld>
  <p:clrMapOvr>
    <a:masterClrMapping/>
  </p:clrMapOvr>
  <p:transition xmlns:p14="http://schemas.microsoft.com/office/powerpoint/2010/main" xmlns:mc="http://schemas.openxmlformats.org/markup-compatibility/2006" spd="med">
    <p:push dir="l"/>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45920" y="-1645920"/>
            <a:ext cx="4114800" cy="4114800"/>
          </a:xfrm>
          <a:prstGeom prst="ellipse">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58400" y="4572000"/>
            <a:ext cx="3657600" cy="3657600"/>
          </a:xfrm>
          <a:prstGeom prst="ellipse">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7315200" cy="320040"/>
          </a:xfrm>
          <a:prstGeom prst="rect">
            <a:avLst/>
          </a:prstGeom>
          <a:noFill/>
        </p:spPr>
        <p:txBody>
          <a:bodyPr wrap="square" lIns="45720" rIns="45720" tIns="18288" bIns="18288" anchor="t">
            <a:spAutoFit/>
          </a:bodyPr>
          <a:lstStyle/>
          <a:p>
            <a:pPr algn="l"/>
            <a:r>
              <a:rPr sz="1100" b="1">
                <a:solidFill>
                  <a:srgbClr val="4F8FBF"/>
                </a:solidFill>
                <a:latin typeface="Helvetica Neue"/>
              </a:rPr>
              <a:t>06 · INTERAKTION</a:t>
            </a:r>
          </a:p>
        </p:txBody>
      </p:sp>
      <p:sp>
        <p:nvSpPr>
          <p:cNvPr id="6" name="TextBox 5"/>
          <p:cNvSpPr txBox="1"/>
          <p:nvPr/>
        </p:nvSpPr>
        <p:spPr>
          <a:xfrm>
            <a:off x="822960" y="868680"/>
            <a:ext cx="10515600" cy="914400"/>
          </a:xfrm>
          <a:prstGeom prst="rect">
            <a:avLst/>
          </a:prstGeom>
          <a:noFill/>
        </p:spPr>
        <p:txBody>
          <a:bodyPr wrap="square" lIns="45720" rIns="45720" tIns="18288" bIns="18288" anchor="t">
            <a:spAutoFit/>
          </a:bodyPr>
          <a:lstStyle/>
          <a:p>
            <a:pPr algn="l"/>
            <a:r>
              <a:rPr sz="4400" b="1">
                <a:solidFill>
                  <a:srgbClr val="2C2C2E"/>
                </a:solidFill>
                <a:latin typeface="Helvetica Neue"/>
              </a:rPr>
              <a:t>Kurze Umfrage</a:t>
            </a:r>
          </a:p>
        </p:txBody>
      </p:sp>
      <p:sp>
        <p:nvSpPr>
          <p:cNvPr id="7" name="Rounded Rectangle 6"/>
          <p:cNvSpPr/>
          <p:nvPr/>
        </p:nvSpPr>
        <p:spPr>
          <a:xfrm>
            <a:off x="822960" y="1874519"/>
            <a:ext cx="10561320" cy="1280160"/>
          </a:xfrm>
          <a:prstGeom prst="roundRect">
            <a:avLst>
              <a:gd name="adj" fmla="val 18000"/>
            </a:avLst>
          </a:prstGeom>
          <a:solidFill>
            <a:srgbClr val="FFF7C7"/>
          </a:solidFill>
          <a:ln>
            <a:no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874519"/>
            <a:ext cx="10058400" cy="1280160"/>
          </a:xfrm>
          <a:prstGeom prst="rect">
            <a:avLst/>
          </a:prstGeom>
          <a:noFill/>
        </p:spPr>
        <p:txBody>
          <a:bodyPr wrap="square" lIns="45720" rIns="45720" tIns="18288" bIns="18288" anchor="ctr">
            <a:spAutoFit/>
          </a:bodyPr>
          <a:lstStyle/>
          <a:p>
            <a:pPr algn="l"/>
            <a:r>
              <a:rPr sz="2200" b="1">
                <a:solidFill>
                  <a:srgbClr val="2C2C2E"/>
                </a:solidFill>
                <a:latin typeface="Helvetica Neue"/>
              </a:rPr>
              <a:t>„Was beeinflusst euer Wohlbefinden in der Schule am stärksten?“</a:t>
            </a:r>
          </a:p>
        </p:txBody>
      </p:sp>
      <p:sp>
        <p:nvSpPr>
          <p:cNvPr id="9" name="Rounded Rectangle 8"/>
          <p:cNvSpPr/>
          <p:nvPr/>
        </p:nvSpPr>
        <p:spPr>
          <a:xfrm>
            <a:off x="822960" y="3520440"/>
            <a:ext cx="2457450" cy="1280160"/>
          </a:xfrm>
          <a:prstGeom prst="roundRect">
            <a:avLst>
              <a:gd name="adj" fmla="val 25000"/>
            </a:avLst>
          </a:prstGeom>
          <a:solidFill>
            <a:srgbClr val="CFEFFF"/>
          </a:solidFill>
          <a:ln>
            <a:no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703320"/>
            <a:ext cx="2457450" cy="502920"/>
          </a:xfrm>
          <a:prstGeom prst="rect">
            <a:avLst/>
          </a:prstGeom>
          <a:noFill/>
        </p:spPr>
        <p:txBody>
          <a:bodyPr wrap="square" lIns="45720" rIns="45720" tIns="18288" bIns="18288" anchor="ctr">
            <a:spAutoFit/>
          </a:bodyPr>
          <a:lstStyle/>
          <a:p>
            <a:pPr algn="ctr"/>
            <a:r>
              <a:rPr sz="3000" b="1">
                <a:solidFill>
                  <a:srgbClr val="2C2C2E"/>
                </a:solidFill>
                <a:latin typeface="Helvetica Neue"/>
              </a:rPr>
              <a:t>📚</a:t>
            </a:r>
          </a:p>
        </p:txBody>
      </p:sp>
      <p:sp>
        <p:nvSpPr>
          <p:cNvPr id="11" name="TextBox 10"/>
          <p:cNvSpPr txBox="1"/>
          <p:nvPr/>
        </p:nvSpPr>
        <p:spPr>
          <a:xfrm>
            <a:off x="822960" y="4251960"/>
            <a:ext cx="2457450" cy="457200"/>
          </a:xfrm>
          <a:prstGeom prst="rect">
            <a:avLst/>
          </a:prstGeom>
          <a:noFill/>
        </p:spPr>
        <p:txBody>
          <a:bodyPr wrap="square" lIns="45720" rIns="45720" tIns="18288" bIns="18288" anchor="ctr">
            <a:spAutoFit/>
          </a:bodyPr>
          <a:lstStyle/>
          <a:p>
            <a:pPr algn="ctr"/>
            <a:r>
              <a:rPr sz="1700" b="1">
                <a:solidFill>
                  <a:srgbClr val="2C2C2E"/>
                </a:solidFill>
                <a:latin typeface="Helvetica Neue"/>
              </a:rPr>
              <a:t>Notendruck</a:t>
            </a:r>
          </a:p>
        </p:txBody>
      </p:sp>
      <p:sp>
        <p:nvSpPr>
          <p:cNvPr id="12" name="Rounded Rectangle 11"/>
          <p:cNvSpPr/>
          <p:nvPr/>
        </p:nvSpPr>
        <p:spPr>
          <a:xfrm>
            <a:off x="3509010" y="3520440"/>
            <a:ext cx="2457450" cy="1280160"/>
          </a:xfrm>
          <a:prstGeom prst="roundRect">
            <a:avLst>
              <a:gd name="adj" fmla="val 25000"/>
            </a:avLst>
          </a:prstGeom>
          <a:solidFill>
            <a:srgbClr val="FFD9E8"/>
          </a:solidFill>
          <a:ln>
            <a:no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9010" y="3703320"/>
            <a:ext cx="2457450" cy="502920"/>
          </a:xfrm>
          <a:prstGeom prst="rect">
            <a:avLst/>
          </a:prstGeom>
          <a:noFill/>
        </p:spPr>
        <p:txBody>
          <a:bodyPr wrap="square" lIns="45720" rIns="45720" tIns="18288" bIns="18288" anchor="ctr">
            <a:spAutoFit/>
          </a:bodyPr>
          <a:lstStyle/>
          <a:p>
            <a:pPr algn="ctr"/>
            <a:r>
              <a:rPr sz="3000" b="1">
                <a:solidFill>
                  <a:srgbClr val="2C2C2E"/>
                </a:solidFill>
                <a:latin typeface="Helvetica Neue"/>
              </a:rPr>
              <a:t>👩‍🏫</a:t>
            </a:r>
          </a:p>
        </p:txBody>
      </p:sp>
      <p:sp>
        <p:nvSpPr>
          <p:cNvPr id="14" name="TextBox 13"/>
          <p:cNvSpPr txBox="1"/>
          <p:nvPr/>
        </p:nvSpPr>
        <p:spPr>
          <a:xfrm>
            <a:off x="3509010" y="4251960"/>
            <a:ext cx="2457450" cy="457200"/>
          </a:xfrm>
          <a:prstGeom prst="rect">
            <a:avLst/>
          </a:prstGeom>
          <a:noFill/>
        </p:spPr>
        <p:txBody>
          <a:bodyPr wrap="square" lIns="45720" rIns="45720" tIns="18288" bIns="18288" anchor="ctr">
            <a:spAutoFit/>
          </a:bodyPr>
          <a:lstStyle/>
          <a:p>
            <a:pPr algn="ctr"/>
            <a:r>
              <a:rPr sz="1700" b="1">
                <a:solidFill>
                  <a:srgbClr val="2C2C2E"/>
                </a:solidFill>
                <a:latin typeface="Helvetica Neue"/>
              </a:rPr>
              <a:t>Lehrkräfte</a:t>
            </a:r>
          </a:p>
        </p:txBody>
      </p:sp>
      <p:sp>
        <p:nvSpPr>
          <p:cNvPr id="15" name="Rounded Rectangle 14"/>
          <p:cNvSpPr/>
          <p:nvPr/>
        </p:nvSpPr>
        <p:spPr>
          <a:xfrm>
            <a:off x="6195060" y="3520440"/>
            <a:ext cx="2457450" cy="1280160"/>
          </a:xfrm>
          <a:prstGeom prst="roundRect">
            <a:avLst>
              <a:gd name="adj" fmla="val 25000"/>
            </a:avLst>
          </a:prstGeom>
          <a:solidFill>
            <a:srgbClr val="FFF7C7"/>
          </a:solidFill>
          <a:ln>
            <a:no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5060" y="3703320"/>
            <a:ext cx="2457450" cy="502920"/>
          </a:xfrm>
          <a:prstGeom prst="rect">
            <a:avLst/>
          </a:prstGeom>
          <a:noFill/>
        </p:spPr>
        <p:txBody>
          <a:bodyPr wrap="square" lIns="45720" rIns="45720" tIns="18288" bIns="18288" anchor="ctr">
            <a:spAutoFit/>
          </a:bodyPr>
          <a:lstStyle/>
          <a:p>
            <a:pPr algn="ctr"/>
            <a:r>
              <a:rPr sz="3000" b="1">
                <a:solidFill>
                  <a:srgbClr val="2C2C2E"/>
                </a:solidFill>
                <a:latin typeface="Helvetica Neue"/>
              </a:rPr>
              <a:t>👥</a:t>
            </a:r>
          </a:p>
        </p:txBody>
      </p:sp>
      <p:sp>
        <p:nvSpPr>
          <p:cNvPr id="17" name="TextBox 16"/>
          <p:cNvSpPr txBox="1"/>
          <p:nvPr/>
        </p:nvSpPr>
        <p:spPr>
          <a:xfrm>
            <a:off x="6195060" y="4251960"/>
            <a:ext cx="2457450" cy="457200"/>
          </a:xfrm>
          <a:prstGeom prst="rect">
            <a:avLst/>
          </a:prstGeom>
          <a:noFill/>
        </p:spPr>
        <p:txBody>
          <a:bodyPr wrap="square" lIns="45720" rIns="45720" tIns="18288" bIns="18288" anchor="ctr">
            <a:spAutoFit/>
          </a:bodyPr>
          <a:lstStyle/>
          <a:p>
            <a:pPr algn="ctr"/>
            <a:r>
              <a:rPr sz="1700" b="1">
                <a:solidFill>
                  <a:srgbClr val="2C2C2E"/>
                </a:solidFill>
                <a:latin typeface="Helvetica Neue"/>
              </a:rPr>
              <a:t>Mitschüler:innen</a:t>
            </a:r>
          </a:p>
        </p:txBody>
      </p:sp>
      <p:sp>
        <p:nvSpPr>
          <p:cNvPr id="18" name="Rounded Rectangle 17"/>
          <p:cNvSpPr/>
          <p:nvPr/>
        </p:nvSpPr>
        <p:spPr>
          <a:xfrm>
            <a:off x="8881110" y="3520440"/>
            <a:ext cx="2457450" cy="1280160"/>
          </a:xfrm>
          <a:prstGeom prst="roundRect">
            <a:avLst>
              <a:gd name="adj" fmla="val 25000"/>
            </a:avLst>
          </a:prstGeom>
          <a:solidFill>
            <a:srgbClr val="CFEFFF"/>
          </a:solidFill>
          <a:ln>
            <a:no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1110" y="3703320"/>
            <a:ext cx="2457450" cy="502920"/>
          </a:xfrm>
          <a:prstGeom prst="rect">
            <a:avLst/>
          </a:prstGeom>
          <a:noFill/>
        </p:spPr>
        <p:txBody>
          <a:bodyPr wrap="square" lIns="45720" rIns="45720" tIns="18288" bIns="18288" anchor="ctr">
            <a:spAutoFit/>
          </a:bodyPr>
          <a:lstStyle/>
          <a:p>
            <a:pPr algn="ctr"/>
            <a:r>
              <a:rPr sz="3000" b="1">
                <a:solidFill>
                  <a:srgbClr val="2C2C2E"/>
                </a:solidFill>
                <a:latin typeface="Helvetica Neue"/>
              </a:rPr>
              <a:t>🕒</a:t>
            </a:r>
          </a:p>
        </p:txBody>
      </p:sp>
      <p:sp>
        <p:nvSpPr>
          <p:cNvPr id="20" name="TextBox 19"/>
          <p:cNvSpPr txBox="1"/>
          <p:nvPr/>
        </p:nvSpPr>
        <p:spPr>
          <a:xfrm>
            <a:off x="8881110" y="4251960"/>
            <a:ext cx="2457450" cy="457200"/>
          </a:xfrm>
          <a:prstGeom prst="rect">
            <a:avLst/>
          </a:prstGeom>
          <a:noFill/>
        </p:spPr>
        <p:txBody>
          <a:bodyPr wrap="square" lIns="45720" rIns="45720" tIns="18288" bIns="18288" anchor="ctr">
            <a:spAutoFit/>
          </a:bodyPr>
          <a:lstStyle/>
          <a:p>
            <a:pPr algn="ctr"/>
            <a:r>
              <a:rPr sz="1700" b="1">
                <a:solidFill>
                  <a:srgbClr val="2C2C2E"/>
                </a:solidFill>
                <a:latin typeface="Helvetica Neue"/>
              </a:rPr>
              <a:t>Zeitstress</a:t>
            </a:r>
          </a:p>
        </p:txBody>
      </p:sp>
      <p:sp>
        <p:nvSpPr>
          <p:cNvPr id="21" name="TextBox 20"/>
          <p:cNvSpPr txBox="1"/>
          <p:nvPr/>
        </p:nvSpPr>
        <p:spPr>
          <a:xfrm>
            <a:off x="822960" y="4983480"/>
            <a:ext cx="10561320" cy="365760"/>
          </a:xfrm>
          <a:prstGeom prst="rect">
            <a:avLst/>
          </a:prstGeom>
          <a:noFill/>
        </p:spPr>
        <p:txBody>
          <a:bodyPr wrap="square" lIns="45720" rIns="45720" tIns="18288" bIns="18288" anchor="t">
            <a:spAutoFit/>
          </a:bodyPr>
          <a:lstStyle/>
          <a:p>
            <a:pPr algn="ctr"/>
            <a:r>
              <a:rPr sz="1600" b="0">
                <a:solidFill>
                  <a:srgbClr val="4A4A4F"/>
                </a:solidFill>
                <a:latin typeface="Helvetica Neue"/>
              </a:rPr>
              <a:t>Kurzes Handzeichen.</a:t>
            </a:r>
          </a:p>
        </p:txBody>
      </p:sp>
      <p:sp>
        <p:nvSpPr>
          <p:cNvPr id="22" name="Rounded Rectangle 21"/>
          <p:cNvSpPr/>
          <p:nvPr/>
        </p:nvSpPr>
        <p:spPr>
          <a:xfrm>
            <a:off x="2286000" y="5486400"/>
            <a:ext cx="7635240" cy="777240"/>
          </a:xfrm>
          <a:prstGeom prst="roundRect">
            <a:avLst>
              <a:gd name="adj" fmla="val 40000"/>
            </a:avLst>
          </a:prstGeom>
          <a:solidFill>
            <a:srgbClr val="FFD9E8"/>
          </a:solidFill>
          <a:ln>
            <a:no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86000" y="5486400"/>
            <a:ext cx="7635240" cy="777240"/>
          </a:xfrm>
          <a:prstGeom prst="rect">
            <a:avLst/>
          </a:prstGeom>
          <a:noFill/>
        </p:spPr>
        <p:txBody>
          <a:bodyPr wrap="square" lIns="45720" rIns="45720" tIns="18288" bIns="18288" anchor="ctr">
            <a:spAutoFit/>
          </a:bodyPr>
          <a:lstStyle/>
          <a:p>
            <a:pPr algn="ctr"/>
            <a:r>
              <a:rPr sz="1800" b="1">
                <a:solidFill>
                  <a:srgbClr val="2C2C2E"/>
                </a:solidFill>
                <a:latin typeface="Helvetica Neue"/>
              </a:rPr>
              <a:t>Alle Faktoren spielen laut Facharbeit eine wichtige Rolle.</a:t>
            </a:r>
          </a:p>
        </p:txBody>
      </p:sp>
      <p:sp>
        <p:nvSpPr>
          <p:cNvPr id="24" name="Rounded Rectangle 23"/>
          <p:cNvSpPr/>
          <p:nvPr/>
        </p:nvSpPr>
        <p:spPr>
          <a:xfrm>
            <a:off x="502920" y="6446520"/>
            <a:ext cx="411480" cy="109728"/>
          </a:xfrm>
          <a:prstGeom prst="roundRect">
            <a:avLst>
              <a:gd name="adj" fmla="val 50000"/>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6355080"/>
            <a:ext cx="1828800" cy="274320"/>
          </a:xfrm>
          <a:prstGeom prst="rect">
            <a:avLst/>
          </a:prstGeom>
          <a:noFill/>
        </p:spPr>
        <p:txBody>
          <a:bodyPr wrap="square" lIns="45720" rIns="45720" tIns="18288" bIns="18288" anchor="t">
            <a:spAutoFit/>
          </a:bodyPr>
          <a:lstStyle/>
          <a:p>
            <a:pPr algn="l"/>
            <a:r>
              <a:rPr sz="1100" b="0">
                <a:solidFill>
                  <a:srgbClr val="4A4A4F"/>
                </a:solidFill>
                <a:latin typeface="Helvetica Neue"/>
              </a:rPr>
              <a:t>07 / 11</a:t>
            </a:r>
          </a:p>
        </p:txBody>
      </p:sp>
      <p:sp>
        <p:nvSpPr>
          <p:cNvPr id="26" name="TextBox 25"/>
          <p:cNvSpPr txBox="1"/>
          <p:nvPr/>
        </p:nvSpPr>
        <p:spPr>
          <a:xfrm>
            <a:off x="9784080" y="6355080"/>
            <a:ext cx="2194560" cy="274320"/>
          </a:xfrm>
          <a:prstGeom prst="rect">
            <a:avLst/>
          </a:prstGeom>
          <a:noFill/>
        </p:spPr>
        <p:txBody>
          <a:bodyPr wrap="square" lIns="45720" rIns="45720" tIns="18288" bIns="18288" anchor="t">
            <a:spAutoFit/>
          </a:bodyPr>
          <a:lstStyle/>
          <a:p>
            <a:pPr algn="r"/>
            <a:r>
              <a:rPr sz="1100" b="0">
                <a:solidFill>
                  <a:srgbClr val="4A4A4F"/>
                </a:solidFill>
                <a:latin typeface="Helvetica Neue"/>
              </a:rPr>
              <a:t>Seminarfachkurs Glück</a:t>
            </a:r>
          </a:p>
        </p:txBody>
      </p:sp>
    </p:spTree>
  </p:cSld>
  <p:clrMapOvr>
    <a:masterClrMapping/>
  </p:clrMapOvr>
  <p:transition xmlns:p14="http://schemas.microsoft.com/office/powerpoint/2010/main" xmlns:mc="http://schemas.openxmlformats.org/markup-compatibility/2006" spd="med">
    <p:dissolv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20040"/>
          </a:xfrm>
          <a:prstGeom prst="rect">
            <a:avLst/>
          </a:prstGeom>
          <a:noFill/>
        </p:spPr>
        <p:txBody>
          <a:bodyPr wrap="square" lIns="45720" rIns="45720" tIns="18288" bIns="18288" anchor="t">
            <a:spAutoFit/>
          </a:bodyPr>
          <a:lstStyle/>
          <a:p>
            <a:pPr algn="l"/>
            <a:r>
              <a:rPr sz="1100" b="1">
                <a:solidFill>
                  <a:srgbClr val="4F8FBF"/>
                </a:solidFill>
                <a:latin typeface="Helvetica Neue"/>
              </a:rPr>
              <a:t>07 · BLICK ÜBER DEN TELLERRAND</a:t>
            </a:r>
          </a:p>
        </p:txBody>
      </p:sp>
      <p:sp>
        <p:nvSpPr>
          <p:cNvPr id="4" name="TextBox 3"/>
          <p:cNvSpPr txBox="1"/>
          <p:nvPr/>
        </p:nvSpPr>
        <p:spPr>
          <a:xfrm>
            <a:off x="822960" y="868680"/>
            <a:ext cx="10515600" cy="914400"/>
          </a:xfrm>
          <a:prstGeom prst="rect">
            <a:avLst/>
          </a:prstGeom>
          <a:noFill/>
        </p:spPr>
        <p:txBody>
          <a:bodyPr wrap="square" lIns="45720" rIns="45720" tIns="18288" bIns="18288" anchor="t">
            <a:spAutoFit/>
          </a:bodyPr>
          <a:lstStyle/>
          <a:p>
            <a:pPr algn="l"/>
            <a:r>
              <a:rPr sz="4400" b="1">
                <a:solidFill>
                  <a:srgbClr val="2C2C2E"/>
                </a:solidFill>
                <a:latin typeface="Helvetica Neue"/>
              </a:rPr>
              <a:t>Internationaler Vergleich</a:t>
            </a:r>
          </a:p>
        </p:txBody>
      </p:sp>
      <p:sp>
        <p:nvSpPr>
          <p:cNvPr id="5" name="TextBox 4"/>
          <p:cNvSpPr txBox="1"/>
          <p:nvPr/>
        </p:nvSpPr>
        <p:spPr>
          <a:xfrm>
            <a:off x="822960" y="1691640"/>
            <a:ext cx="10515600" cy="365760"/>
          </a:xfrm>
          <a:prstGeom prst="rect">
            <a:avLst/>
          </a:prstGeom>
          <a:noFill/>
        </p:spPr>
        <p:txBody>
          <a:bodyPr wrap="square" lIns="45720" rIns="45720" tIns="18288" bIns="18288" anchor="t">
            <a:spAutoFit/>
          </a:bodyPr>
          <a:lstStyle/>
          <a:p>
            <a:pPr algn="l"/>
            <a:r>
              <a:rPr sz="1600" b="0">
                <a:solidFill>
                  <a:srgbClr val="4A4A4F"/>
                </a:solidFill>
                <a:latin typeface="Helvetica Neue"/>
              </a:rPr>
              <a:t>Drei Bildungssysteme – drei Philosophien.</a:t>
            </a:r>
          </a:p>
        </p:txBody>
      </p:sp>
      <p:sp>
        <p:nvSpPr>
          <p:cNvPr id="6" name="Rounded Rectangle 5"/>
          <p:cNvSpPr/>
          <p:nvPr/>
        </p:nvSpPr>
        <p:spPr>
          <a:xfrm>
            <a:off x="822960" y="2377440"/>
            <a:ext cx="3322320" cy="3566160"/>
          </a:xfrm>
          <a:prstGeom prst="roundRect">
            <a:avLst>
              <a:gd name="adj" fmla="val 7000"/>
            </a:avLst>
          </a:prstGeom>
          <a:solidFill>
            <a:srgbClr val="FFFFFF"/>
          </a:solidFill>
          <a:ln w="9525">
            <a:solidFill>
              <a:srgbClr val="D8D8DE"/>
            </a:solid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377440"/>
            <a:ext cx="3322320" cy="960120"/>
          </a:xfrm>
          <a:prstGeom prst="roundRect">
            <a:avLst>
              <a:gd name="adj" fmla="val 12000"/>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880360"/>
            <a:ext cx="3322320" cy="457200"/>
          </a:xfrm>
          <a:prstGeom prst="rect">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2032"/>
            <a:ext cx="3322320" cy="457200"/>
          </a:xfrm>
          <a:prstGeom prst="rect">
            <a:avLst/>
          </a:prstGeom>
          <a:noFill/>
        </p:spPr>
        <p:txBody>
          <a:bodyPr wrap="square" lIns="45720" rIns="45720" tIns="18288" bIns="18288" anchor="ctr">
            <a:spAutoFit/>
          </a:bodyPr>
          <a:lstStyle/>
          <a:p>
            <a:pPr algn="ctr"/>
            <a:r>
              <a:rPr sz="3000" b="1">
                <a:solidFill>
                  <a:srgbClr val="2C2C2E"/>
                </a:solidFill>
                <a:latin typeface="Helvetica Neue"/>
              </a:rPr>
              <a:t>🇩🇪</a:t>
            </a:r>
          </a:p>
        </p:txBody>
      </p:sp>
      <p:sp>
        <p:nvSpPr>
          <p:cNvPr id="10" name="TextBox 9"/>
          <p:cNvSpPr txBox="1"/>
          <p:nvPr/>
        </p:nvSpPr>
        <p:spPr>
          <a:xfrm>
            <a:off x="822960" y="3017520"/>
            <a:ext cx="3322320" cy="365760"/>
          </a:xfrm>
          <a:prstGeom prst="rect">
            <a:avLst/>
          </a:prstGeom>
          <a:noFill/>
        </p:spPr>
        <p:txBody>
          <a:bodyPr wrap="square" lIns="45720" rIns="45720" tIns="18288" bIns="18288" anchor="ctr">
            <a:spAutoFit/>
          </a:bodyPr>
          <a:lstStyle/>
          <a:p>
            <a:pPr algn="ctr"/>
            <a:r>
              <a:rPr sz="1800" b="1">
                <a:solidFill>
                  <a:srgbClr val="2C2C2E"/>
                </a:solidFill>
                <a:latin typeface="Helvetica Neue"/>
              </a:rPr>
              <a:t>Deutschland</a:t>
            </a:r>
          </a:p>
        </p:txBody>
      </p:sp>
      <p:sp>
        <p:nvSpPr>
          <p:cNvPr id="11" name="TextBox 10"/>
          <p:cNvSpPr txBox="1"/>
          <p:nvPr/>
        </p:nvSpPr>
        <p:spPr>
          <a:xfrm>
            <a:off x="1097280" y="3566160"/>
            <a:ext cx="2773680" cy="2286000"/>
          </a:xfrm>
          <a:prstGeom prst="rect">
            <a:avLst/>
          </a:prstGeom>
          <a:noFill/>
        </p:spPr>
        <p:txBody>
          <a:bodyPr wrap="square" lIns="45720" rIns="45720" anchor="t">
            <a:spAutoFit/>
          </a:bodyPr>
          <a:lstStyle/>
          <a:p>
            <a:pPr algn="l">
              <a:lnSpc>
                <a:spcPct val="120000"/>
              </a:lnSpc>
              <a:spcAft>
                <a:spcPts val="800"/>
              </a:spcAft>
            </a:pPr>
            <a:r>
              <a:rPr sz="1500" b="1">
                <a:solidFill>
                  <a:srgbClr val="4F8FBF"/>
                </a:solidFill>
              </a:rPr>
              <a:t>›  </a:t>
            </a:r>
            <a:r>
              <a:rPr sz="1500">
                <a:solidFill>
                  <a:srgbClr val="4A4A4F"/>
                </a:solidFill>
                <a:latin typeface="Helvetica Neue"/>
              </a:rPr>
              <a:t>frühe Aufteilung nach Klasse 4</a:t>
            </a:r>
          </a:p>
          <a:p>
            <a:pPr algn="l">
              <a:lnSpc>
                <a:spcPct val="120000"/>
              </a:lnSpc>
              <a:spcAft>
                <a:spcPts val="800"/>
              </a:spcAft>
            </a:pPr>
            <a:r>
              <a:rPr sz="1500" b="1">
                <a:solidFill>
                  <a:srgbClr val="4F8FBF"/>
                </a:solidFill>
              </a:rPr>
              <a:t>›  </a:t>
            </a:r>
            <a:r>
              <a:rPr sz="1500">
                <a:solidFill>
                  <a:srgbClr val="4A4A4F"/>
                </a:solidFill>
                <a:latin typeface="Helvetica Neue"/>
              </a:rPr>
              <a:t>viele Noten &amp; Prüfungen</a:t>
            </a:r>
          </a:p>
          <a:p>
            <a:pPr algn="l">
              <a:lnSpc>
                <a:spcPct val="120000"/>
              </a:lnSpc>
              <a:spcAft>
                <a:spcPts val="800"/>
              </a:spcAft>
            </a:pPr>
            <a:r>
              <a:rPr sz="1500" b="1">
                <a:solidFill>
                  <a:srgbClr val="4F8FBF"/>
                </a:solidFill>
              </a:rPr>
              <a:t>›  </a:t>
            </a:r>
            <a:r>
              <a:rPr sz="1500">
                <a:solidFill>
                  <a:srgbClr val="4A4A4F"/>
                </a:solidFill>
                <a:latin typeface="Helvetica Neue"/>
              </a:rPr>
              <a:t>starke Differenzierung</a:t>
            </a:r>
          </a:p>
        </p:txBody>
      </p:sp>
      <p:sp>
        <p:nvSpPr>
          <p:cNvPr id="12" name="Rounded Rectangle 11"/>
          <p:cNvSpPr/>
          <p:nvPr/>
        </p:nvSpPr>
        <p:spPr>
          <a:xfrm>
            <a:off x="4419600" y="2377440"/>
            <a:ext cx="3322320" cy="3566160"/>
          </a:xfrm>
          <a:prstGeom prst="roundRect">
            <a:avLst>
              <a:gd name="adj" fmla="val 7000"/>
            </a:avLst>
          </a:prstGeom>
          <a:solidFill>
            <a:srgbClr val="FFFFFF"/>
          </a:solidFill>
          <a:ln w="9525">
            <a:solidFill>
              <a:srgbClr val="D8D8DE"/>
            </a:solid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19600" y="2377440"/>
            <a:ext cx="3322320" cy="960120"/>
          </a:xfrm>
          <a:prstGeom prst="roundRect">
            <a:avLst>
              <a:gd name="adj" fmla="val 12000"/>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9600" y="2880360"/>
            <a:ext cx="3322320" cy="457200"/>
          </a:xfrm>
          <a:prstGeom prst="rect">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9600" y="2542032"/>
            <a:ext cx="3322320" cy="457200"/>
          </a:xfrm>
          <a:prstGeom prst="rect">
            <a:avLst/>
          </a:prstGeom>
          <a:noFill/>
        </p:spPr>
        <p:txBody>
          <a:bodyPr wrap="square" lIns="45720" rIns="45720" tIns="18288" bIns="18288" anchor="ctr">
            <a:spAutoFit/>
          </a:bodyPr>
          <a:lstStyle/>
          <a:p>
            <a:pPr algn="ctr"/>
            <a:r>
              <a:rPr sz="3000" b="1">
                <a:solidFill>
                  <a:srgbClr val="2C2C2E"/>
                </a:solidFill>
                <a:latin typeface="Helvetica Neue"/>
              </a:rPr>
              <a:t>🇫🇮</a:t>
            </a:r>
          </a:p>
        </p:txBody>
      </p:sp>
      <p:sp>
        <p:nvSpPr>
          <p:cNvPr id="16" name="TextBox 15"/>
          <p:cNvSpPr txBox="1"/>
          <p:nvPr/>
        </p:nvSpPr>
        <p:spPr>
          <a:xfrm>
            <a:off x="4419600" y="3017520"/>
            <a:ext cx="3322320" cy="365760"/>
          </a:xfrm>
          <a:prstGeom prst="rect">
            <a:avLst/>
          </a:prstGeom>
          <a:noFill/>
        </p:spPr>
        <p:txBody>
          <a:bodyPr wrap="square" lIns="45720" rIns="45720" tIns="18288" bIns="18288" anchor="ctr">
            <a:spAutoFit/>
          </a:bodyPr>
          <a:lstStyle/>
          <a:p>
            <a:pPr algn="ctr"/>
            <a:r>
              <a:rPr sz="1800" b="1">
                <a:solidFill>
                  <a:srgbClr val="2C2C2E"/>
                </a:solidFill>
                <a:latin typeface="Helvetica Neue"/>
              </a:rPr>
              <a:t>Finnland</a:t>
            </a:r>
          </a:p>
        </p:txBody>
      </p:sp>
      <p:sp>
        <p:nvSpPr>
          <p:cNvPr id="17" name="TextBox 16"/>
          <p:cNvSpPr txBox="1"/>
          <p:nvPr/>
        </p:nvSpPr>
        <p:spPr>
          <a:xfrm>
            <a:off x="4693920" y="3566160"/>
            <a:ext cx="2773680" cy="2286000"/>
          </a:xfrm>
          <a:prstGeom prst="rect">
            <a:avLst/>
          </a:prstGeom>
          <a:noFill/>
        </p:spPr>
        <p:txBody>
          <a:bodyPr wrap="square" lIns="45720" rIns="45720" anchor="t">
            <a:spAutoFit/>
          </a:bodyPr>
          <a:lstStyle/>
          <a:p>
            <a:pPr algn="l">
              <a:lnSpc>
                <a:spcPct val="120000"/>
              </a:lnSpc>
              <a:spcAft>
                <a:spcPts val="800"/>
              </a:spcAft>
            </a:pPr>
            <a:r>
              <a:rPr sz="1500" b="1">
                <a:solidFill>
                  <a:srgbClr val="4F8FBF"/>
                </a:solidFill>
              </a:rPr>
              <a:t>›  </a:t>
            </a:r>
            <a:r>
              <a:rPr sz="1500">
                <a:solidFill>
                  <a:srgbClr val="4A4A4F"/>
                </a:solidFill>
                <a:latin typeface="Helvetica Neue"/>
              </a:rPr>
              <a:t>längeres gemeinsames Lernen</a:t>
            </a:r>
          </a:p>
          <a:p>
            <a:pPr algn="l">
              <a:lnSpc>
                <a:spcPct val="120000"/>
              </a:lnSpc>
              <a:spcAft>
                <a:spcPts val="800"/>
              </a:spcAft>
            </a:pPr>
            <a:r>
              <a:rPr sz="1500" b="1">
                <a:solidFill>
                  <a:srgbClr val="4F8FBF"/>
                </a:solidFill>
              </a:rPr>
              <a:t>›  </a:t>
            </a:r>
            <a:r>
              <a:rPr sz="1500">
                <a:solidFill>
                  <a:srgbClr val="4A4A4F"/>
                </a:solidFill>
                <a:latin typeface="Helvetica Neue"/>
              </a:rPr>
              <a:t>spätere Leistungsdifferenzierung</a:t>
            </a:r>
          </a:p>
          <a:p>
            <a:pPr algn="l">
              <a:lnSpc>
                <a:spcPct val="120000"/>
              </a:lnSpc>
              <a:spcAft>
                <a:spcPts val="800"/>
              </a:spcAft>
            </a:pPr>
            <a:r>
              <a:rPr sz="1500" b="1">
                <a:solidFill>
                  <a:srgbClr val="4F8FBF"/>
                </a:solidFill>
              </a:rPr>
              <a:t>›  </a:t>
            </a:r>
            <a:r>
              <a:rPr sz="1500">
                <a:solidFill>
                  <a:srgbClr val="4A4A4F"/>
                </a:solidFill>
                <a:latin typeface="Helvetica Neue"/>
              </a:rPr>
              <a:t>geringer Notenfokus</a:t>
            </a:r>
          </a:p>
        </p:txBody>
      </p:sp>
      <p:sp>
        <p:nvSpPr>
          <p:cNvPr id="18" name="Rounded Rectangle 17"/>
          <p:cNvSpPr/>
          <p:nvPr/>
        </p:nvSpPr>
        <p:spPr>
          <a:xfrm>
            <a:off x="8016240" y="2377440"/>
            <a:ext cx="3322320" cy="3566160"/>
          </a:xfrm>
          <a:prstGeom prst="roundRect">
            <a:avLst>
              <a:gd name="adj" fmla="val 7000"/>
            </a:avLst>
          </a:prstGeom>
          <a:solidFill>
            <a:srgbClr val="FFFFFF"/>
          </a:solidFill>
          <a:ln w="9525">
            <a:solidFill>
              <a:srgbClr val="D8D8DE"/>
            </a:solid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16240" y="2377440"/>
            <a:ext cx="3322320" cy="960120"/>
          </a:xfrm>
          <a:prstGeom prst="roundRect">
            <a:avLst>
              <a:gd name="adj" fmla="val 12000"/>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6240" y="2880360"/>
            <a:ext cx="3322320" cy="457200"/>
          </a:xfrm>
          <a:prstGeom prst="rect">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16240" y="2542032"/>
            <a:ext cx="3322320" cy="457200"/>
          </a:xfrm>
          <a:prstGeom prst="rect">
            <a:avLst/>
          </a:prstGeom>
          <a:noFill/>
        </p:spPr>
        <p:txBody>
          <a:bodyPr wrap="square" lIns="45720" rIns="45720" tIns="18288" bIns="18288" anchor="ctr">
            <a:spAutoFit/>
          </a:bodyPr>
          <a:lstStyle/>
          <a:p>
            <a:pPr algn="ctr"/>
            <a:r>
              <a:rPr sz="3000" b="1">
                <a:solidFill>
                  <a:srgbClr val="2C2C2E"/>
                </a:solidFill>
                <a:latin typeface="Helvetica Neue"/>
              </a:rPr>
              <a:t>🇬🇧</a:t>
            </a:r>
          </a:p>
        </p:txBody>
      </p:sp>
      <p:sp>
        <p:nvSpPr>
          <p:cNvPr id="22" name="TextBox 21"/>
          <p:cNvSpPr txBox="1"/>
          <p:nvPr/>
        </p:nvSpPr>
        <p:spPr>
          <a:xfrm>
            <a:off x="8016240" y="3017520"/>
            <a:ext cx="3322320" cy="365760"/>
          </a:xfrm>
          <a:prstGeom prst="rect">
            <a:avLst/>
          </a:prstGeom>
          <a:noFill/>
        </p:spPr>
        <p:txBody>
          <a:bodyPr wrap="square" lIns="45720" rIns="45720" tIns="18288" bIns="18288" anchor="ctr">
            <a:spAutoFit/>
          </a:bodyPr>
          <a:lstStyle/>
          <a:p>
            <a:pPr algn="ctr"/>
            <a:r>
              <a:rPr sz="1800" b="1">
                <a:solidFill>
                  <a:srgbClr val="2C2C2E"/>
                </a:solidFill>
                <a:latin typeface="Helvetica Neue"/>
              </a:rPr>
              <a:t>Angelsächsisch</a:t>
            </a:r>
          </a:p>
        </p:txBody>
      </p:sp>
      <p:sp>
        <p:nvSpPr>
          <p:cNvPr id="23" name="TextBox 22"/>
          <p:cNvSpPr txBox="1"/>
          <p:nvPr/>
        </p:nvSpPr>
        <p:spPr>
          <a:xfrm>
            <a:off x="8290560" y="3566160"/>
            <a:ext cx="2773680" cy="2286000"/>
          </a:xfrm>
          <a:prstGeom prst="rect">
            <a:avLst/>
          </a:prstGeom>
          <a:noFill/>
        </p:spPr>
        <p:txBody>
          <a:bodyPr wrap="square" lIns="45720" rIns="45720" anchor="t">
            <a:spAutoFit/>
          </a:bodyPr>
          <a:lstStyle/>
          <a:p>
            <a:pPr algn="l">
              <a:lnSpc>
                <a:spcPct val="120000"/>
              </a:lnSpc>
              <a:spcAft>
                <a:spcPts val="800"/>
              </a:spcAft>
            </a:pPr>
            <a:r>
              <a:rPr sz="1500" b="1">
                <a:solidFill>
                  <a:srgbClr val="4F8FBF"/>
                </a:solidFill>
              </a:rPr>
              <a:t>›  </a:t>
            </a:r>
            <a:r>
              <a:rPr sz="1500">
                <a:solidFill>
                  <a:srgbClr val="4A4A4F"/>
                </a:solidFill>
                <a:latin typeface="Helvetica Neue"/>
              </a:rPr>
              <a:t>umfassende Gesamtschulen</a:t>
            </a:r>
          </a:p>
          <a:p>
            <a:pPr algn="l">
              <a:lnSpc>
                <a:spcPct val="120000"/>
              </a:lnSpc>
              <a:spcAft>
                <a:spcPts val="800"/>
              </a:spcAft>
            </a:pPr>
            <a:r>
              <a:rPr sz="1500" b="1">
                <a:solidFill>
                  <a:srgbClr val="4F8FBF"/>
                </a:solidFill>
              </a:rPr>
              <a:t>›  </a:t>
            </a:r>
            <a:r>
              <a:rPr sz="1500">
                <a:solidFill>
                  <a:srgbClr val="4A4A4F"/>
                </a:solidFill>
                <a:latin typeface="Helvetica Neue"/>
              </a:rPr>
              <a:t>mehr Wahlmöglichkeiten</a:t>
            </a:r>
          </a:p>
          <a:p>
            <a:pPr algn="l">
              <a:lnSpc>
                <a:spcPct val="120000"/>
              </a:lnSpc>
              <a:spcAft>
                <a:spcPts val="800"/>
              </a:spcAft>
            </a:pPr>
            <a:r>
              <a:rPr sz="1500" b="1">
                <a:solidFill>
                  <a:srgbClr val="4F8FBF"/>
                </a:solidFill>
              </a:rPr>
              <a:t>›  </a:t>
            </a:r>
            <a:r>
              <a:rPr sz="1500">
                <a:solidFill>
                  <a:srgbClr val="4A4A4F"/>
                </a:solidFill>
                <a:latin typeface="Helvetica Neue"/>
              </a:rPr>
              <a:t>stärkere Praxis- &amp; Projektorientierung</a:t>
            </a:r>
          </a:p>
        </p:txBody>
      </p:sp>
      <p:sp>
        <p:nvSpPr>
          <p:cNvPr id="24" name="Rounded Rectangle 23"/>
          <p:cNvSpPr/>
          <p:nvPr/>
        </p:nvSpPr>
        <p:spPr>
          <a:xfrm>
            <a:off x="1828800" y="6126480"/>
            <a:ext cx="8503920" cy="502920"/>
          </a:xfrm>
          <a:prstGeom prst="roundRect">
            <a:avLst>
              <a:gd name="adj" fmla="val 50000"/>
            </a:avLst>
          </a:prstGeom>
          <a:solidFill>
            <a:srgbClr val="FFF7C7"/>
          </a:solidFill>
          <a:ln>
            <a:no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828800" y="6126480"/>
            <a:ext cx="8503920" cy="502920"/>
          </a:xfrm>
          <a:prstGeom prst="rect">
            <a:avLst/>
          </a:prstGeom>
          <a:noFill/>
        </p:spPr>
        <p:txBody>
          <a:bodyPr wrap="square" lIns="45720" rIns="45720" tIns="18288" bIns="18288" anchor="ctr">
            <a:spAutoFit/>
          </a:bodyPr>
          <a:lstStyle/>
          <a:p>
            <a:pPr algn="ctr"/>
            <a:r>
              <a:rPr sz="1500" b="1">
                <a:solidFill>
                  <a:srgbClr val="2C2C2E"/>
                </a:solidFill>
                <a:latin typeface="Helvetica Neue"/>
              </a:rPr>
              <a:t>Kein System ist perfekt – aber jedes setzt eigene Schwerpunkte.</a:t>
            </a:r>
          </a:p>
        </p:txBody>
      </p:sp>
      <p:sp>
        <p:nvSpPr>
          <p:cNvPr id="26" name="Rounded Rectangle 25"/>
          <p:cNvSpPr/>
          <p:nvPr/>
        </p:nvSpPr>
        <p:spPr>
          <a:xfrm>
            <a:off x="502920" y="6446520"/>
            <a:ext cx="411480" cy="109728"/>
          </a:xfrm>
          <a:prstGeom prst="roundRect">
            <a:avLst>
              <a:gd name="adj" fmla="val 50000"/>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6355080"/>
            <a:ext cx="1828800" cy="274320"/>
          </a:xfrm>
          <a:prstGeom prst="rect">
            <a:avLst/>
          </a:prstGeom>
          <a:noFill/>
        </p:spPr>
        <p:txBody>
          <a:bodyPr wrap="square" lIns="45720" rIns="45720" tIns="18288" bIns="18288" anchor="t">
            <a:spAutoFit/>
          </a:bodyPr>
          <a:lstStyle/>
          <a:p>
            <a:pPr algn="l"/>
            <a:r>
              <a:rPr sz="1100" b="0">
                <a:solidFill>
                  <a:srgbClr val="4A4A4F"/>
                </a:solidFill>
                <a:latin typeface="Helvetica Neue"/>
              </a:rPr>
              <a:t>08 / 11</a:t>
            </a:r>
          </a:p>
        </p:txBody>
      </p:sp>
      <p:sp>
        <p:nvSpPr>
          <p:cNvPr id="28" name="TextBox 27"/>
          <p:cNvSpPr txBox="1"/>
          <p:nvPr/>
        </p:nvSpPr>
        <p:spPr>
          <a:xfrm>
            <a:off x="9784080" y="6355080"/>
            <a:ext cx="2194560" cy="274320"/>
          </a:xfrm>
          <a:prstGeom prst="rect">
            <a:avLst/>
          </a:prstGeom>
          <a:noFill/>
        </p:spPr>
        <p:txBody>
          <a:bodyPr wrap="square" lIns="45720" rIns="45720" tIns="18288" bIns="18288" anchor="t">
            <a:spAutoFit/>
          </a:bodyPr>
          <a:lstStyle/>
          <a:p>
            <a:pPr algn="r"/>
            <a:r>
              <a:rPr sz="1100" b="0">
                <a:solidFill>
                  <a:srgbClr val="4A4A4F"/>
                </a:solidFill>
                <a:latin typeface="Helvetica Neue"/>
              </a:rPr>
              <a:t>Seminarfachkurs Glück</a:t>
            </a:r>
          </a:p>
        </p:txBody>
      </p:sp>
    </p:spTree>
  </p:cSld>
  <p:clrMapOvr>
    <a:masterClrMapping/>
  </p:clrMapOvr>
  <p:transition xmlns:p14="http://schemas.microsoft.com/office/powerpoint/2010/main" xmlns:mc="http://schemas.openxmlformats.org/markup-compatibility/2006" spd="med">
    <mc:AlternateContent>
      <mc:Choice Requires="p14">
        <p14:zoom/>
      </mc:Choice>
      <mc:Fallback>
        <p:fade/>
      </mc:Fallback>
    </mc:AlternateContent>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1371600"/>
            <a:ext cx="3200400" cy="3200400"/>
          </a:xfrm>
          <a:prstGeom prst="ellipse">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3200400" cy="320040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7315200" cy="320040"/>
          </a:xfrm>
          <a:prstGeom prst="rect">
            <a:avLst/>
          </a:prstGeom>
          <a:noFill/>
        </p:spPr>
        <p:txBody>
          <a:bodyPr wrap="square" lIns="45720" rIns="45720" tIns="18288" bIns="18288" anchor="t">
            <a:spAutoFit/>
          </a:bodyPr>
          <a:lstStyle/>
          <a:p>
            <a:pPr algn="l"/>
            <a:r>
              <a:rPr sz="1100" b="1">
                <a:solidFill>
                  <a:srgbClr val="4F8FBF"/>
                </a:solidFill>
                <a:latin typeface="Helvetica Neue"/>
              </a:rPr>
              <a:t>08 · BEWERTUNG</a:t>
            </a:r>
          </a:p>
        </p:txBody>
      </p:sp>
      <p:sp>
        <p:nvSpPr>
          <p:cNvPr id="6" name="TextBox 5"/>
          <p:cNvSpPr txBox="1"/>
          <p:nvPr/>
        </p:nvSpPr>
        <p:spPr>
          <a:xfrm>
            <a:off x="822960" y="868680"/>
            <a:ext cx="10515600" cy="914400"/>
          </a:xfrm>
          <a:prstGeom prst="rect">
            <a:avLst/>
          </a:prstGeom>
          <a:noFill/>
        </p:spPr>
        <p:txBody>
          <a:bodyPr wrap="square" lIns="45720" rIns="45720" tIns="18288" bIns="18288" anchor="t">
            <a:spAutoFit/>
          </a:bodyPr>
          <a:lstStyle/>
          <a:p>
            <a:pPr algn="l"/>
            <a:r>
              <a:rPr sz="4400" b="1">
                <a:solidFill>
                  <a:srgbClr val="2C2C2E"/>
                </a:solidFill>
                <a:latin typeface="Helvetica Neue"/>
              </a:rPr>
              <a:t>Stärken und Schwächen</a:t>
            </a:r>
          </a:p>
        </p:txBody>
      </p:sp>
      <p:sp>
        <p:nvSpPr>
          <p:cNvPr id="7" name="TextBox 6"/>
          <p:cNvSpPr txBox="1"/>
          <p:nvPr/>
        </p:nvSpPr>
        <p:spPr>
          <a:xfrm>
            <a:off x="822960" y="1691640"/>
            <a:ext cx="10515600" cy="365760"/>
          </a:xfrm>
          <a:prstGeom prst="rect">
            <a:avLst/>
          </a:prstGeom>
          <a:noFill/>
        </p:spPr>
        <p:txBody>
          <a:bodyPr wrap="square" lIns="45720" rIns="45720" tIns="18288" bIns="18288" anchor="t">
            <a:spAutoFit/>
          </a:bodyPr>
          <a:lstStyle/>
          <a:p>
            <a:pPr algn="l"/>
            <a:r>
              <a:rPr sz="1600" b="0">
                <a:solidFill>
                  <a:srgbClr val="4A4A4F"/>
                </a:solidFill>
                <a:latin typeface="Helvetica Neue"/>
              </a:rPr>
              <a:t>Das deutsche Bildungssystem zeigt zwei Gesichter.</a:t>
            </a:r>
          </a:p>
        </p:txBody>
      </p:sp>
      <p:sp>
        <p:nvSpPr>
          <p:cNvPr id="8" name="Rounded Rectangle 7"/>
          <p:cNvSpPr/>
          <p:nvPr/>
        </p:nvSpPr>
        <p:spPr>
          <a:xfrm>
            <a:off x="822960" y="2286000"/>
            <a:ext cx="5212080" cy="3840480"/>
          </a:xfrm>
          <a:prstGeom prst="roundRect">
            <a:avLst>
              <a:gd name="adj" fmla="val 8000"/>
            </a:avLst>
          </a:prstGeom>
          <a:solidFill>
            <a:srgbClr val="CDEFD9"/>
          </a:solidFill>
          <a:ln>
            <a:no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313432"/>
            <a:ext cx="768096" cy="768096"/>
          </a:xfrm>
          <a:prstGeom prst="ellipse">
            <a:avLst/>
          </a:prstGeom>
          <a:solidFill>
            <a:srgbClr val="FFFFFF"/>
          </a:solidFill>
          <a:ln>
            <a:noFill/>
          </a:ln>
          <a:effectLst>
            <a:outerShdw blurRad="12700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313432"/>
            <a:ext cx="768096" cy="768096"/>
          </a:xfrm>
          <a:prstGeom prst="rect">
            <a:avLst/>
          </a:prstGeom>
          <a:noFill/>
        </p:spPr>
        <p:txBody>
          <a:bodyPr wrap="square" lIns="45720" rIns="45720" tIns="18288" bIns="18288" anchor="ctr">
            <a:spAutoFit/>
          </a:bodyPr>
          <a:lstStyle/>
          <a:p>
            <a:pPr algn="ctr"/>
            <a:r>
              <a:rPr sz="2800" b="1">
                <a:solidFill>
                  <a:srgbClr val="2C2C2E"/>
                </a:solidFill>
                <a:latin typeface="Helvetica Neue"/>
              </a:rPr>
              <a:t>+</a:t>
            </a:r>
          </a:p>
        </p:txBody>
      </p:sp>
      <p:sp>
        <p:nvSpPr>
          <p:cNvPr id="11" name="TextBox 10"/>
          <p:cNvSpPr txBox="1"/>
          <p:nvPr/>
        </p:nvSpPr>
        <p:spPr>
          <a:xfrm>
            <a:off x="2011680" y="2468880"/>
            <a:ext cx="3657600" cy="502920"/>
          </a:xfrm>
          <a:prstGeom prst="rect">
            <a:avLst/>
          </a:prstGeom>
          <a:noFill/>
        </p:spPr>
        <p:txBody>
          <a:bodyPr wrap="square" lIns="45720" rIns="45720" tIns="18288" bIns="18288" anchor="ctr">
            <a:spAutoFit/>
          </a:bodyPr>
          <a:lstStyle/>
          <a:p>
            <a:pPr algn="l"/>
            <a:r>
              <a:rPr sz="2400" b="1">
                <a:solidFill>
                  <a:srgbClr val="2C2C2E"/>
                </a:solidFill>
                <a:latin typeface="Helvetica Neue"/>
              </a:rPr>
              <a:t>Stärken</a:t>
            </a:r>
          </a:p>
        </p:txBody>
      </p:sp>
      <p:sp>
        <p:nvSpPr>
          <p:cNvPr id="12" name="TextBox 11"/>
          <p:cNvSpPr txBox="1"/>
          <p:nvPr/>
        </p:nvSpPr>
        <p:spPr>
          <a:xfrm>
            <a:off x="1188720" y="3246120"/>
            <a:ext cx="4572000" cy="2651760"/>
          </a:xfrm>
          <a:prstGeom prst="rect">
            <a:avLst/>
          </a:prstGeom>
          <a:noFill/>
        </p:spPr>
        <p:txBody>
          <a:bodyPr wrap="square" lIns="45720" rIns="45720" anchor="t">
            <a:spAutoFit/>
          </a:bodyPr>
          <a:lstStyle/>
          <a:p>
            <a:pPr>
              <a:lnSpc>
                <a:spcPct val="125000"/>
              </a:lnSpc>
              <a:spcAft>
                <a:spcPts val="1200"/>
              </a:spcAft>
            </a:pPr>
            <a:r>
              <a:rPr sz="2000" b="1">
                <a:solidFill>
                  <a:srgbClr val="2C2C2E"/>
                </a:solidFill>
              </a:rPr>
              <a:t>✓  </a:t>
            </a:r>
            <a:r>
              <a:rPr sz="2000">
                <a:solidFill>
                  <a:srgbClr val="2C2C2E"/>
                </a:solidFill>
                <a:latin typeface="Helvetica Neue"/>
              </a:rPr>
              <a:t>Verschiedene Bildungswege</a:t>
            </a:r>
          </a:p>
          <a:p>
            <a:pPr>
              <a:lnSpc>
                <a:spcPct val="125000"/>
              </a:lnSpc>
              <a:spcAft>
                <a:spcPts val="1200"/>
              </a:spcAft>
            </a:pPr>
            <a:r>
              <a:rPr sz="2000" b="1">
                <a:solidFill>
                  <a:srgbClr val="2C2C2E"/>
                </a:solidFill>
              </a:rPr>
              <a:t>✓  </a:t>
            </a:r>
            <a:r>
              <a:rPr sz="2000">
                <a:solidFill>
                  <a:srgbClr val="2C2C2E"/>
                </a:solidFill>
                <a:latin typeface="Helvetica Neue"/>
              </a:rPr>
              <a:t>Duales Ausbildungssystem</a:t>
            </a:r>
          </a:p>
          <a:p>
            <a:pPr>
              <a:lnSpc>
                <a:spcPct val="125000"/>
              </a:lnSpc>
              <a:spcAft>
                <a:spcPts val="1200"/>
              </a:spcAft>
            </a:pPr>
            <a:r>
              <a:rPr sz="2000" b="1">
                <a:solidFill>
                  <a:srgbClr val="2C2C2E"/>
                </a:solidFill>
              </a:rPr>
              <a:t>✓  </a:t>
            </a:r>
            <a:r>
              <a:rPr sz="2000">
                <a:solidFill>
                  <a:srgbClr val="2C2C2E"/>
                </a:solidFill>
                <a:latin typeface="Helvetica Neue"/>
              </a:rPr>
              <a:t>Hohe akademische Standards</a:t>
            </a:r>
          </a:p>
        </p:txBody>
      </p:sp>
      <p:sp>
        <p:nvSpPr>
          <p:cNvPr id="13" name="Rounded Rectangle 12"/>
          <p:cNvSpPr/>
          <p:nvPr/>
        </p:nvSpPr>
        <p:spPr>
          <a:xfrm>
            <a:off x="6172200" y="2286000"/>
            <a:ext cx="5212080" cy="3840480"/>
          </a:xfrm>
          <a:prstGeom prst="roundRect">
            <a:avLst>
              <a:gd name="adj" fmla="val 8000"/>
            </a:avLst>
          </a:prstGeom>
          <a:solidFill>
            <a:srgbClr val="FFC8D9"/>
          </a:solidFill>
          <a:ln>
            <a:no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2313432"/>
            <a:ext cx="768096" cy="768096"/>
          </a:xfrm>
          <a:prstGeom prst="ellipse">
            <a:avLst/>
          </a:prstGeom>
          <a:solidFill>
            <a:srgbClr val="FFFFFF"/>
          </a:solidFill>
          <a:ln>
            <a:noFill/>
          </a:ln>
          <a:effectLst>
            <a:outerShdw blurRad="12700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313432"/>
            <a:ext cx="768096" cy="768096"/>
          </a:xfrm>
          <a:prstGeom prst="rect">
            <a:avLst/>
          </a:prstGeom>
          <a:noFill/>
        </p:spPr>
        <p:txBody>
          <a:bodyPr wrap="square" lIns="45720" rIns="45720" tIns="18288" bIns="18288" anchor="ctr">
            <a:spAutoFit/>
          </a:bodyPr>
          <a:lstStyle/>
          <a:p>
            <a:pPr algn="ctr"/>
            <a:r>
              <a:rPr sz="3000" b="1">
                <a:solidFill>
                  <a:srgbClr val="2C2C2E"/>
                </a:solidFill>
                <a:latin typeface="Helvetica Neue"/>
              </a:rPr>
              <a:t>–</a:t>
            </a:r>
          </a:p>
        </p:txBody>
      </p:sp>
      <p:sp>
        <p:nvSpPr>
          <p:cNvPr id="16" name="TextBox 15"/>
          <p:cNvSpPr txBox="1"/>
          <p:nvPr/>
        </p:nvSpPr>
        <p:spPr>
          <a:xfrm>
            <a:off x="7360920" y="2468880"/>
            <a:ext cx="3657600" cy="502920"/>
          </a:xfrm>
          <a:prstGeom prst="rect">
            <a:avLst/>
          </a:prstGeom>
          <a:noFill/>
        </p:spPr>
        <p:txBody>
          <a:bodyPr wrap="square" lIns="45720" rIns="45720" tIns="18288" bIns="18288" anchor="ctr">
            <a:spAutoFit/>
          </a:bodyPr>
          <a:lstStyle/>
          <a:p>
            <a:pPr algn="l"/>
            <a:r>
              <a:rPr sz="2400" b="1">
                <a:solidFill>
                  <a:srgbClr val="2C2C2E"/>
                </a:solidFill>
                <a:latin typeface="Helvetica Neue"/>
              </a:rPr>
              <a:t>Schwächen</a:t>
            </a:r>
          </a:p>
        </p:txBody>
      </p:sp>
      <p:sp>
        <p:nvSpPr>
          <p:cNvPr id="17" name="TextBox 16"/>
          <p:cNvSpPr txBox="1"/>
          <p:nvPr/>
        </p:nvSpPr>
        <p:spPr>
          <a:xfrm>
            <a:off x="6537960" y="3246120"/>
            <a:ext cx="4572000" cy="2651760"/>
          </a:xfrm>
          <a:prstGeom prst="rect">
            <a:avLst/>
          </a:prstGeom>
          <a:noFill/>
        </p:spPr>
        <p:txBody>
          <a:bodyPr wrap="square" lIns="45720" rIns="45720" anchor="t">
            <a:spAutoFit/>
          </a:bodyPr>
          <a:lstStyle/>
          <a:p>
            <a:pPr>
              <a:lnSpc>
                <a:spcPct val="125000"/>
              </a:lnSpc>
              <a:spcAft>
                <a:spcPts val="1200"/>
              </a:spcAft>
            </a:pPr>
            <a:r>
              <a:rPr sz="2000" b="1">
                <a:solidFill>
                  <a:srgbClr val="2C2C2E"/>
                </a:solidFill>
              </a:rPr>
              <a:t>•  </a:t>
            </a:r>
            <a:r>
              <a:rPr sz="2000">
                <a:solidFill>
                  <a:srgbClr val="2C2C2E"/>
                </a:solidFill>
                <a:latin typeface="Helvetica Neue"/>
              </a:rPr>
              <a:t>Frühe Selektion</a:t>
            </a:r>
          </a:p>
          <a:p>
            <a:pPr>
              <a:lnSpc>
                <a:spcPct val="125000"/>
              </a:lnSpc>
              <a:spcAft>
                <a:spcPts val="1200"/>
              </a:spcAft>
            </a:pPr>
            <a:r>
              <a:rPr sz="2000" b="1">
                <a:solidFill>
                  <a:srgbClr val="2C2C2E"/>
                </a:solidFill>
              </a:rPr>
              <a:t>•  </a:t>
            </a:r>
            <a:r>
              <a:rPr sz="2000">
                <a:solidFill>
                  <a:srgbClr val="2C2C2E"/>
                </a:solidFill>
                <a:latin typeface="Helvetica Neue"/>
              </a:rPr>
              <a:t>Hoher Leistungsdruck</a:t>
            </a:r>
          </a:p>
          <a:p>
            <a:pPr>
              <a:lnSpc>
                <a:spcPct val="125000"/>
              </a:lnSpc>
              <a:spcAft>
                <a:spcPts val="1200"/>
              </a:spcAft>
            </a:pPr>
            <a:r>
              <a:rPr sz="2000" b="1">
                <a:solidFill>
                  <a:srgbClr val="2C2C2E"/>
                </a:solidFill>
              </a:rPr>
              <a:t>•  </a:t>
            </a:r>
            <a:r>
              <a:rPr sz="2000">
                <a:solidFill>
                  <a:srgbClr val="2C2C2E"/>
                </a:solidFill>
                <a:latin typeface="Helvetica Neue"/>
              </a:rPr>
              <a:t>Soziale Ungleichheiten</a:t>
            </a:r>
          </a:p>
        </p:txBody>
      </p:sp>
      <p:sp>
        <p:nvSpPr>
          <p:cNvPr id="18" name="TextBox 17"/>
          <p:cNvSpPr txBox="1"/>
          <p:nvPr/>
        </p:nvSpPr>
        <p:spPr>
          <a:xfrm>
            <a:off x="822960" y="6263640"/>
            <a:ext cx="10561320" cy="365760"/>
          </a:xfrm>
          <a:prstGeom prst="rect">
            <a:avLst/>
          </a:prstGeom>
          <a:noFill/>
        </p:spPr>
        <p:txBody>
          <a:bodyPr wrap="square" lIns="45720" rIns="45720" tIns="18288" bIns="18288" anchor="t">
            <a:spAutoFit/>
          </a:bodyPr>
          <a:lstStyle/>
          <a:p>
            <a:pPr algn="ctr"/>
            <a:r>
              <a:rPr sz="1400" b="0">
                <a:solidFill>
                  <a:srgbClr val="4A4A4F"/>
                </a:solidFill>
                <a:latin typeface="Helvetica Neue"/>
              </a:rPr>
              <a:t>Beides gehört zur ehrlichen Bewertung – Reformen setzen genau hier an.</a:t>
            </a:r>
          </a:p>
        </p:txBody>
      </p:sp>
      <p:sp>
        <p:nvSpPr>
          <p:cNvPr id="19" name="Rounded Rectangle 18"/>
          <p:cNvSpPr/>
          <p:nvPr/>
        </p:nvSpPr>
        <p:spPr>
          <a:xfrm>
            <a:off x="502920" y="6446520"/>
            <a:ext cx="411480" cy="109728"/>
          </a:xfrm>
          <a:prstGeom prst="roundRect">
            <a:avLst>
              <a:gd name="adj" fmla="val 50000"/>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6355080"/>
            <a:ext cx="1828800" cy="274320"/>
          </a:xfrm>
          <a:prstGeom prst="rect">
            <a:avLst/>
          </a:prstGeom>
          <a:noFill/>
        </p:spPr>
        <p:txBody>
          <a:bodyPr wrap="square" lIns="45720" rIns="45720" tIns="18288" bIns="18288" anchor="t">
            <a:spAutoFit/>
          </a:bodyPr>
          <a:lstStyle/>
          <a:p>
            <a:pPr algn="l"/>
            <a:r>
              <a:rPr sz="1100" b="0">
                <a:solidFill>
                  <a:srgbClr val="4A4A4F"/>
                </a:solidFill>
                <a:latin typeface="Helvetica Neue"/>
              </a:rPr>
              <a:t>09 / 11</a:t>
            </a:r>
          </a:p>
        </p:txBody>
      </p:sp>
      <p:sp>
        <p:nvSpPr>
          <p:cNvPr id="21" name="TextBox 20"/>
          <p:cNvSpPr txBox="1"/>
          <p:nvPr/>
        </p:nvSpPr>
        <p:spPr>
          <a:xfrm>
            <a:off x="9784080" y="6355080"/>
            <a:ext cx="2194560" cy="274320"/>
          </a:xfrm>
          <a:prstGeom prst="rect">
            <a:avLst/>
          </a:prstGeom>
          <a:noFill/>
        </p:spPr>
        <p:txBody>
          <a:bodyPr wrap="square" lIns="45720" rIns="45720" tIns="18288" bIns="18288" anchor="t">
            <a:spAutoFit/>
          </a:bodyPr>
          <a:lstStyle/>
          <a:p>
            <a:pPr algn="r"/>
            <a:r>
              <a:rPr sz="1100" b="0">
                <a:solidFill>
                  <a:srgbClr val="4A4A4F"/>
                </a:solidFill>
                <a:latin typeface="Helvetica Neue"/>
              </a:rPr>
              <a:t>Seminarfachkurs Glück</a:t>
            </a:r>
          </a:p>
        </p:txBody>
      </p:sp>
    </p:spTree>
  </p:cSld>
  <p:clrMapOvr>
    <a:masterClrMapping/>
  </p:clrMapOvr>
  <p:transition xmlns:p14="http://schemas.microsoft.com/office/powerpoint/2010/main" xmlns:mc="http://schemas.openxmlformats.org/markup-compatibility/2006" spd="med">
    <p:pull dir="l"/>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515600" y="-914400"/>
            <a:ext cx="3200400" cy="3200400"/>
          </a:xfrm>
          <a:prstGeom prst="ellipse">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828800" y="4572000"/>
            <a:ext cx="3657600" cy="3657600"/>
          </a:xfrm>
          <a:prstGeom prst="ellipse">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7315200" cy="320040"/>
          </a:xfrm>
          <a:prstGeom prst="rect">
            <a:avLst/>
          </a:prstGeom>
          <a:noFill/>
        </p:spPr>
        <p:txBody>
          <a:bodyPr wrap="square" lIns="45720" rIns="45720" tIns="18288" bIns="18288" anchor="t">
            <a:spAutoFit/>
          </a:bodyPr>
          <a:lstStyle/>
          <a:p>
            <a:pPr algn="l"/>
            <a:r>
              <a:rPr sz="1100" b="1">
                <a:solidFill>
                  <a:srgbClr val="4F8FBF"/>
                </a:solidFill>
                <a:latin typeface="Helvetica Neue"/>
              </a:rPr>
              <a:t>09 · AUSBLICK</a:t>
            </a:r>
          </a:p>
        </p:txBody>
      </p:sp>
      <p:sp>
        <p:nvSpPr>
          <p:cNvPr id="6" name="TextBox 5"/>
          <p:cNvSpPr txBox="1"/>
          <p:nvPr/>
        </p:nvSpPr>
        <p:spPr>
          <a:xfrm>
            <a:off x="822960" y="868680"/>
            <a:ext cx="10515600" cy="914400"/>
          </a:xfrm>
          <a:prstGeom prst="rect">
            <a:avLst/>
          </a:prstGeom>
          <a:noFill/>
        </p:spPr>
        <p:txBody>
          <a:bodyPr wrap="square" lIns="45720" rIns="45720" tIns="18288" bIns="18288" anchor="t">
            <a:spAutoFit/>
          </a:bodyPr>
          <a:lstStyle/>
          <a:p>
            <a:pPr algn="l"/>
            <a:r>
              <a:rPr sz="4400" b="1">
                <a:solidFill>
                  <a:srgbClr val="2C2C2E"/>
                </a:solidFill>
                <a:latin typeface="Helvetica Neue"/>
              </a:rPr>
              <a:t>Reformansätze</a:t>
            </a:r>
          </a:p>
        </p:txBody>
      </p:sp>
      <p:sp>
        <p:nvSpPr>
          <p:cNvPr id="7" name="TextBox 6"/>
          <p:cNvSpPr txBox="1"/>
          <p:nvPr/>
        </p:nvSpPr>
        <p:spPr>
          <a:xfrm>
            <a:off x="822960" y="1691640"/>
            <a:ext cx="10515600" cy="365760"/>
          </a:xfrm>
          <a:prstGeom prst="rect">
            <a:avLst/>
          </a:prstGeom>
          <a:noFill/>
        </p:spPr>
        <p:txBody>
          <a:bodyPr wrap="square" lIns="45720" rIns="45720" tIns="18288" bIns="18288" anchor="t">
            <a:spAutoFit/>
          </a:bodyPr>
          <a:lstStyle/>
          <a:p>
            <a:pPr algn="l"/>
            <a:r>
              <a:rPr sz="1600" b="0">
                <a:solidFill>
                  <a:srgbClr val="4A4A4F"/>
                </a:solidFill>
                <a:latin typeface="Helvetica Neue"/>
              </a:rPr>
              <a:t>Drei Hebel für ein gerechteres und gesünderes Schulsystem.</a:t>
            </a:r>
          </a:p>
        </p:txBody>
      </p:sp>
      <p:sp>
        <p:nvSpPr>
          <p:cNvPr id="8" name="Right Arrow 7"/>
          <p:cNvSpPr/>
          <p:nvPr/>
        </p:nvSpPr>
        <p:spPr>
          <a:xfrm>
            <a:off x="7955279" y="5897880"/>
            <a:ext cx="2560320" cy="411480"/>
          </a:xfrm>
          <a:prstGeom prst="rightArrow">
            <a:avLst/>
          </a:prstGeom>
          <a:solidFill>
            <a:srgbClr val="CFEFFF"/>
          </a:solidFill>
          <a:ln>
            <a:noFill/>
          </a:ln>
          <a:effectLst>
            <a:outerShdw blurRad="12700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79" y="5897880"/>
            <a:ext cx="2560320" cy="411480"/>
          </a:xfrm>
          <a:prstGeom prst="rect">
            <a:avLst/>
          </a:prstGeom>
          <a:noFill/>
        </p:spPr>
        <p:txBody>
          <a:bodyPr wrap="square" lIns="45720" rIns="45720" tIns="18288" bIns="18288" anchor="ctr">
            <a:spAutoFit/>
          </a:bodyPr>
          <a:lstStyle/>
          <a:p>
            <a:pPr algn="ctr"/>
            <a:r>
              <a:rPr sz="1400" b="1">
                <a:solidFill>
                  <a:srgbClr val="2C2C2E"/>
                </a:solidFill>
                <a:latin typeface="Helvetica Neue"/>
              </a:rPr>
              <a:t>Zukunft</a:t>
            </a:r>
          </a:p>
        </p:txBody>
      </p:sp>
      <p:sp>
        <p:nvSpPr>
          <p:cNvPr id="10" name="Oval 9"/>
          <p:cNvSpPr/>
          <p:nvPr/>
        </p:nvSpPr>
        <p:spPr>
          <a:xfrm>
            <a:off x="1645920" y="2377440"/>
            <a:ext cx="1645920" cy="1645920"/>
          </a:xfrm>
          <a:prstGeom prst="ellipse">
            <a:avLst/>
          </a:prstGeom>
          <a:solidFill>
            <a:srgbClr val="CFEFFF"/>
          </a:solidFill>
          <a:ln>
            <a:no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45920" y="2377440"/>
            <a:ext cx="1645920" cy="1645920"/>
          </a:xfrm>
          <a:prstGeom prst="rect">
            <a:avLst/>
          </a:prstGeom>
          <a:noFill/>
        </p:spPr>
        <p:txBody>
          <a:bodyPr wrap="square" lIns="45720" rIns="45720" tIns="18288" bIns="18288" anchor="ctr">
            <a:spAutoFit/>
          </a:bodyPr>
          <a:lstStyle/>
          <a:p>
            <a:pPr algn="ctr"/>
            <a:r>
              <a:rPr sz="4200" b="1">
                <a:solidFill>
                  <a:srgbClr val="2C2C2E"/>
                </a:solidFill>
                <a:latin typeface="Helvetica Neue"/>
              </a:rPr>
              <a:t>📚</a:t>
            </a:r>
          </a:p>
        </p:txBody>
      </p:sp>
      <p:sp>
        <p:nvSpPr>
          <p:cNvPr id="12" name="TextBox 11"/>
          <p:cNvSpPr txBox="1"/>
          <p:nvPr/>
        </p:nvSpPr>
        <p:spPr>
          <a:xfrm>
            <a:off x="914400" y="4187952"/>
            <a:ext cx="3108960" cy="777240"/>
          </a:xfrm>
          <a:prstGeom prst="rect">
            <a:avLst/>
          </a:prstGeom>
          <a:noFill/>
        </p:spPr>
        <p:txBody>
          <a:bodyPr wrap="square" lIns="45720" rIns="45720" tIns="18288" bIns="18288" anchor="t">
            <a:spAutoFit/>
          </a:bodyPr>
          <a:lstStyle/>
          <a:p>
            <a:pPr algn="ctr"/>
            <a:r>
              <a:rPr sz="1800" b="1">
                <a:solidFill>
                  <a:srgbClr val="2C2C2E"/>
                </a:solidFill>
                <a:latin typeface="Helvetica Neue"/>
              </a:rPr>
              <a:t>Mehr Lebens-</a:t>
            </a:r>
          </a:p>
          <a:p>
            <a:pPr algn="ctr"/>
            <a:r>
              <a:rPr sz="1800" b="1">
                <a:solidFill>
                  <a:srgbClr val="2C2C2E"/>
                </a:solidFill>
                <a:latin typeface="Helvetica Neue"/>
              </a:rPr>
              <a:t>kompetenzen</a:t>
            </a:r>
          </a:p>
        </p:txBody>
      </p:sp>
      <p:sp>
        <p:nvSpPr>
          <p:cNvPr id="13" name="TextBox 12"/>
          <p:cNvSpPr txBox="1"/>
          <p:nvPr/>
        </p:nvSpPr>
        <p:spPr>
          <a:xfrm>
            <a:off x="777240" y="4937760"/>
            <a:ext cx="3383280" cy="1280160"/>
          </a:xfrm>
          <a:prstGeom prst="rect">
            <a:avLst/>
          </a:prstGeom>
          <a:noFill/>
        </p:spPr>
        <p:txBody>
          <a:bodyPr wrap="square" lIns="45720" rIns="45720" tIns="18288" bIns="18288" anchor="t">
            <a:spAutoFit/>
          </a:bodyPr>
          <a:lstStyle/>
          <a:p>
            <a:pPr algn="ctr"/>
            <a:r>
              <a:rPr sz="1300" b="0">
                <a:solidFill>
                  <a:srgbClr val="4A4A4F"/>
                </a:solidFill>
                <a:latin typeface="Helvetica Neue"/>
              </a:rPr>
              <a:t>Finanzbildung, Medienkompetenz und Alltagsfähigkeiten stärker im Curriculum.</a:t>
            </a:r>
          </a:p>
        </p:txBody>
      </p:sp>
      <p:sp>
        <p:nvSpPr>
          <p:cNvPr id="14" name="Oval 13"/>
          <p:cNvSpPr/>
          <p:nvPr/>
        </p:nvSpPr>
        <p:spPr>
          <a:xfrm>
            <a:off x="5266944" y="2377440"/>
            <a:ext cx="1645920" cy="1645920"/>
          </a:xfrm>
          <a:prstGeom prst="ellipse">
            <a:avLst/>
          </a:prstGeom>
          <a:solidFill>
            <a:srgbClr val="FFF7C7"/>
          </a:solidFill>
          <a:ln>
            <a:no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66944" y="2377440"/>
            <a:ext cx="1645920" cy="1645920"/>
          </a:xfrm>
          <a:prstGeom prst="rect">
            <a:avLst/>
          </a:prstGeom>
          <a:noFill/>
        </p:spPr>
        <p:txBody>
          <a:bodyPr wrap="square" lIns="45720" rIns="45720" tIns="18288" bIns="18288" anchor="ctr">
            <a:spAutoFit/>
          </a:bodyPr>
          <a:lstStyle/>
          <a:p>
            <a:pPr algn="ctr"/>
            <a:r>
              <a:rPr sz="4200" b="1">
                <a:solidFill>
                  <a:srgbClr val="2C2C2E"/>
                </a:solidFill>
                <a:latin typeface="Helvetica Neue"/>
              </a:rPr>
              <a:t>⏳</a:t>
            </a:r>
          </a:p>
        </p:txBody>
      </p:sp>
      <p:sp>
        <p:nvSpPr>
          <p:cNvPr id="16" name="TextBox 15"/>
          <p:cNvSpPr txBox="1"/>
          <p:nvPr/>
        </p:nvSpPr>
        <p:spPr>
          <a:xfrm>
            <a:off x="4535424" y="4187952"/>
            <a:ext cx="3108960" cy="777240"/>
          </a:xfrm>
          <a:prstGeom prst="rect">
            <a:avLst/>
          </a:prstGeom>
          <a:noFill/>
        </p:spPr>
        <p:txBody>
          <a:bodyPr wrap="square" lIns="45720" rIns="45720" tIns="18288" bIns="18288" anchor="t">
            <a:spAutoFit/>
          </a:bodyPr>
          <a:lstStyle/>
          <a:p>
            <a:pPr algn="ctr"/>
            <a:r>
              <a:rPr sz="1800" b="1">
                <a:solidFill>
                  <a:srgbClr val="2C2C2E"/>
                </a:solidFill>
                <a:latin typeface="Helvetica Neue"/>
              </a:rPr>
              <a:t>Spätere Leistungs-</a:t>
            </a:r>
          </a:p>
          <a:p>
            <a:pPr algn="ctr"/>
            <a:r>
              <a:rPr sz="1800" b="1">
                <a:solidFill>
                  <a:srgbClr val="2C2C2E"/>
                </a:solidFill>
                <a:latin typeface="Helvetica Neue"/>
              </a:rPr>
              <a:t>differenzierung</a:t>
            </a:r>
          </a:p>
        </p:txBody>
      </p:sp>
      <p:sp>
        <p:nvSpPr>
          <p:cNvPr id="17" name="TextBox 16"/>
          <p:cNvSpPr txBox="1"/>
          <p:nvPr/>
        </p:nvSpPr>
        <p:spPr>
          <a:xfrm>
            <a:off x="4398264" y="4937760"/>
            <a:ext cx="3383280" cy="1280160"/>
          </a:xfrm>
          <a:prstGeom prst="rect">
            <a:avLst/>
          </a:prstGeom>
          <a:noFill/>
        </p:spPr>
        <p:txBody>
          <a:bodyPr wrap="square" lIns="45720" rIns="45720" tIns="18288" bIns="18288" anchor="t">
            <a:spAutoFit/>
          </a:bodyPr>
          <a:lstStyle/>
          <a:p>
            <a:pPr algn="ctr"/>
            <a:r>
              <a:rPr sz="1300" b="0">
                <a:solidFill>
                  <a:srgbClr val="4A4A4F"/>
                </a:solidFill>
                <a:latin typeface="Helvetica Neue"/>
              </a:rPr>
              <a:t>Längeres gemeinsames Lernen reduziert sozial bedingte Ungleichheiten.</a:t>
            </a:r>
          </a:p>
        </p:txBody>
      </p:sp>
      <p:sp>
        <p:nvSpPr>
          <p:cNvPr id="18" name="Oval 17"/>
          <p:cNvSpPr/>
          <p:nvPr/>
        </p:nvSpPr>
        <p:spPr>
          <a:xfrm>
            <a:off x="8869680" y="2377440"/>
            <a:ext cx="1645920" cy="1645920"/>
          </a:xfrm>
          <a:prstGeom prst="ellipse">
            <a:avLst/>
          </a:prstGeom>
          <a:solidFill>
            <a:srgbClr val="FFD9E8"/>
          </a:solidFill>
          <a:ln>
            <a:no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9680" y="2377440"/>
            <a:ext cx="1645920" cy="1645920"/>
          </a:xfrm>
          <a:prstGeom prst="rect">
            <a:avLst/>
          </a:prstGeom>
          <a:noFill/>
        </p:spPr>
        <p:txBody>
          <a:bodyPr wrap="square" lIns="45720" rIns="45720" tIns="18288" bIns="18288" anchor="ctr">
            <a:spAutoFit/>
          </a:bodyPr>
          <a:lstStyle/>
          <a:p>
            <a:pPr algn="ctr"/>
            <a:r>
              <a:rPr sz="4200" b="1">
                <a:solidFill>
                  <a:srgbClr val="2C2C2E"/>
                </a:solidFill>
                <a:latin typeface="Helvetica Neue"/>
              </a:rPr>
              <a:t>📝</a:t>
            </a:r>
          </a:p>
        </p:txBody>
      </p:sp>
      <p:sp>
        <p:nvSpPr>
          <p:cNvPr id="20" name="TextBox 19"/>
          <p:cNvSpPr txBox="1"/>
          <p:nvPr/>
        </p:nvSpPr>
        <p:spPr>
          <a:xfrm>
            <a:off x="8138160" y="4187952"/>
            <a:ext cx="3108960" cy="777240"/>
          </a:xfrm>
          <a:prstGeom prst="rect">
            <a:avLst/>
          </a:prstGeom>
          <a:noFill/>
        </p:spPr>
        <p:txBody>
          <a:bodyPr wrap="square" lIns="45720" rIns="45720" tIns="18288" bIns="18288" anchor="t">
            <a:spAutoFit/>
          </a:bodyPr>
          <a:lstStyle/>
          <a:p>
            <a:pPr algn="ctr"/>
            <a:r>
              <a:rPr sz="1800" b="1">
                <a:solidFill>
                  <a:srgbClr val="2C2C2E"/>
                </a:solidFill>
                <a:latin typeface="Helvetica Neue"/>
              </a:rPr>
              <a:t>Alternative</a:t>
            </a:r>
          </a:p>
          <a:p>
            <a:pPr algn="ctr"/>
            <a:r>
              <a:rPr sz="1800" b="1">
                <a:solidFill>
                  <a:srgbClr val="2C2C2E"/>
                </a:solidFill>
                <a:latin typeface="Helvetica Neue"/>
              </a:rPr>
              <a:t>Bewertungsformen</a:t>
            </a:r>
          </a:p>
        </p:txBody>
      </p:sp>
      <p:sp>
        <p:nvSpPr>
          <p:cNvPr id="21" name="TextBox 20"/>
          <p:cNvSpPr txBox="1"/>
          <p:nvPr/>
        </p:nvSpPr>
        <p:spPr>
          <a:xfrm>
            <a:off x="8001000" y="4937760"/>
            <a:ext cx="3383280" cy="1280160"/>
          </a:xfrm>
          <a:prstGeom prst="rect">
            <a:avLst/>
          </a:prstGeom>
          <a:noFill/>
        </p:spPr>
        <p:txBody>
          <a:bodyPr wrap="square" lIns="45720" rIns="45720" tIns="18288" bIns="18288" anchor="t">
            <a:spAutoFit/>
          </a:bodyPr>
          <a:lstStyle/>
          <a:p>
            <a:pPr algn="ctr"/>
            <a:r>
              <a:rPr sz="1300" b="0">
                <a:solidFill>
                  <a:srgbClr val="4A4A4F"/>
                </a:solidFill>
                <a:latin typeface="Helvetica Neue"/>
              </a:rPr>
              <a:t>Lernfeedback, Portfolio- und Projektarbeit ergänzen klassische Noten.</a:t>
            </a:r>
          </a:p>
        </p:txBody>
      </p:sp>
      <p:sp>
        <p:nvSpPr>
          <p:cNvPr id="22" name="Rounded Rectangle 21"/>
          <p:cNvSpPr/>
          <p:nvPr/>
        </p:nvSpPr>
        <p:spPr>
          <a:xfrm>
            <a:off x="502920" y="6446520"/>
            <a:ext cx="411480" cy="109728"/>
          </a:xfrm>
          <a:prstGeom prst="roundRect">
            <a:avLst>
              <a:gd name="adj" fmla="val 50000"/>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6355080"/>
            <a:ext cx="1828800" cy="274320"/>
          </a:xfrm>
          <a:prstGeom prst="rect">
            <a:avLst/>
          </a:prstGeom>
          <a:noFill/>
        </p:spPr>
        <p:txBody>
          <a:bodyPr wrap="square" lIns="45720" rIns="45720" tIns="18288" bIns="18288" anchor="t">
            <a:spAutoFit/>
          </a:bodyPr>
          <a:lstStyle/>
          <a:p>
            <a:pPr algn="l"/>
            <a:r>
              <a:rPr sz="1100" b="0">
                <a:solidFill>
                  <a:srgbClr val="4A4A4F"/>
                </a:solidFill>
                <a:latin typeface="Helvetica Neue"/>
              </a:rPr>
              <a:t>10 / 11</a:t>
            </a:r>
          </a:p>
        </p:txBody>
      </p:sp>
      <p:sp>
        <p:nvSpPr>
          <p:cNvPr id="24" name="TextBox 23"/>
          <p:cNvSpPr txBox="1"/>
          <p:nvPr/>
        </p:nvSpPr>
        <p:spPr>
          <a:xfrm>
            <a:off x="9784080" y="6355080"/>
            <a:ext cx="2194560" cy="274320"/>
          </a:xfrm>
          <a:prstGeom prst="rect">
            <a:avLst/>
          </a:prstGeom>
          <a:noFill/>
        </p:spPr>
        <p:txBody>
          <a:bodyPr wrap="square" lIns="45720" rIns="45720" tIns="18288" bIns="18288" anchor="t">
            <a:spAutoFit/>
          </a:bodyPr>
          <a:lstStyle/>
          <a:p>
            <a:pPr algn="r"/>
            <a:r>
              <a:rPr sz="1100" b="0">
                <a:solidFill>
                  <a:srgbClr val="4A4A4F"/>
                </a:solidFill>
                <a:latin typeface="Helvetica Neue"/>
              </a:rPr>
              <a:t>Seminarfachkurs Glück</a:t>
            </a:r>
          </a:p>
        </p:txBody>
      </p:sp>
    </p:spTree>
  </p:cSld>
  <p:clrMapOvr>
    <a:masterClrMapping/>
  </p:clrMapOvr>
  <p:transition xmlns:p14="http://schemas.microsoft.com/office/powerpoint/2010/main" xmlns:mc="http://schemas.openxmlformats.org/markup-compatibility/2006" spd="med">
    <mc:AlternateContent>
      <mc:Choice Requires="p14">
        <p14:newsflash/>
      </mc:Choice>
      <mc:Fallback>
        <p:fade/>
      </mc:Fallback>
    </mc:AlternateContent>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1828800"/>
            <a:ext cx="5029200" cy="5029200"/>
          </a:xfrm>
          <a:prstGeom prst="ellipse">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58400" y="4297680"/>
            <a:ext cx="4114800" cy="4114800"/>
          </a:xfrm>
          <a:prstGeom prst="ellipse">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686800" y="-1371600"/>
            <a:ext cx="2743200" cy="274320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02920"/>
            <a:ext cx="5486400" cy="320040"/>
          </a:xfrm>
          <a:prstGeom prst="rect">
            <a:avLst/>
          </a:prstGeom>
          <a:noFill/>
        </p:spPr>
        <p:txBody>
          <a:bodyPr wrap="square" lIns="45720" rIns="45720" tIns="18288" bIns="18288" anchor="t">
            <a:spAutoFit/>
          </a:bodyPr>
          <a:lstStyle/>
          <a:p>
            <a:pPr algn="l"/>
            <a:r>
              <a:rPr sz="1100" b="1">
                <a:solidFill>
                  <a:srgbClr val="4F8FBF"/>
                </a:solidFill>
                <a:latin typeface="Helvetica Neue"/>
              </a:rPr>
              <a:t>10 · FAZIT</a:t>
            </a:r>
          </a:p>
        </p:txBody>
      </p:sp>
      <p:sp>
        <p:nvSpPr>
          <p:cNvPr id="7" name="TextBox 6"/>
          <p:cNvSpPr txBox="1"/>
          <p:nvPr/>
        </p:nvSpPr>
        <p:spPr>
          <a:xfrm>
            <a:off x="822960" y="914400"/>
            <a:ext cx="10515600" cy="1554480"/>
          </a:xfrm>
          <a:prstGeom prst="rect">
            <a:avLst/>
          </a:prstGeom>
          <a:noFill/>
        </p:spPr>
        <p:txBody>
          <a:bodyPr wrap="square" lIns="45720" rIns="45720" tIns="18288" bIns="18288" anchor="t">
            <a:spAutoFit/>
          </a:bodyPr>
          <a:lstStyle/>
          <a:p>
            <a:pPr algn="l">
              <a:lnSpc>
                <a:spcPct val="105000"/>
              </a:lnSpc>
            </a:pPr>
            <a:r>
              <a:rPr sz="4600" b="1">
                <a:solidFill>
                  <a:srgbClr val="2C2C2E"/>
                </a:solidFill>
                <a:latin typeface="Helvetica Neue"/>
              </a:rPr>
              <a:t>Schule beeinflusst mehr</a:t>
            </a:r>
          </a:p>
          <a:p>
            <a:pPr algn="l">
              <a:lnSpc>
                <a:spcPct val="105000"/>
              </a:lnSpc>
            </a:pPr>
            <a:r>
              <a:rPr sz="4600" b="1">
                <a:solidFill>
                  <a:srgbClr val="2C2C2E"/>
                </a:solidFill>
                <a:latin typeface="Helvetica Neue"/>
              </a:rPr>
              <a:t>als nur Noten.</a:t>
            </a:r>
          </a:p>
        </p:txBody>
      </p:sp>
      <p:sp>
        <p:nvSpPr>
          <p:cNvPr id="8" name="Rounded Rectangle 7"/>
          <p:cNvSpPr/>
          <p:nvPr/>
        </p:nvSpPr>
        <p:spPr>
          <a:xfrm>
            <a:off x="822960" y="3246120"/>
            <a:ext cx="7863840" cy="640080"/>
          </a:xfrm>
          <a:prstGeom prst="roundRect">
            <a:avLst>
              <a:gd name="adj" fmla="val 40000"/>
            </a:avLst>
          </a:prstGeom>
          <a:solidFill>
            <a:srgbClr val="CFEFFF"/>
          </a:solidFill>
          <a:ln>
            <a:no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3364992"/>
            <a:ext cx="402336" cy="402336"/>
          </a:xfrm>
          <a:prstGeom prst="ellipse">
            <a:avLst/>
          </a:prstGeom>
          <a:solidFill>
            <a:srgbClr val="FFFFFF"/>
          </a:solidFill>
          <a:ln>
            <a:noFill/>
          </a:ln>
          <a:effectLst>
            <a:outerShdw blurRad="12700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3364992"/>
            <a:ext cx="402336" cy="402336"/>
          </a:xfrm>
          <a:prstGeom prst="rect">
            <a:avLst/>
          </a:prstGeom>
          <a:noFill/>
        </p:spPr>
        <p:txBody>
          <a:bodyPr wrap="square" lIns="45720" rIns="45720" tIns="18288" bIns="18288" anchor="ctr">
            <a:spAutoFit/>
          </a:bodyPr>
          <a:lstStyle/>
          <a:p>
            <a:pPr algn="ctr"/>
            <a:r>
              <a:rPr sz="1400" b="1">
                <a:solidFill>
                  <a:srgbClr val="2C2C2E"/>
                </a:solidFill>
                <a:latin typeface="Helvetica Neue"/>
              </a:rPr>
              <a:t>✓</a:t>
            </a:r>
          </a:p>
        </p:txBody>
      </p:sp>
      <p:sp>
        <p:nvSpPr>
          <p:cNvPr id="11" name="TextBox 10"/>
          <p:cNvSpPr txBox="1"/>
          <p:nvPr/>
        </p:nvSpPr>
        <p:spPr>
          <a:xfrm>
            <a:off x="1554480" y="3246120"/>
            <a:ext cx="7040880" cy="640080"/>
          </a:xfrm>
          <a:prstGeom prst="rect">
            <a:avLst/>
          </a:prstGeom>
          <a:noFill/>
        </p:spPr>
        <p:txBody>
          <a:bodyPr wrap="square" lIns="45720" rIns="45720" tIns="18288" bIns="18288" anchor="ctr">
            <a:spAutoFit/>
          </a:bodyPr>
          <a:lstStyle/>
          <a:p>
            <a:pPr algn="l"/>
            <a:r>
              <a:rPr sz="1700" b="1">
                <a:solidFill>
                  <a:srgbClr val="2C2C2E"/>
                </a:solidFill>
                <a:latin typeface="Helvetica Neue"/>
              </a:rPr>
              <a:t>Strukturen wirken auf das Wohlbefinden.</a:t>
            </a:r>
          </a:p>
        </p:txBody>
      </p:sp>
      <p:sp>
        <p:nvSpPr>
          <p:cNvPr id="12" name="Rounded Rectangle 11"/>
          <p:cNvSpPr/>
          <p:nvPr/>
        </p:nvSpPr>
        <p:spPr>
          <a:xfrm>
            <a:off x="822960" y="3959352"/>
            <a:ext cx="7863840" cy="640080"/>
          </a:xfrm>
          <a:prstGeom prst="roundRect">
            <a:avLst>
              <a:gd name="adj" fmla="val 40000"/>
            </a:avLst>
          </a:prstGeom>
          <a:solidFill>
            <a:srgbClr val="FFF7C7"/>
          </a:solidFill>
          <a:ln>
            <a:no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41832" y="4078224"/>
            <a:ext cx="402336" cy="402336"/>
          </a:xfrm>
          <a:prstGeom prst="ellipse">
            <a:avLst/>
          </a:prstGeom>
          <a:solidFill>
            <a:srgbClr val="FFFFFF"/>
          </a:solidFill>
          <a:ln>
            <a:noFill/>
          </a:ln>
          <a:effectLst>
            <a:outerShdw blurRad="12700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4078224"/>
            <a:ext cx="402336" cy="402336"/>
          </a:xfrm>
          <a:prstGeom prst="rect">
            <a:avLst/>
          </a:prstGeom>
          <a:noFill/>
        </p:spPr>
        <p:txBody>
          <a:bodyPr wrap="square" lIns="45720" rIns="45720" tIns="18288" bIns="18288" anchor="ctr">
            <a:spAutoFit/>
          </a:bodyPr>
          <a:lstStyle/>
          <a:p>
            <a:pPr algn="ctr"/>
            <a:r>
              <a:rPr sz="1400" b="1">
                <a:solidFill>
                  <a:srgbClr val="2C2C2E"/>
                </a:solidFill>
                <a:latin typeface="Helvetica Neue"/>
              </a:rPr>
              <a:t>✓</a:t>
            </a:r>
          </a:p>
        </p:txBody>
      </p:sp>
      <p:sp>
        <p:nvSpPr>
          <p:cNvPr id="15" name="TextBox 14"/>
          <p:cNvSpPr txBox="1"/>
          <p:nvPr/>
        </p:nvSpPr>
        <p:spPr>
          <a:xfrm>
            <a:off x="1554480" y="3959352"/>
            <a:ext cx="7040880" cy="640080"/>
          </a:xfrm>
          <a:prstGeom prst="rect">
            <a:avLst/>
          </a:prstGeom>
          <a:noFill/>
        </p:spPr>
        <p:txBody>
          <a:bodyPr wrap="square" lIns="45720" rIns="45720" tIns="18288" bIns="18288" anchor="ctr">
            <a:spAutoFit/>
          </a:bodyPr>
          <a:lstStyle/>
          <a:p>
            <a:pPr algn="l"/>
            <a:r>
              <a:rPr sz="1700" b="1">
                <a:solidFill>
                  <a:srgbClr val="2C2C2E"/>
                </a:solidFill>
                <a:latin typeface="Helvetica Neue"/>
              </a:rPr>
              <a:t>Leistungsdruck und Schulklima spielen eine zentrale Rolle.</a:t>
            </a:r>
          </a:p>
        </p:txBody>
      </p:sp>
      <p:sp>
        <p:nvSpPr>
          <p:cNvPr id="16" name="Rounded Rectangle 15"/>
          <p:cNvSpPr/>
          <p:nvPr/>
        </p:nvSpPr>
        <p:spPr>
          <a:xfrm>
            <a:off x="822960" y="4672584"/>
            <a:ext cx="7863840" cy="640080"/>
          </a:xfrm>
          <a:prstGeom prst="roundRect">
            <a:avLst>
              <a:gd name="adj" fmla="val 40000"/>
            </a:avLst>
          </a:prstGeom>
          <a:solidFill>
            <a:srgbClr val="FFD9E8"/>
          </a:solidFill>
          <a:ln>
            <a:no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1832" y="4791456"/>
            <a:ext cx="402336" cy="402336"/>
          </a:xfrm>
          <a:prstGeom prst="ellipse">
            <a:avLst/>
          </a:prstGeom>
          <a:solidFill>
            <a:srgbClr val="FFFFFF"/>
          </a:solidFill>
          <a:ln>
            <a:noFill/>
          </a:ln>
          <a:effectLst>
            <a:outerShdw blurRad="127000" dist="25400" dir="5400000"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 y="4791456"/>
            <a:ext cx="402336" cy="402336"/>
          </a:xfrm>
          <a:prstGeom prst="rect">
            <a:avLst/>
          </a:prstGeom>
          <a:noFill/>
        </p:spPr>
        <p:txBody>
          <a:bodyPr wrap="square" lIns="45720" rIns="45720" tIns="18288" bIns="18288" anchor="ctr">
            <a:spAutoFit/>
          </a:bodyPr>
          <a:lstStyle/>
          <a:p>
            <a:pPr algn="ctr"/>
            <a:r>
              <a:rPr sz="1400" b="1">
                <a:solidFill>
                  <a:srgbClr val="2C2C2E"/>
                </a:solidFill>
                <a:latin typeface="Helvetica Neue"/>
              </a:rPr>
              <a:t>✓</a:t>
            </a:r>
          </a:p>
        </p:txBody>
      </p:sp>
      <p:sp>
        <p:nvSpPr>
          <p:cNvPr id="19" name="TextBox 18"/>
          <p:cNvSpPr txBox="1"/>
          <p:nvPr/>
        </p:nvSpPr>
        <p:spPr>
          <a:xfrm>
            <a:off x="1554480" y="4672584"/>
            <a:ext cx="7040880" cy="640080"/>
          </a:xfrm>
          <a:prstGeom prst="rect">
            <a:avLst/>
          </a:prstGeom>
          <a:noFill/>
        </p:spPr>
        <p:txBody>
          <a:bodyPr wrap="square" lIns="45720" rIns="45720" tIns="18288" bIns="18288" anchor="ctr">
            <a:spAutoFit/>
          </a:bodyPr>
          <a:lstStyle/>
          <a:p>
            <a:pPr algn="l"/>
            <a:r>
              <a:rPr sz="1700" b="1">
                <a:solidFill>
                  <a:srgbClr val="2C2C2E"/>
                </a:solidFill>
                <a:latin typeface="Helvetica Neue"/>
              </a:rPr>
              <a:t>Reformen können Bildung und Glück verbinden.</a:t>
            </a:r>
          </a:p>
        </p:txBody>
      </p:sp>
      <p:sp>
        <p:nvSpPr>
          <p:cNvPr id="20" name="Oval 19"/>
          <p:cNvSpPr/>
          <p:nvPr/>
        </p:nvSpPr>
        <p:spPr>
          <a:xfrm>
            <a:off x="8915400" y="2651760"/>
            <a:ext cx="2377440" cy="2377440"/>
          </a:xfrm>
          <a:prstGeom prst="ellipse">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44000" y="2880360"/>
            <a:ext cx="1920240" cy="1920240"/>
          </a:xfrm>
          <a:prstGeom prst="ellipse">
            <a:avLst/>
          </a:prstGeom>
          <a:solidFill>
            <a:srgbClr val="FFD9E8"/>
          </a:solidFill>
          <a:ln>
            <a:no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0" y="2880360"/>
            <a:ext cx="1920240" cy="1920240"/>
          </a:xfrm>
          <a:prstGeom prst="rect">
            <a:avLst/>
          </a:prstGeom>
          <a:noFill/>
        </p:spPr>
        <p:txBody>
          <a:bodyPr wrap="square" lIns="45720" rIns="45720" tIns="18288" bIns="18288" anchor="ctr">
            <a:spAutoFit/>
          </a:bodyPr>
          <a:lstStyle/>
          <a:p>
            <a:pPr algn="ctr"/>
            <a:r>
              <a:rPr sz="6400" b="1">
                <a:solidFill>
                  <a:srgbClr val="FFFFFF"/>
                </a:solidFill>
                <a:latin typeface="Helvetica Neue"/>
              </a:rPr>
              <a:t>♡</a:t>
            </a:r>
          </a:p>
        </p:txBody>
      </p:sp>
      <p:sp>
        <p:nvSpPr>
          <p:cNvPr id="23" name="Rounded Rectangle 22"/>
          <p:cNvSpPr/>
          <p:nvPr/>
        </p:nvSpPr>
        <p:spPr>
          <a:xfrm>
            <a:off x="822960" y="6080760"/>
            <a:ext cx="10561320" cy="594360"/>
          </a:xfrm>
          <a:prstGeom prst="roundRect">
            <a:avLst>
              <a:gd name="adj" fmla="val 50000"/>
            </a:avLst>
          </a:prstGeom>
          <a:solidFill>
            <a:srgbClr val="2C2C2E"/>
          </a:solidFill>
          <a:ln>
            <a:noFill/>
          </a:ln>
          <a:effectLst>
            <a:outerShdw blurRad="177800" dist="508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6080760"/>
            <a:ext cx="10561320" cy="594360"/>
          </a:xfrm>
          <a:prstGeom prst="rect">
            <a:avLst/>
          </a:prstGeom>
          <a:noFill/>
        </p:spPr>
        <p:txBody>
          <a:bodyPr wrap="square" lIns="45720" rIns="45720" tIns="18288" bIns="18288" anchor="ctr">
            <a:spAutoFit/>
          </a:bodyPr>
          <a:lstStyle/>
          <a:p>
            <a:pPr algn="ctr"/>
            <a:r>
              <a:rPr sz="2000" b="1">
                <a:solidFill>
                  <a:srgbClr val="FFFFFF"/>
                </a:solidFill>
                <a:latin typeface="Helvetica Neue"/>
              </a:rPr>
              <a:t>Danke für eure Aufmerksamkeit!</a:t>
            </a:r>
          </a:p>
        </p:txBody>
      </p:sp>
    </p:spTree>
  </p:cSld>
  <p:clrMapOvr>
    <a:masterClrMapping/>
  </p:clrMapOvr>
  <p:transition xmlns:p14="http://schemas.microsoft.com/office/powerpoint/2010/main" xmlns:mc="http://schemas.openxmlformats.org/markup-compatibility/2006"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