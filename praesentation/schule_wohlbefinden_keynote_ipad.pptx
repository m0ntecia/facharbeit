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804672"/>
            <a:ext cx="106984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182880"/>
            <a:ext cx="2560320" cy="2560320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1673352"/>
            <a:ext cx="1234440" cy="1234440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078992"/>
            <a:ext cx="704088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64208"/>
            <a:ext cx="7772400" cy="8961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4400" b="1">
                <a:solidFill>
                  <a:srgbClr val="233056"/>
                </a:solidFill>
                <a:latin typeface="Aptos Display"/>
              </a:rPr>
              <a:t>Wie Schule wirkt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761488"/>
            <a:ext cx="6949440" cy="8412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2100">
                <a:solidFill>
                  <a:srgbClr val="233056"/>
                </a:solidFill>
                <a:latin typeface="Aptos"/>
              </a:defRPr>
            </a:pPr>
            <a:r>
              <a:t>Strukturelle Unterschiede und ihr Effekt auf das Wohlbefinden von Schülerinnen und Schülern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77639"/>
            <a:ext cx="42062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5B6682"/>
                </a:solidFill>
                <a:latin typeface="Aptos Display"/>
              </a:rPr>
              <a:t>Facharbeit von Svea Timphus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407408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Leitfrage, zentrale Ergebnisse und Ausblick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01 | ca. 0:00-0:45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10"/>
                      </p:tgtEl>
                    </p:cBhvr>
                  </p:animEffect>
                </p:childTnLst>
              </p:cTn>
            </p:par>
            <p:par>
              <p:cTn id="6" fill="hold" nodeType="afterEffect" presetID="2819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8" dur="45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10" fill="hold" nodeType="afterEffect" presetID="10" presetClass="entr" presetSubtype="0">
                <p:stCondLst>
                  <p:cond delay="84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5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14" fill="hold" nodeType="afterEffect" presetID="10" presetClass="entr" presetSubtype="0">
                <p:stCondLst>
                  <p:cond delay="1120"/>
                </p:stCondLst>
                <p:childTnLst>
                  <p:set>
                    <p:cBhvr>
                      <p:cTn id="15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50" fill="hold"/>
                      <p:tgtEl>
                        <p:spTgt spid="13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EINSTIEG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Warum ist das Thema relevant?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Schule als Lebensraum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Schule vermittelt Wissen, qualifiziert und integriert - sie ist aber auch ein Ort intensiver Bewertung.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Belastung im Jugendalter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Leistungsdruck, Prüfungsstress und Vergleichsmechanismen werden in der Arbeit als zentrale Belastungsfaktoren beschrieben.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Bildungsgerechtigkeit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Der Bildungserfolg hängt in Deutschland vergleichsweise stark mit dem sozioökonomischen Hintergrund zusammen.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02 | ca. 0:45-1:45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r"/>
      </p:transition>
    </ns0:Choice>
    <ns0:Fallback>
      <p:transition spd="med">
        <p:wipe dir="r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3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9" dur="43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3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43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5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30" fill="hold"/>
                      <p:tgtEl>
                        <p:spTgt spid="15"/>
                      </p:tgtEl>
                    </p:cBhvr>
                  </p:animEffect>
                  <p:animScale>
                    <p:cBhvr>
                      <p:cTn id="17" dur="430" fill="hold"/>
                      <p:tgtEl>
                        <p:spTgt spid="1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9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30" fill="hold"/>
                      <p:tgtEl>
                        <p:spTgt spid="16"/>
                      </p:tgtEl>
                    </p:cBhvr>
                  </p:animEffect>
                  <p:animScale>
                    <p:cBhvr>
                      <p:cTn id="21" dur="430" fill="hold"/>
                      <p:tgtEl>
                        <p:spTgt spid="1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3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3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25" dur="43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7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3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9" dur="43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FOKUS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Leitfrage und Vorgehen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10332720" cy="132588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56231"/>
            <a:ext cx="969264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200" b="1">
                <a:solidFill>
                  <a:srgbClr val="233056"/>
                </a:solidFill>
                <a:latin typeface="Aptos Display"/>
              </a:rPr>
              <a:t>"Inwiefern beeinflussen strukturelle Unterschiede im deutschen Schulsystem das Wohlbefinden von Schülerinnen und Schülern?"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29000"/>
            <a:ext cx="9875520" cy="16459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literaturgestützte Analyse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Grundlagen: Schulstruktur, Wohlbefinden, Bildungsgerechtigkeit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Analyse: deutsches System, Leistungsdruck, Schulklima, internationaler Vergleich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Bewertung: Stärken, Schwächen und Reformansätze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03 | ca. 1:45-2:45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10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50" fill="hold"/>
                      <p:tgtEl>
                        <p:spTgt spid="10"/>
                      </p:tgtEl>
                    </p:cBhvr>
                  </p:animEffect>
                </p:childTnLst>
              </p:cTn>
            </p:par>
            <p:par>
              <p:cTn id="10" fill="hold" nodeType="afterEffect" presetID="2819" presetClass="entr" presetSubtype="0">
                <p:stCondLst>
                  <p:cond delay="920"/>
                </p:stCondLst>
                <p:childTnLst>
                  <p:set>
                    <p:cBhvr>
                      <p:cTn id="11" dur="1" fill="hold"/>
                      <p:tgtEl>
                        <p:spTgt spid="11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2" dur="330" fill="hold"/>
                      <p:tgtEl>
                        <p:spTgt spid="11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4" fill="hold" nodeType="afterEffect" presetID="2819" presetClass="entr" presetSubtype="0">
                <p:stCondLst>
                  <p:cond delay="1150"/>
                </p:stCondLst>
                <p:childTnLst>
                  <p:set>
                    <p:cBhvr>
                      <p:cTn id="15" dur="1" fill="hold"/>
                      <p:tgtEl>
                        <p:spTgt spid="11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6" dur="330" fill="hold"/>
                      <p:tgtEl>
                        <p:spTgt spid="11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8" fill="hold" nodeType="afterEffect" presetID="2819" presetClass="entr" presetSubtype="0">
                <p:stCondLst>
                  <p:cond delay="1380"/>
                </p:stCondLst>
                <p:childTnLst>
                  <p:set>
                    <p:cBhvr>
                      <p:cTn id="19" dur="1" fill="hold"/>
                      <p:tgtEl>
                        <p:spTgt spid="11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0" dur="330" fill="hold"/>
                      <p:tgtEl>
                        <p:spTgt spid="11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 presetID="2819" presetClass="entr" presetSubtype="0">
                <p:stCondLst>
                  <p:cond delay="1610"/>
                </p:stCondLst>
                <p:childTnLst>
                  <p:set>
                    <p:cBhvr>
                      <p:cTn id="23" dur="1" fill="hold"/>
                      <p:tgtEl>
                        <p:spTgt spid="11">
                          <p:txEl>
                            <p:pRg st="3" end="3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4" dur="330" fill="hold"/>
                      <p:tgtEl>
                        <p:spTgt spid="11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1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THEORETISCHE GRUNDLAGE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Drei Grundbegriffe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Strukturmerkmale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Schulformen, Dauer gemeinsamer Schulzeit, Noten, Übergänge, Versetzungen und Abschlussprüfungen.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Wohlbefinden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Psychische und soziale Dimensionen: Lebenszufriedenheit, Stress, Sicherheit, Eingebundenheit und Selbstwirksamkeit.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Bildungsgerechtigkeit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Faire Bildungschancen unabhängig von sozialer Herkunft, Geschlecht oder Migrationshintergrund.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04 | ca. 2:45-3:45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u"/>
      </p:transition>
    </ns0:Choice>
    <ns0:Fallback>
      <p:transition spd="med">
        <p:wipe dir="u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3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9" dur="43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3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43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5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30" fill="hold"/>
                      <p:tgtEl>
                        <p:spTgt spid="15"/>
                      </p:tgtEl>
                    </p:cBhvr>
                  </p:animEffect>
                  <p:animScale>
                    <p:cBhvr>
                      <p:cTn id="17" dur="430" fill="hold"/>
                      <p:tgtEl>
                        <p:spTgt spid="1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9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30" fill="hold"/>
                      <p:tgtEl>
                        <p:spTgt spid="16"/>
                      </p:tgtEl>
                    </p:cBhvr>
                  </p:animEffect>
                  <p:animScale>
                    <p:cBhvr>
                      <p:cTn id="21" dur="430" fill="hold"/>
                      <p:tgtEl>
                        <p:spTgt spid="1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3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3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25" dur="43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7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3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9" dur="43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THEORETISCHE GRUNDLAGE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Welche Funktionen erfüllt Schule?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1828800"/>
            <a:ext cx="685800" cy="685800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0253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1095" y="1810512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19" y="1755648"/>
            <a:ext cx="3977639" cy="109728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920240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Qualifikation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232257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Wissen und Kompetenzen für Beruf, Studium und Teilhabe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828800"/>
            <a:ext cx="685800" cy="685800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0253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6" y="1810512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1755648"/>
            <a:ext cx="3977639" cy="109728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920240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Selektion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32257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Zuordnung zu Bildungswegen durch Noten, Empfehlungen und Abschlüsse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3703320"/>
            <a:ext cx="685800" cy="685800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7705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11095" y="3685031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74519" y="3630168"/>
            <a:ext cx="3977639" cy="109728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3794759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Sozialisation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419709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Vermittlung von Normen, Werten und Verhaltensweisen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703320"/>
            <a:ext cx="685800" cy="685800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87705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3685031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3630168"/>
            <a:ext cx="3977639" cy="109728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794759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Integration &amp; Legitimation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19709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Zugehörigkeit schaffen und Bildungsabschlüsse gesellschaftlich begründen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05 | ca. 3:45-4:45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20" fill="hold"/>
                      <p:tgtEl>
                        <p:spTgt spid="13"/>
                      </p:tgtEl>
                    </p:cBhvr>
                  </p:animEffect>
                  <p:animScale>
                    <p:cBhvr>
                      <p:cTn id="9" dur="420" fill="hold"/>
                      <p:tgtEl>
                        <p:spTgt spid="13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20" fill="hold"/>
                      <p:tgtEl>
                        <p:spTgt spid="14"/>
                      </p:tgtEl>
                    </p:cBhvr>
                  </p:animEffect>
                  <p:animScale>
                    <p:cBhvr>
                      <p:cTn id="13" dur="420" fill="hold"/>
                      <p:tgtEl>
                        <p:spTgt spid="1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40"/>
                </p:stCondLst>
                <p:childTnLst>
                  <p:set>
                    <p:cBhvr>
                      <p:cTn id="15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2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17" dur="42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40"/>
                </p:stCondLst>
                <p:childTnLst>
                  <p:set>
                    <p:cBhvr>
                      <p:cTn id="19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2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1" dur="42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20"/>
                </p:stCondLst>
                <p:childTnLst>
                  <p:set>
                    <p:cBhvr>
                      <p:cTn id="23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20" fill="hold"/>
                      <p:tgtEl>
                        <p:spTgt spid="25"/>
                      </p:tgtEl>
                    </p:cBhvr>
                  </p:animEffect>
                  <p:animScale>
                    <p:cBhvr>
                      <p:cTn id="25" dur="420" fill="hold"/>
                      <p:tgtEl>
                        <p:spTgt spid="2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20"/>
                </p:stCondLst>
                <p:childTnLst>
                  <p:set>
                    <p:cBhvr>
                      <p:cTn id="27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20" fill="hold"/>
                      <p:tgtEl>
                        <p:spTgt spid="26"/>
                      </p:tgtEl>
                    </p:cBhvr>
                  </p:animEffect>
                  <p:animScale>
                    <p:cBhvr>
                      <p:cTn id="29" dur="420" fill="hold"/>
                      <p:tgtEl>
                        <p:spTgt spid="2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afterEffect" presetID="22" presetClass="entr" presetSubtype="0">
                <p:stCondLst>
                  <p:cond delay="1400"/>
                </p:stCondLst>
                <p:childTnLst>
                  <p:set>
                    <p:cBhvr>
                      <p:cTn id="3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20" fill="hold"/>
                      <p:tgtEl>
                        <p:spTgt spid="31"/>
                      </p:tgtEl>
                    </p:cBhvr>
                  </p:animEffect>
                  <p:animScale>
                    <p:cBhvr>
                      <p:cTn id="33" dur="420" fill="hold"/>
                      <p:tgtEl>
                        <p:spTgt spid="3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4" fill="hold" nodeType="withEffect" presetID="22" presetClass="entr" presetSubtype="0">
                <p:stCondLst>
                  <p:cond delay="1400"/>
                </p:stCondLst>
                <p:childTnLst>
                  <p:set>
                    <p:cBhvr>
                      <p:cTn id="35" dur="1" fill="hold"/>
                      <p:tgtEl>
                        <p:spTgt spid="3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6" dur="420" fill="hold"/>
                      <p:tgtEl>
                        <p:spTgt spid="32"/>
                      </p:tgtEl>
                    </p:cBhvr>
                  </p:animEffect>
                  <p:animScale>
                    <p:cBhvr>
                      <p:cTn id="37" dur="420" fill="hold"/>
                      <p:tgtEl>
                        <p:spTgt spid="3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Das deutsche Schulsystem: frühe Differenzierung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292608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233056"/>
                </a:solidFill>
                <a:latin typeface="Aptos Display"/>
              </a:rPr>
              <a:t>Grundschule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2926080" cy="65836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26517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233056"/>
                </a:solidFill>
                <a:latin typeface="Aptos Display"/>
              </a:rPr>
              <a:t>gemeinsamer Start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50208" y="1993392"/>
            <a:ext cx="1051560" cy="475488"/>
          </a:xfrm>
          <a:prstGeom prst="rightArrow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670048"/>
            <a:ext cx="155448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B6682"/>
                </a:solidFill>
                <a:latin typeface="Aptos Display"/>
              </a:rPr>
              <a:t>oft nach Klasse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5816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9240" y="1691640"/>
            <a:ext cx="1417320" cy="196596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1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Gymnasium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1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Abitur, stärker theoretisch, hoher Prüfungsdruck möglich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67728" y="1691640"/>
            <a:ext cx="1417320" cy="196596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Realschule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Mittlerer Abschluss, Verbindung von Allgemeinbildung und Praxis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22792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86216" y="1691640"/>
            <a:ext cx="1417320" cy="196596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Hauptschule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stärker praktisch, teils mit Stigmatisierung verbunden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04704" y="1691640"/>
            <a:ext cx="1417320" cy="1965960"/>
          </a:xfrm>
          <a:prstGeom prst="roundRect">
            <a:avLst/>
          </a:prstGeom>
          <a:solidFill>
            <a:srgbClr val="F4EFFF"/>
          </a:solidFill>
          <a:ln>
            <a:solidFill>
              <a:srgbClr val="F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9296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Gesamtschule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9296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längeres gemeinsames Lernen, mehrere Abschlüsse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4279392"/>
            <a:ext cx="6291072" cy="73152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416552"/>
            <a:ext cx="592531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233056"/>
                </a:solidFill>
                <a:latin typeface="Aptos Display"/>
              </a:rPr>
              <a:t>Berufliche Schulen / duale Ausbildung: praktische Ausbildung + schulische Bildung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57800"/>
            <a:ext cx="106984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Kernaussage der Arbeit: Differenzierung kann Förderung ermöglichen, legt Bildungswege aber früh fest.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06 | ca. 4:45-5:55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r"/>
      </p:transition>
    </ns0:Choice>
    <ns0:Fallback>
      <p:transition spd="med">
        <p:wipe dir="r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360" fill="hold"/>
                      <p:tgtEl>
                        <p:spTgt spid="9"/>
                      </p:tgtEl>
                    </p:cBhvr>
                  </p:animEffect>
                  <p:animScale>
                    <p:cBhvr>
                      <p:cTn id="9" dur="360" fill="hold"/>
                      <p:tgtEl>
                        <p:spTgt spid="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36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13" dur="36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819" presetClass="entr" presetSubtype="0">
                <p:stCondLst>
                  <p:cond delay="790"/>
                </p:stCondLst>
                <p:childTnLst>
                  <p:set>
                    <p:cBhvr>
                      <p:cTn id="15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6" dur="36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8" fill="hold" nodeType="afterEffect" presetID="22" presetClass="entr" presetSubtype="0">
                <p:stCondLst>
                  <p:cond delay="1020"/>
                </p:stCondLst>
                <p:childTnLst>
                  <p:set>
                    <p:cBhvr>
                      <p:cTn id="19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360" fill="hold"/>
                      <p:tgtEl>
                        <p:spTgt spid="16"/>
                      </p:tgtEl>
                    </p:cBhvr>
                  </p:animEffect>
                  <p:animScale>
                    <p:cBhvr>
                      <p:cTn id="21" dur="360" fill="hold"/>
                      <p:tgtEl>
                        <p:spTgt spid="1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withEffect" presetID="22" presetClass="entr" presetSubtype="0">
                <p:stCondLst>
                  <p:cond delay="1020"/>
                </p:stCondLst>
                <p:childTnLst>
                  <p:set>
                    <p:cBhvr>
                      <p:cTn id="23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360" fill="hold"/>
                      <p:tgtEl>
                        <p:spTgt spid="17"/>
                      </p:tgtEl>
                    </p:cBhvr>
                  </p:animEffect>
                  <p:animScale>
                    <p:cBhvr>
                      <p:cTn id="25" dur="360" fill="hold"/>
                      <p:tgtEl>
                        <p:spTgt spid="17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afterEffect" presetID="22" presetClass="entr" presetSubtype="0">
                <p:stCondLst>
                  <p:cond delay="1250"/>
                </p:stCondLst>
                <p:childTnLst>
                  <p:set>
                    <p:cBhvr>
                      <p:cTn id="27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36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9" dur="36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withEffect" presetID="22" presetClass="entr" presetSubtype="0">
                <p:stCondLst>
                  <p:cond delay="1250"/>
                </p:stCondLst>
                <p:childTnLst>
                  <p:set>
                    <p:cBhvr>
                      <p:cTn id="3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360" fill="hold"/>
                      <p:tgtEl>
                        <p:spTgt spid="21"/>
                      </p:tgtEl>
                    </p:cBhvr>
                  </p:animEffect>
                  <p:animScale>
                    <p:cBhvr>
                      <p:cTn id="33" dur="360" fill="hold"/>
                      <p:tgtEl>
                        <p:spTgt spid="2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4" fill="hold" nodeType="afterEffect" presetID="22" presetClass="entr" presetSubtype="0">
                <p:stCondLst>
                  <p:cond delay="1480"/>
                </p:stCondLst>
                <p:childTnLst>
                  <p:set>
                    <p:cBhvr>
                      <p:cTn id="35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6" dur="360" fill="hold"/>
                      <p:tgtEl>
                        <p:spTgt spid="24"/>
                      </p:tgtEl>
                    </p:cBhvr>
                  </p:animEffect>
                  <p:animScale>
                    <p:cBhvr>
                      <p:cTn id="37" dur="360" fill="hold"/>
                      <p:tgtEl>
                        <p:spTgt spid="2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8" fill="hold" nodeType="withEffect" presetID="22" presetClass="entr" presetSubtype="0">
                <p:stCondLst>
                  <p:cond delay="1480"/>
                </p:stCondLst>
                <p:childTnLst>
                  <p:set>
                    <p:cBhvr>
                      <p:cTn id="39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0" dur="360" fill="hold"/>
                      <p:tgtEl>
                        <p:spTgt spid="25"/>
                      </p:tgtEl>
                    </p:cBhvr>
                  </p:animEffect>
                  <p:animScale>
                    <p:cBhvr>
                      <p:cTn id="41" dur="360" fill="hold"/>
                      <p:tgtEl>
                        <p:spTgt spid="2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42" fill="hold" nodeType="afterEffect" presetID="22" presetClass="entr" presetSubtype="0">
                <p:stCondLst>
                  <p:cond delay="1710"/>
                </p:stCondLst>
                <p:childTnLst>
                  <p:set>
                    <p:cBhvr>
                      <p:cTn id="43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4" dur="360" fill="hold"/>
                      <p:tgtEl>
                        <p:spTgt spid="28"/>
                      </p:tgtEl>
                    </p:cBhvr>
                  </p:animEffect>
                  <p:animScale>
                    <p:cBhvr>
                      <p:cTn id="45" dur="360" fill="hold"/>
                      <p:tgtEl>
                        <p:spTgt spid="28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46" fill="hold" nodeType="withEffect" presetID="22" presetClass="entr" presetSubtype="0">
                <p:stCondLst>
                  <p:cond delay="1710"/>
                </p:stCondLst>
                <p:childTnLst>
                  <p:set>
                    <p:cBhvr>
                      <p:cTn id="47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8" dur="360" fill="hold"/>
                      <p:tgtEl>
                        <p:spTgt spid="29"/>
                      </p:tgtEl>
                    </p:cBhvr>
                  </p:animEffect>
                  <p:animScale>
                    <p:cBhvr>
                      <p:cTn id="49" dur="360" fill="hold"/>
                      <p:tgtEl>
                        <p:spTgt spid="2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50" fill="hold" nodeType="afterEffect" presetID="2819" presetClass="entr" presetSubtype="0">
                <p:stCondLst>
                  <p:cond delay="1940"/>
                </p:stCondLst>
                <p:childTnLst>
                  <p:set>
                    <p:cBhvr>
                      <p:cTn id="5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52" dur="360" fill="hold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54" fill="hold" nodeType="afterEffect" presetID="2819" presetClass="entr" presetSubtype="0">
                <p:stCondLst>
                  <p:cond delay="2170"/>
                </p:stCondLst>
                <p:childTnLst>
                  <p:set>
                    <p:cBhvr>
                      <p:cTn id="55" dur="1" fill="hold"/>
                      <p:tgtEl>
                        <p:spTgt spid="3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56" dur="360" fill="hold"/>
                      <p:tgtEl>
                        <p:spTgt spid="32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Mechanismen, die Druck erzeugen können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2560320"/>
            <a:ext cx="201168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971800"/>
            <a:ext cx="1691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1746504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691640"/>
            <a:ext cx="3520440" cy="141732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85623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Noten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25856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Vergleichbarkeit und Rückmeldung - aber auch Konkurrenzdruck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746504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141732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85623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Versetzung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25856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Leistungen entscheiden über den nächsten Schritt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" y="4215383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160520"/>
            <a:ext cx="3520440" cy="141732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32511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Sitzenbleiben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72744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Kann Motivation und Selbstwertgefühl negativ beeinflussen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4215383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4160520"/>
            <a:ext cx="3520440" cy="141732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32511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soziale Herkunft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472744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Bildungserfolg ist laut Arbeit eng mit familiären Ressourcen verbunden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07 | ca. 5:55-7:00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20" fill="hold"/>
                      <p:tgtEl>
                        <p:spTgt spid="10"/>
                      </p:tgtEl>
                    </p:cBhvr>
                  </p:animEffect>
                  <p:animScale>
                    <p:cBhvr>
                      <p:cTn id="9" dur="420" fill="hold"/>
                      <p:tgtEl>
                        <p:spTgt spid="1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afterEffect" presetID="22" presetClass="entr" presetSubtype="0">
                <p:stCondLst>
                  <p:cond delay="860"/>
                </p:stCondLst>
                <p:childTnLst>
                  <p:set>
                    <p:cBhvr>
                      <p:cTn id="11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380" fill="hold"/>
                      <p:tgtEl>
                        <p:spTgt spid="13"/>
                      </p:tgtEl>
                    </p:cBhvr>
                  </p:animEffect>
                  <p:animScale>
                    <p:cBhvr>
                      <p:cTn id="13" dur="380" fill="hold"/>
                      <p:tgtEl>
                        <p:spTgt spid="13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withEffect" presetID="22" presetClass="entr" presetSubtype="0">
                <p:stCondLst>
                  <p:cond delay="860"/>
                </p:stCondLst>
                <p:childTnLst>
                  <p:set>
                    <p:cBhvr>
                      <p:cTn id="15" dur="1" fill="hold"/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380" fill="hold"/>
                      <p:tgtEl>
                        <p:spTgt spid="14"/>
                      </p:tgtEl>
                    </p:cBhvr>
                  </p:animEffect>
                  <p:animScale>
                    <p:cBhvr>
                      <p:cTn id="17" dur="380" fill="hold"/>
                      <p:tgtEl>
                        <p:spTgt spid="1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afterEffect" presetID="22" presetClass="entr" presetSubtype="0">
                <p:stCondLst>
                  <p:cond delay="1120"/>
                </p:stCondLst>
                <p:childTnLst>
                  <p:set>
                    <p:cBhvr>
                      <p:cTn id="19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380" fill="hold"/>
                      <p:tgtEl>
                        <p:spTgt spid="17"/>
                      </p:tgtEl>
                    </p:cBhvr>
                  </p:animEffect>
                  <p:animScale>
                    <p:cBhvr>
                      <p:cTn id="21" dur="380" fill="hold"/>
                      <p:tgtEl>
                        <p:spTgt spid="17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withEffect" presetID="22" presetClass="entr" presetSubtype="0">
                <p:stCondLst>
                  <p:cond delay="1120"/>
                </p:stCondLst>
                <p:childTnLst>
                  <p:set>
                    <p:cBhvr>
                      <p:cTn id="23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380" fill="hold"/>
                      <p:tgtEl>
                        <p:spTgt spid="18"/>
                      </p:tgtEl>
                    </p:cBhvr>
                  </p:animEffect>
                  <p:animScale>
                    <p:cBhvr>
                      <p:cTn id="25" dur="380" fill="hold"/>
                      <p:tgtEl>
                        <p:spTgt spid="18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afterEffect" presetID="22" presetClass="entr" presetSubtype="0">
                <p:stCondLst>
                  <p:cond delay="1380"/>
                </p:stCondLst>
                <p:childTnLst>
                  <p:set>
                    <p:cBhvr>
                      <p:cTn id="27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380" fill="hold"/>
                      <p:tgtEl>
                        <p:spTgt spid="21"/>
                      </p:tgtEl>
                    </p:cBhvr>
                  </p:animEffect>
                  <p:animScale>
                    <p:cBhvr>
                      <p:cTn id="29" dur="380" fill="hold"/>
                      <p:tgtEl>
                        <p:spTgt spid="2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withEffect" presetID="22" presetClass="entr" presetSubtype="0">
                <p:stCondLst>
                  <p:cond delay="138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380" fill="hold"/>
                      <p:tgtEl>
                        <p:spTgt spid="22"/>
                      </p:tgtEl>
                    </p:cBhvr>
                  </p:animEffect>
                  <p:animScale>
                    <p:cBhvr>
                      <p:cTn id="33" dur="380" fill="hold"/>
                      <p:tgtEl>
                        <p:spTgt spid="2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4" fill="hold" nodeType="afterEffect" presetID="22" presetClass="entr" presetSubtype="0">
                <p:stCondLst>
                  <p:cond delay="1640"/>
                </p:stCondLst>
                <p:childTnLst>
                  <p:set>
                    <p:cBhvr>
                      <p:cTn id="35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6" dur="380" fill="hold"/>
                      <p:tgtEl>
                        <p:spTgt spid="25"/>
                      </p:tgtEl>
                    </p:cBhvr>
                  </p:animEffect>
                  <p:animScale>
                    <p:cBhvr>
                      <p:cTn id="37" dur="380" fill="hold"/>
                      <p:tgtEl>
                        <p:spTgt spid="2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8" fill="hold" nodeType="withEffect" presetID="22" presetClass="entr" presetSubtype="0">
                <p:stCondLst>
                  <p:cond delay="1640"/>
                </p:stCondLst>
                <p:childTnLst>
                  <p:set>
                    <p:cBhvr>
                      <p:cTn id="39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0" dur="380" fill="hold"/>
                      <p:tgtEl>
                        <p:spTgt spid="26"/>
                      </p:tgtEl>
                    </p:cBhvr>
                  </p:animEffect>
                  <p:animScale>
                    <p:cBhvr>
                      <p:cTn id="41" dur="380" fill="hold"/>
                      <p:tgtEl>
                        <p:spTgt spid="2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PUBLIKUM EINBINDEN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Kurze Kursaktivierung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0332720" cy="4754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233056"/>
                </a:solidFill>
                <a:latin typeface="Aptos Display"/>
              </a:rPr>
              <a:t>Handabstimmung: Was beeinflusst euer schulisches Wohlbefinden am stärksten?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31720"/>
            <a:ext cx="4617720" cy="1060704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551176"/>
            <a:ext cx="603504" cy="603504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24912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96312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62072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Noten, Prüfungen, Vergleich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4617720" cy="1060704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551176"/>
            <a:ext cx="603504" cy="603504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496312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Beziehung zu Lehrkräften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862072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Unterstützung, Respekt, Vertrauen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04487"/>
            <a:ext cx="4617720" cy="1060704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4123944"/>
            <a:ext cx="603504" cy="603504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79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69079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Mitbestimmung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34840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Meinung zählt, Selbstwirksamkeit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04487"/>
            <a:ext cx="4617720" cy="1060704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6520" y="4123944"/>
            <a:ext cx="603504" cy="603504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79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4069079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Lebensweltbezug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4434840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Alltag, Beruf, Zukunft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440680"/>
            <a:ext cx="8549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5559552"/>
            <a:ext cx="813816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B6682"/>
                </a:solidFill>
                <a:latin typeface="Aptos Display"/>
              </a:rPr>
              <a:t>Danach: 2 kurze Stimmen einsammeln und mit den Ergebnissen der Facharbeit verknüpfen.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08 | ca. 7:00-8:30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d"/>
      </p:transition>
    </ns0:Choice>
    <ns0:Fallback>
      <p:transition spd="med">
        <p:wipe dir="d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819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8" dur="450" fill="hold"/>
                      <p:tgtEl>
                        <p:spTgt spid="9"/>
                      </p:tgtEl>
                    </p:cBhvr>
                  </p:animEffect>
                </p:childTnLst>
              </p:cTn>
            </p:par>
            <p:par>
              <p:cTn id="10" fill="hold" nodeType="afterEffect" presetID="22" presetClass="entr" presetSubtype="0">
                <p:stCondLst>
                  <p:cond delay="95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36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36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withEffect" presetID="22" presetClass="entr" presetSubtype="0">
                <p:stCondLst>
                  <p:cond delay="950"/>
                </p:stCondLst>
                <p:childTnLst>
                  <p:set>
                    <p:cBhvr>
                      <p:cTn id="15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360" fill="hold"/>
                      <p:tgtEl>
                        <p:spTgt spid="13"/>
                      </p:tgtEl>
                    </p:cBhvr>
                  </p:animEffect>
                  <p:animScale>
                    <p:cBhvr>
                      <p:cTn id="17" dur="360" fill="hold"/>
                      <p:tgtEl>
                        <p:spTgt spid="13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950"/>
                </p:stCondLst>
                <p:childTnLst>
                  <p:set>
                    <p:cBhvr>
                      <p:cTn id="19" dur="1" fill="hold"/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360" fill="hold"/>
                      <p:tgtEl>
                        <p:spTgt spid="14"/>
                      </p:tgtEl>
                    </p:cBhvr>
                  </p:animEffect>
                  <p:animScale>
                    <p:cBhvr>
                      <p:cTn id="21" dur="360" fill="hold"/>
                      <p:tgtEl>
                        <p:spTgt spid="1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250"/>
                </p:stCondLst>
                <p:childTnLst>
                  <p:set>
                    <p:cBhvr>
                      <p:cTn id="23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360" fill="hold"/>
                      <p:tgtEl>
                        <p:spTgt spid="17"/>
                      </p:tgtEl>
                    </p:cBhvr>
                  </p:animEffect>
                  <p:animScale>
                    <p:cBhvr>
                      <p:cTn id="25" dur="360" fill="hold"/>
                      <p:tgtEl>
                        <p:spTgt spid="17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250"/>
                </p:stCondLst>
                <p:childTnLst>
                  <p:set>
                    <p:cBhvr>
                      <p:cTn id="27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360" fill="hold"/>
                      <p:tgtEl>
                        <p:spTgt spid="18"/>
                      </p:tgtEl>
                    </p:cBhvr>
                  </p:animEffect>
                  <p:animScale>
                    <p:cBhvr>
                      <p:cTn id="29" dur="360" fill="hold"/>
                      <p:tgtEl>
                        <p:spTgt spid="18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withEffect" presetID="22" presetClass="entr" presetSubtype="0">
                <p:stCondLst>
                  <p:cond delay="1250"/>
                </p:stCondLst>
                <p:childTnLst>
                  <p:set>
                    <p:cBhvr>
                      <p:cTn id="3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36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33" dur="36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4" fill="hold" nodeType="afterEffect" presetID="22" presetClass="entr" presetSubtype="0">
                <p:stCondLst>
                  <p:cond delay="1550"/>
                </p:stCondLst>
                <p:childTnLst>
                  <p:set>
                    <p:cBhvr>
                      <p:cTn id="35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6" dur="360" fill="hold"/>
                      <p:tgtEl>
                        <p:spTgt spid="22"/>
                      </p:tgtEl>
                    </p:cBhvr>
                  </p:animEffect>
                  <p:animScale>
                    <p:cBhvr>
                      <p:cTn id="37" dur="360" fill="hold"/>
                      <p:tgtEl>
                        <p:spTgt spid="2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8" fill="hold" nodeType="withEffect" presetID="22" presetClass="entr" presetSubtype="0">
                <p:stCondLst>
                  <p:cond delay="1550"/>
                </p:stCondLst>
                <p:childTnLst>
                  <p:set>
                    <p:cBhvr>
                      <p:cTn id="39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0" dur="360" fill="hold"/>
                      <p:tgtEl>
                        <p:spTgt spid="23"/>
                      </p:tgtEl>
                    </p:cBhvr>
                  </p:animEffect>
                  <p:animScale>
                    <p:cBhvr>
                      <p:cTn id="41" dur="360" fill="hold"/>
                      <p:tgtEl>
                        <p:spTgt spid="23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42" fill="hold" nodeType="withEffect" presetID="22" presetClass="entr" presetSubtype="0">
                <p:stCondLst>
                  <p:cond delay="1550"/>
                </p:stCondLst>
                <p:childTnLst>
                  <p:set>
                    <p:cBhvr>
                      <p:cTn id="43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4" dur="360" fill="hold"/>
                      <p:tgtEl>
                        <p:spTgt spid="24"/>
                      </p:tgtEl>
                    </p:cBhvr>
                  </p:animEffect>
                  <p:animScale>
                    <p:cBhvr>
                      <p:cTn id="45" dur="360" fill="hold"/>
                      <p:tgtEl>
                        <p:spTgt spid="2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46" fill="hold" nodeType="afterEffect" presetID="22" presetClass="entr" presetSubtype="0">
                <p:stCondLst>
                  <p:cond delay="1850"/>
                </p:stCondLst>
                <p:childTnLst>
                  <p:set>
                    <p:cBhvr>
                      <p:cTn id="47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8" dur="360" fill="hold"/>
                      <p:tgtEl>
                        <p:spTgt spid="27"/>
                      </p:tgtEl>
                    </p:cBhvr>
                  </p:animEffect>
                  <p:animScale>
                    <p:cBhvr>
                      <p:cTn id="49" dur="360" fill="hold"/>
                      <p:tgtEl>
                        <p:spTgt spid="27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50" fill="hold" nodeType="withEffect" presetID="22" presetClass="entr" presetSubtype="0">
                <p:stCondLst>
                  <p:cond delay="1850"/>
                </p:stCondLst>
                <p:childTnLst>
                  <p:set>
                    <p:cBhvr>
                      <p:cTn id="5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360" fill="hold"/>
                      <p:tgtEl>
                        <p:spTgt spid="28"/>
                      </p:tgtEl>
                    </p:cBhvr>
                  </p:animEffect>
                  <p:animScale>
                    <p:cBhvr>
                      <p:cTn id="53" dur="360" fill="hold"/>
                      <p:tgtEl>
                        <p:spTgt spid="28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54" fill="hold" nodeType="withEffect" presetID="22" presetClass="entr" presetSubtype="0">
                <p:stCondLst>
                  <p:cond delay="1850"/>
                </p:stCondLst>
                <p:childTnLst>
                  <p:set>
                    <p:cBhvr>
                      <p:cTn id="55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6" dur="360" fill="hold"/>
                      <p:tgtEl>
                        <p:spTgt spid="29"/>
                      </p:tgtEl>
                    </p:cBhvr>
                  </p:animEffect>
                  <p:animScale>
                    <p:cBhvr>
                      <p:cTn id="57" dur="360" fill="hold"/>
                      <p:tgtEl>
                        <p:spTgt spid="2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58" fill="hold" nodeType="afterEffect" presetID="10" presetClass="entr" presetSubtype="0">
                <p:stCondLst>
                  <p:cond delay="2270"/>
                </p:stCondLst>
                <p:childTnLst>
                  <p:set>
                    <p:cBhvr>
                      <p:cTn id="59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0" dur="350" fill="hold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WIRKUNG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Schule und Wohlbefinden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4983480" cy="342900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4983480" cy="342900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233056"/>
                </a:solidFill>
                <a:latin typeface="Aptos Display"/>
              </a:rPr>
              <a:t>Belastende Faktoren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51760"/>
            <a:ext cx="425196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Prüfungsstress und Erwartungshaltungen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Vergleichskultur und Konkurrenzdenken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Angst vor schulischem Versagen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Schlafprobleme, Kopfschmerzen oder Konzentrationsschwierigkeiten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233056"/>
                </a:solidFill>
                <a:latin typeface="Aptos Display"/>
              </a:rPr>
              <a:t>Stärkende Faktoren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5196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positives Schulklima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unterstützende Beziehungen zu Lehrkräften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Mitbestimmung und Partizipation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Feedbackkultur statt nur Ergebnisfokus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09 | ca. 8:30-9:45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10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35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10" fill="hold" nodeType="afterEffect" presetID="2819" presetClass="entr" presetSubtype="0">
                <p:stCondLst>
                  <p:cond delay="770"/>
                </p:stCondLst>
                <p:childTnLst>
                  <p:set>
                    <p:cBhvr>
                      <p:cTn id="11" dur="1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2" dur="300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4" fill="hold" nodeType="afterEffect" presetID="2819" presetClass="entr" presetSubtype="0">
                <p:stCondLst>
                  <p:cond delay="940"/>
                </p:stCondLst>
                <p:childTnLst>
                  <p:set>
                    <p:cBhvr>
                      <p:cTn id="15" dur="1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6" dur="300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8" fill="hold" nodeType="afterEffect" presetID="2819" presetClass="entr" presetSubtype="0">
                <p:stCondLst>
                  <p:cond delay="1110"/>
                </p:stCondLst>
                <p:childTnLst>
                  <p:set>
                    <p:cBhvr>
                      <p:cTn id="19" dur="1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0" dur="300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 presetID="2819" presetClass="entr" presetSubtype="0">
                <p:stCondLst>
                  <p:cond delay="1280"/>
                </p:stCondLst>
                <p:childTnLst>
                  <p:set>
                    <p:cBhvr>
                      <p:cTn id="23" dur="1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4" dur="300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6" fill="hold" nodeType="afterEffect" presetID="10" presetClass="entr" presetSubtype="0">
                <p:stCondLst>
                  <p:cond delay="1450"/>
                </p:stCondLst>
                <p:childTnLst>
                  <p:set>
                    <p:cBhvr>
                      <p:cTn id="27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35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30" fill="hold" nodeType="afterEffect" presetID="2819" presetClass="entr" presetSubtype="0">
                <p:stCondLst>
                  <p:cond delay="1660"/>
                </p:stCondLst>
                <p:childTnLst>
                  <p:set>
                    <p:cBhvr>
                      <p:cTn id="31" dur="1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32" dur="300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34" fill="hold" nodeType="afterEffect" presetID="2819" presetClass="entr" presetSubtype="0">
                <p:stCondLst>
                  <p:cond delay="1830"/>
                </p:stCondLst>
                <p:childTnLst>
                  <p:set>
                    <p:cBhvr>
                      <p:cTn id="35" dur="1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36" dur="300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38" fill="hold" nodeType="afterEffect" presetID="2819" presetClass="entr" presetSubtype="0">
                <p:stCondLst>
                  <p:cond delay="2000"/>
                </p:stCondLst>
                <p:childTnLst>
                  <p:set>
                    <p:cBhvr>
                      <p:cTn id="39" dur="1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0" dur="300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42" fill="hold" nodeType="afterEffect" presetID="2819" presetClass="entr" presetSubtype="0">
                <p:stCondLst>
                  <p:cond delay="2170"/>
                </p:stCondLst>
                <p:childTnLst>
                  <p:set>
                    <p:cBhvr>
                      <p:cTn id="43" dur="1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4" dur="300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2" grpId="0" build="p"/>
      <p:bldP spid="14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UNTERRICHT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Lebensweltbezug: Warum Inhalte wichtig sind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Alltagskompetenzen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In der Arbeit werden Steuererklärungen, Versicherungen, Mietverträge und Finanzplanung als Beispiele genannt.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Finanzbildung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OECD-Studien zu Financial Literacy zeigen, dass finanzielle Grundkompetenzen international ein Thema sind.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Berufsorientierung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Praktika und Orientierung können realistische Vorstellungen von Bildungs- und Berufswegen fördern.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10 | ca. 9:45-10:45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r"/>
      </p:transition>
    </ns0:Choice>
    <ns0:Fallback>
      <p:transition spd="med">
        <p:wipe dir="r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3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9" dur="43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3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43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5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30" fill="hold"/>
                      <p:tgtEl>
                        <p:spTgt spid="15"/>
                      </p:tgtEl>
                    </p:cBhvr>
                  </p:animEffect>
                  <p:animScale>
                    <p:cBhvr>
                      <p:cTn id="17" dur="430" fill="hold"/>
                      <p:tgtEl>
                        <p:spTgt spid="1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9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30" fill="hold"/>
                      <p:tgtEl>
                        <p:spTgt spid="16"/>
                      </p:tgtEl>
                    </p:cBhvr>
                  </p:animEffect>
                  <p:animScale>
                    <p:cBhvr>
                      <p:cTn id="21" dur="430" fill="hold"/>
                      <p:tgtEl>
                        <p:spTgt spid="1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3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3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25" dur="43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7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3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9" dur="43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EINORDNUNG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Internationaler Vergleich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3246120" cy="1874519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Deutschland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Mehrgliedrigkeit, Noten und Prüfungen spielen zentrale Rolle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737360"/>
            <a:ext cx="3246120" cy="1874519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Skandinavische Modelle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längeres gemeinsames Lernen; Finnland bis zur 9. Klasse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8" y="1737360"/>
            <a:ext cx="3246120" cy="1874519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Angelsächsische Systeme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umfassende Gesamtschulen, Wahlmöglichkeiten und Praxisorientierung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43400"/>
            <a:ext cx="987552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233056"/>
                </a:solidFill>
                <a:latin typeface="Aptos Display"/>
              </a:rPr>
              <a:t>Einordnung aus der Facharbeit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00600"/>
            <a:ext cx="9875520" cy="8686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Länder mit späterer Leistungsdifferenzierung weisen häufig geringere Leistungsunterschiede zwischen sozialen Gruppen auf.</a:t>
            </a:r>
          </a:p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Unterstützende Lernumgebungen und weniger Konkurrenzkultur können mit höherer Schülerzufriedenheit verbunden sein.</a:t>
            </a:r>
          </a:p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Es gibt kein einheitliches perfektes Bildungssystem.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11 | ca. 10:45-12:00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3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9" dur="43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3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43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5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30" fill="hold"/>
                      <p:tgtEl>
                        <p:spTgt spid="15"/>
                      </p:tgtEl>
                    </p:cBhvr>
                  </p:animEffect>
                  <p:animScale>
                    <p:cBhvr>
                      <p:cTn id="17" dur="430" fill="hold"/>
                      <p:tgtEl>
                        <p:spTgt spid="15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30"/>
                </p:stCondLst>
                <p:childTnLst>
                  <p:set>
                    <p:cBhvr>
                      <p:cTn id="19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30" fill="hold"/>
                      <p:tgtEl>
                        <p:spTgt spid="16"/>
                      </p:tgtEl>
                    </p:cBhvr>
                  </p:animEffect>
                  <p:animScale>
                    <p:cBhvr>
                      <p:cTn id="21" dur="430" fill="hold"/>
                      <p:tgtEl>
                        <p:spTgt spid="16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3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30" fill="hold"/>
                      <p:tgtEl>
                        <p:spTgt spid="19"/>
                      </p:tgtEl>
                    </p:cBhvr>
                  </p:animEffect>
                  <p:animScale>
                    <p:cBhvr>
                      <p:cTn id="25" dur="430" fill="hold"/>
                      <p:tgtEl>
                        <p:spTgt spid="19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00"/>
                </p:stCondLst>
                <p:childTnLst>
                  <p:set>
                    <p:cBhvr>
                      <p:cTn id="27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30" fill="hold"/>
                      <p:tgtEl>
                        <p:spTgt spid="20"/>
                      </p:tgtEl>
                    </p:cBhvr>
                  </p:animEffect>
                  <p:animScale>
                    <p:cBhvr>
                      <p:cTn id="29" dur="430" fill="hold"/>
                      <p:tgtEl>
                        <p:spTgt spid="20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afterEffect" presetID="10" presetClass="entr" presetSubtype="0">
                <p:stCondLst>
                  <p:cond delay="1380"/>
                </p:stCondLst>
                <p:childTnLst>
                  <p:set>
                    <p:cBhvr>
                      <p:cTn id="3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340" fill="hold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34" fill="hold" nodeType="afterEffect" presetID="2819" presetClass="entr" presetSubtype="0">
                <p:stCondLst>
                  <p:cond delay="1610"/>
                </p:stCondLst>
                <p:childTnLst>
                  <p:set>
                    <p:cBhvr>
                      <p:cTn id="35" dur="1" fill="hold"/>
                      <p:tgtEl>
                        <p:spTgt spid="22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36" dur="300" fill="hold"/>
                      <p:tgtEl>
                        <p:spTgt spid="2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38" fill="hold" nodeType="afterEffect" presetID="2819" presetClass="entr" presetSubtype="0">
                <p:stCondLst>
                  <p:cond delay="1820"/>
                </p:stCondLst>
                <p:childTnLst>
                  <p:set>
                    <p:cBhvr>
                      <p:cTn id="39" dur="1" fill="hold"/>
                      <p:tgtEl>
                        <p:spTgt spid="22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0" dur="300" fill="hold"/>
                      <p:tgtEl>
                        <p:spTgt spid="2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42" fill="hold" nodeType="afterEffect" presetID="2819" presetClass="entr" presetSubtype="0">
                <p:stCondLst>
                  <p:cond delay="2030"/>
                </p:stCondLst>
                <p:childTnLst>
                  <p:set>
                    <p:cBhvr>
                      <p:cTn id="43" dur="1" fill="hold"/>
                      <p:tgtEl>
                        <p:spTgt spid="22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4" dur="300" fill="hold"/>
                      <p:tgtEl>
                        <p:spTgt spid="2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22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BEWERTUNG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Stärken und Schwächen des deutschen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5010912" cy="356616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010912" cy="356616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29968"/>
            <a:ext cx="44348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233056"/>
                </a:solidFill>
                <a:latin typeface="Aptos Display"/>
              </a:rPr>
              <a:t>Stärken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51760"/>
            <a:ext cx="416052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Differenzierung verschiedener Bildungswege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duales Ausbildungssystem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relativ niedrige Jugendarbeitslosigkeit laut OECD 2021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hohe akademische Standards, besonders im Gymnasium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29968"/>
            <a:ext cx="44348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233056"/>
                </a:solidFill>
                <a:latin typeface="Aptos Display"/>
              </a:rPr>
              <a:t>Schwächen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51760"/>
            <a:ext cx="416052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frühe Aufteilung nach der Grundschule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starke Kopplung von sozialer Herkunft und Bildungserfolg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Leistungsdruck durch Noten, Prüfungen und Versetzung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soziale Segregation zwischen Schulformen möglich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12 | ca. 12:00-13:15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u"/>
      </p:transition>
    </ns0:Choice>
    <ns0:Fallback>
      <p:transition spd="med">
        <p:wipe dir="u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10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34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10" fill="hold" nodeType="afterEffect" presetID="2819" presetClass="entr" presetSubtype="0">
                <p:stCondLst>
                  <p:cond delay="750"/>
                </p:stCondLst>
                <p:childTnLst>
                  <p:set>
                    <p:cBhvr>
                      <p:cTn id="11" dur="1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2" dur="290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4" fill="hold" nodeType="afterEffect" presetID="2819" presetClass="entr" presetSubtype="0">
                <p:stCondLst>
                  <p:cond delay="905"/>
                </p:stCondLst>
                <p:childTnLst>
                  <p:set>
                    <p:cBhvr>
                      <p:cTn id="15" dur="1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6" dur="290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8" fill="hold" nodeType="afterEffect" presetID="2819" presetClass="entr" presetSubtype="0">
                <p:stCondLst>
                  <p:cond delay="1060"/>
                </p:stCondLst>
                <p:childTnLst>
                  <p:set>
                    <p:cBhvr>
                      <p:cTn id="19" dur="1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0" dur="290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 presetID="2819" presetClass="entr" presetSubtype="0">
                <p:stCondLst>
                  <p:cond delay="1215"/>
                </p:stCondLst>
                <p:childTnLst>
                  <p:set>
                    <p:cBhvr>
                      <p:cTn id="23" dur="1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4" dur="290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6" fill="hold" nodeType="afterEffect" presetID="10" presetClass="entr" presetSubtype="0">
                <p:stCondLst>
                  <p:cond delay="1370"/>
                </p:stCondLst>
                <p:childTnLst>
                  <p:set>
                    <p:cBhvr>
                      <p:cTn id="27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34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30" fill="hold" nodeType="afterEffect" presetID="2819" presetClass="entr" presetSubtype="0">
                <p:stCondLst>
                  <p:cond delay="1560"/>
                </p:stCondLst>
                <p:childTnLst>
                  <p:set>
                    <p:cBhvr>
                      <p:cTn id="31" dur="1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32" dur="290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34" fill="hold" nodeType="afterEffect" presetID="2819" presetClass="entr" presetSubtype="0">
                <p:stCondLst>
                  <p:cond delay="1715"/>
                </p:stCondLst>
                <p:childTnLst>
                  <p:set>
                    <p:cBhvr>
                      <p:cTn id="35" dur="1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36" dur="290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38" fill="hold" nodeType="afterEffect" presetID="2819" presetClass="entr" presetSubtype="0">
                <p:stCondLst>
                  <p:cond delay="1870"/>
                </p:stCondLst>
                <p:childTnLst>
                  <p:set>
                    <p:cBhvr>
                      <p:cTn id="39" dur="1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0" dur="290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42" fill="hold" nodeType="afterEffect" presetID="2819" presetClass="entr" presetSubtype="0">
                <p:stCondLst>
                  <p:cond delay="2025"/>
                </p:stCondLst>
                <p:childTnLst>
                  <p:set>
                    <p:cBhvr>
                      <p:cTn id="43" dur="1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44" dur="290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2" grpId="0" build="p"/>
      <p:bldP spid="14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AUSBLICK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Reformansätze aus der Arbeit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154680" cy="260604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Mehr Lebenskompetenzen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Finanzbildung, Medienkompetenz und praktische Alltagsfähigkeiten stärker integrieren</a:t>
            </a:r>
          </a:p>
        </p:txBody>
      </p:sp>
      <p:sp>
        <p:nvSpPr>
          <p:cNvPr id="13" name="Oval 12"/>
          <p:cNvSpPr/>
          <p:nvPr/>
        </p:nvSpPr>
        <p:spPr>
          <a:xfrm>
            <a:off x="2057400" y="1417320"/>
            <a:ext cx="786384" cy="786384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828800"/>
            <a:ext cx="3154680" cy="260604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Spätere Differenzierung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Mehr Zeit für Entwicklung und fundiertere Bildungsentscheidungen geben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1417320"/>
            <a:ext cx="786384" cy="786384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3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5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828800"/>
            <a:ext cx="3154680" cy="2606040"/>
          </a:xfrm>
          <a:prstGeom prst="roundRect">
            <a:avLst/>
          </a:prstGeom>
          <a:solidFill>
            <a:srgbClr val="F4EFFF"/>
          </a:solidFill>
          <a:ln>
            <a:solidFill>
              <a:srgbClr val="F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Alternative Bewertung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Lernfeedback, Portfolioarbeit und projektbasierte Bewertung stärker nutzen</a:t>
            </a:r>
          </a:p>
        </p:txBody>
      </p:sp>
      <p:sp>
        <p:nvSpPr>
          <p:cNvPr id="25" name="Oval 24"/>
          <p:cNvSpPr/>
          <p:nvPr/>
        </p:nvSpPr>
        <p:spPr>
          <a:xfrm>
            <a:off x="9464040" y="1417320"/>
            <a:ext cx="786384" cy="786384"/>
          </a:xfrm>
          <a:prstGeom prst="ellipse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18904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10149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233056"/>
                </a:solidFill>
                <a:latin typeface="Aptos Display"/>
              </a:rPr>
              <a:t>Ziel: Bildungsqualität und Schülerwohlbefinden stärker miteinander verbinden.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13 | ca. 13:15-14:10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420" fill="hold"/>
                      <p:tgtEl>
                        <p:spTgt spid="11"/>
                      </p:tgtEl>
                    </p:cBhvr>
                  </p:animEffect>
                  <p:animScale>
                    <p:cBhvr>
                      <p:cTn id="9" dur="420" fill="hold"/>
                      <p:tgtEl>
                        <p:spTgt spid="11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0" fill="hold" nodeType="withEffect" presetID="22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20" fill="hold"/>
                      <p:tgtEl>
                        <p:spTgt spid="12"/>
                      </p:tgtEl>
                    </p:cBhvr>
                  </p:animEffect>
                  <p:animScale>
                    <p:cBhvr>
                      <p:cTn id="13" dur="420" fill="hold"/>
                      <p:tgtEl>
                        <p:spTgt spid="12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4" fill="hold" nodeType="afterEffect" presetID="22" presetClass="entr" presetSubtype="0">
                <p:stCondLst>
                  <p:cond delay="860"/>
                </p:stCondLst>
                <p:childTnLst>
                  <p:set>
                    <p:cBhvr>
                      <p:cTn id="15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6" dur="420" fill="hold"/>
                      <p:tgtEl>
                        <p:spTgt spid="17"/>
                      </p:tgtEl>
                    </p:cBhvr>
                  </p:animEffect>
                  <p:animScale>
                    <p:cBhvr>
                      <p:cTn id="17" dur="420" fill="hold"/>
                      <p:tgtEl>
                        <p:spTgt spid="17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18" fill="hold" nodeType="withEffect" presetID="22" presetClass="entr" presetSubtype="0">
                <p:stCondLst>
                  <p:cond delay="860"/>
                </p:stCondLst>
                <p:childTnLst>
                  <p:set>
                    <p:cBhvr>
                      <p:cTn id="19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0" dur="420" fill="hold"/>
                      <p:tgtEl>
                        <p:spTgt spid="18"/>
                      </p:tgtEl>
                    </p:cBhvr>
                  </p:animEffect>
                  <p:animScale>
                    <p:cBhvr>
                      <p:cTn id="21" dur="420" fill="hold"/>
                      <p:tgtEl>
                        <p:spTgt spid="18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2" fill="hold" nodeType="afterEffect" presetID="22" presetClass="entr" presetSubtype="0">
                <p:stCondLst>
                  <p:cond delay="1160"/>
                </p:stCondLst>
                <p:childTnLst>
                  <p:set>
                    <p:cBhvr>
                      <p:cTn id="23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4" dur="420" fill="hold"/>
                      <p:tgtEl>
                        <p:spTgt spid="23"/>
                      </p:tgtEl>
                    </p:cBhvr>
                  </p:animEffect>
                  <p:animScale>
                    <p:cBhvr>
                      <p:cTn id="25" dur="420" fill="hold"/>
                      <p:tgtEl>
                        <p:spTgt spid="23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26" fill="hold" nodeType="withEffect" presetID="22" presetClass="entr" presetSubtype="0">
                <p:stCondLst>
                  <p:cond delay="1160"/>
                </p:stCondLst>
                <p:childTnLst>
                  <p:set>
                    <p:cBhvr>
                      <p:cTn id="27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8" dur="420" fill="hold"/>
                      <p:tgtEl>
                        <p:spTgt spid="24"/>
                      </p:tgtEl>
                    </p:cBhvr>
                  </p:animEffect>
                  <p:animScale>
                    <p:cBhvr>
                      <p:cTn id="29" dur="420" fill="hold"/>
                      <p:tgtEl>
                        <p:spTgt spid="24"/>
                      </p:tgtEl>
                      <p:attrNameLst>
                        <p:attrName>ScaleX</p:attrName>
                        <p:attrName>ScaleY</p:attrName>
                      </p:attrNameLst>
                    </p:cBhvr>
                    <p:from x="96000" y="96000"/>
                    <p:to x="100000" y="100000"/>
                  </p:animScale>
                </p:childTnLst>
              </p:cTn>
            </p:par>
            <p:par>
              <p:cTn id="30" fill="hold" nodeType="afterEffect" presetID="10" presetClass="entr" presetSubtype="0">
                <p:stCondLst>
                  <p:cond delay="1560"/>
                </p:stCondLst>
                <p:childTnLst>
                  <p:set>
                    <p:cBhvr>
                      <p:cTn id="3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380" fill="hold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Fazit: Was beantwortet die Leitfrage?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498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682"/>
                </a:solidFill>
                <a:latin typeface="Aptos Display"/>
              </a:rPr>
              <a:t>Antwort in einem Satz: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920240"/>
            <a:ext cx="10012680" cy="86868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955548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233056"/>
                </a:solidFill>
                <a:latin typeface="Aptos Display"/>
              </a:rPr>
              <a:t>Das Wohlbefinden hängt nicht nur von einzelnen Schülerinnen und Schülern ab, sondern stark von schulischen Strukturen.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3291839"/>
            <a:ext cx="210312" cy="210312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Schulische Strukturen beeinflussen Lernbedingungen, Bildungswege und subjektives Wohlbefinden.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3895344"/>
            <a:ext cx="210312" cy="210312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3849624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Frühe Differenzierung und Leistungsbewertung können fördern, aber auch Druck und Ungleichheit verstärken.</a:t>
            </a:r>
          </a:p>
        </p:txBody>
      </p:sp>
      <p:sp>
        <p:nvSpPr>
          <p:cNvPr id="16" name="Oval 15"/>
          <p:cNvSpPr/>
          <p:nvPr/>
        </p:nvSpPr>
        <p:spPr>
          <a:xfrm>
            <a:off x="1417320" y="4498848"/>
            <a:ext cx="210312" cy="210312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4453128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Schulklima, Unterstützung, Mitbestimmung und Lebensweltbezug können Wohlbefinden deutlich stärken.</a:t>
            </a:r>
          </a:p>
        </p:txBody>
      </p:sp>
      <p:sp>
        <p:nvSpPr>
          <p:cNvPr id="18" name="Oval 17"/>
          <p:cNvSpPr/>
          <p:nvPr/>
        </p:nvSpPr>
        <p:spPr>
          <a:xfrm>
            <a:off x="1417320" y="5102351"/>
            <a:ext cx="210312" cy="210312"/>
          </a:xfrm>
          <a:prstGeom prst="ellipse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1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Eine Schule der Zukunft sollte Leistung, Gerechtigkeit und persönliche Entwicklung gemeinsam denken.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14 | ca. 14:10-15:00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wipe dir="r"/>
      </p:transition>
    </ns0:Choice>
    <ns0:Fallback>
      <p:transition spd="med">
        <p:wipe dir="r"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 presetID="10" presetClass="entr" presetSubtype="0">
                <p:stCondLst>
                  <p:cond delay="0"/>
                </p:stCondLst>
                <p:childTnLst>
                  <p:set>
                    <p:cBhvr>
                      <p:cTn id="3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6" fill="hold" nodeType="afterEffect" presetID="10" presetClass="entr" presetSubtype="0">
                <p:stCondLst>
                  <p:cond delay="560"/>
                </p:stCondLst>
                <p:childTnLst>
                  <p:set>
                    <p:cBhvr>
                      <p:cTn id="7" dur="1" fill="hold"/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8" dur="500" fill="hold"/>
                      <p:tgtEl>
                        <p:spTgt spid="9"/>
                      </p:tgtEl>
                    </p:cBhvr>
                  </p:animEffect>
                </p:childTnLst>
              </p:cTn>
            </p:par>
            <p:par>
              <p:cTn id="10" fill="hold" nodeType="withEffect" presetID="10" presetClass="entr" presetSubtype="0">
                <p:stCondLst>
                  <p:cond delay="560"/>
                </p:stCondLst>
                <p:childTnLst>
                  <p:set>
                    <p:cBhvr>
                      <p:cTn id="11" dur="1" fill="hold"/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50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14" fill="hold" nodeType="afterEffect" presetID="2819" presetClass="entr" presetSubtype="0">
                <p:stCondLst>
                  <p:cond delay="990"/>
                </p:stCondLst>
                <p:childTnLst>
                  <p:set>
                    <p:cBhvr>
                      <p:cTn id="15" dur="1" fill="hold"/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16" dur="36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8" fill="hold" nodeType="afterEffect" presetID="2819" presetClass="entr" presetSubtype="0">
                <p:stCondLst>
                  <p:cond delay="1250"/>
                </p:stCondLst>
                <p:childTnLst>
                  <p:set>
                    <p:cBhvr>
                      <p:cTn id="19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0" dur="36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22" fill="hold" nodeType="afterEffect" presetID="2819" presetClass="entr" presetSubtype="0">
                <p:stCondLst>
                  <p:cond delay="1510"/>
                </p:stCondLst>
                <p:childTnLst>
                  <p:set>
                    <p:cBhvr>
                      <p:cTn id="23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4" dur="36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26" fill="hold" nodeType="afterEffect" presetID="2819" presetClass="entr" presetSubtype="0">
                <p:stCondLst>
                  <p:cond delay="1770"/>
                </p:stCondLst>
                <p:childTnLst>
                  <p:set>
                    <p:cBhvr>
                      <p:cTn id="27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wipe(right)">
                    <p:cBhvr>
                      <p:cTn id="28" dur="360" fill="hold"/>
                      <p:tgtEl>
                        <p:spTgt spid="19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