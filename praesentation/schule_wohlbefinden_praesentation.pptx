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49808" y="804672"/>
            <a:ext cx="10698480" cy="44348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138160" y="182880"/>
            <a:ext cx="2560320" cy="256032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98280" y="1673352"/>
            <a:ext cx="1234440" cy="123444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078992"/>
            <a:ext cx="7040880" cy="56692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400" b="1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664208"/>
            <a:ext cx="7772400" cy="8961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4400" b="1">
                <a:solidFill>
                  <a:srgbClr val="233056"/>
                </a:solidFill>
                <a:latin typeface="Aptos Display"/>
              </a:rPr>
              <a:t>Wie Schule wirkt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" y="2761488"/>
            <a:ext cx="6949440" cy="841248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2100">
                <a:solidFill>
                  <a:srgbClr val="233056"/>
                </a:solidFill>
                <a:latin typeface="Aptos"/>
              </a:defRPr>
            </a:pPr>
            <a:r>
              <a:t>Strukturelle Unterschiede und ihr Effekt auf das Wohlbefinden von Schülerinnen und Schülern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977639"/>
            <a:ext cx="4206240" cy="34747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5B6682"/>
                </a:solidFill>
                <a:latin typeface="Aptos Display"/>
              </a:rPr>
              <a:t>Facharbeit von Svea Timphus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4407408"/>
            <a:ext cx="438912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Leitfrage, zentrale Ergebnisse und Ausblick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01 | ca. 0:00-0:45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EINSTIEG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Warum ist das Thema relevant?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Schule als Lebensraum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Schule vermittelt Wissen, qualifiziert und integriert - sie ist aber auch ein Ort intensiver Bewertung.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Belastung im Jugendalter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Leistungsdruck, Prüfungsstress und Vergleichsmechanismen werden in der Arbeit als zentrale Belastungsfaktoren beschrieben.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Der Bildungserfolg hängt in Deutschland vergleichsweise stark mit dem sozioökonomischen Hintergrund zusammen.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02 | ca. 0:45-1:45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FOKUS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Leitfrage und Vorgehen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0200"/>
            <a:ext cx="10332720" cy="13258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856231"/>
            <a:ext cx="9692640" cy="7132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200" b="1">
                <a:solidFill>
                  <a:srgbClr val="233056"/>
                </a:solidFill>
                <a:latin typeface="Aptos Display"/>
              </a:rPr>
              <a:t>"Inwiefern beeinflussen strukturelle Unterschiede im deutschen Schulsystem das Wohlbefinden von Schülerinnen und Schülern?"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429000"/>
            <a:ext cx="9875520" cy="16459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literaturgestützte Analyse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Grundlagen: Schulstruktur, Wohlbefinden, Bildungsgerechtigkeit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Analyse: deutsches System, Leistungsdruck, Schulklima, internationaler Vergleich</a:t>
            </a:r>
          </a:p>
          <a:p>
            <a:pPr>
              <a:spcAft>
                <a:spcPts val="500"/>
              </a:spcAft>
              <a:defRPr sz="1800">
                <a:solidFill>
                  <a:srgbClr val="233056"/>
                </a:solidFill>
                <a:latin typeface="Aptos"/>
              </a:defRPr>
            </a:pPr>
            <a:r>
              <a:t>- Bewertung: Stärken, Schwächen und Reformansätze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03 | ca. 1:45-2:45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Drei Grundbegriffe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Strukturmerkmale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Schulformen, Dauer gemeinsamer Schulzeit, Noten, Übergänge, Versetzungen und Abschlussprüfungen.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Wohlbefinden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Psychische und soziale Dimensionen: Lebenszufriedenheit, Stress, Sicherheit, Eingebundenheit und Selbstwirksamkeit.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Bildungsgerechtigkeit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Faire Bildungschancen unabhängig von sozialer Herkunft, Geschlecht oder Migrationshintergrund.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04 | ca. 2:45-3:45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THEORETISCHE 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Welche Funktionen erfüllt Schule?</a:t>
            </a:r>
          </a:p>
        </p:txBody>
      </p:sp>
      <p:sp>
        <p:nvSpPr>
          <p:cNvPr id="9" name="Oval 8"/>
          <p:cNvSpPr/>
          <p:nvPr/>
        </p:nvSpPr>
        <p:spPr>
          <a:xfrm>
            <a:off x="1005840" y="1828800"/>
            <a:ext cx="685800" cy="685800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11095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874519" y="1755648"/>
            <a:ext cx="3977639" cy="10972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3911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Qualifikation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911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Wissen und Kompetenzen für Beruf, Studium und Teilhabe</a:t>
            </a:r>
          </a:p>
        </p:txBody>
      </p:sp>
      <p:sp>
        <p:nvSpPr>
          <p:cNvPr id="15" name="Oval 14"/>
          <p:cNvSpPr/>
          <p:nvPr/>
        </p:nvSpPr>
        <p:spPr>
          <a:xfrm>
            <a:off x="6172200" y="1828800"/>
            <a:ext cx="685800" cy="685800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00253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77456" y="1810512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40880" y="1755648"/>
            <a:ext cx="3977639" cy="109728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05472" y="1920240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Selektion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5472" y="232257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Zuordnung zu Bildungswegen durch Noten, Empfehlungen und Abschlüsse</a:t>
            </a:r>
          </a:p>
        </p:txBody>
      </p:sp>
      <p:sp>
        <p:nvSpPr>
          <p:cNvPr id="21" name="Oval 20"/>
          <p:cNvSpPr/>
          <p:nvPr/>
        </p:nvSpPr>
        <p:spPr>
          <a:xfrm>
            <a:off x="1005840" y="3703320"/>
            <a:ext cx="685800" cy="685800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1095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874519" y="3630168"/>
            <a:ext cx="3977639" cy="109728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3911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3911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Vermittlung von Normen, Werten und Verhaltensweisen</a:t>
            </a:r>
          </a:p>
        </p:txBody>
      </p:sp>
      <p:sp>
        <p:nvSpPr>
          <p:cNvPr id="27" name="Oval 26"/>
          <p:cNvSpPr/>
          <p:nvPr/>
        </p:nvSpPr>
        <p:spPr>
          <a:xfrm>
            <a:off x="6172200" y="3703320"/>
            <a:ext cx="685800" cy="685800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3877056"/>
            <a:ext cx="594360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7456" y="3685031"/>
            <a:ext cx="3977639" cy="109728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040880" y="3630168"/>
            <a:ext cx="3977639" cy="109728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3794759"/>
            <a:ext cx="36484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Integration &amp; Legitimation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4197096"/>
            <a:ext cx="3648456" cy="41147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Zugehörigkeit schaffen und Bildungsabschlüsse gesellschaftlich begründen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05 | ca. 3:45-4:45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STRUKTUR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Das deutsche Schulsystem: frühe Differenzierung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481328"/>
            <a:ext cx="29260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900" b="1">
                <a:solidFill>
                  <a:srgbClr val="233056"/>
                </a:solidFill>
                <a:latin typeface="Aptos Display"/>
              </a:rPr>
              <a:t>Grundschule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1920240"/>
            <a:ext cx="2926080" cy="65836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03120"/>
            <a:ext cx="265176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gemeinsamer Start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950208" y="1993392"/>
            <a:ext cx="1051560" cy="475488"/>
          </a:xfrm>
          <a:prstGeom prst="rightArrow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5032" y="2670048"/>
            <a:ext cx="155448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100" b="0">
                <a:solidFill>
                  <a:srgbClr val="5B6682"/>
                </a:solidFill>
                <a:latin typeface="Aptos Display"/>
              </a:rPr>
              <a:t>oft nach Klasse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85816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49240" y="1691640"/>
            <a:ext cx="1417320" cy="19659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13831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Gymnasium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3831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Abitur, stärker theoretisch, hoher Prüfungsdruck möglich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04304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67728" y="1691640"/>
            <a:ext cx="1417320" cy="196596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0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Realschule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Mittlerer Abschluss, Verbindung von Allgemeinbildung und Praxis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22792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86216" y="1691640"/>
            <a:ext cx="1417320" cy="19659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0808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Hauptschule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808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stärker praktisch, teils mit Stigmatisierung verbunden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0" y="1746504"/>
            <a:ext cx="1417320" cy="196596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204704" y="1691640"/>
            <a:ext cx="1417320" cy="196596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69296" y="1856232"/>
            <a:ext cx="10881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Gesamtschule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9296" y="2258568"/>
            <a:ext cx="1088136" cy="12801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Lernen, mehrere Abschlüsse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49240" y="4279392"/>
            <a:ext cx="6291072" cy="7315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4416552"/>
            <a:ext cx="5925312" cy="21945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400" b="1">
                <a:solidFill>
                  <a:srgbClr val="233056"/>
                </a:solidFill>
                <a:latin typeface="Aptos Display"/>
              </a:rPr>
              <a:t>Berufliche Schulen / duale Ausbildung: praktische Ausbildung + schulische Bildung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257800"/>
            <a:ext cx="10698480" cy="36576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Kernaussage der Arbeit: Differenzierung kann Förderung ermöglichen, legt Bildungswege aber früh fest.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06 | ca. 4:45-5:55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Mechanismen, die Druck erzeugen können</a:t>
            </a:r>
          </a:p>
        </p:txBody>
      </p:sp>
      <p:sp>
        <p:nvSpPr>
          <p:cNvPr id="9" name="Oval 8"/>
          <p:cNvSpPr/>
          <p:nvPr/>
        </p:nvSpPr>
        <p:spPr>
          <a:xfrm>
            <a:off x="5074920" y="2560320"/>
            <a:ext cx="2011680" cy="118872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39512" y="2971800"/>
            <a:ext cx="169164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96696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1691640"/>
            <a:ext cx="3520440" cy="141732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Noten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Vergleichbarkeit und Rückmeldung - aber auch Konkurrenzdruck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37575" y="1746504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01000" y="1691640"/>
            <a:ext cx="3520440" cy="141732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185623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Versetzung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25856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Leistungen entscheiden über den nächsten Schritt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6696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4160520"/>
            <a:ext cx="3520440" cy="141732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2471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Sitzenbleiben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Kann Motivation und Selbstwertgefühl negativ beeinflussen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37575" y="4215383"/>
            <a:ext cx="3520440" cy="141732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01000" y="4160520"/>
            <a:ext cx="3520440" cy="141732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4325112"/>
            <a:ext cx="319125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soziale Herkunft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727448"/>
            <a:ext cx="3191256" cy="73152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Bildungserfolg ist laut Arbeit eng mit familiären Ressourcen verbunden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07 | ca. 5:55-7:00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PUBLIKUM EINBINDEN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Kurze Kursaktivierung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10332720" cy="47548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400" b="1">
                <a:solidFill>
                  <a:srgbClr val="233056"/>
                </a:solidFill>
                <a:latin typeface="Aptos Display"/>
              </a:rPr>
              <a:t>Handabstimmung: Was beeinflusst euer schulisches Wohlbefinden am stärksten?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331720"/>
            <a:ext cx="4617720" cy="1060704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551176"/>
            <a:ext cx="603504" cy="603504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Leistungsdruck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Noten, Prüfungen, Vergleich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331720"/>
            <a:ext cx="4617720" cy="1060704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46520" y="2551176"/>
            <a:ext cx="603504" cy="60350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724912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2496312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Beziehung zu Lehrkräften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59" y="2862072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Unterstützung, Respekt, Vertrauen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" y="3904487"/>
            <a:ext cx="4617720" cy="1060704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000" y="4123944"/>
            <a:ext cx="603504" cy="60350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Mitbestimmung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Meinung zählt, Selbstwirksamkeit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904487"/>
            <a:ext cx="4617720" cy="1060704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46520" y="4123944"/>
            <a:ext cx="603504" cy="603504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4297679"/>
            <a:ext cx="512064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500" b="1">
                <a:solidFill>
                  <a:srgbClr val="233056"/>
                </a:solidFill>
                <a:latin typeface="Aptos Display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59" y="4069079"/>
            <a:ext cx="3429000" cy="25603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700" b="1">
                <a:solidFill>
                  <a:srgbClr val="233056"/>
                </a:solidFill>
                <a:latin typeface="Aptos Display"/>
              </a:rPr>
              <a:t>Lebensweltbezug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59" y="4434840"/>
            <a:ext cx="3474720" cy="21031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200" b="0">
                <a:solidFill>
                  <a:srgbClr val="5B6682"/>
                </a:solidFill>
                <a:latin typeface="Aptos Display"/>
              </a:rPr>
              <a:t>Alltag, Beruf, Zukunft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440680"/>
            <a:ext cx="8549640" cy="438912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29968" y="5559552"/>
            <a:ext cx="8138160" cy="1828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300" b="0">
                <a:solidFill>
                  <a:srgbClr val="5B6682"/>
                </a:solidFill>
                <a:latin typeface="Aptos Display"/>
              </a:rPr>
              <a:t>Danach: 2 kurze Stimmen einsammeln und mit den Ergebnissen der Facharbeit verknüpfen.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08 | ca. 7:00-8:30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WIRKUNG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Schule und Wohlbefinden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4983480" cy="342900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1737360"/>
            <a:ext cx="4983480" cy="342900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Belastende Faktoren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Prüfungsstress und Erwartungshaltungen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Vergleichskultur und Konkurrenzdenken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Angst vor schulischem Versagen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Schlafprobleme, Kopfschmerzen oder Konzentrationsschwierigkeiten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057400"/>
            <a:ext cx="448056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100" b="1">
                <a:solidFill>
                  <a:srgbClr val="233056"/>
                </a:solidFill>
                <a:latin typeface="Aptos Display"/>
              </a:rPr>
              <a:t>Stärkende Faktoren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51760"/>
            <a:ext cx="425196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positives Schulklima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unterstützende Beziehungen zu Lehrkräften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Mitbestimmung und Partizipation</a:t>
            </a:r>
          </a:p>
          <a:p>
            <a:pPr>
              <a:spcAft>
                <a:spcPts val="4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Feedbackkultur statt nur Ergebnisfokus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09 | ca. 8:30-9:45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UNTERRICHT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Lebensweltbezug: Warum Inhalte wichtig sind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8" y="1874519"/>
            <a:ext cx="3273552" cy="3063240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Alltagskompetenzen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In der Arbeit werden Steuererklärungen, Versicherungen, Mietverträge und Finanzplanung als Beispiele genannt.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17136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1874519"/>
            <a:ext cx="3273552" cy="3063240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Finanzbildung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OECD-Studien zu Financial Literacy zeigen, dass finanzielle Grundkompetenzen international ein Thema sind.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47888" y="1929384"/>
            <a:ext cx="3273552" cy="30632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11312" y="1874519"/>
            <a:ext cx="3273552" cy="3063240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2039112"/>
            <a:ext cx="2944368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Berufsorientierung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441448"/>
            <a:ext cx="2944368" cy="23774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Praktika und Orientierung können realistische Vorstellungen von Bildungs- und Berufswegen fördern.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10 | ca. 9:45-10:45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EINORDNUNG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Internationaler Vergleich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737360"/>
            <a:ext cx="3246120" cy="1874519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Deutschland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Mehrgliedrigkeit, Noten und Prüfungen spielen zentrale Rolle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7258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36008" y="1737360"/>
            <a:ext cx="3246120" cy="1874519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Skandinavische Modelle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längeres gemeinsames Lernen; Finnland bis zur 9. Klasse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67344" y="1792224"/>
            <a:ext cx="3246120" cy="1874519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30768" y="1737360"/>
            <a:ext cx="3246120" cy="1874519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1901952"/>
            <a:ext cx="291693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Angelsächsische Systeme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304288"/>
            <a:ext cx="2916936" cy="1188719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umfassende Gesamtschulen, Wahlmöglichkeiten und Praxisorientierung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343400"/>
            <a:ext cx="9875520" cy="329184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Einordnung aus der Facharbeit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800600"/>
            <a:ext cx="9875520" cy="86868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Länder mit späterer Leistungsdifferenzierung weisen häufig geringere Leistungsunterschiede zwischen sozialen Gruppen auf.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Unterstützende Lernumgebungen und weniger Konkurrenzkultur können mit höherer Schülerzufriedenheit verbunden sein.</a:t>
            </a:r>
          </a:p>
          <a:p>
            <a:pPr>
              <a:spcAft>
                <a:spcPts val="200"/>
              </a:spcAft>
              <a:defRPr sz="1400">
                <a:solidFill>
                  <a:srgbClr val="233056"/>
                </a:solidFill>
                <a:latin typeface="Aptos"/>
              </a:defRPr>
            </a:pPr>
            <a:r>
              <a:t>- Es gibt kein einheitliches perfektes Bildungssystem.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11 | ca. 10:45-12:00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BEWERTUNG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Stärken und Schwächen des deutschen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5010912" cy="3566160"/>
          </a:xfrm>
          <a:prstGeom prst="roundRect">
            <a:avLst/>
          </a:prstGeom>
          <a:solidFill>
            <a:srgbClr val="ECFAF1"/>
          </a:solidFill>
          <a:ln>
            <a:solidFill>
              <a:srgbClr val="ECF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737360"/>
            <a:ext cx="5010912" cy="3566160"/>
          </a:xfrm>
          <a:prstGeom prst="roundRect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Stärken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Differenzierung verschiedener Bildungswege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duales Ausbildungssystem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relativ niedrige Jugendarbeitslosigkeit laut OECD 2021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hohe akademische Standards, besonders im Gymnasium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29968"/>
            <a:ext cx="4434840" cy="310896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300" b="1">
                <a:solidFill>
                  <a:srgbClr val="233056"/>
                </a:solidFill>
                <a:latin typeface="Aptos Display"/>
              </a:rPr>
              <a:t>Schwächen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51760"/>
            <a:ext cx="4160520" cy="173736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frühe Aufteilung nach der Grundschule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starke Kopplung von sozialer Herkunft und Bildungserfolg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Leistungsdruck durch Noten, Prüfungen und Versetzung</a:t>
            </a:r>
          </a:p>
          <a:p>
            <a:pPr>
              <a:spcAft>
                <a:spcPts val="300"/>
              </a:spcAft>
              <a:defRPr sz="1500">
                <a:solidFill>
                  <a:srgbClr val="233056"/>
                </a:solidFill>
                <a:latin typeface="Aptos"/>
              </a:defRPr>
            </a:pPr>
            <a:r>
              <a:t>- soziale Segregation zwischen Schulformen möglich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12 | ca. 12:00-13:15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AUSBLICK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Reformansätze aus der Arbeit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097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828800"/>
            <a:ext cx="3154680" cy="2606040"/>
          </a:xfrm>
          <a:prstGeom prst="roundRect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Mehr Lebenskompetenzen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Finanzbildung, Medienkompetenz und praktische Alltagsfähigkeiten stärker integrieren</a:t>
            </a:r>
          </a:p>
        </p:txBody>
      </p:sp>
      <p:sp>
        <p:nvSpPr>
          <p:cNvPr id="13" name="Oval 12"/>
          <p:cNvSpPr/>
          <p:nvPr/>
        </p:nvSpPr>
        <p:spPr>
          <a:xfrm>
            <a:off x="2057400" y="1417320"/>
            <a:ext cx="786384" cy="786384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1226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54296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17720" y="1828800"/>
            <a:ext cx="3154680" cy="260604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Spätere Differenzierung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Mehr Zeit für Entwicklung und fundiertere Bildungsentscheidungen geben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0" y="1417320"/>
            <a:ext cx="786384" cy="786384"/>
          </a:xfrm>
          <a:prstGeom prst="ellipse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15583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5" y="1883664"/>
            <a:ext cx="3154680" cy="2606040"/>
          </a:xfrm>
          <a:prstGeom prst="roundRect">
            <a:avLst/>
          </a:prstGeom>
          <a:solidFill>
            <a:srgbClr val="E6DACD"/>
          </a:solidFill>
          <a:ln>
            <a:solidFill>
              <a:srgbClr val="E6D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21040" y="1828800"/>
            <a:ext cx="3154680" cy="2606040"/>
          </a:xfrm>
          <a:prstGeom prst="roundRect">
            <a:avLst/>
          </a:prstGeom>
          <a:solidFill>
            <a:srgbClr val="F4EFFF"/>
          </a:solidFill>
          <a:ln>
            <a:solidFill>
              <a:srgbClr val="F4E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85632" y="1993392"/>
            <a:ext cx="2825496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600" b="1">
                <a:solidFill>
                  <a:srgbClr val="233056"/>
                </a:solidFill>
                <a:latin typeface="Aptos Display"/>
              </a:rPr>
              <a:t>Alternative Bewertung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5632" y="2395728"/>
            <a:ext cx="2825496" cy="1920240"/>
          </a:xfrm>
          <a:prstGeom prst="rect">
            <a:avLst/>
          </a:prstGeom>
          <a:noFill/>
        </p:spPr>
        <p:txBody>
          <a:bodyPr wrap="square" lIns="109728" rIns="109728" tIns="54864" bIns="54864">
            <a:spAutoFit/>
          </a:bodyPr>
          <a:lstStyle/>
          <a:p>
            <a:pPr>
              <a:spcAft>
                <a:spcPts val="0"/>
              </a:spcAft>
              <a:defRPr sz="1300">
                <a:solidFill>
                  <a:srgbClr val="233056"/>
                </a:solidFill>
                <a:latin typeface="Aptos"/>
              </a:defRPr>
            </a:pPr>
            <a:r>
              <a:t>Lernfeedback, Portfolioarbeit und projektbasierte Bewertung stärker nutzen</a:t>
            </a:r>
          </a:p>
        </p:txBody>
      </p:sp>
      <p:sp>
        <p:nvSpPr>
          <p:cNvPr id="25" name="Oval 24"/>
          <p:cNvSpPr/>
          <p:nvPr/>
        </p:nvSpPr>
        <p:spPr>
          <a:xfrm>
            <a:off x="9464040" y="1417320"/>
            <a:ext cx="786384" cy="786384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18904" y="1655064"/>
            <a:ext cx="6858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700" b="1">
                <a:solidFill>
                  <a:srgbClr val="233056"/>
                </a:solidFill>
                <a:latin typeface="Aptos Display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5120640"/>
            <a:ext cx="10149840" cy="41148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2000" b="1">
                <a:solidFill>
                  <a:srgbClr val="233056"/>
                </a:solidFill>
                <a:latin typeface="Aptos Display"/>
              </a:rPr>
              <a:t>Ziel: Bildungsqualität und Schülerwohlbefinden stärker miteinander verbinden.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13 | ca. 13:15-14:10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469880" y="-320040"/>
            <a:ext cx="1463040" cy="1463040"/>
          </a:xfrm>
          <a:prstGeom prst="ellipse">
            <a:avLst/>
          </a:prstGeom>
          <a:solidFill>
            <a:srgbClr val="FFE6EE"/>
          </a:solidFill>
          <a:ln>
            <a:solidFill>
              <a:srgbClr val="FFE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92840" y="502920"/>
            <a:ext cx="868680" cy="868680"/>
          </a:xfrm>
          <a:prstGeom prst="ellipse">
            <a:avLst/>
          </a:prstGeom>
          <a:solidFill>
            <a:srgbClr val="FFF8D8"/>
          </a:solidFill>
          <a:ln>
            <a:solidFill>
              <a:srgbClr val="FFF8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320040" y="6080760"/>
            <a:ext cx="1143000" cy="1143000"/>
          </a:xfrm>
          <a:prstGeom prst="ellipse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384048"/>
            <a:ext cx="2103120" cy="384048"/>
          </a:xfrm>
          <a:prstGeom prst="roundRect">
            <a:avLst/>
          </a:prstGeom>
          <a:solidFill>
            <a:srgbClr val="BEE5F5"/>
          </a:solidFill>
          <a:ln>
            <a:solidFill>
              <a:srgbClr val="BEE5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38912"/>
            <a:ext cx="192024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900" b="1">
                <a:solidFill>
                  <a:srgbClr val="233056"/>
                </a:solidFill>
                <a:latin typeface="Aptos Display"/>
              </a:rPr>
              <a:t>SCHLUSS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749808"/>
            <a:ext cx="10698480" cy="530352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2800" b="1">
                <a:solidFill>
                  <a:srgbClr val="233056"/>
                </a:solidFill>
                <a:latin typeface="Aptos Display"/>
              </a:rPr>
              <a:t>Fazit: Was beantwortet die Leitfrage?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08760"/>
            <a:ext cx="10149840" cy="38404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5B6682"/>
                </a:solidFill>
                <a:latin typeface="Aptos Display"/>
              </a:rPr>
              <a:t>Antwort in einem Satz: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1920240"/>
            <a:ext cx="10012680" cy="868680"/>
          </a:xfrm>
          <a:prstGeom prst="roundRect">
            <a:avLst/>
          </a:prstGeom>
          <a:solidFill>
            <a:srgbClr val="DCF4FC"/>
          </a:solidFill>
          <a:ln>
            <a:solidFill>
              <a:srgbClr val="DCF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148840"/>
            <a:ext cx="9555480" cy="29260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ctr"/>
            <a:r>
              <a:rPr sz="1800" b="1">
                <a:solidFill>
                  <a:srgbClr val="233056"/>
                </a:solidFill>
                <a:latin typeface="Aptos Display"/>
              </a:rPr>
              <a:t>Das Wohlbefinden hängt nicht nur von einzelnen Schülerinnen und Schülern ab, sondern stark von schulischen Strukturen.</a:t>
            </a:r>
          </a:p>
        </p:txBody>
      </p:sp>
      <p:sp>
        <p:nvSpPr>
          <p:cNvPr id="12" name="Oval 11"/>
          <p:cNvSpPr/>
          <p:nvPr/>
        </p:nvSpPr>
        <p:spPr>
          <a:xfrm>
            <a:off x="1417320" y="3291839"/>
            <a:ext cx="210312" cy="210312"/>
          </a:xfrm>
          <a:prstGeom prst="ellipse">
            <a:avLst/>
          </a:prstGeom>
          <a:solidFill>
            <a:srgbClr val="F7CBDA"/>
          </a:solidFill>
          <a:ln>
            <a:solidFill>
              <a:srgbClr val="F7CB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080" y="3246120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Schulische Strukturen beeinflussen Lernbedingungen, Bildungswege und subjektives Wohlbefinden.</a:t>
            </a:r>
          </a:p>
        </p:txBody>
      </p:sp>
      <p:sp>
        <p:nvSpPr>
          <p:cNvPr id="14" name="Oval 13"/>
          <p:cNvSpPr/>
          <p:nvPr/>
        </p:nvSpPr>
        <p:spPr>
          <a:xfrm>
            <a:off x="1417320" y="3895344"/>
            <a:ext cx="210312" cy="210312"/>
          </a:xfrm>
          <a:prstGeom prst="ellipse">
            <a:avLst/>
          </a:prstGeom>
          <a:solidFill>
            <a:srgbClr val="FFF0B3"/>
          </a:solidFill>
          <a:ln>
            <a:solidFill>
              <a:srgbClr val="FFF0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83080" y="3849624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Frühe Differenzierung und Leistungsbewertung können fördern, aber auch Druck und Ungleichheit verstärken.</a:t>
            </a:r>
          </a:p>
        </p:txBody>
      </p:sp>
      <p:sp>
        <p:nvSpPr>
          <p:cNvPr id="16" name="Oval 15"/>
          <p:cNvSpPr/>
          <p:nvPr/>
        </p:nvSpPr>
        <p:spPr>
          <a:xfrm>
            <a:off x="1417320" y="4498848"/>
            <a:ext cx="210312" cy="210312"/>
          </a:xfrm>
          <a:prstGeom prst="ellipse">
            <a:avLst/>
          </a:prstGeom>
          <a:solidFill>
            <a:srgbClr val="D7F2E1"/>
          </a:solidFill>
          <a:ln>
            <a:solidFill>
              <a:srgbClr val="D7F2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4453128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Schulklima, Unterstützung, Mitbestimmung und Lebensweltbezug können Wohlbefinden deutlich stärken.</a:t>
            </a:r>
          </a:p>
        </p:txBody>
      </p:sp>
      <p:sp>
        <p:nvSpPr>
          <p:cNvPr id="18" name="Oval 17"/>
          <p:cNvSpPr/>
          <p:nvPr/>
        </p:nvSpPr>
        <p:spPr>
          <a:xfrm>
            <a:off x="1417320" y="5102351"/>
            <a:ext cx="210312" cy="210312"/>
          </a:xfrm>
          <a:prstGeom prst="ellipse">
            <a:avLst/>
          </a:prstGeom>
          <a:solidFill>
            <a:srgbClr val="E2D9FA"/>
          </a:solidFill>
          <a:ln>
            <a:solidFill>
              <a:srgbClr val="E2D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783080" y="5056631"/>
            <a:ext cx="8961120" cy="32004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1500" b="0">
                <a:solidFill>
                  <a:srgbClr val="233056"/>
                </a:solidFill>
                <a:latin typeface="Aptos Display"/>
              </a:rPr>
              <a:t>Eine Schule der Zukunft sollte Leistung, Gerechtigkeit und persönliche Entwicklung gemeinsam denken.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19088"/>
            <a:ext cx="3200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l"/>
            <a:r>
              <a:rPr sz="800" b="0">
                <a:solidFill>
                  <a:srgbClr val="5B6682"/>
                </a:solidFill>
                <a:latin typeface="Aptos Display"/>
              </a:rPr>
              <a:t>Folie 14 | ca. 14:10-15:00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6419088"/>
            <a:ext cx="2057400" cy="201168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800" b="0">
                <a:solidFill>
                  <a:srgbClr val="5B6682"/>
                </a:solidFill>
                <a:latin typeface="Aptos Display"/>
              </a:rPr>
              <a:t>Seminarfachkurs Glück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