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ns0="http://schemas.openxmlformats.org/markup-compatibility/2006" ns0:Ignorable="p14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9808" y="804672"/>
            <a:ext cx="1069848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138160" y="182880"/>
            <a:ext cx="2560320" cy="2560320"/>
          </a:xfrm>
          <a:prstGeom prst="ellipse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98280" y="1673352"/>
            <a:ext cx="1234440" cy="1234440"/>
          </a:xfrm>
          <a:prstGeom prst="ellipse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078992"/>
            <a:ext cx="7040880" cy="56692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400" b="1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664208"/>
            <a:ext cx="7772400" cy="8961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4400" b="1">
                <a:solidFill>
                  <a:srgbClr val="233056"/>
                </a:solidFill>
                <a:latin typeface="Aptos Display"/>
              </a:rPr>
              <a:t>Wie Schule wirkt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761488"/>
            <a:ext cx="6949440" cy="841248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2100">
                <a:solidFill>
                  <a:srgbClr val="233056"/>
                </a:solidFill>
                <a:latin typeface="Aptos"/>
              </a:defRPr>
            </a:pPr>
            <a:r>
              <a:t>Strukturelle Unterschiede und ihr Effekt auf das Wohlbefinden von Schülerinnen und Schülern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3977639"/>
            <a:ext cx="4206240" cy="34747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500" b="0">
                <a:solidFill>
                  <a:srgbClr val="5B6682"/>
                </a:solidFill>
                <a:latin typeface="Aptos Display"/>
              </a:rPr>
              <a:t>Facharbeit von Svea Timphus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4407408"/>
            <a:ext cx="438912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5B6682"/>
                </a:solidFill>
                <a:latin typeface="Aptos Display"/>
              </a:rPr>
              <a:t>Leitfrage, zentrale Ergebnisse und Ausblick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01 | ca. 0:00-0:45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  <ns0:AlternateContent xmlns:p14="http://schemas.microsoft.com/office/powerpoint/2010/main">
    <ns0:Choice Requires="p14">
      <p:transition spd="med" p14:dur="700">
        <p:fade/>
      </p:transition>
    </ns0:Choice>
    <ns0:Fallback>
      <p:transition spd="med">
        <p:fade/>
      </p:transition>
    </ns0:Fallback>
  </ns0:AlternateContent>
  <p:timing>
    <p:tnLst>
      <p:seq concurrent="1" nextAc="seek">
        <p:cTn id="1" dur="indefinite" nodeType="mainSeq">
          <p:stCondLst>
            <p:cond delay="0"/>
          </p:stCondLst>
          <p:childTnLst>
            <p:par>
              <p:cTn id="2" fill="hold" nodeType="afterEffect" presetID="10" presetClass="entr" presetSubtype="0">
                <p:stCondLst>
                  <p:cond delay="0"/>
                </p:stCondLst>
                <p:childTnLst>
                  <p:set>
                    <p:cBhvr>
                      <p:cTn id="3" dur="1" fill="hold"/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" dur="500" fill="hold"/>
                      <p:tgtEl>
                        <p:spTgt spid="10"/>
                      </p:tgtEl>
                    </p:cBhvr>
                  </p:animEffect>
                </p:childTnLst>
              </p:cTn>
            </p:par>
            <p:par>
              <p:cTn id="6" fill="hold" nodeType="afterEffect" presetID="2819" presetClass="entr" presetSubtype="0">
                <p:stCondLst>
                  <p:cond delay="560"/>
                </p:stCondLst>
                <p:childTnLst>
                  <p:set>
                    <p:cBhvr>
                      <p:cTn id="7" dur="1" fill="hold"/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8" dur="450" fill="hold"/>
                      <p:tgtEl>
                        <p:spTgt spid="11"/>
                      </p:tgtEl>
                    </p:cBhvr>
                  </p:animEffect>
                </p:childTnLst>
              </p:cTn>
            </p:par>
            <p:par>
              <p:cTn id="10" fill="hold" nodeType="afterEffect" presetID="10" presetClass="entr" presetSubtype="0">
                <p:stCondLst>
                  <p:cond delay="840"/>
                </p:stCondLst>
                <p:childTnLst>
                  <p:set>
                    <p:cBhvr>
                      <p:cTn id="11" dur="1" fill="hold"/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50" fill="hold"/>
                      <p:tgtEl>
                        <p:spTgt spid="12"/>
                      </p:tgtEl>
                    </p:cBhvr>
                  </p:animEffect>
                </p:childTnLst>
              </p:cTn>
            </p:par>
            <p:par>
              <p:cTn id="14" fill="hold" nodeType="afterEffect" presetID="10" presetClass="entr" presetSubtype="0">
                <p:stCondLst>
                  <p:cond delay="1120"/>
                </p:stCondLst>
                <p:childTnLst>
                  <p:set>
                    <p:cBhvr>
                      <p:cTn id="15" dur="1" fill="hold"/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6" dur="450" fill="hold"/>
                      <p:tgtEl>
                        <p:spTgt spid="13"/>
                      </p:tgtEl>
                    </p:cBhvr>
                  </p:animEffect>
                </p:childTnLst>
              </p:cTn>
            </p:par>
          </p:childTnLst>
        </p:cTn>
        <p:prevCondLst>
          <p:cond evt="onPrev" delay="0">
            <p:tgtEl>
              <p:sldTgt/>
            </p:tgtEl>
          </p:cond>
        </p:prevCondLst>
        <p:nextCondLst>
          <p:cond evt="onNext" delay="0">
            <p:tgtEl>
              <p:sldTgt/>
            </p:tgtEl>
          </p:cond>
        </p:nextCondLst>
      </p:seq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ns0="http://schemas.openxmlformats.org/markup-compatibility/2006" ns0:Ignorable="p14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EINSTIEG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Warum ist das Thema relevant?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1929384"/>
            <a:ext cx="3273552" cy="30632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73552" cy="3063240"/>
          </a:xfrm>
          <a:prstGeom prst="round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039112"/>
            <a:ext cx="2944368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Schule als Lebensraum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41448"/>
            <a:ext cx="2944368" cy="23774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Schule vermittelt Wissen, qualifiziert und integriert - sie ist aber auch ein Ort intensiver Bewertung.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17136" y="1929384"/>
            <a:ext cx="3273552" cy="30632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80560" y="1874519"/>
            <a:ext cx="3273552" cy="3063240"/>
          </a:xfrm>
          <a:prstGeom prst="roundRect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2039112"/>
            <a:ext cx="2944368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Belastung im Jugendalter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441448"/>
            <a:ext cx="2944368" cy="23774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Leistungsdruck, Prüfungsstress und Vergleichsmechanismen werden in der Arbeit als zentrale Belastungsfaktoren beschrieben.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47888" y="1929384"/>
            <a:ext cx="3273552" cy="30632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11312" y="1874519"/>
            <a:ext cx="3273552" cy="3063240"/>
          </a:xfrm>
          <a:prstGeom prst="roundRect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2039112"/>
            <a:ext cx="2944368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Bildungsgerechtigkeit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441448"/>
            <a:ext cx="2944368" cy="23774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Der Bildungserfolg hängt in Deutschland vergleichsweise stark mit dem sozioökonomischen Hintergrund zusammen.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02 | ca. 0:45-1:45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  <ns0:AlternateContent xmlns:p14="http://schemas.microsoft.com/office/powerpoint/2010/main">
    <ns0:Choice Requires="p14">
      <p:transition spd="med" p14:dur="700">
        <p:fade/>
      </p:transition>
    </ns0:Choice>
    <ns0:Fallback>
      <p:transition spd="med">
        <p:fade/>
      </p:transition>
    </ns0:Fallback>
  </ns0:AlternateContent>
  <p:timing>
    <p:tnLst>
      <p:seq concurrent="1" nextAc="seek">
        <p:cTn id="1" dur="indefinite" nodeType="mainSeq">
          <p:stCondLst>
            <p:cond delay="0"/>
          </p:stCondLst>
          <p:childTnLst>
            <p:par>
              <p:cTn id="2" fill="hold" nodeType="afterEffect" presetID="10" presetClass="entr" presetSubtype="0">
                <p:stCondLst>
                  <p:cond delay="0"/>
                </p:stCondLst>
                <p:childTnLst>
                  <p:set>
                    <p:cBhvr>
                      <p:cTn id="3" dur="1" fill="hold"/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" dur="500" fill="hold"/>
                      <p:tgtEl>
                        <p:spTgt spid="8"/>
                      </p:tgtEl>
                    </p:cBhvr>
                  </p:animEffect>
                </p:childTnLst>
              </p:cTn>
            </p:par>
            <p:par>
              <p:cTn id="6" fill="hold" nodeType="afterEffect" presetID="22" presetClass="entr" presetSubtype="0">
                <p:stCondLst>
                  <p:cond delay="560"/>
                </p:stCondLst>
                <p:childTnLst>
                  <p:set>
                    <p:cBhvr>
                      <p:cTn id="7" dur="1" fill="hold"/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8" dur="430" fill="hold"/>
                      <p:tgtEl>
                        <p:spTgt spid="11"/>
                      </p:tgtEl>
                    </p:cBhvr>
                  </p:animEffect>
                  <p:animScale>
                    <p:cBhvr>
                      <p:cTn id="9" dur="430" fill="hold"/>
                      <p:tgtEl>
                        <p:spTgt spid="11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0" fill="hold" nodeType="withEffect" presetID="22" presetClass="entr" presetSubtype="0">
                <p:stCondLst>
                  <p:cond delay="560"/>
                </p:stCondLst>
                <p:childTnLst>
                  <p:set>
                    <p:cBhvr>
                      <p:cTn id="11" dur="1" fill="hold"/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30" fill="hold"/>
                      <p:tgtEl>
                        <p:spTgt spid="12"/>
                      </p:tgtEl>
                    </p:cBhvr>
                  </p:animEffect>
                  <p:animScale>
                    <p:cBhvr>
                      <p:cTn id="13" dur="430" fill="hold"/>
                      <p:tgtEl>
                        <p:spTgt spid="12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4" fill="hold" nodeType="afterEffect" presetID="22" presetClass="entr" presetSubtype="0">
                <p:stCondLst>
                  <p:cond delay="830"/>
                </p:stCondLst>
                <p:childTnLst>
                  <p:set>
                    <p:cBhvr>
                      <p:cTn id="15" dur="1" fill="hold"/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6" dur="430" fill="hold"/>
                      <p:tgtEl>
                        <p:spTgt spid="15"/>
                      </p:tgtEl>
                    </p:cBhvr>
                  </p:animEffect>
                  <p:animScale>
                    <p:cBhvr>
                      <p:cTn id="17" dur="430" fill="hold"/>
                      <p:tgtEl>
                        <p:spTgt spid="15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8" fill="hold" nodeType="withEffect" presetID="22" presetClass="entr" presetSubtype="0">
                <p:stCondLst>
                  <p:cond delay="830"/>
                </p:stCondLst>
                <p:childTnLst>
                  <p:set>
                    <p:cBhvr>
                      <p:cTn id="19" dur="1" fill="hold"/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0" dur="430" fill="hold"/>
                      <p:tgtEl>
                        <p:spTgt spid="16"/>
                      </p:tgtEl>
                    </p:cBhvr>
                  </p:animEffect>
                  <p:animScale>
                    <p:cBhvr>
                      <p:cTn id="21" dur="430" fill="hold"/>
                      <p:tgtEl>
                        <p:spTgt spid="16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2" fill="hold" nodeType="afterEffect" presetID="22" presetClass="entr" presetSubtype="0">
                <p:stCondLst>
                  <p:cond delay="1100"/>
                </p:stCondLst>
                <p:childTnLst>
                  <p:set>
                    <p:cBhvr>
                      <p:cTn id="23" dur="1" fill="hold"/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4" dur="430" fill="hold"/>
                      <p:tgtEl>
                        <p:spTgt spid="19"/>
                      </p:tgtEl>
                    </p:cBhvr>
                  </p:animEffect>
                  <p:animScale>
                    <p:cBhvr>
                      <p:cTn id="25" dur="430" fill="hold"/>
                      <p:tgtEl>
                        <p:spTgt spid="19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6" fill="hold" nodeType="withEffect" presetID="22" presetClass="entr" presetSubtype="0">
                <p:stCondLst>
                  <p:cond delay="1100"/>
                </p:stCondLst>
                <p:childTnLst>
                  <p:set>
                    <p:cBhvr>
                      <p:cTn id="27" dur="1" fill="hold"/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8" dur="430" fill="hold"/>
                      <p:tgtEl>
                        <p:spTgt spid="20"/>
                      </p:tgtEl>
                    </p:cBhvr>
                  </p:animEffect>
                  <p:animScale>
                    <p:cBhvr>
                      <p:cTn id="29" dur="430" fill="hold"/>
                      <p:tgtEl>
                        <p:spTgt spid="20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</p:childTnLst>
        </p:cTn>
        <p:prevCondLst>
          <p:cond evt="onPrev" delay="0">
            <p:tgtEl>
              <p:sldTgt/>
            </p:tgtEl>
          </p:cond>
        </p:prevCondLst>
        <p:nextCondLst>
          <p:cond evt="onNext" delay="0">
            <p:tgtEl>
              <p:sldTgt/>
            </p:tgtEl>
          </p:cond>
        </p:nextCondLst>
      </p:seq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ns0="http://schemas.openxmlformats.org/markup-compatibility/2006" ns0:Ignorable="p14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FOKUS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Leitfrage und Vorgehen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0200"/>
            <a:ext cx="10332720" cy="1325880"/>
          </a:xfrm>
          <a:prstGeom prst="roundRect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1856231"/>
            <a:ext cx="9692640" cy="7132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2200" b="1">
                <a:solidFill>
                  <a:srgbClr val="233056"/>
                </a:solidFill>
                <a:latin typeface="Aptos Display"/>
              </a:rPr>
              <a:t>"Inwiefern beeinflussen strukturelle Unterschiede im deutschen Schulsystem das Wohlbefinden von Schülerinnen und Schülern?"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429000"/>
            <a:ext cx="9875520" cy="164592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33056"/>
                </a:solidFill>
                <a:latin typeface="Aptos"/>
              </a:defRPr>
            </a:pPr>
            <a:r>
              <a:t>- literaturgestützte Analyse</a:t>
            </a:r>
          </a:p>
          <a:p>
            <a:pPr>
              <a:spcAft>
                <a:spcPts val="500"/>
              </a:spcAft>
              <a:defRPr sz="1800">
                <a:solidFill>
                  <a:srgbClr val="233056"/>
                </a:solidFill>
                <a:latin typeface="Aptos"/>
              </a:defRPr>
            </a:pPr>
            <a:r>
              <a:t>- Grundlagen: Schulstruktur, Wohlbefinden, Bildungsgerechtigkeit</a:t>
            </a:r>
          </a:p>
          <a:p>
            <a:pPr>
              <a:spcAft>
                <a:spcPts val="500"/>
              </a:spcAft>
              <a:defRPr sz="1800">
                <a:solidFill>
                  <a:srgbClr val="233056"/>
                </a:solidFill>
                <a:latin typeface="Aptos"/>
              </a:defRPr>
            </a:pPr>
            <a:r>
              <a:t>- Analyse: deutsches System, Leistungsdruck, Schulklima, internationaler Vergleich</a:t>
            </a:r>
          </a:p>
          <a:p>
            <a:pPr>
              <a:spcAft>
                <a:spcPts val="500"/>
              </a:spcAft>
              <a:defRPr sz="1800">
                <a:solidFill>
                  <a:srgbClr val="233056"/>
                </a:solidFill>
                <a:latin typeface="Aptos"/>
              </a:defRPr>
            </a:pPr>
            <a:r>
              <a:t>- Bewertung: Stärken, Schwächen und Reformansätze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03 | ca. 1:45-2:45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  <ns0:AlternateContent xmlns:p14="http://schemas.microsoft.com/office/powerpoint/2010/main">
    <ns0:Choice Requires="p14">
      <p:transition spd="med" p14:dur="700">
        <p:fade/>
      </p:transition>
    </ns0:Choice>
    <ns0:Fallback>
      <p:transition spd="med">
        <p:fade/>
      </p:transition>
    </ns0:Fallback>
  </ns0:AlternateContent>
  <p:timing>
    <p:tnLst>
      <p:seq concurrent="1" nextAc="seek">
        <p:cTn id="1" dur="indefinite" nodeType="mainSeq">
          <p:stCondLst>
            <p:cond delay="0"/>
          </p:stCondLst>
          <p:childTnLst>
            <p:par>
              <p:cTn id="2" fill="hold" nodeType="afterEffect" presetID="10" presetClass="entr" presetSubtype="0">
                <p:stCondLst>
                  <p:cond delay="0"/>
                </p:stCondLst>
                <p:childTnLst>
                  <p:set>
                    <p:cBhvr>
                      <p:cTn id="3" dur="1" fill="hold"/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" dur="500" fill="hold"/>
                      <p:tgtEl>
                        <p:spTgt spid="8"/>
                      </p:tgtEl>
                    </p:cBhvr>
                  </p:animEffect>
                </p:childTnLst>
              </p:cTn>
            </p:par>
            <p:par>
              <p:cTn id="6" fill="hold" nodeType="afterEffect" presetID="10" presetClass="entr" presetSubtype="0">
                <p:stCondLst>
                  <p:cond delay="560"/>
                </p:stCondLst>
                <p:childTnLst>
                  <p:set>
                    <p:cBhvr>
                      <p:cTn id="7" dur="1" fill="hold"/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8" dur="450" fill="hold"/>
                      <p:tgtEl>
                        <p:spTgt spid="10"/>
                      </p:tgtEl>
                    </p:cBhvr>
                  </p:animEffect>
                </p:childTnLst>
              </p:cTn>
            </p:par>
            <p:par>
              <p:cTn id="10" fill="hold" nodeType="afterEffect" presetID="2819" presetClass="entr" presetSubtype="0">
                <p:stCondLst>
                  <p:cond delay="920"/>
                </p:stCondLst>
                <p:childTnLst>
                  <p:set>
                    <p:cBhvr>
                      <p:cTn id="11" dur="1" fill="hold"/>
                      <p:tgtEl>
                        <p:spTgt spid="11">
                          <p:txEl>
                            <p:pRg st="0" end="0"/>
                          </p:txEl>
                        </p:spTgt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12" dur="330" fill="hold"/>
                      <p:tgtEl>
                        <p:spTgt spid="11">
                          <p:txEl>
                            <p:pRg st="0" end="0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14" fill="hold" nodeType="afterEffect" presetID="2819" presetClass="entr" presetSubtype="0">
                <p:stCondLst>
                  <p:cond delay="1150"/>
                </p:stCondLst>
                <p:childTnLst>
                  <p:set>
                    <p:cBhvr>
                      <p:cTn id="15" dur="1" fill="hold"/>
                      <p:tgtEl>
                        <p:spTgt spid="11">
                          <p:txEl>
                            <p:pRg st="1" end="1"/>
                          </p:txEl>
                        </p:spTgt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16" dur="330" fill="hold"/>
                      <p:tgtEl>
                        <p:spTgt spid="11">
                          <p:txEl>
                            <p:pRg st="1" end="1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18" fill="hold" nodeType="afterEffect" presetID="2819" presetClass="entr" presetSubtype="0">
                <p:stCondLst>
                  <p:cond delay="1380"/>
                </p:stCondLst>
                <p:childTnLst>
                  <p:set>
                    <p:cBhvr>
                      <p:cTn id="19" dur="1" fill="hold"/>
                      <p:tgtEl>
                        <p:spTgt spid="11">
                          <p:txEl>
                            <p:pRg st="2" end="2"/>
                          </p:txEl>
                        </p:spTgt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20" dur="330" fill="hold"/>
                      <p:tgtEl>
                        <p:spTgt spid="11">
                          <p:txEl>
                            <p:pRg st="2" end="2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22" fill="hold" nodeType="afterEffect" presetID="2819" presetClass="entr" presetSubtype="0">
                <p:stCondLst>
                  <p:cond delay="1610"/>
                </p:stCondLst>
                <p:childTnLst>
                  <p:set>
                    <p:cBhvr>
                      <p:cTn id="23" dur="1" fill="hold"/>
                      <p:tgtEl>
                        <p:spTgt spid="11">
                          <p:txEl>
                            <p:pRg st="3" end="3"/>
                          </p:txEl>
                        </p:spTgt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24" dur="330" fill="hold"/>
                      <p:tgtEl>
                        <p:spTgt spid="11">
                          <p:txEl>
                            <p:pRg st="3" end="3"/>
                          </p:txEl>
                        </p:spTgt>
                      </p:tgtEl>
                    </p:cBhvr>
                  </p:animEffect>
                </p:childTnLst>
              </p:cTn>
            </p:par>
          </p:childTnLst>
        </p:cTn>
        <p:prevCondLst>
          <p:cond evt="onPrev" delay="0">
            <p:tgtEl>
              <p:sldTgt/>
            </p:tgtEl>
          </p:cond>
        </p:prevCondLst>
        <p:nextCondLst>
          <p:cond evt="onNext" delay="0">
            <p:tgtEl>
              <p:sldTgt/>
            </p:tgtEl>
          </p:cond>
        </p:nextCondLst>
      </p:seq>
    </p:tnLst>
    <p:bldLst>
      <p:bldP spid="11" grpId="0" build="p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ns0="http://schemas.openxmlformats.org/markup-compatibility/2006" ns0:Ignorable="p14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THEORETISCHE GRUNDLAGE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Drei Grundbegriffe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1929384"/>
            <a:ext cx="3273552" cy="30632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73552" cy="3063240"/>
          </a:xfrm>
          <a:prstGeom prst="round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039112"/>
            <a:ext cx="2944368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Strukturmerkmale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41448"/>
            <a:ext cx="2944368" cy="23774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Schulformen, Dauer gemeinsamer Schulzeit, Noten, Übergänge, Versetzungen und Abschlussprüfungen.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17136" y="1929384"/>
            <a:ext cx="3273552" cy="30632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80560" y="1874519"/>
            <a:ext cx="3273552" cy="3063240"/>
          </a:xfrm>
          <a:prstGeom prst="roundRect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2039112"/>
            <a:ext cx="2944368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Wohlbefinden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441448"/>
            <a:ext cx="2944368" cy="23774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Psychische und soziale Dimensionen: Lebenszufriedenheit, Stress, Sicherheit, Eingebundenheit und Selbstwirksamkeit.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47888" y="1929384"/>
            <a:ext cx="3273552" cy="30632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11312" y="1874519"/>
            <a:ext cx="3273552" cy="3063240"/>
          </a:xfrm>
          <a:prstGeom prst="roundRect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2039112"/>
            <a:ext cx="2944368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Bildungsgerechtigkeit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441448"/>
            <a:ext cx="2944368" cy="23774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Faire Bildungschancen unabhängig von sozialer Herkunft, Geschlecht oder Migrationshintergrund.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04 | ca. 2:45-3:45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  <ns0:AlternateContent xmlns:p14="http://schemas.microsoft.com/office/powerpoint/2010/main">
    <ns0:Choice Requires="p14">
      <p:transition spd="med" p14:dur="700">
        <p:fade/>
      </p:transition>
    </ns0:Choice>
    <ns0:Fallback>
      <p:transition spd="med">
        <p:fade/>
      </p:transition>
    </ns0:Fallback>
  </ns0:AlternateContent>
  <p:timing>
    <p:tnLst>
      <p:seq concurrent="1" nextAc="seek">
        <p:cTn id="1" dur="indefinite" nodeType="mainSeq">
          <p:stCondLst>
            <p:cond delay="0"/>
          </p:stCondLst>
          <p:childTnLst>
            <p:par>
              <p:cTn id="2" fill="hold" nodeType="afterEffect" presetID="10" presetClass="entr" presetSubtype="0">
                <p:stCondLst>
                  <p:cond delay="0"/>
                </p:stCondLst>
                <p:childTnLst>
                  <p:set>
                    <p:cBhvr>
                      <p:cTn id="3" dur="1" fill="hold"/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" dur="500" fill="hold"/>
                      <p:tgtEl>
                        <p:spTgt spid="8"/>
                      </p:tgtEl>
                    </p:cBhvr>
                  </p:animEffect>
                </p:childTnLst>
              </p:cTn>
            </p:par>
            <p:par>
              <p:cTn id="6" fill="hold" nodeType="afterEffect" presetID="22" presetClass="entr" presetSubtype="0">
                <p:stCondLst>
                  <p:cond delay="560"/>
                </p:stCondLst>
                <p:childTnLst>
                  <p:set>
                    <p:cBhvr>
                      <p:cTn id="7" dur="1" fill="hold"/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8" dur="430" fill="hold"/>
                      <p:tgtEl>
                        <p:spTgt spid="11"/>
                      </p:tgtEl>
                    </p:cBhvr>
                  </p:animEffect>
                  <p:animScale>
                    <p:cBhvr>
                      <p:cTn id="9" dur="430" fill="hold"/>
                      <p:tgtEl>
                        <p:spTgt spid="11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0" fill="hold" nodeType="withEffect" presetID="22" presetClass="entr" presetSubtype="0">
                <p:stCondLst>
                  <p:cond delay="560"/>
                </p:stCondLst>
                <p:childTnLst>
                  <p:set>
                    <p:cBhvr>
                      <p:cTn id="11" dur="1" fill="hold"/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30" fill="hold"/>
                      <p:tgtEl>
                        <p:spTgt spid="12"/>
                      </p:tgtEl>
                    </p:cBhvr>
                  </p:animEffect>
                  <p:animScale>
                    <p:cBhvr>
                      <p:cTn id="13" dur="430" fill="hold"/>
                      <p:tgtEl>
                        <p:spTgt spid="12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4" fill="hold" nodeType="afterEffect" presetID="22" presetClass="entr" presetSubtype="0">
                <p:stCondLst>
                  <p:cond delay="830"/>
                </p:stCondLst>
                <p:childTnLst>
                  <p:set>
                    <p:cBhvr>
                      <p:cTn id="15" dur="1" fill="hold"/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6" dur="430" fill="hold"/>
                      <p:tgtEl>
                        <p:spTgt spid="15"/>
                      </p:tgtEl>
                    </p:cBhvr>
                  </p:animEffect>
                  <p:animScale>
                    <p:cBhvr>
                      <p:cTn id="17" dur="430" fill="hold"/>
                      <p:tgtEl>
                        <p:spTgt spid="15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8" fill="hold" nodeType="withEffect" presetID="22" presetClass="entr" presetSubtype="0">
                <p:stCondLst>
                  <p:cond delay="830"/>
                </p:stCondLst>
                <p:childTnLst>
                  <p:set>
                    <p:cBhvr>
                      <p:cTn id="19" dur="1" fill="hold"/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0" dur="430" fill="hold"/>
                      <p:tgtEl>
                        <p:spTgt spid="16"/>
                      </p:tgtEl>
                    </p:cBhvr>
                  </p:animEffect>
                  <p:animScale>
                    <p:cBhvr>
                      <p:cTn id="21" dur="430" fill="hold"/>
                      <p:tgtEl>
                        <p:spTgt spid="16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2" fill="hold" nodeType="afterEffect" presetID="22" presetClass="entr" presetSubtype="0">
                <p:stCondLst>
                  <p:cond delay="1100"/>
                </p:stCondLst>
                <p:childTnLst>
                  <p:set>
                    <p:cBhvr>
                      <p:cTn id="23" dur="1" fill="hold"/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4" dur="430" fill="hold"/>
                      <p:tgtEl>
                        <p:spTgt spid="19"/>
                      </p:tgtEl>
                    </p:cBhvr>
                  </p:animEffect>
                  <p:animScale>
                    <p:cBhvr>
                      <p:cTn id="25" dur="430" fill="hold"/>
                      <p:tgtEl>
                        <p:spTgt spid="19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6" fill="hold" nodeType="withEffect" presetID="22" presetClass="entr" presetSubtype="0">
                <p:stCondLst>
                  <p:cond delay="1100"/>
                </p:stCondLst>
                <p:childTnLst>
                  <p:set>
                    <p:cBhvr>
                      <p:cTn id="27" dur="1" fill="hold"/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8" dur="430" fill="hold"/>
                      <p:tgtEl>
                        <p:spTgt spid="20"/>
                      </p:tgtEl>
                    </p:cBhvr>
                  </p:animEffect>
                  <p:animScale>
                    <p:cBhvr>
                      <p:cTn id="29" dur="430" fill="hold"/>
                      <p:tgtEl>
                        <p:spTgt spid="20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</p:childTnLst>
        </p:cTn>
        <p:prevCondLst>
          <p:cond evt="onPrev" delay="0">
            <p:tgtEl>
              <p:sldTgt/>
            </p:tgtEl>
          </p:cond>
        </p:prevCondLst>
        <p:nextCondLst>
          <p:cond evt="onNext" delay="0">
            <p:tgtEl>
              <p:sldTgt/>
            </p:tgtEl>
          </p:cond>
        </p:nextCondLst>
      </p:seq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ns0="http://schemas.openxmlformats.org/markup-compatibility/2006" ns0:Ignorable="p14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THEORETISCHE GRUNDLAGE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Welche Funktionen erfüllt Schule?</a:t>
            </a:r>
          </a:p>
        </p:txBody>
      </p:sp>
      <p:sp>
        <p:nvSpPr>
          <p:cNvPr id="9" name="Oval 8"/>
          <p:cNvSpPr/>
          <p:nvPr/>
        </p:nvSpPr>
        <p:spPr>
          <a:xfrm>
            <a:off x="1005840" y="1828800"/>
            <a:ext cx="685800" cy="685800"/>
          </a:xfrm>
          <a:prstGeom prst="ellipse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002536"/>
            <a:ext cx="594360" cy="21945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1">
                <a:solidFill>
                  <a:srgbClr val="233056"/>
                </a:solidFill>
                <a:latin typeface="Aptos Display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11095" y="1810512"/>
            <a:ext cx="3977639" cy="109728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74519" y="1755648"/>
            <a:ext cx="3977639" cy="1097280"/>
          </a:xfrm>
          <a:prstGeom prst="roundRect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9112" y="1920240"/>
            <a:ext cx="364845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Qualifikation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39112" y="2322576"/>
            <a:ext cx="3648456" cy="411479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Wissen und Kompetenzen für Beruf, Studium und Teilhabe</a:t>
            </a:r>
          </a:p>
        </p:txBody>
      </p:sp>
      <p:sp>
        <p:nvSpPr>
          <p:cNvPr id="15" name="Oval 14"/>
          <p:cNvSpPr/>
          <p:nvPr/>
        </p:nvSpPr>
        <p:spPr>
          <a:xfrm>
            <a:off x="6172200" y="1828800"/>
            <a:ext cx="685800" cy="685800"/>
          </a:xfrm>
          <a:prstGeom prst="ellipse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2002536"/>
            <a:ext cx="594360" cy="21945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1">
                <a:solidFill>
                  <a:srgbClr val="233056"/>
                </a:solidFill>
                <a:latin typeface="Aptos Display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77456" y="1810512"/>
            <a:ext cx="3977639" cy="109728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40880" y="1755648"/>
            <a:ext cx="3977639" cy="1097280"/>
          </a:xfrm>
          <a:prstGeom prst="roundRect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5472" y="1920240"/>
            <a:ext cx="364845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Selektion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5472" y="2322576"/>
            <a:ext cx="3648456" cy="411479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Zuordnung zu Bildungswegen durch Noten, Empfehlungen und Abschlüsse</a:t>
            </a:r>
          </a:p>
        </p:txBody>
      </p:sp>
      <p:sp>
        <p:nvSpPr>
          <p:cNvPr id="21" name="Oval 20"/>
          <p:cNvSpPr/>
          <p:nvPr/>
        </p:nvSpPr>
        <p:spPr>
          <a:xfrm>
            <a:off x="1005840" y="3703320"/>
            <a:ext cx="685800" cy="685800"/>
          </a:xfrm>
          <a:prstGeom prst="ellipse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3877056"/>
            <a:ext cx="594360" cy="21945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1">
                <a:solidFill>
                  <a:srgbClr val="233056"/>
                </a:solidFill>
                <a:latin typeface="Aptos Display"/>
              </a:rPr>
              <a:t>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11095" y="3685031"/>
            <a:ext cx="3977639" cy="109728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874519" y="3630168"/>
            <a:ext cx="3977639" cy="1097280"/>
          </a:xfrm>
          <a:prstGeom prst="roundRect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39112" y="3794759"/>
            <a:ext cx="364845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Sozialisation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39112" y="4197096"/>
            <a:ext cx="3648456" cy="411479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Vermittlung von Normen, Werten und Verhaltensweisen</a:t>
            </a:r>
          </a:p>
        </p:txBody>
      </p:sp>
      <p:sp>
        <p:nvSpPr>
          <p:cNvPr id="27" name="Oval 26"/>
          <p:cNvSpPr/>
          <p:nvPr/>
        </p:nvSpPr>
        <p:spPr>
          <a:xfrm>
            <a:off x="6172200" y="3703320"/>
            <a:ext cx="685800" cy="685800"/>
          </a:xfrm>
          <a:prstGeom prst="ellipse">
            <a:avLst/>
          </a:prstGeom>
          <a:solidFill>
            <a:srgbClr val="D7F2E1"/>
          </a:solidFill>
          <a:ln>
            <a:solidFill>
              <a:srgbClr val="D7F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3877056"/>
            <a:ext cx="594360" cy="21945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1">
                <a:solidFill>
                  <a:srgbClr val="233056"/>
                </a:solidFill>
                <a:latin typeface="Aptos Display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77456" y="3685031"/>
            <a:ext cx="3977639" cy="109728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040880" y="3630168"/>
            <a:ext cx="3977639" cy="1097280"/>
          </a:xfrm>
          <a:prstGeom prst="roundRect">
            <a:avLst/>
          </a:prstGeom>
          <a:solidFill>
            <a:srgbClr val="ECFAF1"/>
          </a:solidFill>
          <a:ln>
            <a:solidFill>
              <a:srgbClr val="ECF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05472" y="3794759"/>
            <a:ext cx="364845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Integration &amp; Legitimation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05472" y="4197096"/>
            <a:ext cx="3648456" cy="411479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Zugehörigkeit schaffen und Bildungsabschlüsse gesellschaftlich begründen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05 | ca. 3:45-4:45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  <ns0:AlternateContent xmlns:p14="http://schemas.microsoft.com/office/powerpoint/2010/main">
    <ns0:Choice Requires="p14">
      <p:transition spd="med" p14:dur="700">
        <p:fade/>
      </p:transition>
    </ns0:Choice>
    <ns0:Fallback>
      <p:transition spd="med">
        <p:fade/>
      </p:transition>
    </ns0:Fallback>
  </ns0:AlternateContent>
  <p:timing>
    <p:tnLst>
      <p:seq concurrent="1" nextAc="seek">
        <p:cTn id="1" dur="indefinite" nodeType="mainSeq">
          <p:stCondLst>
            <p:cond delay="0"/>
          </p:stCondLst>
          <p:childTnLst>
            <p:par>
              <p:cTn id="2" fill="hold" nodeType="afterEffect" presetID="10" presetClass="entr" presetSubtype="0">
                <p:stCondLst>
                  <p:cond delay="0"/>
                </p:stCondLst>
                <p:childTnLst>
                  <p:set>
                    <p:cBhvr>
                      <p:cTn id="3" dur="1" fill="hold"/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" dur="500" fill="hold"/>
                      <p:tgtEl>
                        <p:spTgt spid="8"/>
                      </p:tgtEl>
                    </p:cBhvr>
                  </p:animEffect>
                </p:childTnLst>
              </p:cTn>
            </p:par>
            <p:par>
              <p:cTn id="6" fill="hold" nodeType="afterEffect" presetID="22" presetClass="entr" presetSubtype="0">
                <p:stCondLst>
                  <p:cond delay="560"/>
                </p:stCondLst>
                <p:childTnLst>
                  <p:set>
                    <p:cBhvr>
                      <p:cTn id="7" dur="1" fill="hold"/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8" dur="420" fill="hold"/>
                      <p:tgtEl>
                        <p:spTgt spid="13"/>
                      </p:tgtEl>
                    </p:cBhvr>
                  </p:animEffect>
                  <p:animScale>
                    <p:cBhvr>
                      <p:cTn id="9" dur="420" fill="hold"/>
                      <p:tgtEl>
                        <p:spTgt spid="13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0" fill="hold" nodeType="withEffect" presetID="22" presetClass="entr" presetSubtype="0">
                <p:stCondLst>
                  <p:cond delay="560"/>
                </p:stCondLst>
                <p:childTnLst>
                  <p:set>
                    <p:cBhvr>
                      <p:cTn id="11" dur="1" fill="hold"/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20" fill="hold"/>
                      <p:tgtEl>
                        <p:spTgt spid="14"/>
                      </p:tgtEl>
                    </p:cBhvr>
                  </p:animEffect>
                  <p:animScale>
                    <p:cBhvr>
                      <p:cTn id="13" dur="420" fill="hold"/>
                      <p:tgtEl>
                        <p:spTgt spid="14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4" fill="hold" nodeType="afterEffect" presetID="22" presetClass="entr" presetSubtype="0">
                <p:stCondLst>
                  <p:cond delay="840"/>
                </p:stCondLst>
                <p:childTnLst>
                  <p:set>
                    <p:cBhvr>
                      <p:cTn id="15" dur="1" fill="hold"/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6" dur="420" fill="hold"/>
                      <p:tgtEl>
                        <p:spTgt spid="19"/>
                      </p:tgtEl>
                    </p:cBhvr>
                  </p:animEffect>
                  <p:animScale>
                    <p:cBhvr>
                      <p:cTn id="17" dur="420" fill="hold"/>
                      <p:tgtEl>
                        <p:spTgt spid="19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8" fill="hold" nodeType="withEffect" presetID="22" presetClass="entr" presetSubtype="0">
                <p:stCondLst>
                  <p:cond delay="840"/>
                </p:stCondLst>
                <p:childTnLst>
                  <p:set>
                    <p:cBhvr>
                      <p:cTn id="19" dur="1" fill="hold"/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0" dur="420" fill="hold"/>
                      <p:tgtEl>
                        <p:spTgt spid="20"/>
                      </p:tgtEl>
                    </p:cBhvr>
                  </p:animEffect>
                  <p:animScale>
                    <p:cBhvr>
                      <p:cTn id="21" dur="420" fill="hold"/>
                      <p:tgtEl>
                        <p:spTgt spid="20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2" fill="hold" nodeType="afterEffect" presetID="22" presetClass="entr" presetSubtype="0">
                <p:stCondLst>
                  <p:cond delay="1120"/>
                </p:stCondLst>
                <p:childTnLst>
                  <p:set>
                    <p:cBhvr>
                      <p:cTn id="23" dur="1" fill="hold"/>
                      <p:tgtEl>
                        <p:spTgt spid="2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4" dur="420" fill="hold"/>
                      <p:tgtEl>
                        <p:spTgt spid="25"/>
                      </p:tgtEl>
                    </p:cBhvr>
                  </p:animEffect>
                  <p:animScale>
                    <p:cBhvr>
                      <p:cTn id="25" dur="420" fill="hold"/>
                      <p:tgtEl>
                        <p:spTgt spid="25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6" fill="hold" nodeType="withEffect" presetID="22" presetClass="entr" presetSubtype="0">
                <p:stCondLst>
                  <p:cond delay="1120"/>
                </p:stCondLst>
                <p:childTnLst>
                  <p:set>
                    <p:cBhvr>
                      <p:cTn id="27" dur="1" fill="hold"/>
                      <p:tgtEl>
                        <p:spTgt spid="2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8" dur="420" fill="hold"/>
                      <p:tgtEl>
                        <p:spTgt spid="26"/>
                      </p:tgtEl>
                    </p:cBhvr>
                  </p:animEffect>
                  <p:animScale>
                    <p:cBhvr>
                      <p:cTn id="29" dur="420" fill="hold"/>
                      <p:tgtEl>
                        <p:spTgt spid="26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30" fill="hold" nodeType="afterEffect" presetID="22" presetClass="entr" presetSubtype="0">
                <p:stCondLst>
                  <p:cond delay="1400"/>
                </p:stCondLst>
                <p:childTnLst>
                  <p:set>
                    <p:cBhvr>
                      <p:cTn id="31" dur="1" fill="hold"/>
                      <p:tgtEl>
                        <p:spTgt spid="3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20" fill="hold"/>
                      <p:tgtEl>
                        <p:spTgt spid="31"/>
                      </p:tgtEl>
                    </p:cBhvr>
                  </p:animEffect>
                  <p:animScale>
                    <p:cBhvr>
                      <p:cTn id="33" dur="420" fill="hold"/>
                      <p:tgtEl>
                        <p:spTgt spid="31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34" fill="hold" nodeType="withEffect" presetID="22" presetClass="entr" presetSubtype="0">
                <p:stCondLst>
                  <p:cond delay="1400"/>
                </p:stCondLst>
                <p:childTnLst>
                  <p:set>
                    <p:cBhvr>
                      <p:cTn id="35" dur="1" fill="hold"/>
                      <p:tgtEl>
                        <p:spTgt spid="3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6" dur="420" fill="hold"/>
                      <p:tgtEl>
                        <p:spTgt spid="32"/>
                      </p:tgtEl>
                    </p:cBhvr>
                  </p:animEffect>
                  <p:animScale>
                    <p:cBhvr>
                      <p:cTn id="37" dur="420" fill="hold"/>
                      <p:tgtEl>
                        <p:spTgt spid="32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</p:childTnLst>
        </p:cTn>
        <p:prevCondLst>
          <p:cond evt="onPrev" delay="0">
            <p:tgtEl>
              <p:sldTgt/>
            </p:tgtEl>
          </p:cond>
        </p:prevCondLst>
        <p:nextCondLst>
          <p:cond evt="onNext" delay="0">
            <p:tgtEl>
              <p:sldTgt/>
            </p:tgtEl>
          </p:cond>
        </p:nextCondLst>
      </p:seq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ns0="http://schemas.openxmlformats.org/markup-compatibility/2006" ns0:Ignorable="p14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STRUKTUR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Das deutsche Schulsystem: frühe Differenzierung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481328"/>
            <a:ext cx="2926080" cy="38404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900" b="1">
                <a:solidFill>
                  <a:srgbClr val="233056"/>
                </a:solidFill>
                <a:latin typeface="Aptos Display"/>
              </a:rPr>
              <a:t>Grundschule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920240"/>
            <a:ext cx="2926080" cy="658368"/>
          </a:xfrm>
          <a:prstGeom prst="round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03120"/>
            <a:ext cx="265176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400" b="1">
                <a:solidFill>
                  <a:srgbClr val="233056"/>
                </a:solidFill>
                <a:latin typeface="Aptos Display"/>
              </a:rPr>
              <a:t>gemeinsamer Start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950208" y="1993392"/>
            <a:ext cx="1051560" cy="475488"/>
          </a:xfrm>
          <a:prstGeom prst="rightArrow">
            <a:avLst/>
          </a:prstGeom>
          <a:solidFill>
            <a:srgbClr val="E2D9FA"/>
          </a:solidFill>
          <a:ln>
            <a:solidFill>
              <a:srgbClr val="E2D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85032" y="2670048"/>
            <a:ext cx="1554480" cy="38404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0">
                <a:solidFill>
                  <a:srgbClr val="5B6682"/>
                </a:solidFill>
                <a:latin typeface="Aptos Display"/>
              </a:rPr>
              <a:t>oft nach Klasse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85816" y="1746504"/>
            <a:ext cx="1417320" cy="196596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49240" y="1691640"/>
            <a:ext cx="1417320" cy="1965960"/>
          </a:xfrm>
          <a:prstGeom prst="roundRect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13831" y="1856232"/>
            <a:ext cx="108813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Gymnasium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3831" y="2258568"/>
            <a:ext cx="1088136" cy="12801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Abitur, stärker theoretisch, hoher Prüfungsdruck möglich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04304" y="1746504"/>
            <a:ext cx="1417320" cy="196596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967728" y="1691640"/>
            <a:ext cx="1417320" cy="1965960"/>
          </a:xfrm>
          <a:prstGeom prst="roundRect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0" y="1856232"/>
            <a:ext cx="108813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Realschule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2258568"/>
            <a:ext cx="1088136" cy="12801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Mittlerer Abschluss, Verbindung von Allgemeinbildung und Praxis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22792" y="1746504"/>
            <a:ext cx="1417320" cy="196596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86216" y="1691640"/>
            <a:ext cx="1417320" cy="1965960"/>
          </a:xfrm>
          <a:prstGeom prst="roundRect">
            <a:avLst/>
          </a:prstGeom>
          <a:solidFill>
            <a:srgbClr val="ECFAF1"/>
          </a:solidFill>
          <a:ln>
            <a:solidFill>
              <a:srgbClr val="ECF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50808" y="1856232"/>
            <a:ext cx="108813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Hauptschule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50808" y="2258568"/>
            <a:ext cx="1088136" cy="12801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stärker praktisch, teils mit Stigmatisierung verbunden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0" y="1746504"/>
            <a:ext cx="1417320" cy="196596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204704" y="1691640"/>
            <a:ext cx="1417320" cy="1965960"/>
          </a:xfrm>
          <a:prstGeom prst="roundRect">
            <a:avLst/>
          </a:prstGeom>
          <a:solidFill>
            <a:srgbClr val="F4EFFF"/>
          </a:solidFill>
          <a:ln>
            <a:solidFill>
              <a:srgbClr val="F4E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69296" y="1856232"/>
            <a:ext cx="108813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Gesamtschule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69296" y="2258568"/>
            <a:ext cx="1088136" cy="12801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längeres gemeinsames Lernen, mehrere Abschlüsse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49240" y="4279392"/>
            <a:ext cx="6291072" cy="731520"/>
          </a:xfrm>
          <a:prstGeom prst="roundRect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32120" y="4416552"/>
            <a:ext cx="5925312" cy="21945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400" b="1">
                <a:solidFill>
                  <a:srgbClr val="233056"/>
                </a:solidFill>
                <a:latin typeface="Aptos Display"/>
              </a:rPr>
              <a:t>Berufliche Schulen / duale Ausbildung: praktische Ausbildung + schulische Bildung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257800"/>
            <a:ext cx="106984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700" b="1">
                <a:solidFill>
                  <a:srgbClr val="233056"/>
                </a:solidFill>
                <a:latin typeface="Aptos Display"/>
              </a:rPr>
              <a:t>Kernaussage der Arbeit: Differenzierung kann Förderung ermöglichen, legt Bildungswege aber früh fest.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06 | ca. 4:45-5:55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  <ns0:AlternateContent xmlns:p14="http://schemas.microsoft.com/office/powerpoint/2010/main">
    <ns0:Choice Requires="p14">
      <p:transition spd="med" p14:dur="700">
        <p:fade/>
      </p:transition>
    </ns0:Choice>
    <ns0:Fallback>
      <p:transition spd="med">
        <p:fade/>
      </p:transition>
    </ns0:Fallback>
  </ns0:AlternateContent>
  <p:timing>
    <p:tnLst>
      <p:seq concurrent="1" nextAc="seek">
        <p:cTn id="1" dur="indefinite" nodeType="mainSeq">
          <p:stCondLst>
            <p:cond delay="0"/>
          </p:stCondLst>
          <p:childTnLst>
            <p:par>
              <p:cTn id="2" fill="hold" nodeType="afterEffect" presetID="10" presetClass="entr" presetSubtype="0">
                <p:stCondLst>
                  <p:cond delay="0"/>
                </p:stCondLst>
                <p:childTnLst>
                  <p:set>
                    <p:cBhvr>
                      <p:cTn id="3" dur="1" fill="hold"/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" dur="500" fill="hold"/>
                      <p:tgtEl>
                        <p:spTgt spid="8"/>
                      </p:tgtEl>
                    </p:cBhvr>
                  </p:animEffect>
                </p:childTnLst>
              </p:cTn>
            </p:par>
            <p:par>
              <p:cTn id="6" fill="hold" nodeType="afterEffect" presetID="22" presetClass="entr" presetSubtype="0">
                <p:stCondLst>
                  <p:cond delay="560"/>
                </p:stCondLst>
                <p:childTnLst>
                  <p:set>
                    <p:cBhvr>
                      <p:cTn id="7" dur="1" fill="hold"/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8" dur="360" fill="hold"/>
                      <p:tgtEl>
                        <p:spTgt spid="9"/>
                      </p:tgtEl>
                    </p:cBhvr>
                  </p:animEffect>
                  <p:animScale>
                    <p:cBhvr>
                      <p:cTn id="9" dur="360" fill="hold"/>
                      <p:tgtEl>
                        <p:spTgt spid="9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0" fill="hold" nodeType="withEffect" presetID="22" presetClass="entr" presetSubtype="0">
                <p:stCondLst>
                  <p:cond delay="560"/>
                </p:stCondLst>
                <p:childTnLst>
                  <p:set>
                    <p:cBhvr>
                      <p:cTn id="11" dur="1" fill="hold"/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360" fill="hold"/>
                      <p:tgtEl>
                        <p:spTgt spid="11"/>
                      </p:tgtEl>
                    </p:cBhvr>
                  </p:animEffect>
                  <p:animScale>
                    <p:cBhvr>
                      <p:cTn id="13" dur="360" fill="hold"/>
                      <p:tgtEl>
                        <p:spTgt spid="11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4" fill="hold" nodeType="afterEffect" presetID="2819" presetClass="entr" presetSubtype="0">
                <p:stCondLst>
                  <p:cond delay="790"/>
                </p:stCondLst>
                <p:childTnLst>
                  <p:set>
                    <p:cBhvr>
                      <p:cTn id="15" dur="1" fill="hold"/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16" dur="360" fill="hold"/>
                      <p:tgtEl>
                        <p:spTgt spid="13"/>
                      </p:tgtEl>
                    </p:cBhvr>
                  </p:animEffect>
                </p:childTnLst>
              </p:cTn>
            </p:par>
            <p:par>
              <p:cTn id="18" fill="hold" nodeType="afterEffect" presetID="22" presetClass="entr" presetSubtype="0">
                <p:stCondLst>
                  <p:cond delay="1020"/>
                </p:stCondLst>
                <p:childTnLst>
                  <p:set>
                    <p:cBhvr>
                      <p:cTn id="19" dur="1" fill="hold"/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0" dur="360" fill="hold"/>
                      <p:tgtEl>
                        <p:spTgt spid="16"/>
                      </p:tgtEl>
                    </p:cBhvr>
                  </p:animEffect>
                  <p:animScale>
                    <p:cBhvr>
                      <p:cTn id="21" dur="360" fill="hold"/>
                      <p:tgtEl>
                        <p:spTgt spid="16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2" fill="hold" nodeType="withEffect" presetID="22" presetClass="entr" presetSubtype="0">
                <p:stCondLst>
                  <p:cond delay="1020"/>
                </p:stCondLst>
                <p:childTnLst>
                  <p:set>
                    <p:cBhvr>
                      <p:cTn id="23" dur="1" fill="hold"/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4" dur="360" fill="hold"/>
                      <p:tgtEl>
                        <p:spTgt spid="17"/>
                      </p:tgtEl>
                    </p:cBhvr>
                  </p:animEffect>
                  <p:animScale>
                    <p:cBhvr>
                      <p:cTn id="25" dur="360" fill="hold"/>
                      <p:tgtEl>
                        <p:spTgt spid="17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6" fill="hold" nodeType="afterEffect" presetID="22" presetClass="entr" presetSubtype="0">
                <p:stCondLst>
                  <p:cond delay="1250"/>
                </p:stCondLst>
                <p:childTnLst>
                  <p:set>
                    <p:cBhvr>
                      <p:cTn id="27" dur="1" fill="hold"/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8" dur="360" fill="hold"/>
                      <p:tgtEl>
                        <p:spTgt spid="20"/>
                      </p:tgtEl>
                    </p:cBhvr>
                  </p:animEffect>
                  <p:animScale>
                    <p:cBhvr>
                      <p:cTn id="29" dur="360" fill="hold"/>
                      <p:tgtEl>
                        <p:spTgt spid="20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30" fill="hold" nodeType="withEffect" presetID="22" presetClass="entr" presetSubtype="0">
                <p:stCondLst>
                  <p:cond delay="1250"/>
                </p:stCondLst>
                <p:childTnLst>
                  <p:set>
                    <p:cBhvr>
                      <p:cTn id="31" dur="1" fill="hold"/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360" fill="hold"/>
                      <p:tgtEl>
                        <p:spTgt spid="21"/>
                      </p:tgtEl>
                    </p:cBhvr>
                  </p:animEffect>
                  <p:animScale>
                    <p:cBhvr>
                      <p:cTn id="33" dur="360" fill="hold"/>
                      <p:tgtEl>
                        <p:spTgt spid="21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34" fill="hold" nodeType="afterEffect" presetID="22" presetClass="entr" presetSubtype="0">
                <p:stCondLst>
                  <p:cond delay="1480"/>
                </p:stCondLst>
                <p:childTnLst>
                  <p:set>
                    <p:cBhvr>
                      <p:cTn id="35" dur="1" fill="hold"/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6" dur="360" fill="hold"/>
                      <p:tgtEl>
                        <p:spTgt spid="24"/>
                      </p:tgtEl>
                    </p:cBhvr>
                  </p:animEffect>
                  <p:animScale>
                    <p:cBhvr>
                      <p:cTn id="37" dur="360" fill="hold"/>
                      <p:tgtEl>
                        <p:spTgt spid="24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38" fill="hold" nodeType="withEffect" presetID="22" presetClass="entr" presetSubtype="0">
                <p:stCondLst>
                  <p:cond delay="1480"/>
                </p:stCondLst>
                <p:childTnLst>
                  <p:set>
                    <p:cBhvr>
                      <p:cTn id="39" dur="1" fill="hold"/>
                      <p:tgtEl>
                        <p:spTgt spid="2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0" dur="360" fill="hold"/>
                      <p:tgtEl>
                        <p:spTgt spid="25"/>
                      </p:tgtEl>
                    </p:cBhvr>
                  </p:animEffect>
                  <p:animScale>
                    <p:cBhvr>
                      <p:cTn id="41" dur="360" fill="hold"/>
                      <p:tgtEl>
                        <p:spTgt spid="25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42" fill="hold" nodeType="afterEffect" presetID="22" presetClass="entr" presetSubtype="0">
                <p:stCondLst>
                  <p:cond delay="1710"/>
                </p:stCondLst>
                <p:childTnLst>
                  <p:set>
                    <p:cBhvr>
                      <p:cTn id="43" dur="1" fill="hold"/>
                      <p:tgtEl>
                        <p:spTgt spid="2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4" dur="360" fill="hold"/>
                      <p:tgtEl>
                        <p:spTgt spid="28"/>
                      </p:tgtEl>
                    </p:cBhvr>
                  </p:animEffect>
                  <p:animScale>
                    <p:cBhvr>
                      <p:cTn id="45" dur="360" fill="hold"/>
                      <p:tgtEl>
                        <p:spTgt spid="28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46" fill="hold" nodeType="withEffect" presetID="22" presetClass="entr" presetSubtype="0">
                <p:stCondLst>
                  <p:cond delay="1710"/>
                </p:stCondLst>
                <p:childTnLst>
                  <p:set>
                    <p:cBhvr>
                      <p:cTn id="47" dur="1" fill="hold"/>
                      <p:tgtEl>
                        <p:spTgt spid="2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8" dur="360" fill="hold"/>
                      <p:tgtEl>
                        <p:spTgt spid="29"/>
                      </p:tgtEl>
                    </p:cBhvr>
                  </p:animEffect>
                  <p:animScale>
                    <p:cBhvr>
                      <p:cTn id="49" dur="360" fill="hold"/>
                      <p:tgtEl>
                        <p:spTgt spid="29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50" fill="hold" nodeType="afterEffect" presetID="2819" presetClass="entr" presetSubtype="0">
                <p:stCondLst>
                  <p:cond delay="1940"/>
                </p:stCondLst>
                <p:childTnLst>
                  <p:set>
                    <p:cBhvr>
                      <p:cTn id="51" dur="1" fill="hold"/>
                      <p:tgtEl>
                        <p:spTgt spid="3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52" dur="360" fill="hold"/>
                      <p:tgtEl>
                        <p:spTgt spid="31"/>
                      </p:tgtEl>
                    </p:cBhvr>
                  </p:animEffect>
                </p:childTnLst>
              </p:cTn>
            </p:par>
            <p:par>
              <p:cTn id="54" fill="hold" nodeType="afterEffect" presetID="2819" presetClass="entr" presetSubtype="0">
                <p:stCondLst>
                  <p:cond delay="2170"/>
                </p:stCondLst>
                <p:childTnLst>
                  <p:set>
                    <p:cBhvr>
                      <p:cTn id="55" dur="1" fill="hold"/>
                      <p:tgtEl>
                        <p:spTgt spid="3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56" dur="360" fill="hold"/>
                      <p:tgtEl>
                        <p:spTgt spid="32"/>
                      </p:tgtEl>
                    </p:cBhvr>
                  </p:animEffect>
                </p:childTnLst>
              </p:cTn>
            </p:par>
          </p:childTnLst>
        </p:cTn>
        <p:prevCondLst>
          <p:cond evt="onPrev" delay="0">
            <p:tgtEl>
              <p:sldTgt/>
            </p:tgtEl>
          </p:cond>
        </p:prevCondLst>
        <p:nextCondLst>
          <p:cond evt="onNext" delay="0">
            <p:tgtEl>
              <p:sldTgt/>
            </p:tgtEl>
          </p:cond>
        </p:nextCondLst>
      </p:seq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ns0="http://schemas.openxmlformats.org/markup-compatibility/2006" ns0:Ignorable="p14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LEISTUNGSDRUCK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Mechanismen, die Druck erzeugen können</a:t>
            </a:r>
          </a:p>
        </p:txBody>
      </p:sp>
      <p:sp>
        <p:nvSpPr>
          <p:cNvPr id="9" name="Oval 8"/>
          <p:cNvSpPr/>
          <p:nvPr/>
        </p:nvSpPr>
        <p:spPr>
          <a:xfrm>
            <a:off x="5074920" y="2560320"/>
            <a:ext cx="2011680" cy="118872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9512" y="2971800"/>
            <a:ext cx="169164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233056"/>
                </a:solidFill>
                <a:latin typeface="Aptos Display"/>
              </a:rPr>
              <a:t>Leistungsdruck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96696" y="1746504"/>
            <a:ext cx="3520440" cy="141732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0120" y="1691640"/>
            <a:ext cx="3520440" cy="1417320"/>
          </a:xfrm>
          <a:prstGeom prst="roundRect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4712" y="1856232"/>
            <a:ext cx="319125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Noten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258568"/>
            <a:ext cx="3191256" cy="73152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Vergleichbarkeit und Rückmeldung - aber auch Konkurrenzdruck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7575" y="1746504"/>
            <a:ext cx="3520440" cy="141732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01000" y="1691640"/>
            <a:ext cx="3520440" cy="1417320"/>
          </a:xfrm>
          <a:prstGeom prst="roundRect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5592" y="1856232"/>
            <a:ext cx="319125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Versetzung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2258568"/>
            <a:ext cx="3191256" cy="73152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Leistungen entscheiden über den nächsten Schritt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6696" y="4215383"/>
            <a:ext cx="3520440" cy="141732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0120" y="4160520"/>
            <a:ext cx="3520440" cy="1417320"/>
          </a:xfrm>
          <a:prstGeom prst="roundRect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24712" y="4325112"/>
            <a:ext cx="319125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Sitzenbleiben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727448"/>
            <a:ext cx="3191256" cy="73152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Kann Motivation und Selbstwertgefühl negativ beeinflussen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37575" y="4215383"/>
            <a:ext cx="3520440" cy="141732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01000" y="4160520"/>
            <a:ext cx="3520440" cy="1417320"/>
          </a:xfrm>
          <a:prstGeom prst="roundRect">
            <a:avLst/>
          </a:prstGeom>
          <a:solidFill>
            <a:srgbClr val="ECFAF1"/>
          </a:solidFill>
          <a:ln>
            <a:solidFill>
              <a:srgbClr val="ECF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5592" y="4325112"/>
            <a:ext cx="319125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soziale Herkunft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5592" y="4727448"/>
            <a:ext cx="3191256" cy="73152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Bildungserfolg ist laut Arbeit eng mit familiären Ressourcen verbunden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07 | ca. 5:55-7:00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  <ns0:AlternateContent xmlns:p14="http://schemas.microsoft.com/office/powerpoint/2010/main">
    <ns0:Choice Requires="p14">
      <p:transition spd="med" p14:dur="700">
        <p:fade/>
      </p:transition>
    </ns0:Choice>
    <ns0:Fallback>
      <p:transition spd="med">
        <p:fade/>
      </p:transition>
    </ns0:Fallback>
  </ns0:AlternateContent>
  <p:timing>
    <p:tnLst>
      <p:seq concurrent="1" nextAc="seek">
        <p:cTn id="1" dur="indefinite" nodeType="mainSeq">
          <p:stCondLst>
            <p:cond delay="0"/>
          </p:stCondLst>
          <p:childTnLst>
            <p:par>
              <p:cTn id="2" fill="hold" nodeType="afterEffect" presetID="10" presetClass="entr" presetSubtype="0">
                <p:stCondLst>
                  <p:cond delay="0"/>
                </p:stCondLst>
                <p:childTnLst>
                  <p:set>
                    <p:cBhvr>
                      <p:cTn id="3" dur="1" fill="hold"/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" dur="500" fill="hold"/>
                      <p:tgtEl>
                        <p:spTgt spid="8"/>
                      </p:tgtEl>
                    </p:cBhvr>
                  </p:animEffect>
                </p:childTnLst>
              </p:cTn>
            </p:par>
            <p:par>
              <p:cTn id="6" fill="hold" nodeType="afterEffect" presetID="22" presetClass="entr" presetSubtype="0">
                <p:stCondLst>
                  <p:cond delay="560"/>
                </p:stCondLst>
                <p:childTnLst>
                  <p:set>
                    <p:cBhvr>
                      <p:cTn id="7" dur="1" fill="hold"/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8" dur="420" fill="hold"/>
                      <p:tgtEl>
                        <p:spTgt spid="10"/>
                      </p:tgtEl>
                    </p:cBhvr>
                  </p:animEffect>
                  <p:animScale>
                    <p:cBhvr>
                      <p:cTn id="9" dur="420" fill="hold"/>
                      <p:tgtEl>
                        <p:spTgt spid="10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0" fill="hold" nodeType="afterEffect" presetID="22" presetClass="entr" presetSubtype="0">
                <p:stCondLst>
                  <p:cond delay="860"/>
                </p:stCondLst>
                <p:childTnLst>
                  <p:set>
                    <p:cBhvr>
                      <p:cTn id="11" dur="1" fill="hold"/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380" fill="hold"/>
                      <p:tgtEl>
                        <p:spTgt spid="13"/>
                      </p:tgtEl>
                    </p:cBhvr>
                  </p:animEffect>
                  <p:animScale>
                    <p:cBhvr>
                      <p:cTn id="13" dur="380" fill="hold"/>
                      <p:tgtEl>
                        <p:spTgt spid="13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4" fill="hold" nodeType="withEffect" presetID="22" presetClass="entr" presetSubtype="0">
                <p:stCondLst>
                  <p:cond delay="860"/>
                </p:stCondLst>
                <p:childTnLst>
                  <p:set>
                    <p:cBhvr>
                      <p:cTn id="15" dur="1" fill="hold"/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6" dur="380" fill="hold"/>
                      <p:tgtEl>
                        <p:spTgt spid="14"/>
                      </p:tgtEl>
                    </p:cBhvr>
                  </p:animEffect>
                  <p:animScale>
                    <p:cBhvr>
                      <p:cTn id="17" dur="380" fill="hold"/>
                      <p:tgtEl>
                        <p:spTgt spid="14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8" fill="hold" nodeType="afterEffect" presetID="22" presetClass="entr" presetSubtype="0">
                <p:stCondLst>
                  <p:cond delay="1120"/>
                </p:stCondLst>
                <p:childTnLst>
                  <p:set>
                    <p:cBhvr>
                      <p:cTn id="19" dur="1" fill="hold"/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0" dur="380" fill="hold"/>
                      <p:tgtEl>
                        <p:spTgt spid="17"/>
                      </p:tgtEl>
                    </p:cBhvr>
                  </p:animEffect>
                  <p:animScale>
                    <p:cBhvr>
                      <p:cTn id="21" dur="380" fill="hold"/>
                      <p:tgtEl>
                        <p:spTgt spid="17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2" fill="hold" nodeType="withEffect" presetID="22" presetClass="entr" presetSubtype="0">
                <p:stCondLst>
                  <p:cond delay="1120"/>
                </p:stCondLst>
                <p:childTnLst>
                  <p:set>
                    <p:cBhvr>
                      <p:cTn id="23" dur="1" fill="hold"/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4" dur="380" fill="hold"/>
                      <p:tgtEl>
                        <p:spTgt spid="18"/>
                      </p:tgtEl>
                    </p:cBhvr>
                  </p:animEffect>
                  <p:animScale>
                    <p:cBhvr>
                      <p:cTn id="25" dur="380" fill="hold"/>
                      <p:tgtEl>
                        <p:spTgt spid="18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6" fill="hold" nodeType="afterEffect" presetID="22" presetClass="entr" presetSubtype="0">
                <p:stCondLst>
                  <p:cond delay="1380"/>
                </p:stCondLst>
                <p:childTnLst>
                  <p:set>
                    <p:cBhvr>
                      <p:cTn id="27" dur="1" fill="hold"/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8" dur="380" fill="hold"/>
                      <p:tgtEl>
                        <p:spTgt spid="21"/>
                      </p:tgtEl>
                    </p:cBhvr>
                  </p:animEffect>
                  <p:animScale>
                    <p:cBhvr>
                      <p:cTn id="29" dur="380" fill="hold"/>
                      <p:tgtEl>
                        <p:spTgt spid="21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30" fill="hold" nodeType="withEffect" presetID="22" presetClass="entr" presetSubtype="0">
                <p:stCondLst>
                  <p:cond delay="1380"/>
                </p:stCondLst>
                <p:childTnLst>
                  <p:set>
                    <p:cBhvr>
                      <p:cTn id="31" dur="1" fill="hold"/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380" fill="hold"/>
                      <p:tgtEl>
                        <p:spTgt spid="22"/>
                      </p:tgtEl>
                    </p:cBhvr>
                  </p:animEffect>
                  <p:animScale>
                    <p:cBhvr>
                      <p:cTn id="33" dur="380" fill="hold"/>
                      <p:tgtEl>
                        <p:spTgt spid="22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34" fill="hold" nodeType="afterEffect" presetID="22" presetClass="entr" presetSubtype="0">
                <p:stCondLst>
                  <p:cond delay="1640"/>
                </p:stCondLst>
                <p:childTnLst>
                  <p:set>
                    <p:cBhvr>
                      <p:cTn id="35" dur="1" fill="hold"/>
                      <p:tgtEl>
                        <p:spTgt spid="2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6" dur="380" fill="hold"/>
                      <p:tgtEl>
                        <p:spTgt spid="25"/>
                      </p:tgtEl>
                    </p:cBhvr>
                  </p:animEffect>
                  <p:animScale>
                    <p:cBhvr>
                      <p:cTn id="37" dur="380" fill="hold"/>
                      <p:tgtEl>
                        <p:spTgt spid="25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38" fill="hold" nodeType="withEffect" presetID="22" presetClass="entr" presetSubtype="0">
                <p:stCondLst>
                  <p:cond delay="1640"/>
                </p:stCondLst>
                <p:childTnLst>
                  <p:set>
                    <p:cBhvr>
                      <p:cTn id="39" dur="1" fill="hold"/>
                      <p:tgtEl>
                        <p:spTgt spid="2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0" dur="380" fill="hold"/>
                      <p:tgtEl>
                        <p:spTgt spid="26"/>
                      </p:tgtEl>
                    </p:cBhvr>
                  </p:animEffect>
                  <p:animScale>
                    <p:cBhvr>
                      <p:cTn id="41" dur="380" fill="hold"/>
                      <p:tgtEl>
                        <p:spTgt spid="26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</p:childTnLst>
        </p:cTn>
        <p:prevCondLst>
          <p:cond evt="onPrev" delay="0">
            <p:tgtEl>
              <p:sldTgt/>
            </p:tgtEl>
          </p:cond>
        </p:prevCondLst>
        <p:nextCondLst>
          <p:cond evt="onNext" delay="0">
            <p:tgtEl>
              <p:sldTgt/>
            </p:tgtEl>
          </p:cond>
        </p:nextCondLst>
      </p:seq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ns0="http://schemas.openxmlformats.org/markup-compatibility/2006" ns0:Ignorable="p14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2D9FA"/>
          </a:solidFill>
          <a:ln>
            <a:solidFill>
              <a:srgbClr val="E2D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E2D9FA"/>
          </a:solidFill>
          <a:ln>
            <a:solidFill>
              <a:srgbClr val="E2D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PUBLIKUM EINBINDEN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Kurze Kursaktivierung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10332720" cy="4754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2400" b="1">
                <a:solidFill>
                  <a:srgbClr val="233056"/>
                </a:solidFill>
                <a:latin typeface="Aptos Display"/>
              </a:rPr>
              <a:t>Handabstimmung: Was beeinflusst euer schulisches Wohlbefinden am stärksten?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2331720"/>
            <a:ext cx="4617720" cy="1060704"/>
          </a:xfrm>
          <a:prstGeom prst="roundRect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3000" y="2551176"/>
            <a:ext cx="603504" cy="603504"/>
          </a:xfrm>
          <a:prstGeom prst="ellipse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724912"/>
            <a:ext cx="51206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1">
                <a:solidFill>
                  <a:srgbClr val="233056"/>
                </a:solidFill>
                <a:latin typeface="Aptos Display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496312"/>
            <a:ext cx="342900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700" b="1">
                <a:solidFill>
                  <a:srgbClr val="233056"/>
                </a:solidFill>
                <a:latin typeface="Aptos Display"/>
              </a:rPr>
              <a:t>Leistungsdruck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2862072"/>
            <a:ext cx="3474720" cy="2103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5B6682"/>
                </a:solidFill>
                <a:latin typeface="Aptos Display"/>
              </a:rPr>
              <a:t>Noten, Prüfungen, Vergleich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331720"/>
            <a:ext cx="4617720" cy="1060704"/>
          </a:xfrm>
          <a:prstGeom prst="roundRect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46520" y="2551176"/>
            <a:ext cx="603504" cy="603504"/>
          </a:xfrm>
          <a:prstGeom prst="ellipse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724912"/>
            <a:ext cx="51206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1">
                <a:solidFill>
                  <a:srgbClr val="233056"/>
                </a:solidFill>
                <a:latin typeface="Aptos Display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59" y="2496312"/>
            <a:ext cx="342900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700" b="1">
                <a:solidFill>
                  <a:srgbClr val="233056"/>
                </a:solidFill>
                <a:latin typeface="Aptos Display"/>
              </a:rPr>
              <a:t>Beziehung zu Lehrkräften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59" y="2862072"/>
            <a:ext cx="3474720" cy="2103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5B6682"/>
                </a:solidFill>
                <a:latin typeface="Aptos Display"/>
              </a:rPr>
              <a:t>Unterstützung, Respekt, Vertrauen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" y="3904487"/>
            <a:ext cx="4617720" cy="1060704"/>
          </a:xfrm>
          <a:prstGeom prst="roundRect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3000" y="4123944"/>
            <a:ext cx="603504" cy="603504"/>
          </a:xfrm>
          <a:prstGeom prst="ellipse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297679"/>
            <a:ext cx="51206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1">
                <a:solidFill>
                  <a:srgbClr val="233056"/>
                </a:solidFill>
                <a:latin typeface="Aptos Display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4069079"/>
            <a:ext cx="342900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700" b="1">
                <a:solidFill>
                  <a:srgbClr val="233056"/>
                </a:solidFill>
                <a:latin typeface="Aptos Display"/>
              </a:rPr>
              <a:t>Mitbestimmung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4434840"/>
            <a:ext cx="3474720" cy="2103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5B6682"/>
                </a:solidFill>
                <a:latin typeface="Aptos Display"/>
              </a:rPr>
              <a:t>Meinung zählt, Selbstwirksamkeit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904487"/>
            <a:ext cx="4617720" cy="1060704"/>
          </a:xfrm>
          <a:prstGeom prst="roundRect">
            <a:avLst/>
          </a:prstGeom>
          <a:solidFill>
            <a:srgbClr val="ECFAF1"/>
          </a:solidFill>
          <a:ln>
            <a:solidFill>
              <a:srgbClr val="ECF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46520" y="4123944"/>
            <a:ext cx="603504" cy="603504"/>
          </a:xfrm>
          <a:prstGeom prst="ellipse">
            <a:avLst/>
          </a:prstGeom>
          <a:solidFill>
            <a:srgbClr val="D7F2E1"/>
          </a:solidFill>
          <a:ln>
            <a:solidFill>
              <a:srgbClr val="D7F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4297679"/>
            <a:ext cx="51206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1">
                <a:solidFill>
                  <a:srgbClr val="233056"/>
                </a:solidFill>
                <a:latin typeface="Aptos Display"/>
              </a:rPr>
              <a:t>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59" y="4069079"/>
            <a:ext cx="342900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700" b="1">
                <a:solidFill>
                  <a:srgbClr val="233056"/>
                </a:solidFill>
                <a:latin typeface="Aptos Display"/>
              </a:rPr>
              <a:t>Lebensweltbezug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59" y="4434840"/>
            <a:ext cx="3474720" cy="2103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5B6682"/>
                </a:solidFill>
                <a:latin typeface="Aptos Display"/>
              </a:rPr>
              <a:t>Alltag, Beruf, Zukunft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28800" y="5440680"/>
            <a:ext cx="854964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29968" y="5559552"/>
            <a:ext cx="8138160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300" b="0">
                <a:solidFill>
                  <a:srgbClr val="5B6682"/>
                </a:solidFill>
                <a:latin typeface="Aptos Display"/>
              </a:rPr>
              <a:t>Danach: 2 kurze Stimmen einsammeln und mit den Ergebnissen der Facharbeit verknüpfen.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08 | ca. 7:00-8:30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  <ns0:AlternateContent xmlns:p14="http://schemas.microsoft.com/office/powerpoint/2010/main">
    <ns0:Choice Requires="p14">
      <p:transition spd="med" p14:dur="700">
        <p:fade/>
      </p:transition>
    </ns0:Choice>
    <ns0:Fallback>
      <p:transition spd="med">
        <p:fade/>
      </p:transition>
    </ns0:Fallback>
  </ns0:AlternateContent>
  <p:timing>
    <p:tnLst>
      <p:seq concurrent="1" nextAc="seek">
        <p:cTn id="1" dur="indefinite" nodeType="mainSeq">
          <p:stCondLst>
            <p:cond delay="0"/>
          </p:stCondLst>
          <p:childTnLst>
            <p:par>
              <p:cTn id="2" fill="hold" nodeType="afterEffect" presetID="10" presetClass="entr" presetSubtype="0">
                <p:stCondLst>
                  <p:cond delay="0"/>
                </p:stCondLst>
                <p:childTnLst>
                  <p:set>
                    <p:cBhvr>
                      <p:cTn id="3" dur="1" fill="hold"/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" dur="500" fill="hold"/>
                      <p:tgtEl>
                        <p:spTgt spid="8"/>
                      </p:tgtEl>
                    </p:cBhvr>
                  </p:animEffect>
                </p:childTnLst>
              </p:cTn>
            </p:par>
            <p:par>
              <p:cTn id="6" fill="hold" nodeType="afterEffect" presetID="2819" presetClass="entr" presetSubtype="0">
                <p:stCondLst>
                  <p:cond delay="560"/>
                </p:stCondLst>
                <p:childTnLst>
                  <p:set>
                    <p:cBhvr>
                      <p:cTn id="7" dur="1" fill="hold"/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8" dur="450" fill="hold"/>
                      <p:tgtEl>
                        <p:spTgt spid="9"/>
                      </p:tgtEl>
                    </p:cBhvr>
                  </p:animEffect>
                </p:childTnLst>
              </p:cTn>
            </p:par>
            <p:par>
              <p:cTn id="10" fill="hold" nodeType="afterEffect" presetID="22" presetClass="entr" presetSubtype="0">
                <p:stCondLst>
                  <p:cond delay="950"/>
                </p:stCondLst>
                <p:childTnLst>
                  <p:set>
                    <p:cBhvr>
                      <p:cTn id="11" dur="1" fill="hold"/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360" fill="hold"/>
                      <p:tgtEl>
                        <p:spTgt spid="12"/>
                      </p:tgtEl>
                    </p:cBhvr>
                  </p:animEffect>
                  <p:animScale>
                    <p:cBhvr>
                      <p:cTn id="13" dur="360" fill="hold"/>
                      <p:tgtEl>
                        <p:spTgt spid="12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4" fill="hold" nodeType="withEffect" presetID="22" presetClass="entr" presetSubtype="0">
                <p:stCondLst>
                  <p:cond delay="950"/>
                </p:stCondLst>
                <p:childTnLst>
                  <p:set>
                    <p:cBhvr>
                      <p:cTn id="15" dur="1" fill="hold"/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6" dur="360" fill="hold"/>
                      <p:tgtEl>
                        <p:spTgt spid="13"/>
                      </p:tgtEl>
                    </p:cBhvr>
                  </p:animEffect>
                  <p:animScale>
                    <p:cBhvr>
                      <p:cTn id="17" dur="360" fill="hold"/>
                      <p:tgtEl>
                        <p:spTgt spid="13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8" fill="hold" nodeType="withEffect" presetID="22" presetClass="entr" presetSubtype="0">
                <p:stCondLst>
                  <p:cond delay="950"/>
                </p:stCondLst>
                <p:childTnLst>
                  <p:set>
                    <p:cBhvr>
                      <p:cTn id="19" dur="1" fill="hold"/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0" dur="360" fill="hold"/>
                      <p:tgtEl>
                        <p:spTgt spid="14"/>
                      </p:tgtEl>
                    </p:cBhvr>
                  </p:animEffect>
                  <p:animScale>
                    <p:cBhvr>
                      <p:cTn id="21" dur="360" fill="hold"/>
                      <p:tgtEl>
                        <p:spTgt spid="14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2" fill="hold" nodeType="afterEffect" presetID="22" presetClass="entr" presetSubtype="0">
                <p:stCondLst>
                  <p:cond delay="1250"/>
                </p:stCondLst>
                <p:childTnLst>
                  <p:set>
                    <p:cBhvr>
                      <p:cTn id="23" dur="1" fill="hold"/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4" dur="360" fill="hold"/>
                      <p:tgtEl>
                        <p:spTgt spid="17"/>
                      </p:tgtEl>
                    </p:cBhvr>
                  </p:animEffect>
                  <p:animScale>
                    <p:cBhvr>
                      <p:cTn id="25" dur="360" fill="hold"/>
                      <p:tgtEl>
                        <p:spTgt spid="17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6" fill="hold" nodeType="withEffect" presetID="22" presetClass="entr" presetSubtype="0">
                <p:stCondLst>
                  <p:cond delay="1250"/>
                </p:stCondLst>
                <p:childTnLst>
                  <p:set>
                    <p:cBhvr>
                      <p:cTn id="27" dur="1" fill="hold"/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8" dur="360" fill="hold"/>
                      <p:tgtEl>
                        <p:spTgt spid="18"/>
                      </p:tgtEl>
                    </p:cBhvr>
                  </p:animEffect>
                  <p:animScale>
                    <p:cBhvr>
                      <p:cTn id="29" dur="360" fill="hold"/>
                      <p:tgtEl>
                        <p:spTgt spid="18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30" fill="hold" nodeType="withEffect" presetID="22" presetClass="entr" presetSubtype="0">
                <p:stCondLst>
                  <p:cond delay="1250"/>
                </p:stCondLst>
                <p:childTnLst>
                  <p:set>
                    <p:cBhvr>
                      <p:cTn id="31" dur="1" fill="hold"/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360" fill="hold"/>
                      <p:tgtEl>
                        <p:spTgt spid="19"/>
                      </p:tgtEl>
                    </p:cBhvr>
                  </p:animEffect>
                  <p:animScale>
                    <p:cBhvr>
                      <p:cTn id="33" dur="360" fill="hold"/>
                      <p:tgtEl>
                        <p:spTgt spid="19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34" fill="hold" nodeType="afterEffect" presetID="22" presetClass="entr" presetSubtype="0">
                <p:stCondLst>
                  <p:cond delay="1550"/>
                </p:stCondLst>
                <p:childTnLst>
                  <p:set>
                    <p:cBhvr>
                      <p:cTn id="35" dur="1" fill="hold"/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6" dur="360" fill="hold"/>
                      <p:tgtEl>
                        <p:spTgt spid="22"/>
                      </p:tgtEl>
                    </p:cBhvr>
                  </p:animEffect>
                  <p:animScale>
                    <p:cBhvr>
                      <p:cTn id="37" dur="360" fill="hold"/>
                      <p:tgtEl>
                        <p:spTgt spid="22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38" fill="hold" nodeType="withEffect" presetID="22" presetClass="entr" presetSubtype="0">
                <p:stCondLst>
                  <p:cond delay="1550"/>
                </p:stCondLst>
                <p:childTnLst>
                  <p:set>
                    <p:cBhvr>
                      <p:cTn id="39" dur="1" fill="hold"/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0" dur="360" fill="hold"/>
                      <p:tgtEl>
                        <p:spTgt spid="23"/>
                      </p:tgtEl>
                    </p:cBhvr>
                  </p:animEffect>
                  <p:animScale>
                    <p:cBhvr>
                      <p:cTn id="41" dur="360" fill="hold"/>
                      <p:tgtEl>
                        <p:spTgt spid="23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42" fill="hold" nodeType="withEffect" presetID="22" presetClass="entr" presetSubtype="0">
                <p:stCondLst>
                  <p:cond delay="1550"/>
                </p:stCondLst>
                <p:childTnLst>
                  <p:set>
                    <p:cBhvr>
                      <p:cTn id="43" dur="1" fill="hold"/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4" dur="360" fill="hold"/>
                      <p:tgtEl>
                        <p:spTgt spid="24"/>
                      </p:tgtEl>
                    </p:cBhvr>
                  </p:animEffect>
                  <p:animScale>
                    <p:cBhvr>
                      <p:cTn id="45" dur="360" fill="hold"/>
                      <p:tgtEl>
                        <p:spTgt spid="24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46" fill="hold" nodeType="afterEffect" presetID="22" presetClass="entr" presetSubtype="0">
                <p:stCondLst>
                  <p:cond delay="1850"/>
                </p:stCondLst>
                <p:childTnLst>
                  <p:set>
                    <p:cBhvr>
                      <p:cTn id="47" dur="1" fill="hold"/>
                      <p:tgtEl>
                        <p:spTgt spid="2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8" dur="360" fill="hold"/>
                      <p:tgtEl>
                        <p:spTgt spid="27"/>
                      </p:tgtEl>
                    </p:cBhvr>
                  </p:animEffect>
                  <p:animScale>
                    <p:cBhvr>
                      <p:cTn id="49" dur="360" fill="hold"/>
                      <p:tgtEl>
                        <p:spTgt spid="27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50" fill="hold" nodeType="withEffect" presetID="22" presetClass="entr" presetSubtype="0">
                <p:stCondLst>
                  <p:cond delay="1850"/>
                </p:stCondLst>
                <p:childTnLst>
                  <p:set>
                    <p:cBhvr>
                      <p:cTn id="51" dur="1" fill="hold"/>
                      <p:tgtEl>
                        <p:spTgt spid="2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360" fill="hold"/>
                      <p:tgtEl>
                        <p:spTgt spid="28"/>
                      </p:tgtEl>
                    </p:cBhvr>
                  </p:animEffect>
                  <p:animScale>
                    <p:cBhvr>
                      <p:cTn id="53" dur="360" fill="hold"/>
                      <p:tgtEl>
                        <p:spTgt spid="28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54" fill="hold" nodeType="withEffect" presetID="22" presetClass="entr" presetSubtype="0">
                <p:stCondLst>
                  <p:cond delay="1850"/>
                </p:stCondLst>
                <p:childTnLst>
                  <p:set>
                    <p:cBhvr>
                      <p:cTn id="55" dur="1" fill="hold"/>
                      <p:tgtEl>
                        <p:spTgt spid="2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6" dur="360" fill="hold"/>
                      <p:tgtEl>
                        <p:spTgt spid="29"/>
                      </p:tgtEl>
                    </p:cBhvr>
                  </p:animEffect>
                  <p:animScale>
                    <p:cBhvr>
                      <p:cTn id="57" dur="360" fill="hold"/>
                      <p:tgtEl>
                        <p:spTgt spid="29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58" fill="hold" nodeType="afterEffect" presetID="10" presetClass="entr" presetSubtype="0">
                <p:stCondLst>
                  <p:cond delay="2270"/>
                </p:stCondLst>
                <p:childTnLst>
                  <p:set>
                    <p:cBhvr>
                      <p:cTn id="59" dur="1" fill="hold"/>
                      <p:tgtEl>
                        <p:spTgt spid="3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0" dur="350" fill="hold"/>
                      <p:tgtEl>
                        <p:spTgt spid="31"/>
                      </p:tgtEl>
                    </p:cBhvr>
                  </p:animEffect>
                </p:childTnLst>
              </p:cTn>
            </p:par>
          </p:childTnLst>
        </p:cTn>
        <p:prevCondLst>
          <p:cond evt="onPrev" delay="0">
            <p:tgtEl>
              <p:sldTgt/>
            </p:tgtEl>
          </p:cond>
        </p:prevCondLst>
        <p:nextCondLst>
          <p:cond evt="onNext" delay="0">
            <p:tgtEl>
              <p:sldTgt/>
            </p:tgtEl>
          </p:cond>
        </p:nextCondLst>
      </p:seq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ns0="http://schemas.openxmlformats.org/markup-compatibility/2006" ns0:Ignorable="p14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7F2E1"/>
          </a:solidFill>
          <a:ln>
            <a:solidFill>
              <a:srgbClr val="D7F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D7F2E1"/>
          </a:solidFill>
          <a:ln>
            <a:solidFill>
              <a:srgbClr val="D7F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WIRKUNG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Schule und Wohlbefinden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737360"/>
            <a:ext cx="4983480" cy="3429000"/>
          </a:xfrm>
          <a:prstGeom prst="roundRect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55080" y="1737360"/>
            <a:ext cx="4983480" cy="3429000"/>
          </a:xfrm>
          <a:prstGeom prst="roundRect">
            <a:avLst/>
          </a:prstGeom>
          <a:solidFill>
            <a:srgbClr val="ECFAF1"/>
          </a:solidFill>
          <a:ln>
            <a:solidFill>
              <a:srgbClr val="ECF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057400"/>
            <a:ext cx="448056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2100" b="1">
                <a:solidFill>
                  <a:srgbClr val="233056"/>
                </a:solidFill>
                <a:latin typeface="Aptos Display"/>
              </a:rPr>
              <a:t>Belastende Faktoren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651760"/>
            <a:ext cx="4251960" cy="17373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Prüfungsstress und Erwartungshaltungen</a:t>
            </a:r>
          </a:p>
          <a:p>
            <a:pPr>
              <a:spcAft>
                <a:spcPts val="4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Vergleichskultur und Konkurrenzdenken</a:t>
            </a:r>
          </a:p>
          <a:p>
            <a:pPr>
              <a:spcAft>
                <a:spcPts val="4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Angst vor schulischem Versagen</a:t>
            </a:r>
          </a:p>
          <a:p>
            <a:pPr>
              <a:spcAft>
                <a:spcPts val="4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Schlafprobleme, Kopfschmerzen oder Konzentrationsschwierigkeiten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057400"/>
            <a:ext cx="448056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2100" b="1">
                <a:solidFill>
                  <a:srgbClr val="233056"/>
                </a:solidFill>
                <a:latin typeface="Aptos Display"/>
              </a:rPr>
              <a:t>Stärkende Faktoren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651760"/>
            <a:ext cx="4251960" cy="17373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positives Schulklima</a:t>
            </a:r>
          </a:p>
          <a:p>
            <a:pPr>
              <a:spcAft>
                <a:spcPts val="4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unterstützende Beziehungen zu Lehrkräften</a:t>
            </a:r>
          </a:p>
          <a:p>
            <a:pPr>
              <a:spcAft>
                <a:spcPts val="4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Mitbestimmung und Partizipation</a:t>
            </a:r>
          </a:p>
          <a:p>
            <a:pPr>
              <a:spcAft>
                <a:spcPts val="4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Feedbackkultur statt nur Ergebnisfokus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09 | ca. 8:30-9:45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  <ns0:AlternateContent xmlns:p14="http://schemas.microsoft.com/office/powerpoint/2010/main">
    <ns0:Choice Requires="p14">
      <p:transition spd="med" p14:dur="700">
        <p:fade/>
      </p:transition>
    </ns0:Choice>
    <ns0:Fallback>
      <p:transition spd="med">
        <p:fade/>
      </p:transition>
    </ns0:Fallback>
  </ns0:AlternateContent>
  <p:timing>
    <p:tnLst>
      <p:seq concurrent="1" nextAc="seek">
        <p:cTn id="1" dur="indefinite" nodeType="mainSeq">
          <p:stCondLst>
            <p:cond delay="0"/>
          </p:stCondLst>
          <p:childTnLst>
            <p:par>
              <p:cTn id="2" fill="hold" nodeType="afterEffect" presetID="10" presetClass="entr" presetSubtype="0">
                <p:stCondLst>
                  <p:cond delay="0"/>
                </p:stCondLst>
                <p:childTnLst>
                  <p:set>
                    <p:cBhvr>
                      <p:cTn id="3" dur="1" fill="hold"/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" dur="500" fill="hold"/>
                      <p:tgtEl>
                        <p:spTgt spid="8"/>
                      </p:tgtEl>
                    </p:cBhvr>
                  </p:animEffect>
                </p:childTnLst>
              </p:cTn>
            </p:par>
            <p:par>
              <p:cTn id="6" fill="hold" nodeType="afterEffect" presetID="10" presetClass="entr" presetSubtype="0">
                <p:stCondLst>
                  <p:cond delay="560"/>
                </p:stCondLst>
                <p:childTnLst>
                  <p:set>
                    <p:cBhvr>
                      <p:cTn id="7" dur="1" fill="hold"/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8" dur="350" fill="hold"/>
                      <p:tgtEl>
                        <p:spTgt spid="11"/>
                      </p:tgtEl>
                    </p:cBhvr>
                  </p:animEffect>
                </p:childTnLst>
              </p:cTn>
            </p:par>
            <p:par>
              <p:cTn id="10" fill="hold" nodeType="afterEffect" presetID="2819" presetClass="entr" presetSubtype="0">
                <p:stCondLst>
                  <p:cond delay="770"/>
                </p:stCondLst>
                <p:childTnLst>
                  <p:set>
                    <p:cBhvr>
                      <p:cTn id="11" dur="1" fill="hold"/>
                      <p:tgtEl>
                        <p:spTgt spid="12">
                          <p:txEl>
                            <p:pRg st="0" end="0"/>
                          </p:txEl>
                        </p:spTgt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12" dur="300" fill="hold"/>
                      <p:tgtEl>
                        <p:spTgt spid="12">
                          <p:txEl>
                            <p:pRg st="0" end="0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14" fill="hold" nodeType="afterEffect" presetID="2819" presetClass="entr" presetSubtype="0">
                <p:stCondLst>
                  <p:cond delay="940"/>
                </p:stCondLst>
                <p:childTnLst>
                  <p:set>
                    <p:cBhvr>
                      <p:cTn id="15" dur="1" fill="hold"/>
                      <p:tgtEl>
                        <p:spTgt spid="12">
                          <p:txEl>
                            <p:pRg st="1" end="1"/>
                          </p:txEl>
                        </p:spTgt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16" dur="300" fill="hold"/>
                      <p:tgtEl>
                        <p:spTgt spid="12">
                          <p:txEl>
                            <p:pRg st="1" end="1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18" fill="hold" nodeType="afterEffect" presetID="2819" presetClass="entr" presetSubtype="0">
                <p:stCondLst>
                  <p:cond delay="1110"/>
                </p:stCondLst>
                <p:childTnLst>
                  <p:set>
                    <p:cBhvr>
                      <p:cTn id="19" dur="1" fill="hold"/>
                      <p:tgtEl>
                        <p:spTgt spid="12">
                          <p:txEl>
                            <p:pRg st="2" end="2"/>
                          </p:txEl>
                        </p:spTgt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20" dur="300" fill="hold"/>
                      <p:tgtEl>
                        <p:spTgt spid="12">
                          <p:txEl>
                            <p:pRg st="2" end="2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22" fill="hold" nodeType="afterEffect" presetID="2819" presetClass="entr" presetSubtype="0">
                <p:stCondLst>
                  <p:cond delay="1280"/>
                </p:stCondLst>
                <p:childTnLst>
                  <p:set>
                    <p:cBhvr>
                      <p:cTn id="23" dur="1" fill="hold"/>
                      <p:tgtEl>
                        <p:spTgt spid="12">
                          <p:txEl>
                            <p:pRg st="3" end="3"/>
                          </p:txEl>
                        </p:spTgt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24" dur="300" fill="hold"/>
                      <p:tgtEl>
                        <p:spTgt spid="12">
                          <p:txEl>
                            <p:pRg st="3" end="3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26" fill="hold" nodeType="afterEffect" presetID="10" presetClass="entr" presetSubtype="0">
                <p:stCondLst>
                  <p:cond delay="1450"/>
                </p:stCondLst>
                <p:childTnLst>
                  <p:set>
                    <p:cBhvr>
                      <p:cTn id="27" dur="1" fill="hold"/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8" dur="350" fill="hold"/>
                      <p:tgtEl>
                        <p:spTgt spid="13"/>
                      </p:tgtEl>
                    </p:cBhvr>
                  </p:animEffect>
                </p:childTnLst>
              </p:cTn>
            </p:par>
            <p:par>
              <p:cTn id="30" fill="hold" nodeType="afterEffect" presetID="2819" presetClass="entr" presetSubtype="0">
                <p:stCondLst>
                  <p:cond delay="1660"/>
                </p:stCondLst>
                <p:childTnLst>
                  <p:set>
                    <p:cBhvr>
                      <p:cTn id="31" dur="1" fill="hold"/>
                      <p:tgtEl>
                        <p:spTgt spid="14">
                          <p:txEl>
                            <p:pRg st="0" end="0"/>
                          </p:txEl>
                        </p:spTgt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32" dur="300" fill="hold"/>
                      <p:tgtEl>
                        <p:spTgt spid="14">
                          <p:txEl>
                            <p:pRg st="0" end="0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34" fill="hold" nodeType="afterEffect" presetID="2819" presetClass="entr" presetSubtype="0">
                <p:stCondLst>
                  <p:cond delay="1830"/>
                </p:stCondLst>
                <p:childTnLst>
                  <p:set>
                    <p:cBhvr>
                      <p:cTn id="35" dur="1" fill="hold"/>
                      <p:tgtEl>
                        <p:spTgt spid="14">
                          <p:txEl>
                            <p:pRg st="1" end="1"/>
                          </p:txEl>
                        </p:spTgt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36" dur="300" fill="hold"/>
                      <p:tgtEl>
                        <p:spTgt spid="14">
                          <p:txEl>
                            <p:pRg st="1" end="1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38" fill="hold" nodeType="afterEffect" presetID="2819" presetClass="entr" presetSubtype="0">
                <p:stCondLst>
                  <p:cond delay="2000"/>
                </p:stCondLst>
                <p:childTnLst>
                  <p:set>
                    <p:cBhvr>
                      <p:cTn id="39" dur="1" fill="hold"/>
                      <p:tgtEl>
                        <p:spTgt spid="14">
                          <p:txEl>
                            <p:pRg st="2" end="2"/>
                          </p:txEl>
                        </p:spTgt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40" dur="300" fill="hold"/>
                      <p:tgtEl>
                        <p:spTgt spid="14">
                          <p:txEl>
                            <p:pRg st="2" end="2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42" fill="hold" nodeType="afterEffect" presetID="2819" presetClass="entr" presetSubtype="0">
                <p:stCondLst>
                  <p:cond delay="2170"/>
                </p:stCondLst>
                <p:childTnLst>
                  <p:set>
                    <p:cBhvr>
                      <p:cTn id="43" dur="1" fill="hold"/>
                      <p:tgtEl>
                        <p:spTgt spid="14">
                          <p:txEl>
                            <p:pRg st="3" end="3"/>
                          </p:txEl>
                        </p:spTgt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44" dur="300" fill="hold"/>
                      <p:tgtEl>
                        <p:spTgt spid="14">
                          <p:txEl>
                            <p:pRg st="3" end="3"/>
                          </p:txEl>
                        </p:spTgt>
                      </p:tgtEl>
                    </p:cBhvr>
                  </p:animEffect>
                </p:childTnLst>
              </p:cTn>
            </p:par>
          </p:childTnLst>
        </p:cTn>
        <p:prevCondLst>
          <p:cond evt="onPrev" delay="0">
            <p:tgtEl>
              <p:sldTgt/>
            </p:tgtEl>
          </p:cond>
        </p:prevCondLst>
        <p:nextCondLst>
          <p:cond evt="onNext" delay="0">
            <p:tgtEl>
              <p:sldTgt/>
            </p:tgtEl>
          </p:cond>
        </p:nextCondLst>
      </p:seq>
    </p:tnLst>
    <p:bldLst>
      <p:bldP spid="12" grpId="0" build="p"/>
      <p:bldP spid="14" grpId="0" build="p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ns0="http://schemas.openxmlformats.org/markup-compatibility/2006" ns0:Ignorable="p14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7F2E1"/>
          </a:solidFill>
          <a:ln>
            <a:solidFill>
              <a:srgbClr val="D7F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D7F2E1"/>
          </a:solidFill>
          <a:ln>
            <a:solidFill>
              <a:srgbClr val="D7F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UNTERRICHT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Lebensweltbezug: Warum Inhalte wichtig sind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1929384"/>
            <a:ext cx="3273552" cy="30632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73552" cy="3063240"/>
          </a:xfrm>
          <a:prstGeom prst="roundRect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039112"/>
            <a:ext cx="2944368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Alltagskompetenzen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41448"/>
            <a:ext cx="2944368" cy="23774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In der Arbeit werden Steuererklärungen, Versicherungen, Mietverträge und Finanzplanung als Beispiele genannt.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17136" y="1929384"/>
            <a:ext cx="3273552" cy="30632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80560" y="1874519"/>
            <a:ext cx="3273552" cy="3063240"/>
          </a:xfrm>
          <a:prstGeom prst="round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2039112"/>
            <a:ext cx="2944368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Finanzbildung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441448"/>
            <a:ext cx="2944368" cy="23774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OECD-Studien zu Financial Literacy zeigen, dass finanzielle Grundkompetenzen international ein Thema sind.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47888" y="1929384"/>
            <a:ext cx="3273552" cy="30632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11312" y="1874519"/>
            <a:ext cx="3273552" cy="3063240"/>
          </a:xfrm>
          <a:prstGeom prst="roundRect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2039112"/>
            <a:ext cx="2944368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Berufsorientierung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441448"/>
            <a:ext cx="2944368" cy="23774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Praktika und Orientierung können realistische Vorstellungen von Bildungs- und Berufswegen fördern.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10 | ca. 9:45-10:45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  <ns0:AlternateContent xmlns:p14="http://schemas.microsoft.com/office/powerpoint/2010/main">
    <ns0:Choice Requires="p14">
      <p:transition spd="med" p14:dur="700">
        <p:fade/>
      </p:transition>
    </ns0:Choice>
    <ns0:Fallback>
      <p:transition spd="med">
        <p:fade/>
      </p:transition>
    </ns0:Fallback>
  </ns0:AlternateContent>
  <p:timing>
    <p:tnLst>
      <p:seq concurrent="1" nextAc="seek">
        <p:cTn id="1" dur="indefinite" nodeType="mainSeq">
          <p:stCondLst>
            <p:cond delay="0"/>
          </p:stCondLst>
          <p:childTnLst>
            <p:par>
              <p:cTn id="2" fill="hold" nodeType="afterEffect" presetID="10" presetClass="entr" presetSubtype="0">
                <p:stCondLst>
                  <p:cond delay="0"/>
                </p:stCondLst>
                <p:childTnLst>
                  <p:set>
                    <p:cBhvr>
                      <p:cTn id="3" dur="1" fill="hold"/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" dur="500" fill="hold"/>
                      <p:tgtEl>
                        <p:spTgt spid="8"/>
                      </p:tgtEl>
                    </p:cBhvr>
                  </p:animEffect>
                </p:childTnLst>
              </p:cTn>
            </p:par>
            <p:par>
              <p:cTn id="6" fill="hold" nodeType="afterEffect" presetID="22" presetClass="entr" presetSubtype="0">
                <p:stCondLst>
                  <p:cond delay="560"/>
                </p:stCondLst>
                <p:childTnLst>
                  <p:set>
                    <p:cBhvr>
                      <p:cTn id="7" dur="1" fill="hold"/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8" dur="430" fill="hold"/>
                      <p:tgtEl>
                        <p:spTgt spid="11"/>
                      </p:tgtEl>
                    </p:cBhvr>
                  </p:animEffect>
                  <p:animScale>
                    <p:cBhvr>
                      <p:cTn id="9" dur="430" fill="hold"/>
                      <p:tgtEl>
                        <p:spTgt spid="11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0" fill="hold" nodeType="withEffect" presetID="22" presetClass="entr" presetSubtype="0">
                <p:stCondLst>
                  <p:cond delay="560"/>
                </p:stCondLst>
                <p:childTnLst>
                  <p:set>
                    <p:cBhvr>
                      <p:cTn id="11" dur="1" fill="hold"/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30" fill="hold"/>
                      <p:tgtEl>
                        <p:spTgt spid="12"/>
                      </p:tgtEl>
                    </p:cBhvr>
                  </p:animEffect>
                  <p:animScale>
                    <p:cBhvr>
                      <p:cTn id="13" dur="430" fill="hold"/>
                      <p:tgtEl>
                        <p:spTgt spid="12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4" fill="hold" nodeType="afterEffect" presetID="22" presetClass="entr" presetSubtype="0">
                <p:stCondLst>
                  <p:cond delay="830"/>
                </p:stCondLst>
                <p:childTnLst>
                  <p:set>
                    <p:cBhvr>
                      <p:cTn id="15" dur="1" fill="hold"/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6" dur="430" fill="hold"/>
                      <p:tgtEl>
                        <p:spTgt spid="15"/>
                      </p:tgtEl>
                    </p:cBhvr>
                  </p:animEffect>
                  <p:animScale>
                    <p:cBhvr>
                      <p:cTn id="17" dur="430" fill="hold"/>
                      <p:tgtEl>
                        <p:spTgt spid="15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8" fill="hold" nodeType="withEffect" presetID="22" presetClass="entr" presetSubtype="0">
                <p:stCondLst>
                  <p:cond delay="830"/>
                </p:stCondLst>
                <p:childTnLst>
                  <p:set>
                    <p:cBhvr>
                      <p:cTn id="19" dur="1" fill="hold"/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0" dur="430" fill="hold"/>
                      <p:tgtEl>
                        <p:spTgt spid="16"/>
                      </p:tgtEl>
                    </p:cBhvr>
                  </p:animEffect>
                  <p:animScale>
                    <p:cBhvr>
                      <p:cTn id="21" dur="430" fill="hold"/>
                      <p:tgtEl>
                        <p:spTgt spid="16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2" fill="hold" nodeType="afterEffect" presetID="22" presetClass="entr" presetSubtype="0">
                <p:stCondLst>
                  <p:cond delay="1100"/>
                </p:stCondLst>
                <p:childTnLst>
                  <p:set>
                    <p:cBhvr>
                      <p:cTn id="23" dur="1" fill="hold"/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4" dur="430" fill="hold"/>
                      <p:tgtEl>
                        <p:spTgt spid="19"/>
                      </p:tgtEl>
                    </p:cBhvr>
                  </p:animEffect>
                  <p:animScale>
                    <p:cBhvr>
                      <p:cTn id="25" dur="430" fill="hold"/>
                      <p:tgtEl>
                        <p:spTgt spid="19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6" fill="hold" nodeType="withEffect" presetID="22" presetClass="entr" presetSubtype="0">
                <p:stCondLst>
                  <p:cond delay="1100"/>
                </p:stCondLst>
                <p:childTnLst>
                  <p:set>
                    <p:cBhvr>
                      <p:cTn id="27" dur="1" fill="hold"/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8" dur="430" fill="hold"/>
                      <p:tgtEl>
                        <p:spTgt spid="20"/>
                      </p:tgtEl>
                    </p:cBhvr>
                  </p:animEffect>
                  <p:animScale>
                    <p:cBhvr>
                      <p:cTn id="29" dur="430" fill="hold"/>
                      <p:tgtEl>
                        <p:spTgt spid="20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</p:childTnLst>
        </p:cTn>
        <p:prevCondLst>
          <p:cond evt="onPrev" delay="0">
            <p:tgtEl>
              <p:sldTgt/>
            </p:tgtEl>
          </p:cond>
        </p:prevCondLst>
        <p:nextCondLst>
          <p:cond evt="onNext" delay="0">
            <p:tgtEl>
              <p:sldTgt/>
            </p:tgtEl>
          </p:cond>
        </p:nextCondLst>
      </p:seq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ns0="http://schemas.openxmlformats.org/markup-compatibility/2006" ns0:Ignorable="p14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EINORDNUNG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Internationaler Vergleich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1792224"/>
            <a:ext cx="3246120" cy="1874519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8" y="1737360"/>
            <a:ext cx="3246120" cy="1874519"/>
          </a:xfrm>
          <a:prstGeom prst="roundRect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01952"/>
            <a:ext cx="291693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Deutschland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04288"/>
            <a:ext cx="2916936" cy="1188719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Mehrgliedrigkeit, Noten und Prüfungen spielen zentrale Rolle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72584" y="1792224"/>
            <a:ext cx="3246120" cy="1874519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36008" y="1737360"/>
            <a:ext cx="3246120" cy="1874519"/>
          </a:xfrm>
          <a:prstGeom prst="roundRect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1901952"/>
            <a:ext cx="291693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Skandinavische Modelle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304288"/>
            <a:ext cx="2916936" cy="1188719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längeres gemeinsames Lernen; Finnland bis zur 9. Klasse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67344" y="1792224"/>
            <a:ext cx="3246120" cy="1874519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30768" y="1737360"/>
            <a:ext cx="3246120" cy="1874519"/>
          </a:xfrm>
          <a:prstGeom prst="roundRect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1901952"/>
            <a:ext cx="291693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Angelsächsische Systeme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2304288"/>
            <a:ext cx="2916936" cy="1188719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umfassende Gesamtschulen, Wahlmöglichkeiten und Praxisorientierung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343400"/>
            <a:ext cx="9875520" cy="3291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2000" b="1">
                <a:solidFill>
                  <a:srgbClr val="233056"/>
                </a:solidFill>
                <a:latin typeface="Aptos Display"/>
              </a:rPr>
              <a:t>Einordnung aus der Facharbeit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800600"/>
            <a:ext cx="9875520" cy="86868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233056"/>
                </a:solidFill>
                <a:latin typeface="Aptos"/>
              </a:defRPr>
            </a:pPr>
            <a:r>
              <a:t>- Länder mit späterer Leistungsdifferenzierung weisen häufig geringere Leistungsunterschiede zwischen sozialen Gruppen auf.</a:t>
            </a:r>
          </a:p>
          <a:p>
            <a:pPr>
              <a:spcAft>
                <a:spcPts val="200"/>
              </a:spcAft>
              <a:defRPr sz="1400">
                <a:solidFill>
                  <a:srgbClr val="233056"/>
                </a:solidFill>
                <a:latin typeface="Aptos"/>
              </a:defRPr>
            </a:pPr>
            <a:r>
              <a:t>- Unterstützende Lernumgebungen und weniger Konkurrenzkultur können mit höherer Schülerzufriedenheit verbunden sein.</a:t>
            </a:r>
          </a:p>
          <a:p>
            <a:pPr>
              <a:spcAft>
                <a:spcPts val="200"/>
              </a:spcAft>
              <a:defRPr sz="1400">
                <a:solidFill>
                  <a:srgbClr val="233056"/>
                </a:solidFill>
                <a:latin typeface="Aptos"/>
              </a:defRPr>
            </a:pPr>
            <a:r>
              <a:t>- Es gibt kein einheitliches perfektes Bildungssystem.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11 | ca. 10:45-12:00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  <ns0:AlternateContent xmlns:p14="http://schemas.microsoft.com/office/powerpoint/2010/main">
    <ns0:Choice Requires="p14">
      <p:transition spd="med" p14:dur="700">
        <p:fade/>
      </p:transition>
    </ns0:Choice>
    <ns0:Fallback>
      <p:transition spd="med">
        <p:fade/>
      </p:transition>
    </ns0:Fallback>
  </ns0:AlternateContent>
  <p:timing>
    <p:tnLst>
      <p:seq concurrent="1" nextAc="seek">
        <p:cTn id="1" dur="indefinite" nodeType="mainSeq">
          <p:stCondLst>
            <p:cond delay="0"/>
          </p:stCondLst>
          <p:childTnLst>
            <p:par>
              <p:cTn id="2" fill="hold" nodeType="afterEffect" presetID="10" presetClass="entr" presetSubtype="0">
                <p:stCondLst>
                  <p:cond delay="0"/>
                </p:stCondLst>
                <p:childTnLst>
                  <p:set>
                    <p:cBhvr>
                      <p:cTn id="3" dur="1" fill="hold"/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" dur="500" fill="hold"/>
                      <p:tgtEl>
                        <p:spTgt spid="8"/>
                      </p:tgtEl>
                    </p:cBhvr>
                  </p:animEffect>
                </p:childTnLst>
              </p:cTn>
            </p:par>
            <p:par>
              <p:cTn id="6" fill="hold" nodeType="afterEffect" presetID="22" presetClass="entr" presetSubtype="0">
                <p:stCondLst>
                  <p:cond delay="560"/>
                </p:stCondLst>
                <p:childTnLst>
                  <p:set>
                    <p:cBhvr>
                      <p:cTn id="7" dur="1" fill="hold"/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8" dur="430" fill="hold"/>
                      <p:tgtEl>
                        <p:spTgt spid="11"/>
                      </p:tgtEl>
                    </p:cBhvr>
                  </p:animEffect>
                  <p:animScale>
                    <p:cBhvr>
                      <p:cTn id="9" dur="430" fill="hold"/>
                      <p:tgtEl>
                        <p:spTgt spid="11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0" fill="hold" nodeType="withEffect" presetID="22" presetClass="entr" presetSubtype="0">
                <p:stCondLst>
                  <p:cond delay="560"/>
                </p:stCondLst>
                <p:childTnLst>
                  <p:set>
                    <p:cBhvr>
                      <p:cTn id="11" dur="1" fill="hold"/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30" fill="hold"/>
                      <p:tgtEl>
                        <p:spTgt spid="12"/>
                      </p:tgtEl>
                    </p:cBhvr>
                  </p:animEffect>
                  <p:animScale>
                    <p:cBhvr>
                      <p:cTn id="13" dur="430" fill="hold"/>
                      <p:tgtEl>
                        <p:spTgt spid="12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4" fill="hold" nodeType="afterEffect" presetID="22" presetClass="entr" presetSubtype="0">
                <p:stCondLst>
                  <p:cond delay="830"/>
                </p:stCondLst>
                <p:childTnLst>
                  <p:set>
                    <p:cBhvr>
                      <p:cTn id="15" dur="1" fill="hold"/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6" dur="430" fill="hold"/>
                      <p:tgtEl>
                        <p:spTgt spid="15"/>
                      </p:tgtEl>
                    </p:cBhvr>
                  </p:animEffect>
                  <p:animScale>
                    <p:cBhvr>
                      <p:cTn id="17" dur="430" fill="hold"/>
                      <p:tgtEl>
                        <p:spTgt spid="15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8" fill="hold" nodeType="withEffect" presetID="22" presetClass="entr" presetSubtype="0">
                <p:stCondLst>
                  <p:cond delay="830"/>
                </p:stCondLst>
                <p:childTnLst>
                  <p:set>
                    <p:cBhvr>
                      <p:cTn id="19" dur="1" fill="hold"/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0" dur="430" fill="hold"/>
                      <p:tgtEl>
                        <p:spTgt spid="16"/>
                      </p:tgtEl>
                    </p:cBhvr>
                  </p:animEffect>
                  <p:animScale>
                    <p:cBhvr>
                      <p:cTn id="21" dur="430" fill="hold"/>
                      <p:tgtEl>
                        <p:spTgt spid="16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2" fill="hold" nodeType="afterEffect" presetID="22" presetClass="entr" presetSubtype="0">
                <p:stCondLst>
                  <p:cond delay="1100"/>
                </p:stCondLst>
                <p:childTnLst>
                  <p:set>
                    <p:cBhvr>
                      <p:cTn id="23" dur="1" fill="hold"/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4" dur="430" fill="hold"/>
                      <p:tgtEl>
                        <p:spTgt spid="19"/>
                      </p:tgtEl>
                    </p:cBhvr>
                  </p:animEffect>
                  <p:animScale>
                    <p:cBhvr>
                      <p:cTn id="25" dur="430" fill="hold"/>
                      <p:tgtEl>
                        <p:spTgt spid="19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6" fill="hold" nodeType="withEffect" presetID="22" presetClass="entr" presetSubtype="0">
                <p:stCondLst>
                  <p:cond delay="1100"/>
                </p:stCondLst>
                <p:childTnLst>
                  <p:set>
                    <p:cBhvr>
                      <p:cTn id="27" dur="1" fill="hold"/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8" dur="430" fill="hold"/>
                      <p:tgtEl>
                        <p:spTgt spid="20"/>
                      </p:tgtEl>
                    </p:cBhvr>
                  </p:animEffect>
                  <p:animScale>
                    <p:cBhvr>
                      <p:cTn id="29" dur="430" fill="hold"/>
                      <p:tgtEl>
                        <p:spTgt spid="20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30" fill="hold" nodeType="afterEffect" presetID="10" presetClass="entr" presetSubtype="0">
                <p:stCondLst>
                  <p:cond delay="1380"/>
                </p:stCondLst>
                <p:childTnLst>
                  <p:set>
                    <p:cBhvr>
                      <p:cTn id="31" dur="1" fill="hold"/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340" fill="hold"/>
                      <p:tgtEl>
                        <p:spTgt spid="21"/>
                      </p:tgtEl>
                    </p:cBhvr>
                  </p:animEffect>
                </p:childTnLst>
              </p:cTn>
            </p:par>
            <p:par>
              <p:cTn id="34" fill="hold" nodeType="afterEffect" presetID="2819" presetClass="entr" presetSubtype="0">
                <p:stCondLst>
                  <p:cond delay="1610"/>
                </p:stCondLst>
                <p:childTnLst>
                  <p:set>
                    <p:cBhvr>
                      <p:cTn id="35" dur="1" fill="hold"/>
                      <p:tgtEl>
                        <p:spTgt spid="22">
                          <p:txEl>
                            <p:pRg st="0" end="0"/>
                          </p:txEl>
                        </p:spTgt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36" dur="300" fill="hold"/>
                      <p:tgtEl>
                        <p:spTgt spid="22">
                          <p:txEl>
                            <p:pRg st="0" end="0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38" fill="hold" nodeType="afterEffect" presetID="2819" presetClass="entr" presetSubtype="0">
                <p:stCondLst>
                  <p:cond delay="1820"/>
                </p:stCondLst>
                <p:childTnLst>
                  <p:set>
                    <p:cBhvr>
                      <p:cTn id="39" dur="1" fill="hold"/>
                      <p:tgtEl>
                        <p:spTgt spid="22">
                          <p:txEl>
                            <p:pRg st="1" end="1"/>
                          </p:txEl>
                        </p:spTgt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40" dur="300" fill="hold"/>
                      <p:tgtEl>
                        <p:spTgt spid="22">
                          <p:txEl>
                            <p:pRg st="1" end="1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42" fill="hold" nodeType="afterEffect" presetID="2819" presetClass="entr" presetSubtype="0">
                <p:stCondLst>
                  <p:cond delay="2030"/>
                </p:stCondLst>
                <p:childTnLst>
                  <p:set>
                    <p:cBhvr>
                      <p:cTn id="43" dur="1" fill="hold"/>
                      <p:tgtEl>
                        <p:spTgt spid="22">
                          <p:txEl>
                            <p:pRg st="2" end="2"/>
                          </p:txEl>
                        </p:spTgt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44" dur="300" fill="hold"/>
                      <p:tgtEl>
                        <p:spTgt spid="22">
                          <p:txEl>
                            <p:pRg st="2" end="2"/>
                          </p:txEl>
                        </p:spTgt>
                      </p:tgtEl>
                    </p:cBhvr>
                  </p:animEffect>
                </p:childTnLst>
              </p:cTn>
            </p:par>
          </p:childTnLst>
        </p:cTn>
        <p:prevCondLst>
          <p:cond evt="onPrev" delay="0">
            <p:tgtEl>
              <p:sldTgt/>
            </p:tgtEl>
          </p:cond>
        </p:prevCondLst>
        <p:nextCondLst>
          <p:cond evt="onNext" delay="0">
            <p:tgtEl>
              <p:sldTgt/>
            </p:tgtEl>
          </p:cond>
        </p:nextCondLst>
      </p:seq>
    </p:tnLst>
    <p:bldLst>
      <p:bldP spid="22" grpId="0" build="p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ns0="http://schemas.openxmlformats.org/markup-compatibility/2006" ns0:Ignorable="p14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BEWERTUNG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Stärken und Schwächen des deutschen Systems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737360"/>
            <a:ext cx="5010912" cy="3566160"/>
          </a:xfrm>
          <a:prstGeom prst="roundRect">
            <a:avLst/>
          </a:prstGeom>
          <a:solidFill>
            <a:srgbClr val="ECFAF1"/>
          </a:solidFill>
          <a:ln>
            <a:solidFill>
              <a:srgbClr val="ECF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1737360"/>
            <a:ext cx="5010912" cy="3566160"/>
          </a:xfrm>
          <a:prstGeom prst="roundRect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029968"/>
            <a:ext cx="443484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2300" b="1">
                <a:solidFill>
                  <a:srgbClr val="233056"/>
                </a:solidFill>
                <a:latin typeface="Aptos Display"/>
              </a:rPr>
              <a:t>Stärken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651760"/>
            <a:ext cx="4160520" cy="17373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Differenzierung verschiedener Bildungswege</a:t>
            </a:r>
          </a:p>
          <a:p>
            <a:pPr>
              <a:spcAft>
                <a:spcPts val="3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duales Ausbildungssystem</a:t>
            </a:r>
          </a:p>
          <a:p>
            <a:pPr>
              <a:spcAft>
                <a:spcPts val="3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relativ niedrige Jugendarbeitslosigkeit laut OECD 2021</a:t>
            </a:r>
          </a:p>
          <a:p>
            <a:pPr>
              <a:spcAft>
                <a:spcPts val="3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hohe akademische Standards, besonders im Gymnasium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29968"/>
            <a:ext cx="443484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2300" b="1">
                <a:solidFill>
                  <a:srgbClr val="233056"/>
                </a:solidFill>
                <a:latin typeface="Aptos Display"/>
              </a:rPr>
              <a:t>Schwächen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651760"/>
            <a:ext cx="4160520" cy="17373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frühe Aufteilung nach der Grundschule</a:t>
            </a:r>
          </a:p>
          <a:p>
            <a:pPr>
              <a:spcAft>
                <a:spcPts val="3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starke Kopplung von sozialer Herkunft und Bildungserfolg</a:t>
            </a:r>
          </a:p>
          <a:p>
            <a:pPr>
              <a:spcAft>
                <a:spcPts val="3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Leistungsdruck durch Noten, Prüfungen und Versetzung</a:t>
            </a:r>
          </a:p>
          <a:p>
            <a:pPr>
              <a:spcAft>
                <a:spcPts val="3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soziale Segregation zwischen Schulformen möglich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12 | ca. 12:00-13:15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  <ns0:AlternateContent xmlns:p14="http://schemas.microsoft.com/office/powerpoint/2010/main">
    <ns0:Choice Requires="p14">
      <p:transition spd="med" p14:dur="700">
        <p:fade/>
      </p:transition>
    </ns0:Choice>
    <ns0:Fallback>
      <p:transition spd="med">
        <p:fade/>
      </p:transition>
    </ns0:Fallback>
  </ns0:AlternateContent>
  <p:timing>
    <p:tnLst>
      <p:seq concurrent="1" nextAc="seek">
        <p:cTn id="1" dur="indefinite" nodeType="mainSeq">
          <p:stCondLst>
            <p:cond delay="0"/>
          </p:stCondLst>
          <p:childTnLst>
            <p:par>
              <p:cTn id="2" fill="hold" nodeType="afterEffect" presetID="10" presetClass="entr" presetSubtype="0">
                <p:stCondLst>
                  <p:cond delay="0"/>
                </p:stCondLst>
                <p:childTnLst>
                  <p:set>
                    <p:cBhvr>
                      <p:cTn id="3" dur="1" fill="hold"/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" dur="500" fill="hold"/>
                      <p:tgtEl>
                        <p:spTgt spid="8"/>
                      </p:tgtEl>
                    </p:cBhvr>
                  </p:animEffect>
                </p:childTnLst>
              </p:cTn>
            </p:par>
            <p:par>
              <p:cTn id="6" fill="hold" nodeType="afterEffect" presetID="10" presetClass="entr" presetSubtype="0">
                <p:stCondLst>
                  <p:cond delay="560"/>
                </p:stCondLst>
                <p:childTnLst>
                  <p:set>
                    <p:cBhvr>
                      <p:cTn id="7" dur="1" fill="hold"/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8" dur="340" fill="hold"/>
                      <p:tgtEl>
                        <p:spTgt spid="11"/>
                      </p:tgtEl>
                    </p:cBhvr>
                  </p:animEffect>
                </p:childTnLst>
              </p:cTn>
            </p:par>
            <p:par>
              <p:cTn id="10" fill="hold" nodeType="afterEffect" presetID="2819" presetClass="entr" presetSubtype="0">
                <p:stCondLst>
                  <p:cond delay="750"/>
                </p:stCondLst>
                <p:childTnLst>
                  <p:set>
                    <p:cBhvr>
                      <p:cTn id="11" dur="1" fill="hold"/>
                      <p:tgtEl>
                        <p:spTgt spid="12">
                          <p:txEl>
                            <p:pRg st="0" end="0"/>
                          </p:txEl>
                        </p:spTgt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12" dur="290" fill="hold"/>
                      <p:tgtEl>
                        <p:spTgt spid="12">
                          <p:txEl>
                            <p:pRg st="0" end="0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14" fill="hold" nodeType="afterEffect" presetID="2819" presetClass="entr" presetSubtype="0">
                <p:stCondLst>
                  <p:cond delay="905"/>
                </p:stCondLst>
                <p:childTnLst>
                  <p:set>
                    <p:cBhvr>
                      <p:cTn id="15" dur="1" fill="hold"/>
                      <p:tgtEl>
                        <p:spTgt spid="12">
                          <p:txEl>
                            <p:pRg st="1" end="1"/>
                          </p:txEl>
                        </p:spTgt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16" dur="290" fill="hold"/>
                      <p:tgtEl>
                        <p:spTgt spid="12">
                          <p:txEl>
                            <p:pRg st="1" end="1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18" fill="hold" nodeType="afterEffect" presetID="2819" presetClass="entr" presetSubtype="0">
                <p:stCondLst>
                  <p:cond delay="1060"/>
                </p:stCondLst>
                <p:childTnLst>
                  <p:set>
                    <p:cBhvr>
                      <p:cTn id="19" dur="1" fill="hold"/>
                      <p:tgtEl>
                        <p:spTgt spid="12">
                          <p:txEl>
                            <p:pRg st="2" end="2"/>
                          </p:txEl>
                        </p:spTgt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20" dur="290" fill="hold"/>
                      <p:tgtEl>
                        <p:spTgt spid="12">
                          <p:txEl>
                            <p:pRg st="2" end="2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22" fill="hold" nodeType="afterEffect" presetID="2819" presetClass="entr" presetSubtype="0">
                <p:stCondLst>
                  <p:cond delay="1215"/>
                </p:stCondLst>
                <p:childTnLst>
                  <p:set>
                    <p:cBhvr>
                      <p:cTn id="23" dur="1" fill="hold"/>
                      <p:tgtEl>
                        <p:spTgt spid="12">
                          <p:txEl>
                            <p:pRg st="3" end="3"/>
                          </p:txEl>
                        </p:spTgt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24" dur="290" fill="hold"/>
                      <p:tgtEl>
                        <p:spTgt spid="12">
                          <p:txEl>
                            <p:pRg st="3" end="3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26" fill="hold" nodeType="afterEffect" presetID="10" presetClass="entr" presetSubtype="0">
                <p:stCondLst>
                  <p:cond delay="1370"/>
                </p:stCondLst>
                <p:childTnLst>
                  <p:set>
                    <p:cBhvr>
                      <p:cTn id="27" dur="1" fill="hold"/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8" dur="340" fill="hold"/>
                      <p:tgtEl>
                        <p:spTgt spid="13"/>
                      </p:tgtEl>
                    </p:cBhvr>
                  </p:animEffect>
                </p:childTnLst>
              </p:cTn>
            </p:par>
            <p:par>
              <p:cTn id="30" fill="hold" nodeType="afterEffect" presetID="2819" presetClass="entr" presetSubtype="0">
                <p:stCondLst>
                  <p:cond delay="1560"/>
                </p:stCondLst>
                <p:childTnLst>
                  <p:set>
                    <p:cBhvr>
                      <p:cTn id="31" dur="1" fill="hold"/>
                      <p:tgtEl>
                        <p:spTgt spid="14">
                          <p:txEl>
                            <p:pRg st="0" end="0"/>
                          </p:txEl>
                        </p:spTgt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32" dur="290" fill="hold"/>
                      <p:tgtEl>
                        <p:spTgt spid="14">
                          <p:txEl>
                            <p:pRg st="0" end="0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34" fill="hold" nodeType="afterEffect" presetID="2819" presetClass="entr" presetSubtype="0">
                <p:stCondLst>
                  <p:cond delay="1715"/>
                </p:stCondLst>
                <p:childTnLst>
                  <p:set>
                    <p:cBhvr>
                      <p:cTn id="35" dur="1" fill="hold"/>
                      <p:tgtEl>
                        <p:spTgt spid="14">
                          <p:txEl>
                            <p:pRg st="1" end="1"/>
                          </p:txEl>
                        </p:spTgt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36" dur="290" fill="hold"/>
                      <p:tgtEl>
                        <p:spTgt spid="14">
                          <p:txEl>
                            <p:pRg st="1" end="1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38" fill="hold" nodeType="afterEffect" presetID="2819" presetClass="entr" presetSubtype="0">
                <p:stCondLst>
                  <p:cond delay="1870"/>
                </p:stCondLst>
                <p:childTnLst>
                  <p:set>
                    <p:cBhvr>
                      <p:cTn id="39" dur="1" fill="hold"/>
                      <p:tgtEl>
                        <p:spTgt spid="14">
                          <p:txEl>
                            <p:pRg st="2" end="2"/>
                          </p:txEl>
                        </p:spTgt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40" dur="290" fill="hold"/>
                      <p:tgtEl>
                        <p:spTgt spid="14">
                          <p:txEl>
                            <p:pRg st="2" end="2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42" fill="hold" nodeType="afterEffect" presetID="2819" presetClass="entr" presetSubtype="0">
                <p:stCondLst>
                  <p:cond delay="2025"/>
                </p:stCondLst>
                <p:childTnLst>
                  <p:set>
                    <p:cBhvr>
                      <p:cTn id="43" dur="1" fill="hold"/>
                      <p:tgtEl>
                        <p:spTgt spid="14">
                          <p:txEl>
                            <p:pRg st="3" end="3"/>
                          </p:txEl>
                        </p:spTgt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44" dur="290" fill="hold"/>
                      <p:tgtEl>
                        <p:spTgt spid="14">
                          <p:txEl>
                            <p:pRg st="3" end="3"/>
                          </p:txEl>
                        </p:spTgt>
                      </p:tgtEl>
                    </p:cBhvr>
                  </p:animEffect>
                </p:childTnLst>
              </p:cTn>
            </p:par>
          </p:childTnLst>
        </p:cTn>
        <p:prevCondLst>
          <p:cond evt="onPrev" delay="0">
            <p:tgtEl>
              <p:sldTgt/>
            </p:tgtEl>
          </p:cond>
        </p:prevCondLst>
        <p:nextCondLst>
          <p:cond evt="onNext" delay="0">
            <p:tgtEl>
              <p:sldTgt/>
            </p:tgtEl>
          </p:cond>
        </p:nextCondLst>
      </p:seq>
    </p:tnLst>
    <p:bldLst>
      <p:bldP spid="12" grpId="0" build="p"/>
      <p:bldP spid="14" grpId="0" build="p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ns0="http://schemas.openxmlformats.org/markup-compatibility/2006" ns0:Ignorable="p14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AUSBLICK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Reformansätze aus der Arbeit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1883664"/>
            <a:ext cx="3154680" cy="26060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1828800"/>
            <a:ext cx="3154680" cy="2606040"/>
          </a:xfrm>
          <a:prstGeom prst="roundRect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1993392"/>
            <a:ext cx="282549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Mehr Lebenskompetenzen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2395728"/>
            <a:ext cx="2825496" cy="19202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Finanzbildung, Medienkompetenz und praktische Alltagsfähigkeiten stärker integrieren</a:t>
            </a:r>
          </a:p>
        </p:txBody>
      </p:sp>
      <p:sp>
        <p:nvSpPr>
          <p:cNvPr id="13" name="Oval 12"/>
          <p:cNvSpPr/>
          <p:nvPr/>
        </p:nvSpPr>
        <p:spPr>
          <a:xfrm>
            <a:off x="2057400" y="1417320"/>
            <a:ext cx="786384" cy="786384"/>
          </a:xfrm>
          <a:prstGeom prst="ellipse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12264" y="1655064"/>
            <a:ext cx="6858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700" b="1">
                <a:solidFill>
                  <a:srgbClr val="233056"/>
                </a:solidFill>
                <a:latin typeface="Aptos Display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54296" y="1883664"/>
            <a:ext cx="3154680" cy="26060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17720" y="1828800"/>
            <a:ext cx="3154680" cy="2606040"/>
          </a:xfrm>
          <a:prstGeom prst="roundRect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82312" y="1993392"/>
            <a:ext cx="282549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Spätere Differenzierung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82312" y="2395728"/>
            <a:ext cx="2825496" cy="19202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Mehr Zeit für Entwicklung und fundiertere Bildungsentscheidungen geben</a:t>
            </a:r>
          </a:p>
        </p:txBody>
      </p:sp>
      <p:sp>
        <p:nvSpPr>
          <p:cNvPr id="19" name="Oval 18"/>
          <p:cNvSpPr/>
          <p:nvPr/>
        </p:nvSpPr>
        <p:spPr>
          <a:xfrm>
            <a:off x="5760720" y="1417320"/>
            <a:ext cx="786384" cy="786384"/>
          </a:xfrm>
          <a:prstGeom prst="ellipse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15583" y="1655064"/>
            <a:ext cx="6858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700" b="1">
                <a:solidFill>
                  <a:srgbClr val="233056"/>
                </a:solidFill>
                <a:latin typeface="Aptos Display"/>
              </a:rP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57615" y="1883664"/>
            <a:ext cx="3154680" cy="26060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21040" y="1828800"/>
            <a:ext cx="3154680" cy="2606040"/>
          </a:xfrm>
          <a:prstGeom prst="roundRect">
            <a:avLst/>
          </a:prstGeom>
          <a:solidFill>
            <a:srgbClr val="F4EFFF"/>
          </a:solidFill>
          <a:ln>
            <a:solidFill>
              <a:srgbClr val="F4E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85632" y="1993392"/>
            <a:ext cx="282549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Alternative Bewertung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85632" y="2395728"/>
            <a:ext cx="2825496" cy="19202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Lernfeedback, Portfolioarbeit und projektbasierte Bewertung stärker nutzen</a:t>
            </a:r>
          </a:p>
        </p:txBody>
      </p:sp>
      <p:sp>
        <p:nvSpPr>
          <p:cNvPr id="25" name="Oval 24"/>
          <p:cNvSpPr/>
          <p:nvPr/>
        </p:nvSpPr>
        <p:spPr>
          <a:xfrm>
            <a:off x="9464040" y="1417320"/>
            <a:ext cx="786384" cy="786384"/>
          </a:xfrm>
          <a:prstGeom prst="ellipse">
            <a:avLst/>
          </a:prstGeom>
          <a:solidFill>
            <a:srgbClr val="E2D9FA"/>
          </a:solidFill>
          <a:ln>
            <a:solidFill>
              <a:srgbClr val="E2D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18904" y="1655064"/>
            <a:ext cx="6858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700" b="1">
                <a:solidFill>
                  <a:srgbClr val="233056"/>
                </a:solidFill>
                <a:latin typeface="Aptos Display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120640"/>
            <a:ext cx="1014984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2000" b="1">
                <a:solidFill>
                  <a:srgbClr val="233056"/>
                </a:solidFill>
                <a:latin typeface="Aptos Display"/>
              </a:rPr>
              <a:t>Ziel: Bildungsqualität und Schülerwohlbefinden stärker miteinander verbinden.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13 | ca. 13:15-14:10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  <ns0:AlternateContent xmlns:p14="http://schemas.microsoft.com/office/powerpoint/2010/main">
    <ns0:Choice Requires="p14">
      <p:transition spd="med" p14:dur="700">
        <p:fade/>
      </p:transition>
    </ns0:Choice>
    <ns0:Fallback>
      <p:transition spd="med">
        <p:fade/>
      </p:transition>
    </ns0:Fallback>
  </ns0:AlternateContent>
  <p:timing>
    <p:tnLst>
      <p:seq concurrent="1" nextAc="seek">
        <p:cTn id="1" dur="indefinite" nodeType="mainSeq">
          <p:stCondLst>
            <p:cond delay="0"/>
          </p:stCondLst>
          <p:childTnLst>
            <p:par>
              <p:cTn id="2" fill="hold" nodeType="afterEffect" presetID="10" presetClass="entr" presetSubtype="0">
                <p:stCondLst>
                  <p:cond delay="0"/>
                </p:stCondLst>
                <p:childTnLst>
                  <p:set>
                    <p:cBhvr>
                      <p:cTn id="3" dur="1" fill="hold"/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" dur="500" fill="hold"/>
                      <p:tgtEl>
                        <p:spTgt spid="8"/>
                      </p:tgtEl>
                    </p:cBhvr>
                  </p:animEffect>
                </p:childTnLst>
              </p:cTn>
            </p:par>
            <p:par>
              <p:cTn id="6" fill="hold" nodeType="afterEffect" presetID="22" presetClass="entr" presetSubtype="0">
                <p:stCondLst>
                  <p:cond delay="560"/>
                </p:stCondLst>
                <p:childTnLst>
                  <p:set>
                    <p:cBhvr>
                      <p:cTn id="7" dur="1" fill="hold"/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8" dur="420" fill="hold"/>
                      <p:tgtEl>
                        <p:spTgt spid="11"/>
                      </p:tgtEl>
                    </p:cBhvr>
                  </p:animEffect>
                  <p:animScale>
                    <p:cBhvr>
                      <p:cTn id="9" dur="420" fill="hold"/>
                      <p:tgtEl>
                        <p:spTgt spid="11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0" fill="hold" nodeType="withEffect" presetID="22" presetClass="entr" presetSubtype="0">
                <p:stCondLst>
                  <p:cond delay="560"/>
                </p:stCondLst>
                <p:childTnLst>
                  <p:set>
                    <p:cBhvr>
                      <p:cTn id="11" dur="1" fill="hold"/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20" fill="hold"/>
                      <p:tgtEl>
                        <p:spTgt spid="12"/>
                      </p:tgtEl>
                    </p:cBhvr>
                  </p:animEffect>
                  <p:animScale>
                    <p:cBhvr>
                      <p:cTn id="13" dur="420" fill="hold"/>
                      <p:tgtEl>
                        <p:spTgt spid="12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4" fill="hold" nodeType="afterEffect" presetID="22" presetClass="entr" presetSubtype="0">
                <p:stCondLst>
                  <p:cond delay="860"/>
                </p:stCondLst>
                <p:childTnLst>
                  <p:set>
                    <p:cBhvr>
                      <p:cTn id="15" dur="1" fill="hold"/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6" dur="420" fill="hold"/>
                      <p:tgtEl>
                        <p:spTgt spid="17"/>
                      </p:tgtEl>
                    </p:cBhvr>
                  </p:animEffect>
                  <p:animScale>
                    <p:cBhvr>
                      <p:cTn id="17" dur="420" fill="hold"/>
                      <p:tgtEl>
                        <p:spTgt spid="17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8" fill="hold" nodeType="withEffect" presetID="22" presetClass="entr" presetSubtype="0">
                <p:stCondLst>
                  <p:cond delay="860"/>
                </p:stCondLst>
                <p:childTnLst>
                  <p:set>
                    <p:cBhvr>
                      <p:cTn id="19" dur="1" fill="hold"/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0" dur="420" fill="hold"/>
                      <p:tgtEl>
                        <p:spTgt spid="18"/>
                      </p:tgtEl>
                    </p:cBhvr>
                  </p:animEffect>
                  <p:animScale>
                    <p:cBhvr>
                      <p:cTn id="21" dur="420" fill="hold"/>
                      <p:tgtEl>
                        <p:spTgt spid="18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2" fill="hold" nodeType="afterEffect" presetID="22" presetClass="entr" presetSubtype="0">
                <p:stCondLst>
                  <p:cond delay="1160"/>
                </p:stCondLst>
                <p:childTnLst>
                  <p:set>
                    <p:cBhvr>
                      <p:cTn id="23" dur="1" fill="hold"/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4" dur="420" fill="hold"/>
                      <p:tgtEl>
                        <p:spTgt spid="23"/>
                      </p:tgtEl>
                    </p:cBhvr>
                  </p:animEffect>
                  <p:animScale>
                    <p:cBhvr>
                      <p:cTn id="25" dur="420" fill="hold"/>
                      <p:tgtEl>
                        <p:spTgt spid="23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6" fill="hold" nodeType="withEffect" presetID="22" presetClass="entr" presetSubtype="0">
                <p:stCondLst>
                  <p:cond delay="1160"/>
                </p:stCondLst>
                <p:childTnLst>
                  <p:set>
                    <p:cBhvr>
                      <p:cTn id="27" dur="1" fill="hold"/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8" dur="420" fill="hold"/>
                      <p:tgtEl>
                        <p:spTgt spid="24"/>
                      </p:tgtEl>
                    </p:cBhvr>
                  </p:animEffect>
                  <p:animScale>
                    <p:cBhvr>
                      <p:cTn id="29" dur="420" fill="hold"/>
                      <p:tgtEl>
                        <p:spTgt spid="24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30" fill="hold" nodeType="afterEffect" presetID="10" presetClass="entr" presetSubtype="0">
                <p:stCondLst>
                  <p:cond delay="1560"/>
                </p:stCondLst>
                <p:childTnLst>
                  <p:set>
                    <p:cBhvr>
                      <p:cTn id="31" dur="1" fill="hold"/>
                      <p:tgtEl>
                        <p:spTgt spid="2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380" fill="hold"/>
                      <p:tgtEl>
                        <p:spTgt spid="27"/>
                      </p:tgtEl>
                    </p:cBhvr>
                  </p:animEffect>
                </p:childTnLst>
              </p:cTn>
            </p:par>
          </p:childTnLst>
        </p:cTn>
        <p:prevCondLst>
          <p:cond evt="onPrev" delay="0">
            <p:tgtEl>
              <p:sldTgt/>
            </p:tgtEl>
          </p:cond>
        </p:prevCondLst>
        <p:nextCondLst>
          <p:cond evt="onNext" delay="0">
            <p:tgtEl>
              <p:sldTgt/>
            </p:tgtEl>
          </p:cond>
        </p:nextCondLst>
      </p:seq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ns0="http://schemas.openxmlformats.org/markup-compatibility/2006" ns0:Ignorable="p14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SCHLUSS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Fazit: Was beantwortet die Leitfrage?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508760"/>
            <a:ext cx="10149840" cy="38404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682"/>
                </a:solidFill>
                <a:latin typeface="Aptos Display"/>
              </a:rPr>
              <a:t>Antwort in einem Satz: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1920240"/>
            <a:ext cx="10012680" cy="868680"/>
          </a:xfrm>
          <a:prstGeom prst="roundRect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2148840"/>
            <a:ext cx="955548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233056"/>
                </a:solidFill>
                <a:latin typeface="Aptos Display"/>
              </a:rPr>
              <a:t>Das Wohlbefinden hängt nicht nur von einzelnen Schülerinnen und Schülern ab, sondern stark von schulischen Strukturen.</a:t>
            </a:r>
          </a:p>
        </p:txBody>
      </p:sp>
      <p:sp>
        <p:nvSpPr>
          <p:cNvPr id="12" name="Oval 11"/>
          <p:cNvSpPr/>
          <p:nvPr/>
        </p:nvSpPr>
        <p:spPr>
          <a:xfrm>
            <a:off x="1417320" y="3291839"/>
            <a:ext cx="210312" cy="210312"/>
          </a:xfrm>
          <a:prstGeom prst="ellipse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83080" y="3246120"/>
            <a:ext cx="896112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500" b="0">
                <a:solidFill>
                  <a:srgbClr val="233056"/>
                </a:solidFill>
                <a:latin typeface="Aptos Display"/>
              </a:rPr>
              <a:t>Schulische Strukturen beeinflussen Lernbedingungen, Bildungswege und subjektives Wohlbefinden.</a:t>
            </a:r>
          </a:p>
        </p:txBody>
      </p:sp>
      <p:sp>
        <p:nvSpPr>
          <p:cNvPr id="14" name="Oval 13"/>
          <p:cNvSpPr/>
          <p:nvPr/>
        </p:nvSpPr>
        <p:spPr>
          <a:xfrm>
            <a:off x="1417320" y="3895344"/>
            <a:ext cx="210312" cy="210312"/>
          </a:xfrm>
          <a:prstGeom prst="ellipse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83080" y="3849624"/>
            <a:ext cx="896112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500" b="0">
                <a:solidFill>
                  <a:srgbClr val="233056"/>
                </a:solidFill>
                <a:latin typeface="Aptos Display"/>
              </a:rPr>
              <a:t>Frühe Differenzierung und Leistungsbewertung können fördern, aber auch Druck und Ungleichheit verstärken.</a:t>
            </a:r>
          </a:p>
        </p:txBody>
      </p:sp>
      <p:sp>
        <p:nvSpPr>
          <p:cNvPr id="16" name="Oval 15"/>
          <p:cNvSpPr/>
          <p:nvPr/>
        </p:nvSpPr>
        <p:spPr>
          <a:xfrm>
            <a:off x="1417320" y="4498848"/>
            <a:ext cx="210312" cy="210312"/>
          </a:xfrm>
          <a:prstGeom prst="ellipse">
            <a:avLst/>
          </a:prstGeom>
          <a:solidFill>
            <a:srgbClr val="D7F2E1"/>
          </a:solidFill>
          <a:ln>
            <a:solidFill>
              <a:srgbClr val="D7F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83080" y="4453128"/>
            <a:ext cx="896112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500" b="0">
                <a:solidFill>
                  <a:srgbClr val="233056"/>
                </a:solidFill>
                <a:latin typeface="Aptos Display"/>
              </a:rPr>
              <a:t>Schulklima, Unterstützung, Mitbestimmung und Lebensweltbezug können Wohlbefinden deutlich stärken.</a:t>
            </a:r>
          </a:p>
        </p:txBody>
      </p:sp>
      <p:sp>
        <p:nvSpPr>
          <p:cNvPr id="18" name="Oval 17"/>
          <p:cNvSpPr/>
          <p:nvPr/>
        </p:nvSpPr>
        <p:spPr>
          <a:xfrm>
            <a:off x="1417320" y="5102351"/>
            <a:ext cx="210312" cy="210312"/>
          </a:xfrm>
          <a:prstGeom prst="ellipse">
            <a:avLst/>
          </a:prstGeom>
          <a:solidFill>
            <a:srgbClr val="E2D9FA"/>
          </a:solidFill>
          <a:ln>
            <a:solidFill>
              <a:srgbClr val="E2D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83080" y="5056631"/>
            <a:ext cx="896112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500" b="0">
                <a:solidFill>
                  <a:srgbClr val="233056"/>
                </a:solidFill>
                <a:latin typeface="Aptos Display"/>
              </a:rPr>
              <a:t>Eine Schule der Zukunft sollte Leistung, Gerechtigkeit und persönliche Entwicklung gemeinsam denken.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14 | ca. 14:10-15:00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  <ns0:AlternateContent xmlns:p14="http://schemas.microsoft.com/office/powerpoint/2010/main">
    <ns0:Choice Requires="p14">
      <p:transition spd="med" p14:dur="700">
        <p:fade/>
      </p:transition>
    </ns0:Choice>
    <ns0:Fallback>
      <p:transition spd="med">
        <p:fade/>
      </p:transition>
    </ns0:Fallback>
  </ns0:AlternateContent>
  <p:timing>
    <p:tnLst>
      <p:seq concurrent="1" nextAc="seek">
        <p:cTn id="1" dur="indefinite" nodeType="mainSeq">
          <p:stCondLst>
            <p:cond delay="0"/>
          </p:stCondLst>
          <p:childTnLst>
            <p:par>
              <p:cTn id="2" fill="hold" nodeType="afterEffect" presetID="10" presetClass="entr" presetSubtype="0">
                <p:stCondLst>
                  <p:cond delay="0"/>
                </p:stCondLst>
                <p:childTnLst>
                  <p:set>
                    <p:cBhvr>
                      <p:cTn id="3" dur="1" fill="hold"/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" dur="500" fill="hold"/>
                      <p:tgtEl>
                        <p:spTgt spid="8"/>
                      </p:tgtEl>
                    </p:cBhvr>
                  </p:animEffect>
                </p:childTnLst>
              </p:cTn>
            </p:par>
            <p:par>
              <p:cTn id="6" fill="hold" nodeType="afterEffect" presetID="10" presetClass="entr" presetSubtype="0">
                <p:stCondLst>
                  <p:cond delay="560"/>
                </p:stCondLst>
                <p:childTnLst>
                  <p:set>
                    <p:cBhvr>
                      <p:cTn id="7" dur="1" fill="hold"/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8" dur="500" fill="hold"/>
                      <p:tgtEl>
                        <p:spTgt spid="9"/>
                      </p:tgtEl>
                    </p:cBhvr>
                  </p:animEffect>
                </p:childTnLst>
              </p:cTn>
            </p:par>
            <p:par>
              <p:cTn id="10" fill="hold" nodeType="withEffect" presetID="10" presetClass="entr" presetSubtype="0">
                <p:stCondLst>
                  <p:cond delay="560"/>
                </p:stCondLst>
                <p:childTnLst>
                  <p:set>
                    <p:cBhvr>
                      <p:cTn id="11" dur="1" fill="hold"/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500" fill="hold"/>
                      <p:tgtEl>
                        <p:spTgt spid="11"/>
                      </p:tgtEl>
                    </p:cBhvr>
                  </p:animEffect>
                </p:childTnLst>
              </p:cTn>
            </p:par>
            <p:par>
              <p:cTn id="14" fill="hold" nodeType="afterEffect" presetID="2819" presetClass="entr" presetSubtype="0">
                <p:stCondLst>
                  <p:cond delay="990"/>
                </p:stCondLst>
                <p:childTnLst>
                  <p:set>
                    <p:cBhvr>
                      <p:cTn id="15" dur="1" fill="hold"/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16" dur="360" fill="hold"/>
                      <p:tgtEl>
                        <p:spTgt spid="13"/>
                      </p:tgtEl>
                    </p:cBhvr>
                  </p:animEffect>
                </p:childTnLst>
              </p:cTn>
            </p:par>
            <p:par>
              <p:cTn id="18" fill="hold" nodeType="afterEffect" presetID="2819" presetClass="entr" presetSubtype="0">
                <p:stCondLst>
                  <p:cond delay="1250"/>
                </p:stCondLst>
                <p:childTnLst>
                  <p:set>
                    <p:cBhvr>
                      <p:cTn id="19" dur="1" fill="hold"/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20" dur="360" fill="hold"/>
                      <p:tgtEl>
                        <p:spTgt spid="15"/>
                      </p:tgtEl>
                    </p:cBhvr>
                  </p:animEffect>
                </p:childTnLst>
              </p:cTn>
            </p:par>
            <p:par>
              <p:cTn id="22" fill="hold" nodeType="afterEffect" presetID="2819" presetClass="entr" presetSubtype="0">
                <p:stCondLst>
                  <p:cond delay="1510"/>
                </p:stCondLst>
                <p:childTnLst>
                  <p:set>
                    <p:cBhvr>
                      <p:cTn id="23" dur="1" fill="hold"/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24" dur="360" fill="hold"/>
                      <p:tgtEl>
                        <p:spTgt spid="17"/>
                      </p:tgtEl>
                    </p:cBhvr>
                  </p:animEffect>
                </p:childTnLst>
              </p:cTn>
            </p:par>
            <p:par>
              <p:cTn id="26" fill="hold" nodeType="afterEffect" presetID="2819" presetClass="entr" presetSubtype="0">
                <p:stCondLst>
                  <p:cond delay="1770"/>
                </p:stCondLst>
                <p:childTnLst>
                  <p:set>
                    <p:cBhvr>
                      <p:cTn id="27" dur="1" fill="hold"/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wipe(right)">
                    <p:cBhvr>
                      <p:cTn id="28" dur="360" fill="hold"/>
                      <p:tgtEl>
                        <p:spTgt spid="19"/>
                      </p:tgtEl>
                    </p:cBhvr>
                  </p:animEffect>
                </p:childTnLst>
              </p:cTn>
            </p:par>
          </p:childTnLst>
        </p:cTn>
        <p:prevCondLst>
          <p:cond evt="onPrev" delay="0">
            <p:tgtEl>
              <p:sldTgt/>
            </p:tgtEl>
          </p:cond>
        </p:prevCondLst>
        <p:nextCondLst>
          <p:cond evt="onNext" delay="0">
            <p:tgtEl>
              <p:sldTgt/>
            </p:tgtEl>
          </p:cond>
        </p:nextCondLst>
      </p:seq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